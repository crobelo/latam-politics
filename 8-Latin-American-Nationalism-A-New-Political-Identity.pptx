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6" r:id="rId6"/>
    <p:sldId id="261" r:id="rId7"/>
    <p:sldId id="262" r:id="rId8"/>
    <p:sldId id="267" r:id="rId9"/>
    <p:sldId id="264" r:id="rId10"/>
    <p:sldId id="265" r:id="rId11"/>
  </p:sldIdLst>
  <p:sldSz cx="14630400" cy="8229600"/>
  <p:notesSz cx="8229600" cy="14630400"/>
  <p:embeddedFontLst>
    <p:embeddedFont>
      <p:font typeface="Tomorrow" panose="020B0604020202020204" charset="0"/>
      <p:regular r:id="rId13"/>
    </p:embeddedFont>
    <p:embeddedFont>
      <p:font typeface="Tomorrow Semi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102" y="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9713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1F6FB-E2EB-0719-F3FE-A4CFFE1FD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70FEA-077E-28AF-65EF-96107DD4B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888077-5E72-8CFC-CAA1-A5A04227B3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B55368-A04F-3D7B-62E8-1441C7017B7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48219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A17AF-46AE-D792-4308-2266F588F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B7629-108D-80EF-81F5-5E03D747E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A64E5-F98F-27C1-E4EF-66942A1C7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8AF66E-8398-E7F4-3E22-C12D9F8D8C8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00152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103D60F-698A-E4C0-9231-C1F38CADED2F}"/>
              </a:ext>
            </a:extLst>
          </p:cNvPr>
          <p:cNvPicPr>
            <a:picLocks noChangeAspect="1"/>
          </p:cNvPicPr>
          <p:nvPr userDrawn="1"/>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04942" y="657225"/>
            <a:ext cx="7706916" cy="1283018"/>
          </a:xfrm>
          <a:prstGeom prst="rect">
            <a:avLst/>
          </a:prstGeom>
          <a:noFill/>
          <a:ln/>
        </p:spPr>
        <p:txBody>
          <a:bodyPr wrap="square" lIns="0" tIns="0" rIns="0" bIns="0" rtlCol="0" anchor="t"/>
          <a:lstStyle/>
          <a:p>
            <a:pPr marL="0" indent="0" algn="l">
              <a:lnSpc>
                <a:spcPts val="5050"/>
              </a:lnSpc>
              <a:buNone/>
            </a:pPr>
            <a:r>
              <a:rPr lang="en-US" sz="4000" dirty="0">
                <a:solidFill>
                  <a:srgbClr val="EDEDE8"/>
                </a:solidFill>
                <a:latin typeface="Tomorrow Semi Bold" pitchFamily="34" charset="0"/>
                <a:ea typeface="Tomorrow Semi Bold" pitchFamily="34" charset="-122"/>
                <a:cs typeface="Tomorrow Semi Bold" pitchFamily="34" charset="-120"/>
              </a:rPr>
              <a:t>Latin American Nationalism: A New Political Identity</a:t>
            </a:r>
            <a:endParaRPr lang="en-US" sz="4000" dirty="0"/>
          </a:p>
        </p:txBody>
      </p:sp>
      <p:sp>
        <p:nvSpPr>
          <p:cNvPr id="4" name="Text 1"/>
          <p:cNvSpPr/>
          <p:nvPr/>
        </p:nvSpPr>
        <p:spPr>
          <a:xfrm>
            <a:off x="6204942" y="2248138"/>
            <a:ext cx="7706916" cy="1643063"/>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After 1929, a new wave of nationalism swept across Latin America, combining traditional nativist sentiments with a </a:t>
            </a:r>
            <a:r>
              <a:rPr lang="en-US" sz="1600" b="1" dirty="0">
                <a:solidFill>
                  <a:srgbClr val="C9C9C0"/>
                </a:solidFill>
                <a:latin typeface="Tomorrow" pitchFamily="34" charset="0"/>
                <a:ea typeface="Tomorrow" pitchFamily="34" charset="-122"/>
                <a:cs typeface="Tomorrow" pitchFamily="34" charset="-120"/>
              </a:rPr>
              <a:t>strong economic agenda</a:t>
            </a:r>
            <a:r>
              <a:rPr lang="en-US" sz="1600" dirty="0">
                <a:solidFill>
                  <a:srgbClr val="C9C9C0"/>
                </a:solidFill>
                <a:latin typeface="Tomorrow" pitchFamily="34" charset="0"/>
                <a:ea typeface="Tomorrow" pitchFamily="34" charset="-122"/>
                <a:cs typeface="Tomorrow" pitchFamily="34" charset="-120"/>
              </a:rPr>
              <a:t>. This movement was largely driven by middle-class, urban citizens of mixed heritage or recent immigrant descent—groups previously excluded from neocolonial elite circles.</a:t>
            </a:r>
            <a:endParaRPr lang="en-US" sz="1600" dirty="0"/>
          </a:p>
        </p:txBody>
      </p:sp>
      <p:sp>
        <p:nvSpPr>
          <p:cNvPr id="5" name="Text 2"/>
          <p:cNvSpPr/>
          <p:nvPr/>
        </p:nvSpPr>
        <p:spPr>
          <a:xfrm>
            <a:off x="6204942" y="4122182"/>
            <a:ext cx="7706916" cy="1643063"/>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These </a:t>
            </a:r>
            <a:r>
              <a:rPr lang="en-US" sz="1600" b="1" dirty="0">
                <a:solidFill>
                  <a:srgbClr val="C9C9C0"/>
                </a:solidFill>
                <a:latin typeface="Tomorrow" pitchFamily="34" charset="0"/>
                <a:ea typeface="Tomorrow" pitchFamily="34" charset="-122"/>
                <a:cs typeface="Tomorrow" pitchFamily="34" charset="-120"/>
              </a:rPr>
              <a:t>new nationalists</a:t>
            </a:r>
            <a:r>
              <a:rPr lang="en-US" sz="1600" dirty="0">
                <a:solidFill>
                  <a:srgbClr val="C9C9C0"/>
                </a:solidFill>
                <a:latin typeface="Tomorrow" pitchFamily="34" charset="0"/>
                <a:ea typeface="Tomorrow" pitchFamily="34" charset="-122"/>
                <a:cs typeface="Tomorrow" pitchFamily="34" charset="-120"/>
              </a:rPr>
              <a:t> directly challenged the </a:t>
            </a:r>
            <a:r>
              <a:rPr lang="en-US" sz="1600" b="1" dirty="0">
                <a:solidFill>
                  <a:srgbClr val="C9C9C0"/>
                </a:solidFill>
                <a:latin typeface="Tomorrow" pitchFamily="34" charset="0"/>
                <a:ea typeface="Tomorrow" pitchFamily="34" charset="-122"/>
                <a:cs typeface="Tomorrow" pitchFamily="34" charset="-120"/>
              </a:rPr>
              <a:t>cultural and economic dominance</a:t>
            </a:r>
            <a:r>
              <a:rPr lang="en-US" sz="1600" dirty="0">
                <a:solidFill>
                  <a:srgbClr val="C9C9C0"/>
                </a:solidFill>
                <a:latin typeface="Tomorrow" pitchFamily="34" charset="0"/>
                <a:ea typeface="Tomorrow" pitchFamily="34" charset="-122"/>
                <a:cs typeface="Tomorrow" pitchFamily="34" charset="-120"/>
              </a:rPr>
              <a:t> of Europe and the United States. They advocated for </a:t>
            </a:r>
            <a:r>
              <a:rPr lang="en-US" sz="1600" b="1" dirty="0">
                <a:solidFill>
                  <a:srgbClr val="C9C9C0"/>
                </a:solidFill>
                <a:latin typeface="Tomorrow" pitchFamily="34" charset="0"/>
                <a:ea typeface="Tomorrow" pitchFamily="34" charset="-122"/>
                <a:cs typeface="Tomorrow" pitchFamily="34" charset="-120"/>
              </a:rPr>
              <a:t>psychological independence</a:t>
            </a:r>
            <a:r>
              <a:rPr lang="en-US" sz="1600" dirty="0">
                <a:solidFill>
                  <a:srgbClr val="C9C9C0"/>
                </a:solidFill>
                <a:latin typeface="Tomorrow" pitchFamily="34" charset="0"/>
                <a:ea typeface="Tomorrow" pitchFamily="34" charset="-122"/>
                <a:cs typeface="Tomorrow" pitchFamily="34" charset="-120"/>
              </a:rPr>
              <a:t> and promoted pride in </a:t>
            </a:r>
            <a:r>
              <a:rPr lang="en-US" sz="1600" b="1" dirty="0">
                <a:solidFill>
                  <a:srgbClr val="C9C9C0"/>
                </a:solidFill>
                <a:latin typeface="Tomorrow" pitchFamily="34" charset="0"/>
                <a:ea typeface="Tomorrow" pitchFamily="34" charset="-122"/>
                <a:cs typeface="Tomorrow" pitchFamily="34" charset="-120"/>
              </a:rPr>
              <a:t>racial and cultural mixing</a:t>
            </a:r>
            <a:r>
              <a:rPr lang="en-US" sz="1600" dirty="0">
                <a:solidFill>
                  <a:srgbClr val="C9C9C0"/>
                </a:solidFill>
                <a:latin typeface="Tomorrow" pitchFamily="34" charset="0"/>
                <a:ea typeface="Tomorrow" pitchFamily="34" charset="-122"/>
                <a:cs typeface="Tomorrow" pitchFamily="34" charset="-120"/>
              </a:rPr>
              <a:t>, creating a broadly appealing platform centered on inclusion, anti-imperialism, and industrial development.</a:t>
            </a:r>
            <a:endParaRPr lang="en-US" sz="1600" dirty="0"/>
          </a:p>
        </p:txBody>
      </p:sp>
      <p:sp>
        <p:nvSpPr>
          <p:cNvPr id="6" name="Text 3"/>
          <p:cNvSpPr/>
          <p:nvPr/>
        </p:nvSpPr>
        <p:spPr>
          <a:xfrm>
            <a:off x="6204942" y="5996226"/>
            <a:ext cx="7706916" cy="985837"/>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This nationalist movement ultimately provided Latin America with a </a:t>
            </a:r>
            <a:r>
              <a:rPr lang="en-US" sz="1600" b="1" dirty="0">
                <a:solidFill>
                  <a:srgbClr val="C9C9C0"/>
                </a:solidFill>
                <a:latin typeface="Tomorrow" pitchFamily="34" charset="0"/>
                <a:ea typeface="Tomorrow" pitchFamily="34" charset="-122"/>
                <a:cs typeface="Tomorrow" pitchFamily="34" charset="-120"/>
              </a:rPr>
              <a:t>shared political identity</a:t>
            </a:r>
            <a:r>
              <a:rPr lang="en-US" sz="1600" dirty="0">
                <a:solidFill>
                  <a:srgbClr val="C9C9C0"/>
                </a:solidFill>
                <a:latin typeface="Tomorrow" pitchFamily="34" charset="0"/>
                <a:ea typeface="Tomorrow" pitchFamily="34" charset="-122"/>
                <a:cs typeface="Tomorrow" pitchFamily="34" charset="-120"/>
              </a:rPr>
              <a:t> that had been missing since the fragmented independence processes of the early 19th century.</a:t>
            </a:r>
            <a:endParaRPr lang="en-US" sz="1600" dirty="0"/>
          </a:p>
        </p:txBody>
      </p:sp>
      <p:pic>
        <p:nvPicPr>
          <p:cNvPr id="1026" name="Picture 2" descr="Últimas noticias de Hipólito Yrigoyen | TN">
            <a:extLst>
              <a:ext uri="{FF2B5EF4-FFF2-40B4-BE49-F238E27FC236}">
                <a16:creationId xmlns:a16="http://schemas.microsoft.com/office/drawing/2014/main" id="{4B21102F-79F1-442A-6F84-E6689E39C1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33" t="684" r="22313" b="-684"/>
          <a:stretch/>
        </p:blipFill>
        <p:spPr bwMode="auto">
          <a:xfrm>
            <a:off x="100016" y="528638"/>
            <a:ext cx="5986463" cy="6962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1738" y="449223"/>
            <a:ext cx="11933039" cy="510421"/>
          </a:xfrm>
          <a:prstGeom prst="rect">
            <a:avLst/>
          </a:prstGeom>
          <a:noFill/>
          <a:ln/>
        </p:spPr>
        <p:txBody>
          <a:bodyPr wrap="none" lIns="0" tIns="0" rIns="0" bIns="0" rtlCol="0" anchor="t"/>
          <a:lstStyle/>
          <a:p>
            <a:pPr marL="0" indent="0" algn="l">
              <a:lnSpc>
                <a:spcPts val="4000"/>
              </a:lnSpc>
              <a:buNone/>
            </a:pPr>
            <a:r>
              <a:rPr lang="en-US" sz="3200" dirty="0">
                <a:solidFill>
                  <a:srgbClr val="EDEDE8"/>
                </a:solidFill>
                <a:latin typeface="Tomorrow Semi Bold" pitchFamily="34" charset="0"/>
                <a:ea typeface="Tomorrow Semi Bold" pitchFamily="34" charset="-122"/>
                <a:cs typeface="Tomorrow Semi Bold" pitchFamily="34" charset="-120"/>
              </a:rPr>
              <a:t>Cultural Nationalism and the Celebration of Racial Identity</a:t>
            </a:r>
            <a:endParaRPr lang="en-US" sz="3200" dirty="0"/>
          </a:p>
        </p:txBody>
      </p:sp>
      <p:sp>
        <p:nvSpPr>
          <p:cNvPr id="3" name="Text 1"/>
          <p:cNvSpPr/>
          <p:nvPr/>
        </p:nvSpPr>
        <p:spPr>
          <a:xfrm>
            <a:off x="571738" y="1490525"/>
            <a:ext cx="8120849" cy="522684"/>
          </a:xfrm>
          <a:prstGeom prst="rect">
            <a:avLst/>
          </a:prstGeom>
          <a:noFill/>
          <a:ln/>
        </p:spPr>
        <p:txBody>
          <a:bodyPr wrap="square" lIns="0" tIns="0" rIns="0" bIns="0" rtlCol="0" anchor="t"/>
          <a:lstStyle/>
          <a:p>
            <a:pPr>
              <a:lnSpc>
                <a:spcPts val="2550"/>
              </a:lnSpc>
            </a:pPr>
            <a:r>
              <a:rPr lang="en-US" sz="1600" dirty="0">
                <a:solidFill>
                  <a:srgbClr val="C9C9C0"/>
                </a:solidFill>
                <a:latin typeface="Tomorrow" pitchFamily="34" charset="0"/>
              </a:rPr>
              <a:t>Latin American nationalism embraced mestizaje (race mixing), rejecting previous elite aspirations to "whiten" the population. This cultural shift represented a decisive break from the "scientific racism" that had dominated neocolonial ideologies.</a:t>
            </a:r>
          </a:p>
        </p:txBody>
      </p:sp>
      <p:sp>
        <p:nvSpPr>
          <p:cNvPr id="4" name="Text 2"/>
          <p:cNvSpPr/>
          <p:nvPr/>
        </p:nvSpPr>
        <p:spPr>
          <a:xfrm>
            <a:off x="571738" y="2886824"/>
            <a:ext cx="8120849" cy="784027"/>
          </a:xfrm>
          <a:prstGeom prst="rect">
            <a:avLst/>
          </a:prstGeom>
          <a:noFill/>
          <a:ln/>
        </p:spPr>
        <p:txBody>
          <a:bodyPr wrap="square" lIns="0" tIns="0" rIns="0" bIns="0" rtlCol="0" anchor="t"/>
          <a:lstStyle/>
          <a:p>
            <a:pPr>
              <a:lnSpc>
                <a:spcPts val="2550"/>
              </a:lnSpc>
            </a:pPr>
            <a:r>
              <a:rPr lang="en-US" sz="1600" dirty="0">
                <a:solidFill>
                  <a:srgbClr val="C9C9C0"/>
                </a:solidFill>
                <a:latin typeface="Tomorrow" pitchFamily="34" charset="0"/>
              </a:rPr>
              <a:t>Leading artists and intellectuals like Nicolás Guillén, Alejo Carpentier, and Miguel Ángel Asturias played crucial roles in elevating Indigenous and African cultural themes in their work. Guillén's poem "Ballad of the Two Grandfathers" and Portinari's painting "The Coffee Grower" exemplified this movement, both celebrating racial hybridity as national strength.</a:t>
            </a:r>
          </a:p>
        </p:txBody>
      </p:sp>
      <p:sp>
        <p:nvSpPr>
          <p:cNvPr id="8" name="Text 3"/>
          <p:cNvSpPr/>
          <p:nvPr/>
        </p:nvSpPr>
        <p:spPr>
          <a:xfrm>
            <a:off x="571738" y="4971299"/>
            <a:ext cx="8120849" cy="522684"/>
          </a:xfrm>
          <a:prstGeom prst="rect">
            <a:avLst/>
          </a:prstGeom>
          <a:noFill/>
          <a:ln/>
        </p:spPr>
        <p:txBody>
          <a:bodyPr wrap="square" lIns="0" tIns="0" rIns="0" bIns="0" rtlCol="0" anchor="t"/>
          <a:lstStyle/>
          <a:p>
            <a:pPr indent="0">
              <a:lnSpc>
                <a:spcPts val="2550"/>
              </a:lnSpc>
              <a:buNone/>
            </a:pPr>
            <a:r>
              <a:rPr lang="en-US" sz="1600" dirty="0">
                <a:solidFill>
                  <a:srgbClr val="C9C9C0"/>
                </a:solidFill>
                <a:latin typeface="Tomorrow" pitchFamily="34" charset="0"/>
              </a:rPr>
              <a:t>This cultural nationalism represented a profound reimagining of national identity, one that celebrated rather than suppressed the diverse racial heritage of Latin American populations.</a:t>
            </a:r>
          </a:p>
        </p:txBody>
      </p:sp>
      <p:pic>
        <p:nvPicPr>
          <p:cNvPr id="3074" name="Picture 2" descr="Coffee Farm Worker - Candido Portinari — Google Arts &amp; Culture">
            <a:extLst>
              <a:ext uri="{FF2B5EF4-FFF2-40B4-BE49-F238E27FC236}">
                <a16:creationId xmlns:a16="http://schemas.microsoft.com/office/drawing/2014/main" id="{5E5D85BD-0734-4643-A220-6BA1A6869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9592" y="1390509"/>
            <a:ext cx="4465755" cy="58783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3532" y="499467"/>
            <a:ext cx="13363337" cy="1131332"/>
          </a:xfrm>
          <a:prstGeom prst="rect">
            <a:avLst/>
          </a:prstGeom>
          <a:noFill/>
          <a:ln/>
        </p:spPr>
        <p:txBody>
          <a:bodyPr wrap="square" lIns="0" tIns="0" rIns="0" bIns="0" rtlCol="0" anchor="t"/>
          <a:lstStyle/>
          <a:p>
            <a:pPr marL="0" indent="0" algn="l">
              <a:lnSpc>
                <a:spcPts val="4450"/>
              </a:lnSpc>
              <a:buNone/>
            </a:pPr>
            <a:r>
              <a:rPr lang="en-US" sz="3550" dirty="0">
                <a:solidFill>
                  <a:srgbClr val="EDEDE8"/>
                </a:solidFill>
                <a:latin typeface="Tomorrow Semi Bold" pitchFamily="34" charset="0"/>
                <a:ea typeface="Tomorrow Semi Bold" pitchFamily="34" charset="-122"/>
                <a:cs typeface="Tomorrow Semi Bold" pitchFamily="34" charset="-120"/>
              </a:rPr>
              <a:t>The Mexican Revolution: Blueprint for Revolutionary Nationalism</a:t>
            </a:r>
            <a:endParaRPr lang="en-US" sz="3550" dirty="0"/>
          </a:p>
        </p:txBody>
      </p:sp>
      <p:sp>
        <p:nvSpPr>
          <p:cNvPr id="3" name="Text 1"/>
          <p:cNvSpPr/>
          <p:nvPr/>
        </p:nvSpPr>
        <p:spPr>
          <a:xfrm>
            <a:off x="633532" y="1564121"/>
            <a:ext cx="13363337" cy="579120"/>
          </a:xfrm>
          <a:prstGeom prst="rect">
            <a:avLst/>
          </a:prstGeom>
          <a:noFill/>
          <a:ln/>
        </p:spPr>
        <p:txBody>
          <a:bodyPr wrap="square" lIns="0" tIns="0" rIns="0" bIns="0" rtlCol="0" anchor="t"/>
          <a:lstStyle/>
          <a:p>
            <a:pPr marL="0" indent="0" algn="l">
              <a:lnSpc>
                <a:spcPts val="2250"/>
              </a:lnSpc>
              <a:buNone/>
            </a:pPr>
            <a:r>
              <a:rPr lang="en-US" sz="1600" dirty="0">
                <a:solidFill>
                  <a:srgbClr val="C9C9C0"/>
                </a:solidFill>
                <a:latin typeface="Tomorrow" pitchFamily="34" charset="0"/>
                <a:ea typeface="Tomorrow" pitchFamily="34" charset="-122"/>
                <a:cs typeface="Tomorrow" pitchFamily="34" charset="-120"/>
              </a:rPr>
              <a:t>The Mexican Revolution began in 1910 as an uprising against Porfirio Díaz's 34-year dictatorship. It was led by diverse figures with different agendas: </a:t>
            </a:r>
            <a:r>
              <a:rPr lang="en-US" sz="1600" b="1" dirty="0">
                <a:solidFill>
                  <a:srgbClr val="C9C9C0"/>
                </a:solidFill>
                <a:latin typeface="Tomorrow" pitchFamily="34" charset="0"/>
                <a:ea typeface="Tomorrow" pitchFamily="34" charset="-122"/>
                <a:cs typeface="Tomorrow" pitchFamily="34" charset="-120"/>
              </a:rPr>
              <a:t>Madero</a:t>
            </a:r>
            <a:r>
              <a:rPr lang="en-US" sz="1600" dirty="0">
                <a:solidFill>
                  <a:srgbClr val="C9C9C0"/>
                </a:solidFill>
                <a:latin typeface="Tomorrow" pitchFamily="34" charset="0"/>
                <a:ea typeface="Tomorrow" pitchFamily="34" charset="-122"/>
                <a:cs typeface="Tomorrow" pitchFamily="34" charset="-120"/>
              </a:rPr>
              <a:t>, </a:t>
            </a:r>
            <a:r>
              <a:rPr lang="en-US" sz="1600" b="1" dirty="0">
                <a:solidFill>
                  <a:srgbClr val="C9C9C0"/>
                </a:solidFill>
                <a:latin typeface="Tomorrow" pitchFamily="34" charset="0"/>
                <a:ea typeface="Tomorrow" pitchFamily="34" charset="-122"/>
                <a:cs typeface="Tomorrow" pitchFamily="34" charset="-120"/>
              </a:rPr>
              <a:t>Zapata</a:t>
            </a:r>
            <a:r>
              <a:rPr lang="en-US" sz="1600" dirty="0">
                <a:solidFill>
                  <a:srgbClr val="C9C9C0"/>
                </a:solidFill>
                <a:latin typeface="Tomorrow" pitchFamily="34" charset="0"/>
                <a:ea typeface="Tomorrow" pitchFamily="34" charset="-122"/>
                <a:cs typeface="Tomorrow" pitchFamily="34" charset="-120"/>
              </a:rPr>
              <a:t>, </a:t>
            </a:r>
            <a:r>
              <a:rPr lang="en-US" sz="1600" b="1" dirty="0">
                <a:solidFill>
                  <a:srgbClr val="C9C9C0"/>
                </a:solidFill>
                <a:latin typeface="Tomorrow" pitchFamily="34" charset="0"/>
                <a:ea typeface="Tomorrow" pitchFamily="34" charset="-122"/>
                <a:cs typeface="Tomorrow" pitchFamily="34" charset="-120"/>
              </a:rPr>
              <a:t>Pancho Villa</a:t>
            </a:r>
            <a:r>
              <a:rPr lang="en-US" sz="1600" dirty="0">
                <a:solidFill>
                  <a:srgbClr val="C9C9C0"/>
                </a:solidFill>
                <a:latin typeface="Tomorrow" pitchFamily="34" charset="0"/>
                <a:ea typeface="Tomorrow" pitchFamily="34" charset="-122"/>
                <a:cs typeface="Tomorrow" pitchFamily="34" charset="-120"/>
              </a:rPr>
              <a:t>, and later the </a:t>
            </a:r>
            <a:r>
              <a:rPr lang="en-US" sz="1600" b="1" dirty="0">
                <a:solidFill>
                  <a:srgbClr val="C9C9C0"/>
                </a:solidFill>
                <a:latin typeface="Tomorrow" pitchFamily="34" charset="0"/>
                <a:ea typeface="Tomorrow" pitchFamily="34" charset="-122"/>
                <a:cs typeface="Tomorrow" pitchFamily="34" charset="-120"/>
              </a:rPr>
              <a:t>Constitutionalists</a:t>
            </a:r>
            <a:r>
              <a:rPr lang="en-US" sz="1600" dirty="0">
                <a:solidFill>
                  <a:srgbClr val="C9C9C0"/>
                </a:solidFill>
                <a:latin typeface="Tomorrow" pitchFamily="34" charset="0"/>
                <a:ea typeface="Tomorrow" pitchFamily="34" charset="-122"/>
                <a:cs typeface="Tomorrow" pitchFamily="34" charset="-120"/>
              </a:rPr>
              <a:t>.</a:t>
            </a:r>
            <a:endParaRPr lang="en-US" sz="1600" dirty="0"/>
          </a:p>
        </p:txBody>
      </p:sp>
      <p:sp>
        <p:nvSpPr>
          <p:cNvPr id="4" name="Text 2"/>
          <p:cNvSpPr/>
          <p:nvPr/>
        </p:nvSpPr>
        <p:spPr>
          <a:xfrm>
            <a:off x="633532" y="2604010"/>
            <a:ext cx="13363337" cy="579120"/>
          </a:xfrm>
          <a:prstGeom prst="rect">
            <a:avLst/>
          </a:prstGeom>
          <a:noFill/>
          <a:ln/>
        </p:spPr>
        <p:txBody>
          <a:bodyPr wrap="square" lIns="0" tIns="0" rIns="0" bIns="0" rtlCol="0" anchor="t"/>
          <a:lstStyle/>
          <a:p>
            <a:pPr marL="0" indent="0" algn="l">
              <a:lnSpc>
                <a:spcPts val="2250"/>
              </a:lnSpc>
              <a:buNone/>
            </a:pPr>
            <a:r>
              <a:rPr lang="en-US" sz="1600" dirty="0">
                <a:solidFill>
                  <a:srgbClr val="C9C9C0"/>
                </a:solidFill>
                <a:latin typeface="Tomorrow" pitchFamily="34" charset="0"/>
                <a:ea typeface="Tomorrow" pitchFamily="34" charset="-122"/>
                <a:cs typeface="Tomorrow" pitchFamily="34" charset="-120"/>
              </a:rPr>
              <a:t>The revolution culminated in the </a:t>
            </a:r>
            <a:r>
              <a:rPr lang="en-US" sz="1600" b="1" dirty="0">
                <a:solidFill>
                  <a:srgbClr val="C9C9C0"/>
                </a:solidFill>
                <a:latin typeface="Tomorrow" pitchFamily="34" charset="0"/>
                <a:ea typeface="Tomorrow" pitchFamily="34" charset="-122"/>
                <a:cs typeface="Tomorrow" pitchFamily="34" charset="-120"/>
              </a:rPr>
              <a:t>1917 Constitution</a:t>
            </a:r>
            <a:r>
              <a:rPr lang="en-US" sz="1600" dirty="0">
                <a:solidFill>
                  <a:srgbClr val="C9C9C0"/>
                </a:solidFill>
                <a:latin typeface="Tomorrow" pitchFamily="34" charset="0"/>
                <a:ea typeface="Tomorrow" pitchFamily="34" charset="-122"/>
                <a:cs typeface="Tomorrow" pitchFamily="34" charset="-120"/>
              </a:rPr>
              <a:t>, which established groundbreaking nationalist principles through Article 27 (nationalizing subsoil rights including oil) and Article 123 (establishing labor rights), while limiting foreign and Church power.</a:t>
            </a:r>
            <a:endParaRPr lang="en-US" sz="1600" dirty="0"/>
          </a:p>
        </p:txBody>
      </p:sp>
      <p:sp>
        <p:nvSpPr>
          <p:cNvPr id="5" name="Shape 3"/>
          <p:cNvSpPr/>
          <p:nvPr/>
        </p:nvSpPr>
        <p:spPr>
          <a:xfrm>
            <a:off x="633532" y="4963239"/>
            <a:ext cx="13363337" cy="22860"/>
          </a:xfrm>
          <a:prstGeom prst="roundRect">
            <a:avLst>
              <a:gd name="adj" fmla="val 118788"/>
            </a:avLst>
          </a:prstGeom>
          <a:solidFill>
            <a:srgbClr val="555553"/>
          </a:solidFill>
          <a:ln/>
        </p:spPr>
        <p:txBody>
          <a:bodyPr/>
          <a:lstStyle/>
          <a:p>
            <a:endParaRPr lang="en-US"/>
          </a:p>
        </p:txBody>
      </p:sp>
      <p:sp>
        <p:nvSpPr>
          <p:cNvPr id="6" name="Shape 4"/>
          <p:cNvSpPr/>
          <p:nvPr/>
        </p:nvSpPr>
        <p:spPr>
          <a:xfrm>
            <a:off x="3226713" y="4420255"/>
            <a:ext cx="22860" cy="543044"/>
          </a:xfrm>
          <a:prstGeom prst="roundRect">
            <a:avLst>
              <a:gd name="adj" fmla="val 118788"/>
            </a:avLst>
          </a:prstGeom>
          <a:solidFill>
            <a:srgbClr val="555553"/>
          </a:solidFill>
          <a:ln/>
        </p:spPr>
        <p:txBody>
          <a:bodyPr/>
          <a:lstStyle/>
          <a:p>
            <a:endParaRPr lang="en-US"/>
          </a:p>
        </p:txBody>
      </p:sp>
      <p:sp>
        <p:nvSpPr>
          <p:cNvPr id="7" name="Shape 5"/>
          <p:cNvSpPr/>
          <p:nvPr/>
        </p:nvSpPr>
        <p:spPr>
          <a:xfrm>
            <a:off x="3034546" y="4759583"/>
            <a:ext cx="407313" cy="407313"/>
          </a:xfrm>
          <a:prstGeom prst="roundRect">
            <a:avLst>
              <a:gd name="adj" fmla="val 6667"/>
            </a:avLst>
          </a:prstGeom>
          <a:solidFill>
            <a:srgbClr val="3C3C3A"/>
          </a:solidFill>
          <a:ln/>
        </p:spPr>
        <p:txBody>
          <a:bodyPr/>
          <a:lstStyle/>
          <a:p>
            <a:endParaRPr lang="en-US"/>
          </a:p>
        </p:txBody>
      </p:sp>
      <p:sp>
        <p:nvSpPr>
          <p:cNvPr id="8" name="Text 6"/>
          <p:cNvSpPr/>
          <p:nvPr/>
        </p:nvSpPr>
        <p:spPr>
          <a:xfrm>
            <a:off x="3102412" y="4793516"/>
            <a:ext cx="271463" cy="339328"/>
          </a:xfrm>
          <a:prstGeom prst="rect">
            <a:avLst/>
          </a:prstGeom>
          <a:noFill/>
          <a:ln/>
        </p:spPr>
        <p:txBody>
          <a:bodyPr wrap="none" lIns="0" tIns="0" rIns="0" bIns="0" rtlCol="0" anchor="t"/>
          <a:lstStyle/>
          <a:p>
            <a:pPr marL="0" indent="0" algn="ctr">
              <a:lnSpc>
                <a:spcPts val="2100"/>
              </a:lnSpc>
              <a:buNone/>
            </a:pPr>
            <a:r>
              <a:rPr lang="en-US" sz="2100" dirty="0">
                <a:solidFill>
                  <a:srgbClr val="C9C9C0"/>
                </a:solidFill>
                <a:latin typeface="Tomorrow Semi Bold" pitchFamily="34" charset="0"/>
                <a:ea typeface="Tomorrow Semi Bold" pitchFamily="34" charset="-122"/>
                <a:cs typeface="Tomorrow Semi Bold" pitchFamily="34" charset="-120"/>
              </a:rPr>
              <a:t>1</a:t>
            </a:r>
            <a:endParaRPr lang="en-US" sz="2100" dirty="0"/>
          </a:p>
        </p:txBody>
      </p:sp>
      <p:sp>
        <p:nvSpPr>
          <p:cNvPr id="9" name="Text 7"/>
          <p:cNvSpPr/>
          <p:nvPr/>
        </p:nvSpPr>
        <p:spPr>
          <a:xfrm>
            <a:off x="2106811" y="3558183"/>
            <a:ext cx="2262902" cy="282893"/>
          </a:xfrm>
          <a:prstGeom prst="rect">
            <a:avLst/>
          </a:prstGeom>
          <a:noFill/>
          <a:ln/>
        </p:spPr>
        <p:txBody>
          <a:bodyPr wrap="none" lIns="0" tIns="0" rIns="0" bIns="0" rtlCol="0" anchor="t"/>
          <a:lstStyle/>
          <a:p>
            <a:pPr marL="0" indent="0" algn="ct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1910</a:t>
            </a:r>
            <a:endParaRPr lang="en-US" sz="1750" dirty="0"/>
          </a:p>
        </p:txBody>
      </p:sp>
      <p:sp>
        <p:nvSpPr>
          <p:cNvPr id="10" name="Text 8"/>
          <p:cNvSpPr/>
          <p:nvPr/>
        </p:nvSpPr>
        <p:spPr>
          <a:xfrm>
            <a:off x="814507" y="3949660"/>
            <a:ext cx="4847630" cy="289560"/>
          </a:xfrm>
          <a:prstGeom prst="rect">
            <a:avLst/>
          </a:prstGeom>
          <a:noFill/>
          <a:ln/>
        </p:spPr>
        <p:txBody>
          <a:bodyPr wrap="none" lIns="0" tIns="0" rIns="0" bIns="0" rtlCol="0" anchor="t"/>
          <a:lstStyle/>
          <a:p>
            <a:pPr marL="0" indent="0" algn="ctr">
              <a:lnSpc>
                <a:spcPts val="2250"/>
              </a:lnSpc>
              <a:buNone/>
            </a:pPr>
            <a:r>
              <a:rPr lang="en-US" sz="1400" dirty="0">
                <a:solidFill>
                  <a:srgbClr val="C9C9C0"/>
                </a:solidFill>
                <a:latin typeface="Tomorrow" pitchFamily="34" charset="0"/>
                <a:ea typeface="Tomorrow" pitchFamily="34" charset="-122"/>
                <a:cs typeface="Tomorrow" pitchFamily="34" charset="-120"/>
              </a:rPr>
              <a:t>Revolution begins against Porfirio Díaz</a:t>
            </a:r>
            <a:endParaRPr lang="en-US" sz="1400" dirty="0"/>
          </a:p>
        </p:txBody>
      </p:sp>
      <p:sp>
        <p:nvSpPr>
          <p:cNvPr id="11" name="Shape 9"/>
          <p:cNvSpPr/>
          <p:nvPr/>
        </p:nvSpPr>
        <p:spPr>
          <a:xfrm>
            <a:off x="5944553" y="4963180"/>
            <a:ext cx="22860" cy="543044"/>
          </a:xfrm>
          <a:prstGeom prst="roundRect">
            <a:avLst>
              <a:gd name="adj" fmla="val 118788"/>
            </a:avLst>
          </a:prstGeom>
          <a:solidFill>
            <a:srgbClr val="555553"/>
          </a:solidFill>
          <a:ln/>
        </p:spPr>
        <p:txBody>
          <a:bodyPr/>
          <a:lstStyle/>
          <a:p>
            <a:endParaRPr lang="en-US"/>
          </a:p>
        </p:txBody>
      </p:sp>
      <p:sp>
        <p:nvSpPr>
          <p:cNvPr id="12" name="Shape 10"/>
          <p:cNvSpPr/>
          <p:nvPr/>
        </p:nvSpPr>
        <p:spPr>
          <a:xfrm>
            <a:off x="5752386" y="4759583"/>
            <a:ext cx="407313" cy="407313"/>
          </a:xfrm>
          <a:prstGeom prst="roundRect">
            <a:avLst>
              <a:gd name="adj" fmla="val 6667"/>
            </a:avLst>
          </a:prstGeom>
          <a:solidFill>
            <a:srgbClr val="3C3C3A"/>
          </a:solidFill>
          <a:ln/>
        </p:spPr>
        <p:txBody>
          <a:bodyPr/>
          <a:lstStyle/>
          <a:p>
            <a:endParaRPr lang="en-US"/>
          </a:p>
        </p:txBody>
      </p:sp>
      <p:sp>
        <p:nvSpPr>
          <p:cNvPr id="13" name="Text 11"/>
          <p:cNvSpPr/>
          <p:nvPr/>
        </p:nvSpPr>
        <p:spPr>
          <a:xfrm>
            <a:off x="5820251" y="4793516"/>
            <a:ext cx="271463" cy="339328"/>
          </a:xfrm>
          <a:prstGeom prst="rect">
            <a:avLst/>
          </a:prstGeom>
          <a:noFill/>
          <a:ln/>
        </p:spPr>
        <p:txBody>
          <a:bodyPr wrap="none" lIns="0" tIns="0" rIns="0" bIns="0" rtlCol="0" anchor="t"/>
          <a:lstStyle/>
          <a:p>
            <a:pPr marL="0" indent="0" algn="ctr">
              <a:lnSpc>
                <a:spcPts val="2100"/>
              </a:lnSpc>
              <a:buNone/>
            </a:pPr>
            <a:r>
              <a:rPr lang="en-US" sz="2100" dirty="0">
                <a:solidFill>
                  <a:srgbClr val="C9C9C0"/>
                </a:solidFill>
                <a:latin typeface="Tomorrow Semi Bold" pitchFamily="34" charset="0"/>
                <a:ea typeface="Tomorrow Semi Bold" pitchFamily="34" charset="-122"/>
                <a:cs typeface="Tomorrow Semi Bold" pitchFamily="34" charset="-120"/>
              </a:rPr>
              <a:t>2</a:t>
            </a:r>
            <a:endParaRPr lang="en-US" sz="2100" dirty="0"/>
          </a:p>
        </p:txBody>
      </p:sp>
      <p:sp>
        <p:nvSpPr>
          <p:cNvPr id="14" name="Text 12"/>
          <p:cNvSpPr/>
          <p:nvPr/>
        </p:nvSpPr>
        <p:spPr>
          <a:xfrm>
            <a:off x="4824651" y="5687258"/>
            <a:ext cx="2262902" cy="282893"/>
          </a:xfrm>
          <a:prstGeom prst="rect">
            <a:avLst/>
          </a:prstGeom>
          <a:noFill/>
          <a:ln/>
        </p:spPr>
        <p:txBody>
          <a:bodyPr wrap="none" lIns="0" tIns="0" rIns="0" bIns="0" rtlCol="0" anchor="t"/>
          <a:lstStyle/>
          <a:p>
            <a:pPr marL="0" indent="0" algn="ct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1911-1916</a:t>
            </a:r>
            <a:endParaRPr lang="en-US" sz="1750" dirty="0"/>
          </a:p>
        </p:txBody>
      </p:sp>
      <p:sp>
        <p:nvSpPr>
          <p:cNvPr id="15" name="Text 13"/>
          <p:cNvSpPr/>
          <p:nvPr/>
        </p:nvSpPr>
        <p:spPr>
          <a:xfrm>
            <a:off x="3532346" y="6078736"/>
            <a:ext cx="4847630" cy="289560"/>
          </a:xfrm>
          <a:prstGeom prst="rect">
            <a:avLst/>
          </a:prstGeom>
          <a:noFill/>
          <a:ln/>
        </p:spPr>
        <p:txBody>
          <a:bodyPr wrap="none" lIns="0" tIns="0" rIns="0" bIns="0" rtlCol="0" anchor="t"/>
          <a:lstStyle/>
          <a:p>
            <a:pPr marL="0" indent="0" algn="ctr">
              <a:lnSpc>
                <a:spcPts val="2250"/>
              </a:lnSpc>
              <a:buNone/>
            </a:pPr>
            <a:r>
              <a:rPr lang="en-US" sz="1400" dirty="0">
                <a:solidFill>
                  <a:srgbClr val="C9C9C0"/>
                </a:solidFill>
                <a:latin typeface="Tomorrow" pitchFamily="34" charset="0"/>
                <a:ea typeface="Tomorrow" pitchFamily="34" charset="-122"/>
                <a:cs typeface="Tomorrow" pitchFamily="34" charset="-120"/>
              </a:rPr>
              <a:t>Multiple revolutionary factions fight for control</a:t>
            </a:r>
            <a:endParaRPr lang="en-US" sz="1400" dirty="0"/>
          </a:p>
        </p:txBody>
      </p:sp>
      <p:sp>
        <p:nvSpPr>
          <p:cNvPr id="16" name="Shape 14"/>
          <p:cNvSpPr/>
          <p:nvPr/>
        </p:nvSpPr>
        <p:spPr>
          <a:xfrm>
            <a:off x="8662511" y="4420255"/>
            <a:ext cx="22860" cy="543044"/>
          </a:xfrm>
          <a:prstGeom prst="roundRect">
            <a:avLst>
              <a:gd name="adj" fmla="val 118788"/>
            </a:avLst>
          </a:prstGeom>
          <a:solidFill>
            <a:srgbClr val="555553"/>
          </a:solidFill>
          <a:ln/>
        </p:spPr>
        <p:txBody>
          <a:bodyPr/>
          <a:lstStyle/>
          <a:p>
            <a:endParaRPr lang="en-US"/>
          </a:p>
        </p:txBody>
      </p:sp>
      <p:sp>
        <p:nvSpPr>
          <p:cNvPr id="17" name="Shape 15"/>
          <p:cNvSpPr/>
          <p:nvPr/>
        </p:nvSpPr>
        <p:spPr>
          <a:xfrm>
            <a:off x="8470344" y="4759583"/>
            <a:ext cx="407313" cy="407313"/>
          </a:xfrm>
          <a:prstGeom prst="roundRect">
            <a:avLst>
              <a:gd name="adj" fmla="val 6667"/>
            </a:avLst>
          </a:prstGeom>
          <a:solidFill>
            <a:srgbClr val="3C3C3A"/>
          </a:solidFill>
          <a:ln/>
        </p:spPr>
        <p:txBody>
          <a:bodyPr/>
          <a:lstStyle/>
          <a:p>
            <a:endParaRPr lang="en-US"/>
          </a:p>
        </p:txBody>
      </p:sp>
      <p:sp>
        <p:nvSpPr>
          <p:cNvPr id="18" name="Text 16"/>
          <p:cNvSpPr/>
          <p:nvPr/>
        </p:nvSpPr>
        <p:spPr>
          <a:xfrm>
            <a:off x="8538210" y="4793516"/>
            <a:ext cx="271463" cy="339328"/>
          </a:xfrm>
          <a:prstGeom prst="rect">
            <a:avLst/>
          </a:prstGeom>
          <a:noFill/>
          <a:ln/>
        </p:spPr>
        <p:txBody>
          <a:bodyPr wrap="none" lIns="0" tIns="0" rIns="0" bIns="0" rtlCol="0" anchor="t"/>
          <a:lstStyle/>
          <a:p>
            <a:pPr marL="0" indent="0" algn="ctr">
              <a:lnSpc>
                <a:spcPts val="2100"/>
              </a:lnSpc>
              <a:buNone/>
            </a:pPr>
            <a:r>
              <a:rPr lang="en-US" sz="2100" dirty="0">
                <a:solidFill>
                  <a:srgbClr val="C9C9C0"/>
                </a:solidFill>
                <a:latin typeface="Tomorrow Semi Bold" pitchFamily="34" charset="0"/>
                <a:ea typeface="Tomorrow Semi Bold" pitchFamily="34" charset="-122"/>
                <a:cs typeface="Tomorrow Semi Bold" pitchFamily="34" charset="-120"/>
              </a:rPr>
              <a:t>3</a:t>
            </a:r>
            <a:endParaRPr lang="en-US" sz="2100" dirty="0"/>
          </a:p>
        </p:txBody>
      </p:sp>
      <p:sp>
        <p:nvSpPr>
          <p:cNvPr id="19" name="Text 17"/>
          <p:cNvSpPr/>
          <p:nvPr/>
        </p:nvSpPr>
        <p:spPr>
          <a:xfrm>
            <a:off x="7542609" y="3558183"/>
            <a:ext cx="2262902" cy="282893"/>
          </a:xfrm>
          <a:prstGeom prst="rect">
            <a:avLst/>
          </a:prstGeom>
          <a:noFill/>
          <a:ln/>
        </p:spPr>
        <p:txBody>
          <a:bodyPr wrap="none" lIns="0" tIns="0" rIns="0" bIns="0" rtlCol="0" anchor="t"/>
          <a:lstStyle/>
          <a:p>
            <a:pPr marL="0" indent="0" algn="ct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1917</a:t>
            </a:r>
            <a:endParaRPr lang="en-US" sz="1750" dirty="0"/>
          </a:p>
        </p:txBody>
      </p:sp>
      <p:sp>
        <p:nvSpPr>
          <p:cNvPr id="20" name="Text 18"/>
          <p:cNvSpPr/>
          <p:nvPr/>
        </p:nvSpPr>
        <p:spPr>
          <a:xfrm>
            <a:off x="6250305" y="3949660"/>
            <a:ext cx="4847630" cy="289560"/>
          </a:xfrm>
          <a:prstGeom prst="rect">
            <a:avLst/>
          </a:prstGeom>
          <a:noFill/>
          <a:ln/>
        </p:spPr>
        <p:txBody>
          <a:bodyPr wrap="none" lIns="0" tIns="0" rIns="0" bIns="0" rtlCol="0" anchor="t"/>
          <a:lstStyle/>
          <a:p>
            <a:pPr marL="0" indent="0" algn="ctr">
              <a:lnSpc>
                <a:spcPts val="2250"/>
              </a:lnSpc>
              <a:buNone/>
            </a:pPr>
            <a:r>
              <a:rPr lang="en-US" sz="1400" dirty="0">
                <a:solidFill>
                  <a:srgbClr val="C9C9C0"/>
                </a:solidFill>
                <a:latin typeface="Tomorrow" pitchFamily="34" charset="0"/>
                <a:ea typeface="Tomorrow" pitchFamily="34" charset="-122"/>
                <a:cs typeface="Tomorrow" pitchFamily="34" charset="-120"/>
              </a:rPr>
              <a:t>Revolutionary Constitution established</a:t>
            </a:r>
            <a:endParaRPr lang="en-US" sz="1400" dirty="0"/>
          </a:p>
        </p:txBody>
      </p:sp>
      <p:sp>
        <p:nvSpPr>
          <p:cNvPr id="21" name="Shape 19"/>
          <p:cNvSpPr/>
          <p:nvPr/>
        </p:nvSpPr>
        <p:spPr>
          <a:xfrm>
            <a:off x="11380351" y="4963180"/>
            <a:ext cx="22860" cy="543044"/>
          </a:xfrm>
          <a:prstGeom prst="roundRect">
            <a:avLst>
              <a:gd name="adj" fmla="val 118788"/>
            </a:avLst>
          </a:prstGeom>
          <a:solidFill>
            <a:srgbClr val="555553"/>
          </a:solidFill>
          <a:ln/>
        </p:spPr>
        <p:txBody>
          <a:bodyPr/>
          <a:lstStyle/>
          <a:p>
            <a:endParaRPr lang="en-US"/>
          </a:p>
        </p:txBody>
      </p:sp>
      <p:sp>
        <p:nvSpPr>
          <p:cNvPr id="22" name="Shape 20"/>
          <p:cNvSpPr/>
          <p:nvPr/>
        </p:nvSpPr>
        <p:spPr>
          <a:xfrm>
            <a:off x="11188184" y="4759583"/>
            <a:ext cx="407313" cy="407313"/>
          </a:xfrm>
          <a:prstGeom prst="roundRect">
            <a:avLst>
              <a:gd name="adj" fmla="val 6667"/>
            </a:avLst>
          </a:prstGeom>
          <a:solidFill>
            <a:srgbClr val="3C3C3A"/>
          </a:solidFill>
          <a:ln/>
        </p:spPr>
        <p:txBody>
          <a:bodyPr/>
          <a:lstStyle/>
          <a:p>
            <a:endParaRPr lang="en-US"/>
          </a:p>
        </p:txBody>
      </p:sp>
      <p:sp>
        <p:nvSpPr>
          <p:cNvPr id="23" name="Text 21"/>
          <p:cNvSpPr/>
          <p:nvPr/>
        </p:nvSpPr>
        <p:spPr>
          <a:xfrm>
            <a:off x="11256050" y="4793516"/>
            <a:ext cx="271463" cy="339328"/>
          </a:xfrm>
          <a:prstGeom prst="rect">
            <a:avLst/>
          </a:prstGeom>
          <a:noFill/>
          <a:ln/>
        </p:spPr>
        <p:txBody>
          <a:bodyPr wrap="none" lIns="0" tIns="0" rIns="0" bIns="0" rtlCol="0" anchor="t"/>
          <a:lstStyle/>
          <a:p>
            <a:pPr marL="0" indent="0" algn="ctr">
              <a:lnSpc>
                <a:spcPts val="2100"/>
              </a:lnSpc>
              <a:buNone/>
            </a:pPr>
            <a:r>
              <a:rPr lang="en-US" sz="2100" dirty="0">
                <a:solidFill>
                  <a:srgbClr val="C9C9C0"/>
                </a:solidFill>
                <a:latin typeface="Tomorrow Semi Bold" pitchFamily="34" charset="0"/>
                <a:ea typeface="Tomorrow Semi Bold" pitchFamily="34" charset="-122"/>
                <a:cs typeface="Tomorrow Semi Bold" pitchFamily="34" charset="-120"/>
              </a:rPr>
              <a:t>4</a:t>
            </a:r>
            <a:endParaRPr lang="en-US" sz="2100" dirty="0"/>
          </a:p>
        </p:txBody>
      </p:sp>
      <p:sp>
        <p:nvSpPr>
          <p:cNvPr id="24" name="Text 22"/>
          <p:cNvSpPr/>
          <p:nvPr/>
        </p:nvSpPr>
        <p:spPr>
          <a:xfrm>
            <a:off x="10260449" y="5687258"/>
            <a:ext cx="2262902" cy="282893"/>
          </a:xfrm>
          <a:prstGeom prst="rect">
            <a:avLst/>
          </a:prstGeom>
          <a:noFill/>
          <a:ln/>
        </p:spPr>
        <p:txBody>
          <a:bodyPr wrap="none" lIns="0" tIns="0" rIns="0" bIns="0" rtlCol="0" anchor="t"/>
          <a:lstStyle/>
          <a:p>
            <a:pPr marL="0" indent="0" algn="ctr">
              <a:lnSpc>
                <a:spcPts val="2200"/>
              </a:lnSpc>
              <a:buNone/>
            </a:pPr>
            <a:r>
              <a:rPr lang="en-US" sz="1750" dirty="0">
                <a:solidFill>
                  <a:srgbClr val="C9C9C0"/>
                </a:solidFill>
                <a:latin typeface="Tomorrow Semi Bold" pitchFamily="34" charset="0"/>
                <a:ea typeface="Tomorrow Semi Bold" pitchFamily="34" charset="-122"/>
                <a:cs typeface="Tomorrow Semi Bold" pitchFamily="34" charset="-120"/>
              </a:rPr>
              <a:t>1920s-1930s</a:t>
            </a:r>
            <a:endParaRPr lang="en-US" sz="1750" dirty="0"/>
          </a:p>
        </p:txBody>
      </p:sp>
      <p:sp>
        <p:nvSpPr>
          <p:cNvPr id="25" name="Text 23"/>
          <p:cNvSpPr/>
          <p:nvPr/>
        </p:nvSpPr>
        <p:spPr>
          <a:xfrm>
            <a:off x="8968145" y="6078736"/>
            <a:ext cx="4847630" cy="579120"/>
          </a:xfrm>
          <a:prstGeom prst="rect">
            <a:avLst/>
          </a:prstGeom>
          <a:noFill/>
          <a:ln/>
        </p:spPr>
        <p:txBody>
          <a:bodyPr wrap="square" lIns="0" tIns="0" rIns="0" bIns="0" rtlCol="0" anchor="t"/>
          <a:lstStyle/>
          <a:p>
            <a:pPr marL="0" indent="0" algn="ctr">
              <a:lnSpc>
                <a:spcPts val="2250"/>
              </a:lnSpc>
              <a:buNone/>
            </a:pPr>
            <a:r>
              <a:rPr lang="en-US" sz="1400" dirty="0">
                <a:solidFill>
                  <a:srgbClr val="C9C9C0"/>
                </a:solidFill>
                <a:latin typeface="Tomorrow" pitchFamily="34" charset="0"/>
                <a:ea typeface="Tomorrow" pitchFamily="34" charset="-122"/>
                <a:cs typeface="Tomorrow" pitchFamily="34" charset="-120"/>
              </a:rPr>
              <a:t>Post-revolution governments build nationalist legitimacy</a:t>
            </a:r>
            <a:endParaRPr lang="en-US" sz="1400" dirty="0"/>
          </a:p>
        </p:txBody>
      </p:sp>
      <p:sp>
        <p:nvSpPr>
          <p:cNvPr id="26" name="Text 24"/>
          <p:cNvSpPr/>
          <p:nvPr/>
        </p:nvSpPr>
        <p:spPr>
          <a:xfrm>
            <a:off x="633532" y="6861453"/>
            <a:ext cx="13363337" cy="868680"/>
          </a:xfrm>
          <a:prstGeom prst="rect">
            <a:avLst/>
          </a:prstGeom>
          <a:noFill/>
          <a:ln/>
        </p:spPr>
        <p:txBody>
          <a:bodyPr wrap="square" lIns="0" tIns="0" rIns="0" bIns="0" rtlCol="0" anchor="t"/>
          <a:lstStyle/>
          <a:p>
            <a:pPr marL="0" indent="0" algn="l">
              <a:lnSpc>
                <a:spcPts val="2250"/>
              </a:lnSpc>
              <a:buNone/>
            </a:pPr>
            <a:r>
              <a:rPr lang="en-US" sz="1600" dirty="0">
                <a:solidFill>
                  <a:srgbClr val="C9C9C0"/>
                </a:solidFill>
                <a:latin typeface="Tomorrow" pitchFamily="34" charset="0"/>
                <a:ea typeface="Tomorrow" pitchFamily="34" charset="-122"/>
                <a:cs typeface="Tomorrow" pitchFamily="34" charset="-120"/>
              </a:rPr>
              <a:t>Post-revolutionary governments used education, land reform, and culture to build nationalist legitimacy. </a:t>
            </a:r>
            <a:r>
              <a:rPr lang="en-US" sz="1600" b="1" dirty="0">
                <a:solidFill>
                  <a:srgbClr val="C9C9C0"/>
                </a:solidFill>
                <a:latin typeface="Tomorrow" pitchFamily="34" charset="0"/>
                <a:ea typeface="Tomorrow" pitchFamily="34" charset="-122"/>
                <a:cs typeface="Tomorrow" pitchFamily="34" charset="-120"/>
              </a:rPr>
              <a:t>José Vasconcelos</a:t>
            </a:r>
            <a:r>
              <a:rPr lang="en-US" sz="1600" dirty="0">
                <a:solidFill>
                  <a:srgbClr val="C9C9C0"/>
                </a:solidFill>
                <a:latin typeface="Tomorrow" pitchFamily="34" charset="0"/>
                <a:ea typeface="Tomorrow" pitchFamily="34" charset="-122"/>
                <a:cs typeface="Tomorrow" pitchFamily="34" charset="-120"/>
              </a:rPr>
              <a:t> and artists like </a:t>
            </a:r>
            <a:r>
              <a:rPr lang="en-US" sz="1600" b="1" dirty="0">
                <a:solidFill>
                  <a:srgbClr val="C9C9C0"/>
                </a:solidFill>
                <a:latin typeface="Tomorrow" pitchFamily="34" charset="0"/>
                <a:ea typeface="Tomorrow" pitchFamily="34" charset="-122"/>
                <a:cs typeface="Tomorrow" pitchFamily="34" charset="-120"/>
              </a:rPr>
              <a:t>Diego Rivera</a:t>
            </a:r>
            <a:r>
              <a:rPr lang="en-US" sz="1600" dirty="0">
                <a:solidFill>
                  <a:srgbClr val="C9C9C0"/>
                </a:solidFill>
                <a:latin typeface="Tomorrow" pitchFamily="34" charset="0"/>
                <a:ea typeface="Tomorrow" pitchFamily="34" charset="-122"/>
                <a:cs typeface="Tomorrow" pitchFamily="34" charset="-120"/>
              </a:rPr>
              <a:t> and </a:t>
            </a:r>
            <a:r>
              <a:rPr lang="en-US" sz="1600" b="1" dirty="0">
                <a:solidFill>
                  <a:srgbClr val="C9C9C0"/>
                </a:solidFill>
                <a:latin typeface="Tomorrow" pitchFamily="34" charset="0"/>
                <a:ea typeface="Tomorrow" pitchFamily="34" charset="-122"/>
                <a:cs typeface="Tomorrow" pitchFamily="34" charset="-120"/>
              </a:rPr>
              <a:t>Frida Kahlo</a:t>
            </a:r>
            <a:r>
              <a:rPr lang="en-US" sz="1600" dirty="0">
                <a:solidFill>
                  <a:srgbClr val="C9C9C0"/>
                </a:solidFill>
                <a:latin typeface="Tomorrow" pitchFamily="34" charset="0"/>
                <a:ea typeface="Tomorrow" pitchFamily="34" charset="-122"/>
                <a:cs typeface="Tomorrow" pitchFamily="34" charset="-120"/>
              </a:rPr>
              <a:t> became central figures in this cultural nationalist movement, creating works that celebrated Mexico's indigenous heritage and revolutionary spirit.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1069658"/>
            <a:ext cx="12384643" cy="653177"/>
          </a:xfrm>
          <a:prstGeom prst="rect">
            <a:avLst/>
          </a:prstGeom>
          <a:noFill/>
          <a:ln/>
        </p:spPr>
        <p:txBody>
          <a:bodyPr wrap="none" lIns="0" tIns="0" rIns="0" bIns="0" rtlCol="0" anchor="t"/>
          <a:lstStyle/>
          <a:p>
            <a:pPr marL="0" indent="0" algn="l">
              <a:lnSpc>
                <a:spcPts val="5100"/>
              </a:lnSpc>
              <a:buNone/>
            </a:pPr>
            <a:r>
              <a:rPr lang="en-US" sz="4100" dirty="0">
                <a:solidFill>
                  <a:srgbClr val="EDEDE8"/>
                </a:solidFill>
                <a:latin typeface="Tomorrow Semi Bold" pitchFamily="34" charset="0"/>
                <a:ea typeface="Tomorrow Semi Bold" pitchFamily="34" charset="-122"/>
                <a:cs typeface="Tomorrow Semi Bold" pitchFamily="34" charset="-120"/>
              </a:rPr>
              <a:t>Nationalist Governments Across Latin America</a:t>
            </a:r>
            <a:endParaRPr lang="en-US" sz="4100" dirty="0"/>
          </a:p>
        </p:txBody>
      </p:sp>
      <p:sp>
        <p:nvSpPr>
          <p:cNvPr id="3" name="Text 1"/>
          <p:cNvSpPr/>
          <p:nvPr/>
        </p:nvSpPr>
        <p:spPr>
          <a:xfrm>
            <a:off x="731520" y="2140863"/>
            <a:ext cx="13167360" cy="668893"/>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Nationalist movements took different forms across Latin America, with several countries establishing governments focused on national development and sovereignty.</a:t>
            </a:r>
            <a:endParaRPr lang="en-US" sz="1600" dirty="0"/>
          </a:p>
        </p:txBody>
      </p:sp>
      <p:sp>
        <p:nvSpPr>
          <p:cNvPr id="4" name="Shape 2"/>
          <p:cNvSpPr/>
          <p:nvPr/>
        </p:nvSpPr>
        <p:spPr>
          <a:xfrm>
            <a:off x="731520" y="3044904"/>
            <a:ext cx="4249817" cy="3210877"/>
          </a:xfrm>
          <a:prstGeom prst="roundRect">
            <a:avLst>
              <a:gd name="adj" fmla="val 976"/>
            </a:avLst>
          </a:prstGeom>
          <a:solidFill>
            <a:srgbClr val="3C3C3A"/>
          </a:solidFill>
          <a:ln/>
        </p:spPr>
        <p:txBody>
          <a:bodyPr/>
          <a:lstStyle/>
          <a:p>
            <a:endParaRPr lang="en-US"/>
          </a:p>
        </p:txBody>
      </p:sp>
      <p:sp>
        <p:nvSpPr>
          <p:cNvPr id="5" name="Text 3"/>
          <p:cNvSpPr/>
          <p:nvPr/>
        </p:nvSpPr>
        <p:spPr>
          <a:xfrm>
            <a:off x="940475" y="3253859"/>
            <a:ext cx="2671405" cy="326469"/>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Uruguay (Batllismo)</a:t>
            </a:r>
            <a:endParaRPr lang="en-US" sz="2050" dirty="0"/>
          </a:p>
        </p:txBody>
      </p:sp>
      <p:sp>
        <p:nvSpPr>
          <p:cNvPr id="6" name="Text 4"/>
          <p:cNvSpPr/>
          <p:nvPr/>
        </p:nvSpPr>
        <p:spPr>
          <a:xfrm>
            <a:off x="940475" y="3705701"/>
            <a:ext cx="3831908" cy="2006679"/>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Under </a:t>
            </a:r>
            <a:r>
              <a:rPr lang="en-US" sz="1600" b="1" dirty="0">
                <a:solidFill>
                  <a:srgbClr val="C9C9C0"/>
                </a:solidFill>
                <a:latin typeface="Tomorrow" pitchFamily="34" charset="0"/>
                <a:ea typeface="Tomorrow" pitchFamily="34" charset="-122"/>
                <a:cs typeface="Tomorrow" pitchFamily="34" charset="-120"/>
              </a:rPr>
              <a:t>José Batlle y Ordóñez</a:t>
            </a:r>
            <a:r>
              <a:rPr lang="en-US" sz="1600" dirty="0">
                <a:solidFill>
                  <a:srgbClr val="C9C9C0"/>
                </a:solidFill>
                <a:latin typeface="Tomorrow" pitchFamily="34" charset="0"/>
                <a:ea typeface="Tomorrow" pitchFamily="34" charset="-122"/>
                <a:cs typeface="Tomorrow" pitchFamily="34" charset="-120"/>
              </a:rPr>
              <a:t>, Uruguay became the hemisphere's first welfare state. His government implemented tariffs to protect local industry, expanded public ownership, and promoted secularism.</a:t>
            </a:r>
            <a:endParaRPr lang="en-US" sz="1600" dirty="0"/>
          </a:p>
        </p:txBody>
      </p:sp>
      <p:sp>
        <p:nvSpPr>
          <p:cNvPr id="7" name="Shape 5"/>
          <p:cNvSpPr/>
          <p:nvPr/>
        </p:nvSpPr>
        <p:spPr>
          <a:xfrm>
            <a:off x="5190292" y="3044904"/>
            <a:ext cx="4249817" cy="3210877"/>
          </a:xfrm>
          <a:prstGeom prst="roundRect">
            <a:avLst>
              <a:gd name="adj" fmla="val 976"/>
            </a:avLst>
          </a:prstGeom>
          <a:solidFill>
            <a:srgbClr val="3C3C3A"/>
          </a:solidFill>
          <a:ln/>
        </p:spPr>
        <p:txBody>
          <a:bodyPr/>
          <a:lstStyle/>
          <a:p>
            <a:endParaRPr lang="en-US"/>
          </a:p>
        </p:txBody>
      </p:sp>
      <p:sp>
        <p:nvSpPr>
          <p:cNvPr id="8" name="Text 6"/>
          <p:cNvSpPr/>
          <p:nvPr/>
        </p:nvSpPr>
        <p:spPr>
          <a:xfrm>
            <a:off x="5399246" y="3253859"/>
            <a:ext cx="2702004" cy="326469"/>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Argentina (Radicals)</a:t>
            </a:r>
            <a:endParaRPr lang="en-US" sz="2050" dirty="0"/>
          </a:p>
        </p:txBody>
      </p:sp>
      <p:sp>
        <p:nvSpPr>
          <p:cNvPr id="9" name="Text 7"/>
          <p:cNvSpPr/>
          <p:nvPr/>
        </p:nvSpPr>
        <p:spPr>
          <a:xfrm>
            <a:off x="5399246" y="3705701"/>
            <a:ext cx="3831908" cy="2006679"/>
          </a:xfrm>
          <a:prstGeom prst="rect">
            <a:avLst/>
          </a:prstGeom>
          <a:noFill/>
          <a:ln/>
        </p:spPr>
        <p:txBody>
          <a:bodyPr wrap="square" lIns="0" tIns="0" rIns="0" bIns="0" rtlCol="0" anchor="t"/>
          <a:lstStyle/>
          <a:p>
            <a:pPr marL="0" indent="0" algn="l">
              <a:lnSpc>
                <a:spcPts val="2600"/>
              </a:lnSpc>
              <a:buNone/>
            </a:pPr>
            <a:r>
              <a:rPr lang="en-US" sz="1600" b="1" dirty="0">
                <a:solidFill>
                  <a:srgbClr val="C9C9C0"/>
                </a:solidFill>
                <a:latin typeface="Tomorrow" pitchFamily="34" charset="0"/>
                <a:ea typeface="Tomorrow" pitchFamily="34" charset="-122"/>
                <a:cs typeface="Tomorrow" pitchFamily="34" charset="-120"/>
              </a:rPr>
              <a:t>Hipólito Yrigoyen</a:t>
            </a:r>
            <a:r>
              <a:rPr lang="en-US" sz="1600" dirty="0">
                <a:solidFill>
                  <a:srgbClr val="C9C9C0"/>
                </a:solidFill>
                <a:latin typeface="Tomorrow" pitchFamily="34" charset="0"/>
                <a:ea typeface="Tomorrow" pitchFamily="34" charset="-122"/>
                <a:cs typeface="Tomorrow" pitchFamily="34" charset="-120"/>
              </a:rPr>
              <a:t> won power through elections, symbolizing the rise of mass politics. However, despite nationalist rhetoric, foreign capital largely remained dominant in the Argentine economy.</a:t>
            </a:r>
            <a:endParaRPr lang="en-US" sz="1600" dirty="0"/>
          </a:p>
        </p:txBody>
      </p:sp>
      <p:sp>
        <p:nvSpPr>
          <p:cNvPr id="10" name="Shape 8"/>
          <p:cNvSpPr/>
          <p:nvPr/>
        </p:nvSpPr>
        <p:spPr>
          <a:xfrm>
            <a:off x="9649063" y="3044904"/>
            <a:ext cx="4249817" cy="3210877"/>
          </a:xfrm>
          <a:prstGeom prst="roundRect">
            <a:avLst>
              <a:gd name="adj" fmla="val 976"/>
            </a:avLst>
          </a:prstGeom>
          <a:solidFill>
            <a:srgbClr val="3C3C3A"/>
          </a:solidFill>
          <a:ln/>
        </p:spPr>
        <p:txBody>
          <a:bodyPr/>
          <a:lstStyle/>
          <a:p>
            <a:endParaRPr lang="en-US"/>
          </a:p>
        </p:txBody>
      </p:sp>
      <p:sp>
        <p:nvSpPr>
          <p:cNvPr id="11" name="Text 9"/>
          <p:cNvSpPr/>
          <p:nvPr/>
        </p:nvSpPr>
        <p:spPr>
          <a:xfrm>
            <a:off x="9858018" y="3253859"/>
            <a:ext cx="2612708" cy="326469"/>
          </a:xfrm>
          <a:prstGeom prst="rect">
            <a:avLst/>
          </a:prstGeom>
          <a:noFill/>
          <a:ln/>
        </p:spPr>
        <p:txBody>
          <a:bodyPr wrap="none" lIns="0" tIns="0" rIns="0" bIns="0" rtlCol="0" anchor="t"/>
          <a:lstStyle/>
          <a:p>
            <a:pPr marL="0" indent="0" algn="l">
              <a:lnSpc>
                <a:spcPts val="2550"/>
              </a:lnSpc>
              <a:buNone/>
            </a:pPr>
            <a:r>
              <a:rPr lang="en-US" sz="2050" dirty="0">
                <a:solidFill>
                  <a:srgbClr val="C9C9C0"/>
                </a:solidFill>
                <a:latin typeface="Tomorrow Semi Bold" pitchFamily="34" charset="0"/>
                <a:ea typeface="Tomorrow Semi Bold" pitchFamily="34" charset="-122"/>
                <a:cs typeface="Tomorrow Semi Bold" pitchFamily="34" charset="-120"/>
              </a:rPr>
              <a:t>Peru (APRA)</a:t>
            </a:r>
            <a:endParaRPr lang="en-US" sz="2050" dirty="0"/>
          </a:p>
        </p:txBody>
      </p:sp>
      <p:sp>
        <p:nvSpPr>
          <p:cNvPr id="12" name="Text 10"/>
          <p:cNvSpPr/>
          <p:nvPr/>
        </p:nvSpPr>
        <p:spPr>
          <a:xfrm>
            <a:off x="9858018" y="3705701"/>
            <a:ext cx="3831908" cy="2341126"/>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Founded by </a:t>
            </a:r>
            <a:r>
              <a:rPr lang="en-US" sz="1600" b="1" dirty="0">
                <a:solidFill>
                  <a:srgbClr val="C9C9C0"/>
                </a:solidFill>
                <a:latin typeface="Tomorrow" pitchFamily="34" charset="0"/>
                <a:ea typeface="Tomorrow" pitchFamily="34" charset="-122"/>
                <a:cs typeface="Tomorrow" pitchFamily="34" charset="-120"/>
              </a:rPr>
              <a:t>Victor Raúl Haya de la Torre</a:t>
            </a:r>
            <a:r>
              <a:rPr lang="en-US" sz="1600" dirty="0">
                <a:solidFill>
                  <a:srgbClr val="C9C9C0"/>
                </a:solidFill>
                <a:latin typeface="Tomorrow" pitchFamily="34" charset="0"/>
                <a:ea typeface="Tomorrow" pitchFamily="34" charset="-122"/>
                <a:cs typeface="Tomorrow" pitchFamily="34" charset="-120"/>
              </a:rPr>
              <a:t>, the APRA movement blended </a:t>
            </a:r>
            <a:r>
              <a:rPr lang="en-US" sz="1600" b="1" dirty="0">
                <a:solidFill>
                  <a:srgbClr val="C9C9C0"/>
                </a:solidFill>
                <a:latin typeface="Tomorrow" pitchFamily="34" charset="0"/>
                <a:ea typeface="Tomorrow" pitchFamily="34" charset="-122"/>
                <a:cs typeface="Tomorrow" pitchFamily="34" charset="-120"/>
              </a:rPr>
              <a:t>indigenismo</a:t>
            </a:r>
            <a:r>
              <a:rPr lang="en-US" sz="1600" dirty="0">
                <a:solidFill>
                  <a:srgbClr val="C9C9C0"/>
                </a:solidFill>
                <a:latin typeface="Tomorrow" pitchFamily="34" charset="0"/>
                <a:ea typeface="Tomorrow" pitchFamily="34" charset="-122"/>
                <a:cs typeface="Tomorrow" pitchFamily="34" charset="-120"/>
              </a:rPr>
              <a:t> with anti-imperialism. It emphasized "Indo-America" and grassroots mobilization, though it faced significant repression from authorities.</a:t>
            </a:r>
            <a:endParaRPr lang="en-US" sz="1600" dirty="0"/>
          </a:p>
        </p:txBody>
      </p:sp>
      <p:sp>
        <p:nvSpPr>
          <p:cNvPr id="13" name="Text 11"/>
          <p:cNvSpPr/>
          <p:nvPr/>
        </p:nvSpPr>
        <p:spPr>
          <a:xfrm>
            <a:off x="731520" y="6490930"/>
            <a:ext cx="13167360" cy="668893"/>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These nationalist governments represented different approaches to addressing similar challenges: reducing foreign economic dominance, expanding political participation, and creating more inclusive national identities.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ACC58-22E8-D2C6-6E5C-12A5733DF9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38AC9C-14DB-D040-C63C-10E63D5CCA43}"/>
              </a:ext>
            </a:extLst>
          </p:cNvPr>
          <p:cNvSpPr/>
          <p:nvPr/>
        </p:nvSpPr>
        <p:spPr>
          <a:xfrm>
            <a:off x="571738" y="449223"/>
            <a:ext cx="11933039" cy="510421"/>
          </a:xfrm>
          <a:prstGeom prst="rect">
            <a:avLst/>
          </a:prstGeom>
          <a:noFill/>
          <a:ln/>
        </p:spPr>
        <p:txBody>
          <a:bodyPr wrap="none" lIns="0" tIns="0" rIns="0" bIns="0" rtlCol="0" anchor="t"/>
          <a:lstStyle/>
          <a:p>
            <a:pPr marL="0" indent="0" algn="l">
              <a:lnSpc>
                <a:spcPts val="2900"/>
              </a:lnSpc>
              <a:buNone/>
            </a:pPr>
            <a:r>
              <a:rPr lang="en-US" sz="3200" dirty="0">
                <a:solidFill>
                  <a:srgbClr val="EDEDE8"/>
                </a:solidFill>
                <a:latin typeface="Tomorrow Semi Bold" pitchFamily="34" charset="0"/>
                <a:ea typeface="Tomorrow Semi Bold" pitchFamily="34" charset="-122"/>
                <a:cs typeface="Tomorrow Semi Bold" pitchFamily="34" charset="-120"/>
              </a:rPr>
              <a:t>Import Substitution Industrialization: Economic Nationalism</a:t>
            </a:r>
            <a:endParaRPr lang="en-US" sz="3200" dirty="0"/>
          </a:p>
        </p:txBody>
      </p:sp>
      <p:sp>
        <p:nvSpPr>
          <p:cNvPr id="3" name="Text 1">
            <a:extLst>
              <a:ext uri="{FF2B5EF4-FFF2-40B4-BE49-F238E27FC236}">
                <a16:creationId xmlns:a16="http://schemas.microsoft.com/office/drawing/2014/main" id="{AB08C1DA-C812-C95F-5C1F-F72C34E1965F}"/>
              </a:ext>
            </a:extLst>
          </p:cNvPr>
          <p:cNvSpPr/>
          <p:nvPr/>
        </p:nvSpPr>
        <p:spPr>
          <a:xfrm>
            <a:off x="571737" y="1229183"/>
            <a:ext cx="8120849" cy="522684"/>
          </a:xfrm>
          <a:prstGeom prst="rect">
            <a:avLst/>
          </a:prstGeom>
          <a:noFill/>
          <a:ln/>
        </p:spPr>
        <p:txBody>
          <a:bodyPr wrap="square" lIns="0" tIns="0" rIns="0" bIns="0" rtlCol="0" anchor="t"/>
          <a:lstStyle/>
          <a:p>
            <a:pPr>
              <a:lnSpc>
                <a:spcPts val="2550"/>
              </a:lnSpc>
            </a:pPr>
            <a:r>
              <a:rPr lang="en-US" sz="1600" b="1" dirty="0">
                <a:solidFill>
                  <a:srgbClr val="C9C9C0"/>
                </a:solidFill>
                <a:latin typeface="Tomorrow" pitchFamily="34" charset="0"/>
              </a:rPr>
              <a:t>Import Substitution Industrialization (ISI) </a:t>
            </a:r>
            <a:r>
              <a:rPr lang="en-US" sz="1600" dirty="0">
                <a:solidFill>
                  <a:srgbClr val="C9C9C0"/>
                </a:solidFill>
                <a:latin typeface="Tomorrow" pitchFamily="34" charset="0"/>
              </a:rPr>
              <a:t>emerged during World War I and expanded dramatically during the Great Depression. As international trade collapsed, Latin American nations—especially Brazil, Mexico, and Argentina—filled the vacuum by developing domestic industries.</a:t>
            </a:r>
          </a:p>
        </p:txBody>
      </p:sp>
      <p:sp>
        <p:nvSpPr>
          <p:cNvPr id="4" name="Text 2">
            <a:extLst>
              <a:ext uri="{FF2B5EF4-FFF2-40B4-BE49-F238E27FC236}">
                <a16:creationId xmlns:a16="http://schemas.microsoft.com/office/drawing/2014/main" id="{9DC6F097-6CA5-9DF5-6370-349FA88F5762}"/>
              </a:ext>
            </a:extLst>
          </p:cNvPr>
          <p:cNvSpPr/>
          <p:nvPr/>
        </p:nvSpPr>
        <p:spPr>
          <a:xfrm>
            <a:off x="571738" y="2969569"/>
            <a:ext cx="8120849" cy="784027"/>
          </a:xfrm>
          <a:prstGeom prst="rect">
            <a:avLst/>
          </a:prstGeom>
          <a:noFill/>
          <a:ln/>
        </p:spPr>
        <p:txBody>
          <a:bodyPr wrap="square" lIns="0" tIns="0" rIns="0" bIns="0" rtlCol="0" anchor="t"/>
          <a:lstStyle/>
          <a:p>
            <a:pPr>
              <a:lnSpc>
                <a:spcPts val="2550"/>
              </a:lnSpc>
            </a:pPr>
            <a:r>
              <a:rPr lang="en-US" sz="1600" dirty="0">
                <a:solidFill>
                  <a:srgbClr val="C9C9C0"/>
                </a:solidFill>
                <a:latin typeface="Tomorrow" pitchFamily="34" charset="0"/>
              </a:rPr>
              <a:t>ISI promoted </a:t>
            </a:r>
            <a:r>
              <a:rPr lang="en-US" sz="1600" b="1" dirty="0">
                <a:solidFill>
                  <a:srgbClr val="C9C9C0"/>
                </a:solidFill>
                <a:latin typeface="Tomorrow" pitchFamily="34" charset="0"/>
              </a:rPr>
              <a:t>government activism </a:t>
            </a:r>
            <a:r>
              <a:rPr lang="en-US" sz="1600" dirty="0">
                <a:solidFill>
                  <a:srgbClr val="C9C9C0"/>
                </a:solidFill>
                <a:latin typeface="Tomorrow" pitchFamily="34" charset="0"/>
              </a:rPr>
              <a:t>through labor laws, nationalized utilities, price controls, and state-owned enterprises. While light industry (food, textiles) grew substantially, heavy industry required major investments, particularly in steel production.</a:t>
            </a:r>
          </a:p>
        </p:txBody>
      </p:sp>
      <p:sp>
        <p:nvSpPr>
          <p:cNvPr id="8" name="Text 3">
            <a:extLst>
              <a:ext uri="{FF2B5EF4-FFF2-40B4-BE49-F238E27FC236}">
                <a16:creationId xmlns:a16="http://schemas.microsoft.com/office/drawing/2014/main" id="{2C9F1C9F-D8C0-8BFB-BE4B-FE9A92F1C4AD}"/>
              </a:ext>
            </a:extLst>
          </p:cNvPr>
          <p:cNvSpPr/>
          <p:nvPr/>
        </p:nvSpPr>
        <p:spPr>
          <a:xfrm>
            <a:off x="571736" y="4709956"/>
            <a:ext cx="8120849" cy="522684"/>
          </a:xfrm>
          <a:prstGeom prst="rect">
            <a:avLst/>
          </a:prstGeom>
          <a:noFill/>
          <a:ln/>
        </p:spPr>
        <p:txBody>
          <a:bodyPr wrap="square" lIns="0" tIns="0" rIns="0" bIns="0" rtlCol="0" anchor="t"/>
          <a:lstStyle/>
          <a:p>
            <a:pPr indent="0">
              <a:lnSpc>
                <a:spcPts val="2550"/>
              </a:lnSpc>
              <a:buNone/>
            </a:pPr>
            <a:r>
              <a:rPr lang="en-US" sz="1600" dirty="0">
                <a:solidFill>
                  <a:srgbClr val="C9C9C0"/>
                </a:solidFill>
                <a:latin typeface="Tomorrow" pitchFamily="34" charset="0"/>
              </a:rPr>
              <a:t>However, ISI's benefits were </a:t>
            </a:r>
            <a:r>
              <a:rPr lang="en-US" sz="1600" b="1" dirty="0">
                <a:solidFill>
                  <a:srgbClr val="C9C9C0"/>
                </a:solidFill>
                <a:latin typeface="Tomorrow" pitchFamily="34" charset="0"/>
              </a:rPr>
              <a:t>unevenly distributed</a:t>
            </a:r>
            <a:r>
              <a:rPr lang="en-US" sz="1600" dirty="0">
                <a:solidFill>
                  <a:srgbClr val="C9C9C0"/>
                </a:solidFill>
                <a:latin typeface="Tomorrow" pitchFamily="34" charset="0"/>
              </a:rPr>
              <a:t>. Urban, industrializing areas—especially capital cities and coastal hubs—saw the greatest gains. Middle-class workers, bureaucrats, and skilled laborers in these areas often enjoyed rising wages, job protections, and political inclusion through populist coalitions .In contrast, rural regions and smaller countries experienced far fewer benefits.</a:t>
            </a:r>
          </a:p>
        </p:txBody>
      </p:sp>
      <p:pic>
        <p:nvPicPr>
          <p:cNvPr id="4098" name="Picture 2" descr="Década infame/ ISI 10th - 12th Grade Quiz | Quizizz">
            <a:extLst>
              <a:ext uri="{FF2B5EF4-FFF2-40B4-BE49-F238E27FC236}">
                <a16:creationId xmlns:a16="http://schemas.microsoft.com/office/drawing/2014/main" id="{8A20794C-1F23-BEAD-6415-EA4582CB39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4206"/>
          <a:stretch/>
        </p:blipFill>
        <p:spPr bwMode="auto">
          <a:xfrm>
            <a:off x="8692587" y="959644"/>
            <a:ext cx="5623490" cy="6640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309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148388" y="968931"/>
            <a:ext cx="7820025" cy="1182291"/>
          </a:xfrm>
          <a:prstGeom prst="rect">
            <a:avLst/>
          </a:prstGeom>
          <a:noFill/>
          <a:ln/>
        </p:spPr>
        <p:txBody>
          <a:bodyPr wrap="square" lIns="0" tIns="0" rIns="0" bIns="0" rtlCol="0" anchor="t"/>
          <a:lstStyle/>
          <a:p>
            <a:pPr marL="0" indent="0" algn="l">
              <a:lnSpc>
                <a:spcPts val="4650"/>
              </a:lnSpc>
              <a:buNone/>
            </a:pPr>
            <a:r>
              <a:rPr lang="en-US" sz="3700" dirty="0">
                <a:solidFill>
                  <a:srgbClr val="EDEDE8"/>
                </a:solidFill>
                <a:latin typeface="Tomorrow Semi Bold" pitchFamily="34" charset="0"/>
                <a:ea typeface="Tomorrow Semi Bold" pitchFamily="34" charset="-122"/>
                <a:cs typeface="Tomorrow Semi Bold" pitchFamily="34" charset="-120"/>
              </a:rPr>
              <a:t>Brazil Under Vargas: The New State</a:t>
            </a:r>
            <a:endParaRPr lang="en-US" sz="3700" dirty="0"/>
          </a:p>
        </p:txBody>
      </p:sp>
      <p:sp>
        <p:nvSpPr>
          <p:cNvPr id="4" name="Text 1"/>
          <p:cNvSpPr/>
          <p:nvPr/>
        </p:nvSpPr>
        <p:spPr>
          <a:xfrm>
            <a:off x="6148388" y="2434947"/>
            <a:ext cx="7820025" cy="907971"/>
          </a:xfrm>
          <a:prstGeom prst="rect">
            <a:avLst/>
          </a:prstGeom>
          <a:noFill/>
          <a:ln/>
        </p:spPr>
        <p:txBody>
          <a:bodyPr wrap="square" lIns="0" tIns="0" rIns="0" bIns="0" rtlCol="0" anchor="t"/>
          <a:lstStyle/>
          <a:p>
            <a:pPr marL="0" indent="0" algn="l">
              <a:lnSpc>
                <a:spcPts val="2350"/>
              </a:lnSpc>
              <a:buNone/>
            </a:pPr>
            <a:r>
              <a:rPr lang="en-US" sz="1450" b="1" dirty="0">
                <a:solidFill>
                  <a:srgbClr val="C9C9C0"/>
                </a:solidFill>
                <a:latin typeface="Tomorrow" pitchFamily="34" charset="0"/>
                <a:ea typeface="Tomorrow" pitchFamily="34" charset="-122"/>
                <a:cs typeface="Tomorrow" pitchFamily="34" charset="-120"/>
              </a:rPr>
              <a:t>Getúlio Vargas</a:t>
            </a:r>
            <a:r>
              <a:rPr lang="en-US" sz="1450" dirty="0">
                <a:solidFill>
                  <a:srgbClr val="C9C9C0"/>
                </a:solidFill>
                <a:latin typeface="Tomorrow" pitchFamily="34" charset="0"/>
                <a:ea typeface="Tomorrow" pitchFamily="34" charset="-122"/>
                <a:cs typeface="Tomorrow" pitchFamily="34" charset="-120"/>
              </a:rPr>
              <a:t> rose to power in 1930 in Brazil's "Revolution of the Ballot Box." Initially ruling as a constitutional president, he later established a dictatorship (1937-1945) under the </a:t>
            </a:r>
            <a:r>
              <a:rPr lang="en-US" sz="1450" b="1" dirty="0">
                <a:solidFill>
                  <a:srgbClr val="C9C9C0"/>
                </a:solidFill>
                <a:latin typeface="Tomorrow" pitchFamily="34" charset="0"/>
                <a:ea typeface="Tomorrow" pitchFamily="34" charset="-122"/>
                <a:cs typeface="Tomorrow" pitchFamily="34" charset="-120"/>
              </a:rPr>
              <a:t>Estado Novo</a:t>
            </a:r>
            <a:r>
              <a:rPr lang="en-US" sz="1450" dirty="0">
                <a:solidFill>
                  <a:srgbClr val="C9C9C0"/>
                </a:solidFill>
                <a:latin typeface="Tomorrow" pitchFamily="34" charset="0"/>
                <a:ea typeface="Tomorrow" pitchFamily="34" charset="-122"/>
                <a:cs typeface="Tomorrow" pitchFamily="34" charset="-120"/>
              </a:rPr>
              <a:t> (New State).</a:t>
            </a:r>
            <a:endParaRPr lang="en-US" sz="1450" dirty="0"/>
          </a:p>
        </p:txBody>
      </p:sp>
      <p:pic>
        <p:nvPicPr>
          <p:cNvPr id="5" name="Image 1" descr="preencoded.png"/>
          <p:cNvPicPr>
            <a:picLocks noChangeAspect="1"/>
          </p:cNvPicPr>
          <p:nvPr/>
        </p:nvPicPr>
        <p:blipFill>
          <a:blip r:embed="rId3"/>
          <a:stretch>
            <a:fillRect/>
          </a:stretch>
        </p:blipFill>
        <p:spPr>
          <a:xfrm>
            <a:off x="6148388" y="3555683"/>
            <a:ext cx="472797" cy="472797"/>
          </a:xfrm>
          <a:prstGeom prst="rect">
            <a:avLst/>
          </a:prstGeom>
        </p:spPr>
      </p:pic>
      <p:sp>
        <p:nvSpPr>
          <p:cNvPr id="6" name="Text 2"/>
          <p:cNvSpPr/>
          <p:nvPr/>
        </p:nvSpPr>
        <p:spPr>
          <a:xfrm>
            <a:off x="6148388" y="4217551"/>
            <a:ext cx="2364462" cy="295513"/>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Industrialization</a:t>
            </a:r>
            <a:endParaRPr lang="en-US" sz="1850" dirty="0"/>
          </a:p>
        </p:txBody>
      </p:sp>
      <p:sp>
        <p:nvSpPr>
          <p:cNvPr id="7" name="Text 3"/>
          <p:cNvSpPr/>
          <p:nvPr/>
        </p:nvSpPr>
        <p:spPr>
          <a:xfrm>
            <a:off x="6148388" y="4626531"/>
            <a:ext cx="2449116" cy="907971"/>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Created national banks and established Brazil's first steel company</a:t>
            </a:r>
            <a:endParaRPr lang="en-US" sz="1450" dirty="0"/>
          </a:p>
        </p:txBody>
      </p:sp>
      <p:pic>
        <p:nvPicPr>
          <p:cNvPr id="8" name="Image 2" descr="preencoded.png"/>
          <p:cNvPicPr>
            <a:picLocks noChangeAspect="1"/>
          </p:cNvPicPr>
          <p:nvPr/>
        </p:nvPicPr>
        <p:blipFill>
          <a:blip r:embed="rId4"/>
          <a:stretch>
            <a:fillRect/>
          </a:stretch>
        </p:blipFill>
        <p:spPr>
          <a:xfrm>
            <a:off x="8833842" y="3555683"/>
            <a:ext cx="472797" cy="472797"/>
          </a:xfrm>
          <a:prstGeom prst="rect">
            <a:avLst/>
          </a:prstGeom>
        </p:spPr>
      </p:pic>
      <p:sp>
        <p:nvSpPr>
          <p:cNvPr id="9" name="Text 4"/>
          <p:cNvSpPr/>
          <p:nvPr/>
        </p:nvSpPr>
        <p:spPr>
          <a:xfrm>
            <a:off x="8833842" y="4217551"/>
            <a:ext cx="2364462" cy="295513"/>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Labor Relations</a:t>
            </a:r>
            <a:endParaRPr lang="en-US" sz="1850" dirty="0"/>
          </a:p>
        </p:txBody>
      </p:sp>
      <p:sp>
        <p:nvSpPr>
          <p:cNvPr id="10" name="Text 5"/>
          <p:cNvSpPr/>
          <p:nvPr/>
        </p:nvSpPr>
        <p:spPr>
          <a:xfrm>
            <a:off x="8833842" y="4626531"/>
            <a:ext cx="2449116" cy="1210628"/>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Introduced protections but banned strikes and established corporatist unions</a:t>
            </a:r>
            <a:endParaRPr lang="en-US" sz="1450" dirty="0"/>
          </a:p>
        </p:txBody>
      </p:sp>
      <p:pic>
        <p:nvPicPr>
          <p:cNvPr id="11" name="Image 3" descr="preencoded.png"/>
          <p:cNvPicPr>
            <a:picLocks noChangeAspect="1"/>
          </p:cNvPicPr>
          <p:nvPr/>
        </p:nvPicPr>
        <p:blipFill>
          <a:blip r:embed="rId5"/>
          <a:stretch>
            <a:fillRect/>
          </a:stretch>
        </p:blipFill>
        <p:spPr>
          <a:xfrm>
            <a:off x="11519297" y="3555683"/>
            <a:ext cx="472797" cy="472797"/>
          </a:xfrm>
          <a:prstGeom prst="rect">
            <a:avLst/>
          </a:prstGeom>
        </p:spPr>
      </p:pic>
      <p:sp>
        <p:nvSpPr>
          <p:cNvPr id="12" name="Text 6"/>
          <p:cNvSpPr/>
          <p:nvPr/>
        </p:nvSpPr>
        <p:spPr>
          <a:xfrm>
            <a:off x="11519297" y="4217551"/>
            <a:ext cx="2444234" cy="295513"/>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Cultural Nationalism</a:t>
            </a:r>
            <a:endParaRPr lang="en-US" sz="1850" dirty="0"/>
          </a:p>
        </p:txBody>
      </p:sp>
      <p:sp>
        <p:nvSpPr>
          <p:cNvPr id="13" name="Text 7"/>
          <p:cNvSpPr/>
          <p:nvPr/>
        </p:nvSpPr>
        <p:spPr>
          <a:xfrm>
            <a:off x="11519297" y="4626531"/>
            <a:ext cx="2449116" cy="1210628"/>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Embraced </a:t>
            </a:r>
            <a:r>
              <a:rPr lang="en-US" sz="1450" b="1" dirty="0">
                <a:solidFill>
                  <a:srgbClr val="C9C9C0"/>
                </a:solidFill>
                <a:latin typeface="Tomorrow" pitchFamily="34" charset="0"/>
                <a:ea typeface="Tomorrow" pitchFamily="34" charset="-122"/>
                <a:cs typeface="Tomorrow" pitchFamily="34" charset="-120"/>
              </a:rPr>
              <a:t>Afro-Brazilian culture</a:t>
            </a:r>
            <a:r>
              <a:rPr lang="en-US" sz="1450" dirty="0">
                <a:solidFill>
                  <a:srgbClr val="C9C9C0"/>
                </a:solidFill>
                <a:latin typeface="Tomorrow" pitchFamily="34" charset="0"/>
                <a:ea typeface="Tomorrow" pitchFamily="34" charset="-122"/>
                <a:cs typeface="Tomorrow" pitchFamily="34" charset="-120"/>
              </a:rPr>
              <a:t>, supported samba, and backed </a:t>
            </a:r>
            <a:r>
              <a:rPr lang="en-US" sz="1450" b="1" dirty="0">
                <a:solidFill>
                  <a:srgbClr val="C9C9C0"/>
                </a:solidFill>
                <a:latin typeface="Tomorrow" pitchFamily="34" charset="0"/>
                <a:ea typeface="Tomorrow" pitchFamily="34" charset="-122"/>
                <a:cs typeface="Tomorrow" pitchFamily="34" charset="-120"/>
              </a:rPr>
              <a:t>Gilberto Freyre's racial theories</a:t>
            </a:r>
            <a:endParaRPr lang="en-US" sz="1450" dirty="0"/>
          </a:p>
        </p:txBody>
      </p:sp>
      <p:sp>
        <p:nvSpPr>
          <p:cNvPr id="14" name="Text 8"/>
          <p:cNvSpPr/>
          <p:nvPr/>
        </p:nvSpPr>
        <p:spPr>
          <a:xfrm>
            <a:off x="6148388" y="6049923"/>
            <a:ext cx="7820025" cy="1210628"/>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Under Vargas, cultural nationalism flourished through the works of composer </a:t>
            </a:r>
            <a:r>
              <a:rPr lang="en-US" sz="1450" b="1" dirty="0">
                <a:solidFill>
                  <a:srgbClr val="C9C9C0"/>
                </a:solidFill>
                <a:latin typeface="Tomorrow" pitchFamily="34" charset="0"/>
                <a:ea typeface="Tomorrow" pitchFamily="34" charset="-122"/>
                <a:cs typeface="Tomorrow" pitchFamily="34" charset="-120"/>
              </a:rPr>
              <a:t>Villa-Lobos</a:t>
            </a:r>
            <a:r>
              <a:rPr lang="en-US" sz="1450" dirty="0">
                <a:solidFill>
                  <a:srgbClr val="C9C9C0"/>
                </a:solidFill>
                <a:latin typeface="Tomorrow" pitchFamily="34" charset="0"/>
                <a:ea typeface="Tomorrow" pitchFamily="34" charset="-122"/>
                <a:cs typeface="Tomorrow" pitchFamily="34" charset="-120"/>
              </a:rPr>
              <a:t>, writer </a:t>
            </a:r>
            <a:r>
              <a:rPr lang="en-US" sz="1450" b="1" dirty="0">
                <a:solidFill>
                  <a:srgbClr val="C9C9C0"/>
                </a:solidFill>
                <a:latin typeface="Tomorrow" pitchFamily="34" charset="0"/>
                <a:ea typeface="Tomorrow" pitchFamily="34" charset="-122"/>
                <a:cs typeface="Tomorrow" pitchFamily="34" charset="-120"/>
              </a:rPr>
              <a:t>Oswald de Andrade</a:t>
            </a:r>
            <a:r>
              <a:rPr lang="en-US" sz="1450" dirty="0">
                <a:solidFill>
                  <a:srgbClr val="C9C9C0"/>
                </a:solidFill>
                <a:latin typeface="Tomorrow" pitchFamily="34" charset="0"/>
                <a:ea typeface="Tomorrow" pitchFamily="34" charset="-122"/>
                <a:cs typeface="Tomorrow" pitchFamily="34" charset="-120"/>
              </a:rPr>
              <a:t>, and novelist </a:t>
            </a:r>
            <a:r>
              <a:rPr lang="en-US" sz="1450" b="1" dirty="0">
                <a:solidFill>
                  <a:srgbClr val="C9C9C0"/>
                </a:solidFill>
                <a:latin typeface="Tomorrow" pitchFamily="34" charset="0"/>
                <a:ea typeface="Tomorrow" pitchFamily="34" charset="-122"/>
                <a:cs typeface="Tomorrow" pitchFamily="34" charset="-120"/>
              </a:rPr>
              <a:t>Jorge Amado</a:t>
            </a:r>
            <a:r>
              <a:rPr lang="en-US" sz="1450" dirty="0">
                <a:solidFill>
                  <a:srgbClr val="C9C9C0"/>
                </a:solidFill>
                <a:latin typeface="Tomorrow" pitchFamily="34" charset="0"/>
                <a:ea typeface="Tomorrow" pitchFamily="34" charset="-122"/>
                <a:cs typeface="Tomorrow" pitchFamily="34" charset="-120"/>
              </a:rPr>
              <a:t>. His government's policies combined authoritarian control with populist appeals and economic nationalism, creating a model that would influence Latin American politics for decades.</a:t>
            </a:r>
            <a:endParaRPr lang="en-US" sz="1450" dirty="0"/>
          </a:p>
        </p:txBody>
      </p:sp>
      <p:pic>
        <p:nvPicPr>
          <p:cNvPr id="2050" name="Picture 2">
            <a:extLst>
              <a:ext uri="{FF2B5EF4-FFF2-40B4-BE49-F238E27FC236}">
                <a16:creationId xmlns:a16="http://schemas.microsoft.com/office/drawing/2014/main" id="{8A7AB21A-4F73-9FC1-3935-D7ED929E96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7" y="409574"/>
            <a:ext cx="5557838" cy="74104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4840" y="768310"/>
            <a:ext cx="12576810" cy="557927"/>
          </a:xfrm>
          <a:prstGeom prst="rect">
            <a:avLst/>
          </a:prstGeom>
          <a:noFill/>
          <a:ln/>
        </p:spPr>
        <p:txBody>
          <a:bodyPr wrap="none" lIns="0" tIns="0" rIns="0" bIns="0" rtlCol="0" anchor="t"/>
          <a:lstStyle/>
          <a:p>
            <a:pPr marL="0" indent="0" algn="l">
              <a:lnSpc>
                <a:spcPts val="4350"/>
              </a:lnSpc>
              <a:buNone/>
            </a:pPr>
            <a:r>
              <a:rPr lang="en-US" sz="3500" dirty="0">
                <a:solidFill>
                  <a:srgbClr val="EDEDE8"/>
                </a:solidFill>
                <a:latin typeface="Tomorrow Semi Bold" pitchFamily="34" charset="0"/>
                <a:ea typeface="Tomorrow Semi Bold" pitchFamily="34" charset="-122"/>
                <a:cs typeface="Tomorrow Semi Bold" pitchFamily="34" charset="-120"/>
              </a:rPr>
              <a:t>Lázaro Cárdenas: Mexico's Transformational Nationalist</a:t>
            </a:r>
            <a:endParaRPr lang="en-US" sz="3500" dirty="0"/>
          </a:p>
        </p:txBody>
      </p:sp>
      <p:sp>
        <p:nvSpPr>
          <p:cNvPr id="3" name="Text 1"/>
          <p:cNvSpPr/>
          <p:nvPr/>
        </p:nvSpPr>
        <p:spPr>
          <a:xfrm>
            <a:off x="624840" y="1683306"/>
            <a:ext cx="13380720" cy="571500"/>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As president from 1934 to 1940, Lázaro Cárdenas implemented some of Latin America's most ambitious nationalist policies. He </a:t>
            </a:r>
            <a:r>
              <a:rPr lang="en-US" sz="1400" b="1" dirty="0">
                <a:solidFill>
                  <a:srgbClr val="C9C9C0"/>
                </a:solidFill>
                <a:latin typeface="Tomorrow" pitchFamily="34" charset="0"/>
                <a:ea typeface="Tomorrow" pitchFamily="34" charset="-122"/>
                <a:cs typeface="Tomorrow" pitchFamily="34" charset="-120"/>
              </a:rPr>
              <a:t>redistributed over 45 million acres of land</a:t>
            </a:r>
            <a:r>
              <a:rPr lang="en-US" sz="1400" dirty="0">
                <a:solidFill>
                  <a:srgbClr val="C9C9C0"/>
                </a:solidFill>
                <a:latin typeface="Tomorrow" pitchFamily="34" charset="0"/>
                <a:ea typeface="Tomorrow" pitchFamily="34" charset="-122"/>
                <a:cs typeface="Tomorrow" pitchFamily="34" charset="-120"/>
              </a:rPr>
              <a:t> to peasant communities, fundamentally transforming Mexico's rural landscape.</a:t>
            </a:r>
            <a:endParaRPr lang="en-US" sz="1400" dirty="0"/>
          </a:p>
        </p:txBody>
      </p:sp>
      <p:sp>
        <p:nvSpPr>
          <p:cNvPr id="4" name="Text 2"/>
          <p:cNvSpPr/>
          <p:nvPr/>
        </p:nvSpPr>
        <p:spPr>
          <a:xfrm>
            <a:off x="624840" y="2455664"/>
            <a:ext cx="13380720" cy="857250"/>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Cárdenas actively supported labor strikes and, in his most dramatic move, </a:t>
            </a:r>
            <a:r>
              <a:rPr lang="en-US" sz="1400" b="1" dirty="0">
                <a:solidFill>
                  <a:srgbClr val="C9C9C0"/>
                </a:solidFill>
                <a:latin typeface="Tomorrow" pitchFamily="34" charset="0"/>
                <a:ea typeface="Tomorrow" pitchFamily="34" charset="-122"/>
                <a:cs typeface="Tomorrow" pitchFamily="34" charset="-120"/>
              </a:rPr>
              <a:t>nationalized Mexico's oil industry in 1938</a:t>
            </a:r>
            <a:r>
              <a:rPr lang="en-US" sz="1400" dirty="0">
                <a:solidFill>
                  <a:srgbClr val="C9C9C0"/>
                </a:solidFill>
                <a:latin typeface="Tomorrow" pitchFamily="34" charset="0"/>
                <a:ea typeface="Tomorrow" pitchFamily="34" charset="-122"/>
                <a:cs typeface="Tomorrow" pitchFamily="34" charset="-120"/>
              </a:rPr>
              <a:t>, creating PEMEX. This bold action rallied unprecedented national unity and demonstrated Mexico's </a:t>
            </a:r>
            <a:r>
              <a:rPr lang="en-US" sz="1400" b="1" dirty="0">
                <a:solidFill>
                  <a:srgbClr val="C9C9C0"/>
                </a:solidFill>
                <a:latin typeface="Tomorrow" pitchFamily="34" charset="0"/>
                <a:ea typeface="Tomorrow" pitchFamily="34" charset="-122"/>
                <a:cs typeface="Tomorrow" pitchFamily="34" charset="-120"/>
              </a:rPr>
              <a:t>economic sovereignty</a:t>
            </a:r>
            <a:r>
              <a:rPr lang="en-US" sz="1400" dirty="0">
                <a:solidFill>
                  <a:srgbClr val="C9C9C0"/>
                </a:solidFill>
                <a:latin typeface="Tomorrow" pitchFamily="34" charset="0"/>
                <a:ea typeface="Tomorrow" pitchFamily="34" charset="-122"/>
                <a:cs typeface="Tomorrow" pitchFamily="34" charset="-120"/>
              </a:rPr>
              <a:t>, receiving support even from former adversaries like the </a:t>
            </a:r>
            <a:r>
              <a:rPr lang="en-US" sz="1400" b="1" dirty="0">
                <a:solidFill>
                  <a:srgbClr val="C9C9C0"/>
                </a:solidFill>
                <a:latin typeface="Tomorrow" pitchFamily="34" charset="0"/>
                <a:ea typeface="Tomorrow" pitchFamily="34" charset="-122"/>
                <a:cs typeface="Tomorrow" pitchFamily="34" charset="-120"/>
              </a:rPr>
              <a:t>Catholic Church</a:t>
            </a:r>
            <a:r>
              <a:rPr lang="en-US" sz="1400" dirty="0">
                <a:solidFill>
                  <a:srgbClr val="C9C9C0"/>
                </a:solidFill>
                <a:latin typeface="Tomorrow" pitchFamily="34" charset="0"/>
                <a:ea typeface="Tomorrow" pitchFamily="34" charset="-122"/>
                <a:cs typeface="Tomorrow" pitchFamily="34" charset="-120"/>
              </a:rPr>
              <a:t>.</a:t>
            </a:r>
            <a:endParaRPr lang="en-US" sz="1400" dirty="0"/>
          </a:p>
        </p:txBody>
      </p:sp>
      <p:pic>
        <p:nvPicPr>
          <p:cNvPr id="5" name="Image 0" descr="preencoded.png"/>
          <p:cNvPicPr>
            <a:picLocks noChangeAspect="1"/>
          </p:cNvPicPr>
          <p:nvPr/>
        </p:nvPicPr>
        <p:blipFill>
          <a:blip r:embed="rId3"/>
          <a:stretch>
            <a:fillRect/>
          </a:stretch>
        </p:blipFill>
        <p:spPr>
          <a:xfrm>
            <a:off x="2866073" y="3513773"/>
            <a:ext cx="2207776" cy="1028700"/>
          </a:xfrm>
          <a:prstGeom prst="rect">
            <a:avLst/>
          </a:prstGeom>
        </p:spPr>
      </p:pic>
      <p:pic>
        <p:nvPicPr>
          <p:cNvPr id="6" name="Image 1" descr="preencoded.png"/>
          <p:cNvPicPr>
            <a:picLocks noChangeAspect="1"/>
          </p:cNvPicPr>
          <p:nvPr/>
        </p:nvPicPr>
        <p:blipFill>
          <a:blip r:embed="rId4"/>
          <a:stretch>
            <a:fillRect/>
          </a:stretch>
        </p:blipFill>
        <p:spPr>
          <a:xfrm>
            <a:off x="3844409" y="3998714"/>
            <a:ext cx="250984" cy="313849"/>
          </a:xfrm>
          <a:prstGeom prst="rect">
            <a:avLst/>
          </a:prstGeom>
        </p:spPr>
      </p:pic>
      <p:sp>
        <p:nvSpPr>
          <p:cNvPr id="7" name="Text 3"/>
          <p:cNvSpPr/>
          <p:nvPr/>
        </p:nvSpPr>
        <p:spPr>
          <a:xfrm>
            <a:off x="5252323" y="3692247"/>
            <a:ext cx="2058114" cy="278963"/>
          </a:xfrm>
          <a:prstGeom prst="rect">
            <a:avLst/>
          </a:prstGeom>
          <a:noFill/>
          <a:ln/>
        </p:spPr>
        <p:txBody>
          <a:bodyPr wrap="none" lIns="0" tIns="0" rIns="0" bIns="0" rtlCol="0" anchor="t"/>
          <a:lstStyle/>
          <a:p>
            <a:pPr marL="0" indent="0" algn="l">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Oil Nationalization</a:t>
            </a:r>
            <a:endParaRPr lang="en-US" sz="1750" dirty="0"/>
          </a:p>
        </p:txBody>
      </p:sp>
      <p:sp>
        <p:nvSpPr>
          <p:cNvPr id="8" name="Text 4"/>
          <p:cNvSpPr/>
          <p:nvPr/>
        </p:nvSpPr>
        <p:spPr>
          <a:xfrm>
            <a:off x="5252323" y="4078248"/>
            <a:ext cx="2058114" cy="285750"/>
          </a:xfrm>
          <a:prstGeom prst="rect">
            <a:avLst/>
          </a:prstGeom>
          <a:noFill/>
          <a:ln/>
        </p:spPr>
        <p:txBody>
          <a:bodyPr wrap="non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Created PEMEX in 1938</a:t>
            </a:r>
            <a:endParaRPr lang="en-US" sz="1400" dirty="0"/>
          </a:p>
        </p:txBody>
      </p:sp>
      <p:sp>
        <p:nvSpPr>
          <p:cNvPr id="9" name="Shape 5"/>
          <p:cNvSpPr/>
          <p:nvPr/>
        </p:nvSpPr>
        <p:spPr>
          <a:xfrm>
            <a:off x="5118378" y="4555212"/>
            <a:ext cx="8842653" cy="11430"/>
          </a:xfrm>
          <a:prstGeom prst="roundRect">
            <a:avLst>
              <a:gd name="adj" fmla="val 234320"/>
            </a:avLst>
          </a:prstGeom>
          <a:solidFill>
            <a:srgbClr val="555553"/>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1762125" y="4587002"/>
            <a:ext cx="4415552" cy="1028700"/>
          </a:xfrm>
          <a:prstGeom prst="rect">
            <a:avLst/>
          </a:prstGeom>
        </p:spPr>
      </p:pic>
      <p:pic>
        <p:nvPicPr>
          <p:cNvPr id="11" name="Image 3" descr="preencoded.png"/>
          <p:cNvPicPr>
            <a:picLocks noChangeAspect="1"/>
          </p:cNvPicPr>
          <p:nvPr/>
        </p:nvPicPr>
        <p:blipFill>
          <a:blip r:embed="rId6"/>
          <a:stretch>
            <a:fillRect/>
          </a:stretch>
        </p:blipFill>
        <p:spPr>
          <a:xfrm>
            <a:off x="3844409" y="4944428"/>
            <a:ext cx="250984" cy="313849"/>
          </a:xfrm>
          <a:prstGeom prst="rect">
            <a:avLst/>
          </a:prstGeom>
        </p:spPr>
      </p:pic>
      <p:sp>
        <p:nvSpPr>
          <p:cNvPr id="12" name="Text 6"/>
          <p:cNvSpPr/>
          <p:nvPr/>
        </p:nvSpPr>
        <p:spPr>
          <a:xfrm>
            <a:off x="6356152" y="4765477"/>
            <a:ext cx="2231827" cy="278963"/>
          </a:xfrm>
          <a:prstGeom prst="rect">
            <a:avLst/>
          </a:prstGeom>
          <a:noFill/>
          <a:ln/>
        </p:spPr>
        <p:txBody>
          <a:bodyPr wrap="none" lIns="0" tIns="0" rIns="0" bIns="0" rtlCol="0" anchor="t"/>
          <a:lstStyle/>
          <a:p>
            <a:pPr marL="0" indent="0" algn="l">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Land Reform</a:t>
            </a:r>
            <a:endParaRPr lang="en-US" sz="1750" dirty="0"/>
          </a:p>
        </p:txBody>
      </p:sp>
      <p:sp>
        <p:nvSpPr>
          <p:cNvPr id="13" name="Text 7"/>
          <p:cNvSpPr/>
          <p:nvPr/>
        </p:nvSpPr>
        <p:spPr>
          <a:xfrm>
            <a:off x="6356152" y="5151477"/>
            <a:ext cx="2541865" cy="285750"/>
          </a:xfrm>
          <a:prstGeom prst="rect">
            <a:avLst/>
          </a:prstGeom>
          <a:noFill/>
          <a:ln/>
        </p:spPr>
        <p:txBody>
          <a:bodyPr wrap="non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Redistributed 45 million acres</a:t>
            </a:r>
            <a:endParaRPr lang="en-US" sz="1400" dirty="0"/>
          </a:p>
        </p:txBody>
      </p:sp>
      <p:sp>
        <p:nvSpPr>
          <p:cNvPr id="14" name="Shape 8"/>
          <p:cNvSpPr/>
          <p:nvPr/>
        </p:nvSpPr>
        <p:spPr>
          <a:xfrm>
            <a:off x="6222206" y="5628442"/>
            <a:ext cx="7738824" cy="11430"/>
          </a:xfrm>
          <a:prstGeom prst="roundRect">
            <a:avLst>
              <a:gd name="adj" fmla="val 234320"/>
            </a:avLst>
          </a:prstGeom>
          <a:solidFill>
            <a:srgbClr val="555553"/>
          </a:solidFill>
          <a:ln/>
        </p:spPr>
        <p:txBody>
          <a:bodyPr/>
          <a:lstStyle/>
          <a:p>
            <a:endParaRPr lang="en-US"/>
          </a:p>
        </p:txBody>
      </p:sp>
      <p:pic>
        <p:nvPicPr>
          <p:cNvPr id="15" name="Image 4" descr="preencoded.png"/>
          <p:cNvPicPr>
            <a:picLocks noChangeAspect="1"/>
          </p:cNvPicPr>
          <p:nvPr/>
        </p:nvPicPr>
        <p:blipFill>
          <a:blip r:embed="rId7"/>
          <a:stretch>
            <a:fillRect/>
          </a:stretch>
        </p:blipFill>
        <p:spPr>
          <a:xfrm>
            <a:off x="658178" y="5660231"/>
            <a:ext cx="6623447" cy="1028700"/>
          </a:xfrm>
          <a:prstGeom prst="rect">
            <a:avLst/>
          </a:prstGeom>
        </p:spPr>
      </p:pic>
      <p:pic>
        <p:nvPicPr>
          <p:cNvPr id="16" name="Image 5" descr="preencoded.png"/>
          <p:cNvPicPr>
            <a:picLocks noChangeAspect="1"/>
          </p:cNvPicPr>
          <p:nvPr/>
        </p:nvPicPr>
        <p:blipFill>
          <a:blip r:embed="rId8"/>
          <a:stretch>
            <a:fillRect/>
          </a:stretch>
        </p:blipFill>
        <p:spPr>
          <a:xfrm>
            <a:off x="3844290" y="6017657"/>
            <a:ext cx="250984" cy="313849"/>
          </a:xfrm>
          <a:prstGeom prst="rect">
            <a:avLst/>
          </a:prstGeom>
        </p:spPr>
      </p:pic>
      <p:sp>
        <p:nvSpPr>
          <p:cNvPr id="17" name="Text 9"/>
          <p:cNvSpPr/>
          <p:nvPr/>
        </p:nvSpPr>
        <p:spPr>
          <a:xfrm>
            <a:off x="7460099" y="5838706"/>
            <a:ext cx="2231827" cy="278963"/>
          </a:xfrm>
          <a:prstGeom prst="rect">
            <a:avLst/>
          </a:prstGeom>
          <a:noFill/>
          <a:ln/>
        </p:spPr>
        <p:txBody>
          <a:bodyPr wrap="none" lIns="0" tIns="0" rIns="0" bIns="0" rtlCol="0" anchor="t"/>
          <a:lstStyle/>
          <a:p>
            <a:pPr marL="0" indent="0" algn="l">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Labor Support</a:t>
            </a:r>
            <a:endParaRPr lang="en-US" sz="1750" dirty="0"/>
          </a:p>
        </p:txBody>
      </p:sp>
      <p:sp>
        <p:nvSpPr>
          <p:cNvPr id="18" name="Text 10"/>
          <p:cNvSpPr/>
          <p:nvPr/>
        </p:nvSpPr>
        <p:spPr>
          <a:xfrm>
            <a:off x="7460099" y="6224707"/>
            <a:ext cx="2930247" cy="285750"/>
          </a:xfrm>
          <a:prstGeom prst="rect">
            <a:avLst/>
          </a:prstGeom>
          <a:noFill/>
          <a:ln/>
        </p:spPr>
        <p:txBody>
          <a:bodyPr wrap="non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Backed workers' rights and unions</a:t>
            </a:r>
            <a:endParaRPr lang="en-US" sz="1400" dirty="0"/>
          </a:p>
        </p:txBody>
      </p:sp>
      <p:sp>
        <p:nvSpPr>
          <p:cNvPr id="19" name="Text 11"/>
          <p:cNvSpPr/>
          <p:nvPr/>
        </p:nvSpPr>
        <p:spPr>
          <a:xfrm>
            <a:off x="624840" y="6889790"/>
            <a:ext cx="13380720" cy="571500"/>
          </a:xfrm>
          <a:prstGeom prst="rect">
            <a:avLst/>
          </a:prstGeom>
          <a:noFill/>
          <a:ln/>
        </p:spPr>
        <p:txBody>
          <a:bodyPr wrap="square" lIns="0" tIns="0" rIns="0" bIns="0" rtlCol="0" anchor="t"/>
          <a:lstStyle/>
          <a:p>
            <a:pPr marL="0" indent="0" algn="l">
              <a:lnSpc>
                <a:spcPts val="2200"/>
              </a:lnSpc>
              <a:buNone/>
            </a:pPr>
            <a:r>
              <a:rPr lang="en-US" sz="1400" dirty="0">
                <a:solidFill>
                  <a:srgbClr val="C9C9C0"/>
                </a:solidFill>
                <a:latin typeface="Tomorrow" pitchFamily="34" charset="0"/>
                <a:ea typeface="Tomorrow" pitchFamily="34" charset="-122"/>
                <a:cs typeface="Tomorrow" pitchFamily="34" charset="-120"/>
              </a:rPr>
              <a:t>Cárdenas symbolized </a:t>
            </a:r>
            <a:r>
              <a:rPr lang="en-US" sz="1400" b="1" dirty="0">
                <a:solidFill>
                  <a:srgbClr val="C9C9C0"/>
                </a:solidFill>
                <a:latin typeface="Tomorrow" pitchFamily="34" charset="0"/>
                <a:ea typeface="Tomorrow" pitchFamily="34" charset="-122"/>
                <a:cs typeface="Tomorrow" pitchFamily="34" charset="-120"/>
              </a:rPr>
              <a:t>grassroots nationalism</a:t>
            </a:r>
            <a:r>
              <a:rPr lang="en-US" sz="1400" dirty="0">
                <a:solidFill>
                  <a:srgbClr val="C9C9C0"/>
                </a:solidFill>
                <a:latin typeface="Tomorrow" pitchFamily="34" charset="0"/>
                <a:ea typeface="Tomorrow" pitchFamily="34" charset="-122"/>
                <a:cs typeface="Tomorrow" pitchFamily="34" charset="-120"/>
              </a:rPr>
              <a:t> with his visible commitment to the countryside and working class. His policies created a model of economic nationalism that would influence Mexico and Latin America for generations.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60DF0-6FC6-0008-CCC4-8760CD3AA5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4D0E13-6AEB-3908-FA80-99E7C6AA3F4E}"/>
              </a:ext>
            </a:extLst>
          </p:cNvPr>
          <p:cNvSpPr/>
          <p:nvPr/>
        </p:nvSpPr>
        <p:spPr>
          <a:xfrm>
            <a:off x="317183" y="1069658"/>
            <a:ext cx="12384643" cy="653177"/>
          </a:xfrm>
          <a:prstGeom prst="rect">
            <a:avLst/>
          </a:prstGeom>
          <a:noFill/>
          <a:ln/>
        </p:spPr>
        <p:txBody>
          <a:bodyPr wrap="none" lIns="0" tIns="0" rIns="0" bIns="0" rtlCol="0" anchor="t"/>
          <a:lstStyle/>
          <a:p>
            <a:pPr marL="0" indent="0" algn="l">
              <a:lnSpc>
                <a:spcPts val="2900"/>
              </a:lnSpc>
              <a:buNone/>
            </a:pPr>
            <a:r>
              <a:rPr lang="en-US" sz="4400" dirty="0">
                <a:solidFill>
                  <a:srgbClr val="EDEDE8"/>
                </a:solidFill>
                <a:latin typeface="Tomorrow Semi Bold" pitchFamily="34" charset="0"/>
                <a:ea typeface="Tomorrow Semi Bold" pitchFamily="34" charset="-122"/>
                <a:cs typeface="Tomorrow Semi Bold" pitchFamily="34" charset="-120"/>
              </a:rPr>
              <a:t>U.S.–Latin America Relations: The Good Neighbor Policy</a:t>
            </a:r>
            <a:endParaRPr lang="en-US" sz="4400" dirty="0"/>
          </a:p>
        </p:txBody>
      </p:sp>
      <p:sp>
        <p:nvSpPr>
          <p:cNvPr id="3" name="Text 1">
            <a:extLst>
              <a:ext uri="{FF2B5EF4-FFF2-40B4-BE49-F238E27FC236}">
                <a16:creationId xmlns:a16="http://schemas.microsoft.com/office/drawing/2014/main" id="{F9D79A13-04BC-1FCD-D198-D9D269DE9496}"/>
              </a:ext>
            </a:extLst>
          </p:cNvPr>
          <p:cNvSpPr/>
          <p:nvPr/>
        </p:nvSpPr>
        <p:spPr>
          <a:xfrm>
            <a:off x="731520" y="1683659"/>
            <a:ext cx="13167360" cy="668893"/>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Franklin D. Roosevelt's Good Neighbor Policy marked a significant shift in U.S. relations with Latin America, officially ending direct military interventions. This policy relied instead on symbolic diplomacy and cultural exchanges, exemplified by works like Disney's Three Caballeros and the popularization of performers like Carmen Miranda.</a:t>
            </a:r>
          </a:p>
        </p:txBody>
      </p:sp>
      <p:sp>
        <p:nvSpPr>
          <p:cNvPr id="4" name="Shape 2">
            <a:extLst>
              <a:ext uri="{FF2B5EF4-FFF2-40B4-BE49-F238E27FC236}">
                <a16:creationId xmlns:a16="http://schemas.microsoft.com/office/drawing/2014/main" id="{53607889-A669-07C9-1D09-F0363267554B}"/>
              </a:ext>
            </a:extLst>
          </p:cNvPr>
          <p:cNvSpPr/>
          <p:nvPr/>
        </p:nvSpPr>
        <p:spPr>
          <a:xfrm>
            <a:off x="731520" y="3259221"/>
            <a:ext cx="4249817" cy="2753204"/>
          </a:xfrm>
          <a:prstGeom prst="roundRect">
            <a:avLst>
              <a:gd name="adj" fmla="val 976"/>
            </a:avLst>
          </a:prstGeom>
          <a:solidFill>
            <a:srgbClr val="3C3C3A"/>
          </a:solidFill>
          <a:ln/>
        </p:spPr>
        <p:txBody>
          <a:bodyPr/>
          <a:lstStyle/>
          <a:p>
            <a:endParaRPr lang="en-US"/>
          </a:p>
        </p:txBody>
      </p:sp>
      <p:sp>
        <p:nvSpPr>
          <p:cNvPr id="5" name="Text 3">
            <a:extLst>
              <a:ext uri="{FF2B5EF4-FFF2-40B4-BE49-F238E27FC236}">
                <a16:creationId xmlns:a16="http://schemas.microsoft.com/office/drawing/2014/main" id="{914BDFDF-9CD2-F10E-3BFF-79842F0C5B4A}"/>
              </a:ext>
            </a:extLst>
          </p:cNvPr>
          <p:cNvSpPr/>
          <p:nvPr/>
        </p:nvSpPr>
        <p:spPr>
          <a:xfrm>
            <a:off x="940475" y="3582479"/>
            <a:ext cx="2671405" cy="326469"/>
          </a:xfrm>
          <a:prstGeom prst="rect">
            <a:avLst/>
          </a:prstGeom>
          <a:noFill/>
          <a:ln/>
        </p:spPr>
        <p:txBody>
          <a:bodyPr wrap="none" lIns="0" tIns="0" rIns="0" bIns="0" rtlCol="0" anchor="t"/>
          <a:lstStyle/>
          <a:p>
            <a:pPr marL="0" indent="0" algn="l">
              <a:lnSpc>
                <a:spcPts val="1450"/>
              </a:lnSpc>
              <a:buNone/>
            </a:pPr>
            <a:r>
              <a:rPr lang="en-US" sz="2400" dirty="0">
                <a:solidFill>
                  <a:srgbClr val="C9C9C0"/>
                </a:solidFill>
                <a:latin typeface="Tomorrow Semi Bold" pitchFamily="34" charset="0"/>
                <a:ea typeface="Tomorrow Semi Bold" pitchFamily="34" charset="-122"/>
                <a:cs typeface="Tomorrow Semi Bold" pitchFamily="34" charset="-120"/>
              </a:rPr>
              <a:t>Cultural Diplomacy</a:t>
            </a:r>
            <a:endParaRPr lang="en-US" sz="2400" dirty="0"/>
          </a:p>
        </p:txBody>
      </p:sp>
      <p:sp>
        <p:nvSpPr>
          <p:cNvPr id="6" name="Text 4">
            <a:extLst>
              <a:ext uri="{FF2B5EF4-FFF2-40B4-BE49-F238E27FC236}">
                <a16:creationId xmlns:a16="http://schemas.microsoft.com/office/drawing/2014/main" id="{338610C8-84F0-6C4F-0F00-6F9CD7C57CC7}"/>
              </a:ext>
            </a:extLst>
          </p:cNvPr>
          <p:cNvSpPr/>
          <p:nvPr/>
        </p:nvSpPr>
        <p:spPr>
          <a:xfrm>
            <a:off x="940475" y="4034321"/>
            <a:ext cx="3831908" cy="2006679"/>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Disney's Three Caballeros represented U.S. efforts to build cultural connections with Latin America during World War II.</a:t>
            </a:r>
          </a:p>
        </p:txBody>
      </p:sp>
      <p:sp>
        <p:nvSpPr>
          <p:cNvPr id="7" name="Shape 5">
            <a:extLst>
              <a:ext uri="{FF2B5EF4-FFF2-40B4-BE49-F238E27FC236}">
                <a16:creationId xmlns:a16="http://schemas.microsoft.com/office/drawing/2014/main" id="{52C68485-4ED4-EAA9-F308-F79C5EE2B705}"/>
              </a:ext>
            </a:extLst>
          </p:cNvPr>
          <p:cNvSpPr/>
          <p:nvPr/>
        </p:nvSpPr>
        <p:spPr>
          <a:xfrm>
            <a:off x="5190292" y="3259221"/>
            <a:ext cx="4249817" cy="2753204"/>
          </a:xfrm>
          <a:prstGeom prst="roundRect">
            <a:avLst>
              <a:gd name="adj" fmla="val 976"/>
            </a:avLst>
          </a:prstGeom>
          <a:solidFill>
            <a:srgbClr val="3C3C3A"/>
          </a:solidFill>
          <a:ln/>
        </p:spPr>
        <p:txBody>
          <a:bodyPr/>
          <a:lstStyle/>
          <a:p>
            <a:endParaRPr lang="en-US"/>
          </a:p>
        </p:txBody>
      </p:sp>
      <p:sp>
        <p:nvSpPr>
          <p:cNvPr id="8" name="Text 6">
            <a:extLst>
              <a:ext uri="{FF2B5EF4-FFF2-40B4-BE49-F238E27FC236}">
                <a16:creationId xmlns:a16="http://schemas.microsoft.com/office/drawing/2014/main" id="{9676D2D4-DA0C-CFC9-1F64-EF02536F8FDD}"/>
              </a:ext>
            </a:extLst>
          </p:cNvPr>
          <p:cNvSpPr/>
          <p:nvPr/>
        </p:nvSpPr>
        <p:spPr>
          <a:xfrm>
            <a:off x="5399246" y="3582479"/>
            <a:ext cx="2702004" cy="326469"/>
          </a:xfrm>
          <a:prstGeom prst="rect">
            <a:avLst/>
          </a:prstGeom>
          <a:noFill/>
          <a:ln/>
        </p:spPr>
        <p:txBody>
          <a:bodyPr wrap="none" lIns="0" tIns="0" rIns="0" bIns="0" rtlCol="0" anchor="t"/>
          <a:lstStyle/>
          <a:p>
            <a:pPr marL="0" indent="0" algn="l">
              <a:lnSpc>
                <a:spcPts val="1450"/>
              </a:lnSpc>
              <a:buNone/>
            </a:pPr>
            <a:r>
              <a:rPr lang="en-US" sz="2400" dirty="0">
                <a:solidFill>
                  <a:srgbClr val="C9C9C0"/>
                </a:solidFill>
                <a:latin typeface="Tomorrow Semi Bold" pitchFamily="34" charset="0"/>
                <a:ea typeface="Tomorrow Semi Bold" pitchFamily="34" charset="-122"/>
                <a:cs typeface="Tomorrow Semi Bold" pitchFamily="34" charset="-120"/>
              </a:rPr>
              <a:t>Diplomatic Engagement</a:t>
            </a:r>
            <a:endParaRPr lang="en-US" sz="2400" dirty="0"/>
          </a:p>
        </p:txBody>
      </p:sp>
      <p:sp>
        <p:nvSpPr>
          <p:cNvPr id="9" name="Text 7">
            <a:extLst>
              <a:ext uri="{FF2B5EF4-FFF2-40B4-BE49-F238E27FC236}">
                <a16:creationId xmlns:a16="http://schemas.microsoft.com/office/drawing/2014/main" id="{685161A1-C64D-1106-E603-7AF7B4D1BE4C}"/>
              </a:ext>
            </a:extLst>
          </p:cNvPr>
          <p:cNvSpPr/>
          <p:nvPr/>
        </p:nvSpPr>
        <p:spPr>
          <a:xfrm>
            <a:off x="5299229" y="4034321"/>
            <a:ext cx="4040863" cy="2341126"/>
          </a:xfrm>
          <a:prstGeom prst="rect">
            <a:avLst/>
          </a:prstGeom>
          <a:noFill/>
          <a:ln/>
        </p:spPr>
        <p:txBody>
          <a:bodyPr wrap="square" lIns="0" tIns="0" rIns="0" bIns="0" rtlCol="0" anchor="t"/>
          <a:lstStyle/>
          <a:p>
            <a:pPr marL="0" indent="0">
              <a:lnSpc>
                <a:spcPts val="2600"/>
              </a:lnSpc>
              <a:buNone/>
            </a:pPr>
            <a:r>
              <a:rPr lang="en-US" sz="1600" dirty="0">
                <a:solidFill>
                  <a:srgbClr val="C9C9C0"/>
                </a:solidFill>
                <a:latin typeface="Tomorrow" pitchFamily="34" charset="0"/>
                <a:ea typeface="Tomorrow" pitchFamily="34" charset="-122"/>
                <a:cs typeface="Tomorrow" pitchFamily="34" charset="-120"/>
              </a:rPr>
              <a:t>Roosevelt's administration emphasized formal diplomatic relations rather than military intervention.</a:t>
            </a:r>
          </a:p>
        </p:txBody>
      </p:sp>
      <p:sp>
        <p:nvSpPr>
          <p:cNvPr id="10" name="Shape 8">
            <a:extLst>
              <a:ext uri="{FF2B5EF4-FFF2-40B4-BE49-F238E27FC236}">
                <a16:creationId xmlns:a16="http://schemas.microsoft.com/office/drawing/2014/main" id="{8C633789-0186-D44E-08D4-832C9D89B40A}"/>
              </a:ext>
            </a:extLst>
          </p:cNvPr>
          <p:cNvSpPr/>
          <p:nvPr/>
        </p:nvSpPr>
        <p:spPr>
          <a:xfrm>
            <a:off x="9649063" y="3259221"/>
            <a:ext cx="4249817" cy="2753204"/>
          </a:xfrm>
          <a:prstGeom prst="roundRect">
            <a:avLst>
              <a:gd name="adj" fmla="val 976"/>
            </a:avLst>
          </a:prstGeom>
          <a:solidFill>
            <a:srgbClr val="3C3C3A"/>
          </a:solidFill>
          <a:ln/>
        </p:spPr>
        <p:txBody>
          <a:bodyPr/>
          <a:lstStyle/>
          <a:p>
            <a:endParaRPr lang="en-US"/>
          </a:p>
        </p:txBody>
      </p:sp>
      <p:sp>
        <p:nvSpPr>
          <p:cNvPr id="11" name="Text 9">
            <a:extLst>
              <a:ext uri="{FF2B5EF4-FFF2-40B4-BE49-F238E27FC236}">
                <a16:creationId xmlns:a16="http://schemas.microsoft.com/office/drawing/2014/main" id="{62088FF0-50CD-30CB-393E-BAE036F26D83}"/>
              </a:ext>
            </a:extLst>
          </p:cNvPr>
          <p:cNvSpPr/>
          <p:nvPr/>
        </p:nvSpPr>
        <p:spPr>
          <a:xfrm>
            <a:off x="9858018" y="3582479"/>
            <a:ext cx="2612708" cy="326469"/>
          </a:xfrm>
          <a:prstGeom prst="rect">
            <a:avLst/>
          </a:prstGeom>
          <a:noFill/>
          <a:ln/>
        </p:spPr>
        <p:txBody>
          <a:bodyPr wrap="none" lIns="0" tIns="0" rIns="0" bIns="0" rtlCol="0" anchor="t"/>
          <a:lstStyle/>
          <a:p>
            <a:pPr marL="0" indent="0" algn="l">
              <a:lnSpc>
                <a:spcPts val="1450"/>
              </a:lnSpc>
              <a:buNone/>
            </a:pPr>
            <a:r>
              <a:rPr lang="en-US" sz="2400" dirty="0">
                <a:solidFill>
                  <a:srgbClr val="C9C9C0"/>
                </a:solidFill>
                <a:latin typeface="Tomorrow Semi Bold" pitchFamily="34" charset="0"/>
                <a:ea typeface="Tomorrow Semi Bold" pitchFamily="34" charset="-122"/>
                <a:cs typeface="Tomorrow Semi Bold" pitchFamily="34" charset="-120"/>
              </a:rPr>
              <a:t>Cultural Exchange</a:t>
            </a:r>
            <a:endParaRPr lang="en-US" sz="2400" dirty="0"/>
          </a:p>
        </p:txBody>
      </p:sp>
      <p:sp>
        <p:nvSpPr>
          <p:cNvPr id="12" name="Text 10">
            <a:extLst>
              <a:ext uri="{FF2B5EF4-FFF2-40B4-BE49-F238E27FC236}">
                <a16:creationId xmlns:a16="http://schemas.microsoft.com/office/drawing/2014/main" id="{2228A5AD-C725-D0F8-4CB3-CF1819A1DB30}"/>
              </a:ext>
            </a:extLst>
          </p:cNvPr>
          <p:cNvSpPr/>
          <p:nvPr/>
        </p:nvSpPr>
        <p:spPr>
          <a:xfrm>
            <a:off x="9858018" y="4034321"/>
            <a:ext cx="3831908" cy="2341126"/>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Brazilian performer Carmen Miranda became a cultural ambassador, though often presenting stereotypical images.</a:t>
            </a:r>
          </a:p>
        </p:txBody>
      </p:sp>
      <p:sp>
        <p:nvSpPr>
          <p:cNvPr id="13" name="Text 11">
            <a:extLst>
              <a:ext uri="{FF2B5EF4-FFF2-40B4-BE49-F238E27FC236}">
                <a16:creationId xmlns:a16="http://schemas.microsoft.com/office/drawing/2014/main" id="{27BA9D90-85FA-49A4-5175-CBA1986E5494}"/>
              </a:ext>
            </a:extLst>
          </p:cNvPr>
          <p:cNvSpPr/>
          <p:nvPr/>
        </p:nvSpPr>
        <p:spPr>
          <a:xfrm>
            <a:off x="731520" y="6833834"/>
            <a:ext cx="13167360" cy="668893"/>
          </a:xfrm>
          <a:prstGeom prst="rect">
            <a:avLst/>
          </a:prstGeom>
          <a:noFill/>
          <a:ln/>
        </p:spPr>
        <p:txBody>
          <a:bodyPr wrap="square" lIns="0" tIns="0" rIns="0" bIns="0" rtlCol="0" anchor="t"/>
          <a:lstStyle/>
          <a:p>
            <a:pPr marL="0" indent="0" algn="l">
              <a:lnSpc>
                <a:spcPts val="2600"/>
              </a:lnSpc>
              <a:buNone/>
            </a:pPr>
            <a:r>
              <a:rPr lang="en-US" sz="1600" dirty="0">
                <a:solidFill>
                  <a:srgbClr val="C9C9C0"/>
                </a:solidFill>
                <a:latin typeface="Tomorrow" pitchFamily="34" charset="0"/>
                <a:ea typeface="Tomorrow" pitchFamily="34" charset="-122"/>
                <a:cs typeface="Tomorrow" pitchFamily="34" charset="-120"/>
              </a:rPr>
              <a:t>The policy allowed nationalism to flourish in larger nations with substantial economic leverage. However, the U.S. simultaneously supported dictators like Trujillo in the Dominican Republic and Somoza in Nicaragua, revealing the limits of this "neighborly" approach.</a:t>
            </a:r>
          </a:p>
        </p:txBody>
      </p:sp>
    </p:spTree>
    <p:extLst>
      <p:ext uri="{BB962C8B-B14F-4D97-AF65-F5344CB8AC3E}">
        <p14:creationId xmlns:p14="http://schemas.microsoft.com/office/powerpoint/2010/main" val="984065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5208" y="561975"/>
            <a:ext cx="12915543" cy="638532"/>
          </a:xfrm>
          <a:prstGeom prst="rect">
            <a:avLst/>
          </a:prstGeom>
          <a:noFill/>
          <a:ln/>
        </p:spPr>
        <p:txBody>
          <a:bodyPr wrap="none" lIns="0" tIns="0" rIns="0" bIns="0" rtlCol="0" anchor="t"/>
          <a:lstStyle/>
          <a:p>
            <a:pPr marL="0" indent="0" algn="l">
              <a:lnSpc>
                <a:spcPts val="5000"/>
              </a:lnSpc>
              <a:buNone/>
            </a:pPr>
            <a:r>
              <a:rPr lang="en-US" sz="4000" dirty="0">
                <a:solidFill>
                  <a:srgbClr val="EDEDE8"/>
                </a:solidFill>
                <a:latin typeface="Tomorrow Semi Bold" pitchFamily="34" charset="0"/>
                <a:ea typeface="Tomorrow Semi Bold" pitchFamily="34" charset="-122"/>
                <a:cs typeface="Tomorrow Semi Bold" pitchFamily="34" charset="-120"/>
              </a:rPr>
              <a:t>The Uneven Effects of Latin American Nationalism</a:t>
            </a:r>
            <a:endParaRPr lang="en-US" sz="4000" dirty="0"/>
          </a:p>
        </p:txBody>
      </p:sp>
      <p:sp>
        <p:nvSpPr>
          <p:cNvPr id="3" name="Text 1"/>
          <p:cNvSpPr/>
          <p:nvPr/>
        </p:nvSpPr>
        <p:spPr>
          <a:xfrm>
            <a:off x="715208" y="1609249"/>
            <a:ext cx="13199983" cy="981194"/>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While nationalist movements brought significant </a:t>
            </a:r>
            <a:r>
              <a:rPr lang="en-US" sz="1600" b="1" dirty="0">
                <a:solidFill>
                  <a:srgbClr val="C9C9C0"/>
                </a:solidFill>
                <a:latin typeface="Tomorrow" pitchFamily="34" charset="0"/>
                <a:ea typeface="Tomorrow" pitchFamily="34" charset="-122"/>
                <a:cs typeface="Tomorrow" pitchFamily="34" charset="-120"/>
              </a:rPr>
              <a:t>urban improvements</a:t>
            </a:r>
            <a:r>
              <a:rPr lang="en-US" sz="1600" dirty="0">
                <a:solidFill>
                  <a:srgbClr val="C9C9C0"/>
                </a:solidFill>
                <a:latin typeface="Tomorrow" pitchFamily="34" charset="0"/>
                <a:ea typeface="Tomorrow" pitchFamily="34" charset="-122"/>
                <a:cs typeface="Tomorrow" pitchFamily="34" charset="-120"/>
              </a:rPr>
              <a:t> and expanded the middle class across Latin America, their benefits were unevenly distributed. Rural areas often remained excluded from progress, </a:t>
            </a:r>
            <a:r>
              <a:rPr lang="en-US" sz="1600" b="1" dirty="0">
                <a:solidFill>
                  <a:srgbClr val="C9C9C0"/>
                </a:solidFill>
                <a:latin typeface="Tomorrow" pitchFamily="34" charset="0"/>
                <a:ea typeface="Tomorrow" pitchFamily="34" charset="-122"/>
                <a:cs typeface="Tomorrow" pitchFamily="34" charset="-120"/>
              </a:rPr>
              <a:t>shantytowns</a:t>
            </a:r>
            <a:r>
              <a:rPr lang="en-US" sz="1600" dirty="0">
                <a:solidFill>
                  <a:srgbClr val="C9C9C0"/>
                </a:solidFill>
                <a:latin typeface="Tomorrow" pitchFamily="34" charset="0"/>
                <a:ea typeface="Tomorrow" pitchFamily="34" charset="-122"/>
                <a:cs typeface="Tomorrow" pitchFamily="34" charset="-120"/>
              </a:rPr>
              <a:t> grew rapidly around major cities, and racism persisted despite inclusive nationalist rhetoric.</a:t>
            </a:r>
            <a:endParaRPr lang="en-US" sz="1600" dirty="0"/>
          </a:p>
        </p:txBody>
      </p:sp>
      <p:sp>
        <p:nvSpPr>
          <p:cNvPr id="4" name="Text 2"/>
          <p:cNvSpPr/>
          <p:nvPr/>
        </p:nvSpPr>
        <p:spPr>
          <a:xfrm>
            <a:off x="715208" y="2820353"/>
            <a:ext cx="13199983" cy="981194"/>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The success of nationalist reforms varied dramatically by country. In nations like </a:t>
            </a:r>
            <a:r>
              <a:rPr lang="en-US" sz="1600" b="1" dirty="0">
                <a:solidFill>
                  <a:srgbClr val="C9C9C0"/>
                </a:solidFill>
                <a:latin typeface="Tomorrow" pitchFamily="34" charset="0"/>
                <a:ea typeface="Tomorrow" pitchFamily="34" charset="-122"/>
                <a:cs typeface="Tomorrow" pitchFamily="34" charset="-120"/>
              </a:rPr>
              <a:t>Guatemala, El Salvador, and Nicaragua</a:t>
            </a:r>
            <a:r>
              <a:rPr lang="en-US" sz="1600" dirty="0">
                <a:solidFill>
                  <a:srgbClr val="C9C9C0"/>
                </a:solidFill>
                <a:latin typeface="Tomorrow" pitchFamily="34" charset="0"/>
                <a:ea typeface="Tomorrow" pitchFamily="34" charset="-122"/>
                <a:cs typeface="Tomorrow" pitchFamily="34" charset="-120"/>
              </a:rPr>
              <a:t>, powerful </a:t>
            </a:r>
            <a:r>
              <a:rPr lang="en-US" sz="1600" b="1" dirty="0">
                <a:solidFill>
                  <a:srgbClr val="C9C9C0"/>
                </a:solidFill>
                <a:latin typeface="Tomorrow" pitchFamily="34" charset="0"/>
                <a:ea typeface="Tomorrow" pitchFamily="34" charset="-122"/>
                <a:cs typeface="Tomorrow" pitchFamily="34" charset="-120"/>
              </a:rPr>
              <a:t>neocolonial elites</a:t>
            </a:r>
            <a:r>
              <a:rPr lang="en-US" sz="1600" dirty="0">
                <a:solidFill>
                  <a:srgbClr val="C9C9C0"/>
                </a:solidFill>
                <a:latin typeface="Tomorrow" pitchFamily="34" charset="0"/>
                <a:ea typeface="Tomorrow" pitchFamily="34" charset="-122"/>
                <a:cs typeface="Tomorrow" pitchFamily="34" charset="-120"/>
              </a:rPr>
              <a:t> and U.S. influence effectively suppressed nationalist movements, preventing the kinds of reforms seen in Mexico and Brazil.</a:t>
            </a:r>
            <a:endParaRPr lang="en-US" sz="1600" dirty="0"/>
          </a:p>
        </p:txBody>
      </p:sp>
      <p:sp>
        <p:nvSpPr>
          <p:cNvPr id="5" name="Text 3"/>
          <p:cNvSpPr/>
          <p:nvPr/>
        </p:nvSpPr>
        <p:spPr>
          <a:xfrm>
            <a:off x="2606159" y="4330779"/>
            <a:ext cx="2554605" cy="319326"/>
          </a:xfrm>
          <a:prstGeom prst="rect">
            <a:avLst/>
          </a:prstGeom>
          <a:noFill/>
          <a:ln/>
        </p:spPr>
        <p:txBody>
          <a:bodyPr wrap="none" lIns="0" tIns="0" rIns="0" bIns="0" rtlCol="0" anchor="t"/>
          <a:lstStyle/>
          <a:p>
            <a:pPr marL="0" indent="0" algn="r">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Urban Growth</a:t>
            </a:r>
            <a:endParaRPr lang="en-US" sz="2000" dirty="0"/>
          </a:p>
        </p:txBody>
      </p:sp>
      <p:sp>
        <p:nvSpPr>
          <p:cNvPr id="6" name="Text 4"/>
          <p:cNvSpPr/>
          <p:nvPr/>
        </p:nvSpPr>
        <p:spPr>
          <a:xfrm>
            <a:off x="715208" y="4772620"/>
            <a:ext cx="4445556" cy="654129"/>
          </a:xfrm>
          <a:prstGeom prst="rect">
            <a:avLst/>
          </a:prstGeom>
          <a:noFill/>
          <a:ln/>
        </p:spPr>
        <p:txBody>
          <a:bodyPr wrap="square" lIns="0" tIns="0" rIns="0" bIns="0" rtlCol="0" anchor="t"/>
          <a:lstStyle/>
          <a:p>
            <a:pPr marL="0" indent="0" algn="r">
              <a:lnSpc>
                <a:spcPts val="2550"/>
              </a:lnSpc>
              <a:buNone/>
            </a:pPr>
            <a:r>
              <a:rPr lang="en-US" sz="1600" dirty="0">
                <a:solidFill>
                  <a:srgbClr val="C9C9C0"/>
                </a:solidFill>
                <a:latin typeface="Tomorrow" pitchFamily="34" charset="0"/>
                <a:ea typeface="Tomorrow" pitchFamily="34" charset="-122"/>
                <a:cs typeface="Tomorrow" pitchFamily="34" charset="-120"/>
              </a:rPr>
              <a:t>Cities expanded rapidly but unevenly, with modern centers alongside growing slums</a:t>
            </a:r>
            <a:endParaRPr lang="en-US" sz="1600" dirty="0"/>
          </a:p>
        </p:txBody>
      </p:sp>
      <p:pic>
        <p:nvPicPr>
          <p:cNvPr id="7" name="Image 0" descr="preencoded.png"/>
          <p:cNvPicPr>
            <a:picLocks noChangeAspect="1"/>
          </p:cNvPicPr>
          <p:nvPr/>
        </p:nvPicPr>
        <p:blipFill>
          <a:blip r:embed="rId3"/>
          <a:stretch>
            <a:fillRect/>
          </a:stretch>
        </p:blipFill>
        <p:spPr>
          <a:xfrm>
            <a:off x="5467231" y="4031456"/>
            <a:ext cx="3695938" cy="3695938"/>
          </a:xfrm>
          <a:prstGeom prst="rect">
            <a:avLst/>
          </a:prstGeom>
        </p:spPr>
      </p:pic>
      <p:sp>
        <p:nvSpPr>
          <p:cNvPr id="8" name="Shape 5"/>
          <p:cNvSpPr/>
          <p:nvPr/>
        </p:nvSpPr>
        <p:spPr>
          <a:xfrm>
            <a:off x="5801975" y="4366200"/>
            <a:ext cx="510897" cy="510897"/>
          </a:xfrm>
          <a:prstGeom prst="roundRect">
            <a:avLst>
              <a:gd name="adj" fmla="val 1788003"/>
            </a:avLst>
          </a:prstGeom>
          <a:solidFill>
            <a:srgbClr val="3C3C3A"/>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5942469" y="4478000"/>
            <a:ext cx="229910" cy="287298"/>
          </a:xfrm>
          <a:prstGeom prst="rect">
            <a:avLst/>
          </a:prstGeom>
        </p:spPr>
      </p:pic>
      <p:sp>
        <p:nvSpPr>
          <p:cNvPr id="10" name="Text 6"/>
          <p:cNvSpPr/>
          <p:nvPr/>
        </p:nvSpPr>
        <p:spPr>
          <a:xfrm>
            <a:off x="9469636" y="4330779"/>
            <a:ext cx="3071932" cy="319326"/>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Industrial Development</a:t>
            </a:r>
            <a:endParaRPr lang="en-US" sz="2000" dirty="0"/>
          </a:p>
        </p:txBody>
      </p:sp>
      <p:sp>
        <p:nvSpPr>
          <p:cNvPr id="11" name="Text 7"/>
          <p:cNvSpPr/>
          <p:nvPr/>
        </p:nvSpPr>
        <p:spPr>
          <a:xfrm>
            <a:off x="9469636" y="4772620"/>
            <a:ext cx="4445556" cy="654129"/>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Manufacturing increased but remained concentrated in few regions</a:t>
            </a:r>
            <a:endParaRPr lang="en-US" sz="1600" dirty="0"/>
          </a:p>
        </p:txBody>
      </p:sp>
      <p:pic>
        <p:nvPicPr>
          <p:cNvPr id="12" name="Image 2" descr="preencoded.png"/>
          <p:cNvPicPr>
            <a:picLocks noChangeAspect="1"/>
          </p:cNvPicPr>
          <p:nvPr/>
        </p:nvPicPr>
        <p:blipFill>
          <a:blip r:embed="rId5"/>
          <a:stretch>
            <a:fillRect/>
          </a:stretch>
        </p:blipFill>
        <p:spPr>
          <a:xfrm>
            <a:off x="5467231" y="4031456"/>
            <a:ext cx="3695938" cy="3695938"/>
          </a:xfrm>
          <a:prstGeom prst="rect">
            <a:avLst/>
          </a:prstGeom>
        </p:spPr>
      </p:pic>
      <p:sp>
        <p:nvSpPr>
          <p:cNvPr id="13" name="Shape 8"/>
          <p:cNvSpPr/>
          <p:nvPr/>
        </p:nvSpPr>
        <p:spPr>
          <a:xfrm>
            <a:off x="8317409" y="4366200"/>
            <a:ext cx="510897" cy="510897"/>
          </a:xfrm>
          <a:prstGeom prst="roundRect">
            <a:avLst>
              <a:gd name="adj" fmla="val 1788003"/>
            </a:avLst>
          </a:prstGeom>
          <a:solidFill>
            <a:srgbClr val="3C3C3A"/>
          </a:solidFill>
          <a:ln/>
        </p:spPr>
        <p:txBody>
          <a:bodyPr/>
          <a:lstStyle/>
          <a:p>
            <a:endParaRPr lang="en-US"/>
          </a:p>
        </p:txBody>
      </p:sp>
      <p:pic>
        <p:nvPicPr>
          <p:cNvPr id="14" name="Image 3" descr="preencoded.png"/>
          <p:cNvPicPr>
            <a:picLocks noChangeAspect="1"/>
          </p:cNvPicPr>
          <p:nvPr/>
        </p:nvPicPr>
        <p:blipFill>
          <a:blip r:embed="rId6"/>
          <a:stretch>
            <a:fillRect/>
          </a:stretch>
        </p:blipFill>
        <p:spPr>
          <a:xfrm>
            <a:off x="8457902" y="4478000"/>
            <a:ext cx="229910" cy="287298"/>
          </a:xfrm>
          <a:prstGeom prst="rect">
            <a:avLst/>
          </a:prstGeom>
        </p:spPr>
      </p:pic>
      <p:sp>
        <p:nvSpPr>
          <p:cNvPr id="15" name="Text 9"/>
          <p:cNvSpPr/>
          <p:nvPr/>
        </p:nvSpPr>
        <p:spPr>
          <a:xfrm>
            <a:off x="9469636" y="6331982"/>
            <a:ext cx="2554605" cy="319326"/>
          </a:xfrm>
          <a:prstGeom prst="rect">
            <a:avLst/>
          </a:prstGeom>
          <a:noFill/>
          <a:ln/>
        </p:spPr>
        <p:txBody>
          <a:bodyPr wrap="none" lIns="0" tIns="0" rIns="0" bIns="0" rtlCol="0" anchor="t"/>
          <a:lstStyle/>
          <a:p>
            <a:pPr marL="0" indent="0" algn="l">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Rural Exclusion</a:t>
            </a:r>
            <a:endParaRPr lang="en-US" sz="2000" dirty="0"/>
          </a:p>
        </p:txBody>
      </p:sp>
      <p:sp>
        <p:nvSpPr>
          <p:cNvPr id="16" name="Text 10"/>
          <p:cNvSpPr/>
          <p:nvPr/>
        </p:nvSpPr>
        <p:spPr>
          <a:xfrm>
            <a:off x="9469636" y="6773823"/>
            <a:ext cx="4445556" cy="654129"/>
          </a:xfrm>
          <a:prstGeom prst="rect">
            <a:avLst/>
          </a:prstGeom>
          <a:noFill/>
          <a:ln/>
        </p:spPr>
        <p:txBody>
          <a:bodyPr wrap="square" lIns="0" tIns="0" rIns="0" bIns="0" rtlCol="0" anchor="t"/>
          <a:lstStyle/>
          <a:p>
            <a:pPr marL="0" indent="0" algn="l">
              <a:lnSpc>
                <a:spcPts val="2550"/>
              </a:lnSpc>
              <a:buNone/>
            </a:pPr>
            <a:r>
              <a:rPr lang="en-US" sz="1600" dirty="0">
                <a:solidFill>
                  <a:srgbClr val="C9C9C0"/>
                </a:solidFill>
                <a:latin typeface="Tomorrow" pitchFamily="34" charset="0"/>
                <a:ea typeface="Tomorrow" pitchFamily="34" charset="-122"/>
                <a:cs typeface="Tomorrow" pitchFamily="34" charset="-120"/>
              </a:rPr>
              <a:t>Countryside often left behind in nationalist modernization projects</a:t>
            </a:r>
            <a:endParaRPr lang="en-US" sz="1600" dirty="0"/>
          </a:p>
        </p:txBody>
      </p:sp>
      <p:pic>
        <p:nvPicPr>
          <p:cNvPr id="17" name="Image 4" descr="preencoded.png"/>
          <p:cNvPicPr>
            <a:picLocks noChangeAspect="1"/>
          </p:cNvPicPr>
          <p:nvPr/>
        </p:nvPicPr>
        <p:blipFill>
          <a:blip r:embed="rId7"/>
          <a:stretch>
            <a:fillRect/>
          </a:stretch>
        </p:blipFill>
        <p:spPr>
          <a:xfrm>
            <a:off x="5467231" y="4031456"/>
            <a:ext cx="3695938" cy="3695938"/>
          </a:xfrm>
          <a:prstGeom prst="rect">
            <a:avLst/>
          </a:prstGeom>
        </p:spPr>
      </p:pic>
      <p:sp>
        <p:nvSpPr>
          <p:cNvPr id="18" name="Shape 11"/>
          <p:cNvSpPr/>
          <p:nvPr/>
        </p:nvSpPr>
        <p:spPr>
          <a:xfrm>
            <a:off x="8317409" y="6881634"/>
            <a:ext cx="510897" cy="510897"/>
          </a:xfrm>
          <a:prstGeom prst="roundRect">
            <a:avLst>
              <a:gd name="adj" fmla="val 1788003"/>
            </a:avLst>
          </a:prstGeom>
          <a:solidFill>
            <a:srgbClr val="3C3C3A"/>
          </a:solidFill>
          <a:ln/>
        </p:spPr>
        <p:txBody>
          <a:bodyPr/>
          <a:lstStyle/>
          <a:p>
            <a:endParaRPr lang="en-US"/>
          </a:p>
        </p:txBody>
      </p:sp>
      <p:pic>
        <p:nvPicPr>
          <p:cNvPr id="19" name="Image 5" descr="preencoded.png"/>
          <p:cNvPicPr>
            <a:picLocks noChangeAspect="1"/>
          </p:cNvPicPr>
          <p:nvPr/>
        </p:nvPicPr>
        <p:blipFill>
          <a:blip r:embed="rId8"/>
          <a:stretch>
            <a:fillRect/>
          </a:stretch>
        </p:blipFill>
        <p:spPr>
          <a:xfrm>
            <a:off x="8457902" y="6993434"/>
            <a:ext cx="229910" cy="287298"/>
          </a:xfrm>
          <a:prstGeom prst="rect">
            <a:avLst/>
          </a:prstGeom>
        </p:spPr>
      </p:pic>
      <p:sp>
        <p:nvSpPr>
          <p:cNvPr id="20" name="Text 12"/>
          <p:cNvSpPr/>
          <p:nvPr/>
        </p:nvSpPr>
        <p:spPr>
          <a:xfrm>
            <a:off x="2459236" y="6331982"/>
            <a:ext cx="2701528" cy="319326"/>
          </a:xfrm>
          <a:prstGeom prst="rect">
            <a:avLst/>
          </a:prstGeom>
          <a:noFill/>
          <a:ln/>
        </p:spPr>
        <p:txBody>
          <a:bodyPr wrap="none" lIns="0" tIns="0" rIns="0" bIns="0" rtlCol="0" anchor="t"/>
          <a:lstStyle/>
          <a:p>
            <a:pPr marL="0" indent="0" algn="r">
              <a:lnSpc>
                <a:spcPts val="2500"/>
              </a:lnSpc>
              <a:buNone/>
            </a:pPr>
            <a:r>
              <a:rPr lang="en-US" sz="2000" dirty="0">
                <a:solidFill>
                  <a:srgbClr val="C9C9C0"/>
                </a:solidFill>
                <a:latin typeface="Tomorrow Semi Bold" pitchFamily="34" charset="0"/>
                <a:ea typeface="Tomorrow Semi Bold" pitchFamily="34" charset="-122"/>
                <a:cs typeface="Tomorrow Semi Bold" pitchFamily="34" charset="-120"/>
              </a:rPr>
              <a:t>Persistent Inequality</a:t>
            </a:r>
            <a:endParaRPr lang="en-US" sz="2000" dirty="0"/>
          </a:p>
        </p:txBody>
      </p:sp>
      <p:sp>
        <p:nvSpPr>
          <p:cNvPr id="21" name="Text 13"/>
          <p:cNvSpPr/>
          <p:nvPr/>
        </p:nvSpPr>
        <p:spPr>
          <a:xfrm>
            <a:off x="715208" y="6773823"/>
            <a:ext cx="4445556" cy="654129"/>
          </a:xfrm>
          <a:prstGeom prst="rect">
            <a:avLst/>
          </a:prstGeom>
          <a:noFill/>
          <a:ln/>
        </p:spPr>
        <p:txBody>
          <a:bodyPr wrap="square" lIns="0" tIns="0" rIns="0" bIns="0" rtlCol="0" anchor="t"/>
          <a:lstStyle/>
          <a:p>
            <a:pPr marL="0" indent="0" algn="r">
              <a:lnSpc>
                <a:spcPts val="2550"/>
              </a:lnSpc>
              <a:buNone/>
            </a:pPr>
            <a:r>
              <a:rPr lang="en-US" sz="1600" dirty="0">
                <a:solidFill>
                  <a:srgbClr val="C9C9C0"/>
                </a:solidFill>
                <a:latin typeface="Tomorrow" pitchFamily="34" charset="0"/>
                <a:ea typeface="Tomorrow" pitchFamily="34" charset="-122"/>
                <a:cs typeface="Tomorrow" pitchFamily="34" charset="-120"/>
              </a:rPr>
              <a:t>Social hierarchies remained despite nationalist rhetoric of inclusion</a:t>
            </a:r>
            <a:endParaRPr lang="en-US" sz="1600" dirty="0"/>
          </a:p>
        </p:txBody>
      </p:sp>
      <p:pic>
        <p:nvPicPr>
          <p:cNvPr id="22" name="Image 6" descr="preencoded.png"/>
          <p:cNvPicPr>
            <a:picLocks noChangeAspect="1"/>
          </p:cNvPicPr>
          <p:nvPr/>
        </p:nvPicPr>
        <p:blipFill>
          <a:blip r:embed="rId9"/>
          <a:stretch>
            <a:fillRect/>
          </a:stretch>
        </p:blipFill>
        <p:spPr>
          <a:xfrm>
            <a:off x="5467231" y="4031456"/>
            <a:ext cx="3695938" cy="3695938"/>
          </a:xfrm>
          <a:prstGeom prst="rect">
            <a:avLst/>
          </a:prstGeom>
        </p:spPr>
      </p:pic>
      <p:sp>
        <p:nvSpPr>
          <p:cNvPr id="23" name="Shape 14"/>
          <p:cNvSpPr/>
          <p:nvPr/>
        </p:nvSpPr>
        <p:spPr>
          <a:xfrm>
            <a:off x="5801975" y="6881634"/>
            <a:ext cx="510897" cy="510897"/>
          </a:xfrm>
          <a:prstGeom prst="roundRect">
            <a:avLst>
              <a:gd name="adj" fmla="val 1788003"/>
            </a:avLst>
          </a:prstGeom>
          <a:solidFill>
            <a:srgbClr val="3C3C3A"/>
          </a:solidFill>
          <a:ln/>
        </p:spPr>
        <p:txBody>
          <a:bodyPr/>
          <a:lstStyle/>
          <a:p>
            <a:endParaRPr lang="en-US"/>
          </a:p>
        </p:txBody>
      </p:sp>
      <p:pic>
        <p:nvPicPr>
          <p:cNvPr id="24" name="Image 7" descr="preencoded.png"/>
          <p:cNvPicPr>
            <a:picLocks noChangeAspect="1"/>
          </p:cNvPicPr>
          <p:nvPr/>
        </p:nvPicPr>
        <p:blipFill>
          <a:blip r:embed="rId10"/>
          <a:stretch>
            <a:fillRect/>
          </a:stretch>
        </p:blipFill>
        <p:spPr>
          <a:xfrm>
            <a:off x="5942469" y="6993434"/>
            <a:ext cx="229910" cy="2872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9962" y="587931"/>
            <a:ext cx="11365706" cy="580430"/>
          </a:xfrm>
          <a:prstGeom prst="rect">
            <a:avLst/>
          </a:prstGeom>
          <a:noFill/>
          <a:ln/>
        </p:spPr>
        <p:txBody>
          <a:bodyPr wrap="none" lIns="0" tIns="0" rIns="0" bIns="0" rtlCol="0" anchor="t"/>
          <a:lstStyle/>
          <a:p>
            <a:pPr marL="0" indent="0" algn="l">
              <a:lnSpc>
                <a:spcPts val="4550"/>
              </a:lnSpc>
              <a:buNone/>
            </a:pPr>
            <a:r>
              <a:rPr lang="en-US" sz="3650" dirty="0">
                <a:solidFill>
                  <a:srgbClr val="EDEDE8"/>
                </a:solidFill>
                <a:latin typeface="Tomorrow Semi Bold" pitchFamily="34" charset="0"/>
                <a:ea typeface="Tomorrow Semi Bold" pitchFamily="34" charset="-122"/>
                <a:cs typeface="Tomorrow Semi Bold" pitchFamily="34" charset="-120"/>
              </a:rPr>
              <a:t>Populist Nationalism: A Distinctive Political Style</a:t>
            </a:r>
            <a:endParaRPr lang="en-US" sz="3650" dirty="0"/>
          </a:p>
        </p:txBody>
      </p:sp>
      <p:sp>
        <p:nvSpPr>
          <p:cNvPr id="3" name="Text 1"/>
          <p:cNvSpPr/>
          <p:nvPr/>
        </p:nvSpPr>
        <p:spPr>
          <a:xfrm>
            <a:off x="649962" y="1539716"/>
            <a:ext cx="13330476" cy="594360"/>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Leaders like </a:t>
            </a:r>
            <a:r>
              <a:rPr lang="en-US" sz="1450" b="1" dirty="0">
                <a:solidFill>
                  <a:srgbClr val="C9C9C0"/>
                </a:solidFill>
                <a:latin typeface="Tomorrow" pitchFamily="34" charset="0"/>
                <a:ea typeface="Tomorrow" pitchFamily="34" charset="-122"/>
                <a:cs typeface="Tomorrow" pitchFamily="34" charset="-120"/>
              </a:rPr>
              <a:t>Gaitán (Colombia)</a:t>
            </a:r>
            <a:r>
              <a:rPr lang="en-US" sz="1450" dirty="0">
                <a:solidFill>
                  <a:srgbClr val="C9C9C0"/>
                </a:solidFill>
                <a:latin typeface="Tomorrow" pitchFamily="34" charset="0"/>
                <a:ea typeface="Tomorrow" pitchFamily="34" charset="-122"/>
                <a:cs typeface="Tomorrow" pitchFamily="34" charset="-120"/>
              </a:rPr>
              <a:t>, </a:t>
            </a:r>
            <a:r>
              <a:rPr lang="en-US" sz="1450" b="1" dirty="0">
                <a:solidFill>
                  <a:srgbClr val="C9C9C0"/>
                </a:solidFill>
                <a:latin typeface="Tomorrow" pitchFamily="34" charset="0"/>
                <a:ea typeface="Tomorrow" pitchFamily="34" charset="-122"/>
                <a:cs typeface="Tomorrow" pitchFamily="34" charset="-120"/>
              </a:rPr>
              <a:t>Haya de la Torre (Peru)</a:t>
            </a:r>
            <a:r>
              <a:rPr lang="en-US" sz="1450" dirty="0">
                <a:solidFill>
                  <a:srgbClr val="C9C9C0"/>
                </a:solidFill>
                <a:latin typeface="Tomorrow" pitchFamily="34" charset="0"/>
                <a:ea typeface="Tomorrow" pitchFamily="34" charset="-122"/>
                <a:cs typeface="Tomorrow" pitchFamily="34" charset="-120"/>
              </a:rPr>
              <a:t>, </a:t>
            </a:r>
            <a:r>
              <a:rPr lang="en-US" sz="1450" b="1" dirty="0">
                <a:solidFill>
                  <a:srgbClr val="C9C9C0"/>
                </a:solidFill>
                <a:latin typeface="Tomorrow" pitchFamily="34" charset="0"/>
                <a:ea typeface="Tomorrow" pitchFamily="34" charset="-122"/>
                <a:cs typeface="Tomorrow" pitchFamily="34" charset="-120"/>
              </a:rPr>
              <a:t>Velasco Ibarra (Ecuador)</a:t>
            </a:r>
            <a:r>
              <a:rPr lang="en-US" sz="1450" dirty="0">
                <a:solidFill>
                  <a:srgbClr val="C9C9C0"/>
                </a:solidFill>
                <a:latin typeface="Tomorrow" pitchFamily="34" charset="0"/>
                <a:ea typeface="Tomorrow" pitchFamily="34" charset="-122"/>
                <a:cs typeface="Tomorrow" pitchFamily="34" charset="-120"/>
              </a:rPr>
              <a:t>, </a:t>
            </a:r>
            <a:r>
              <a:rPr lang="en-US" sz="1450" b="1" dirty="0">
                <a:solidFill>
                  <a:srgbClr val="C9C9C0"/>
                </a:solidFill>
                <a:latin typeface="Tomorrow" pitchFamily="34" charset="0"/>
                <a:ea typeface="Tomorrow" pitchFamily="34" charset="-122"/>
                <a:cs typeface="Tomorrow" pitchFamily="34" charset="-120"/>
              </a:rPr>
              <a:t>Cárdenas (Mexico)</a:t>
            </a:r>
            <a:r>
              <a:rPr lang="en-US" sz="1450" dirty="0">
                <a:solidFill>
                  <a:srgbClr val="C9C9C0"/>
                </a:solidFill>
                <a:latin typeface="Tomorrow" pitchFamily="34" charset="0"/>
                <a:ea typeface="Tomorrow" pitchFamily="34" charset="-122"/>
                <a:cs typeface="Tomorrow" pitchFamily="34" charset="-120"/>
              </a:rPr>
              <a:t>, and </a:t>
            </a:r>
            <a:r>
              <a:rPr lang="en-US" sz="1450" b="1" dirty="0">
                <a:solidFill>
                  <a:srgbClr val="C9C9C0"/>
                </a:solidFill>
                <a:latin typeface="Tomorrow" pitchFamily="34" charset="0"/>
                <a:ea typeface="Tomorrow" pitchFamily="34" charset="-122"/>
                <a:cs typeface="Tomorrow" pitchFamily="34" charset="-120"/>
              </a:rPr>
              <a:t>Vargas (Brazil)</a:t>
            </a:r>
            <a:r>
              <a:rPr lang="en-US" sz="1450" dirty="0">
                <a:solidFill>
                  <a:srgbClr val="C9C9C0"/>
                </a:solidFill>
                <a:latin typeface="Tomorrow" pitchFamily="34" charset="0"/>
                <a:ea typeface="Tomorrow" pitchFamily="34" charset="-122"/>
                <a:cs typeface="Tomorrow" pitchFamily="34" charset="-120"/>
              </a:rPr>
              <a:t> pioneered a distinctive political approach combining </a:t>
            </a:r>
            <a:r>
              <a:rPr lang="en-US" sz="1450" b="1" dirty="0">
                <a:solidFill>
                  <a:srgbClr val="C9C9C0"/>
                </a:solidFill>
                <a:latin typeface="Tomorrow" pitchFamily="34" charset="0"/>
                <a:ea typeface="Tomorrow" pitchFamily="34" charset="-122"/>
                <a:cs typeface="Tomorrow" pitchFamily="34" charset="-120"/>
              </a:rPr>
              <a:t>mass politics</a:t>
            </a:r>
            <a:r>
              <a:rPr lang="en-US" sz="1450" dirty="0">
                <a:solidFill>
                  <a:srgbClr val="C9C9C0"/>
                </a:solidFill>
                <a:latin typeface="Tomorrow" pitchFamily="34" charset="0"/>
                <a:ea typeface="Tomorrow" pitchFamily="34" charset="-122"/>
                <a:cs typeface="Tomorrow" pitchFamily="34" charset="-120"/>
              </a:rPr>
              <a:t> with direct appeals to the poor and working classes.</a:t>
            </a:r>
            <a:endParaRPr lang="en-US" sz="1450" dirty="0"/>
          </a:p>
        </p:txBody>
      </p:sp>
      <p:sp>
        <p:nvSpPr>
          <p:cNvPr id="4" name="Text 2"/>
          <p:cNvSpPr/>
          <p:nvPr/>
        </p:nvSpPr>
        <p:spPr>
          <a:xfrm>
            <a:off x="649962" y="2342912"/>
            <a:ext cx="13330476" cy="891540"/>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This populist nationalism typically blended </a:t>
            </a:r>
            <a:r>
              <a:rPr lang="en-US" sz="1450" b="1" dirty="0">
                <a:solidFill>
                  <a:srgbClr val="C9C9C0"/>
                </a:solidFill>
                <a:latin typeface="Tomorrow" pitchFamily="34" charset="0"/>
                <a:ea typeface="Tomorrow" pitchFamily="34" charset="-122"/>
                <a:cs typeface="Tomorrow" pitchFamily="34" charset="-120"/>
              </a:rPr>
              <a:t>leftist rhetoric</a:t>
            </a:r>
            <a:r>
              <a:rPr lang="en-US" sz="1450" dirty="0">
                <a:solidFill>
                  <a:srgbClr val="C9C9C0"/>
                </a:solidFill>
                <a:latin typeface="Tomorrow" pitchFamily="34" charset="0"/>
                <a:ea typeface="Tomorrow" pitchFamily="34" charset="-122"/>
                <a:cs typeface="Tomorrow" pitchFamily="34" charset="-120"/>
              </a:rPr>
              <a:t> with </a:t>
            </a:r>
            <a:r>
              <a:rPr lang="en-US" sz="1450" b="1" dirty="0">
                <a:solidFill>
                  <a:srgbClr val="C9C9C0"/>
                </a:solidFill>
                <a:latin typeface="Tomorrow" pitchFamily="34" charset="0"/>
                <a:ea typeface="Tomorrow" pitchFamily="34" charset="-122"/>
                <a:cs typeface="Tomorrow" pitchFamily="34" charset="-120"/>
              </a:rPr>
              <a:t>paternalist leadership</a:t>
            </a:r>
            <a:r>
              <a:rPr lang="en-US" sz="1450" dirty="0">
                <a:solidFill>
                  <a:srgbClr val="C9C9C0"/>
                </a:solidFill>
                <a:latin typeface="Tomorrow" pitchFamily="34" charset="0"/>
                <a:ea typeface="Tomorrow" pitchFamily="34" charset="-122"/>
                <a:cs typeface="Tomorrow" pitchFamily="34" charset="-120"/>
              </a:rPr>
              <a:t>, creating movements that transcended traditional ideological boundaries. These leaders mobilized previously excluded groups while maintaining centralized authority, establishing political movements that would endure for generations.</a:t>
            </a:r>
            <a:endParaRPr lang="en-US" sz="1450" dirty="0"/>
          </a:p>
        </p:txBody>
      </p:sp>
      <p:sp>
        <p:nvSpPr>
          <p:cNvPr id="5" name="Shape 3"/>
          <p:cNvSpPr/>
          <p:nvPr/>
        </p:nvSpPr>
        <p:spPr>
          <a:xfrm>
            <a:off x="649962" y="3443288"/>
            <a:ext cx="2221706" cy="1069896"/>
          </a:xfrm>
          <a:prstGeom prst="roundRect">
            <a:avLst>
              <a:gd name="adj" fmla="val 2604"/>
            </a:avLst>
          </a:prstGeom>
          <a:solidFill>
            <a:srgbClr val="3C3C3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630204" y="3815001"/>
            <a:ext cx="261104" cy="326469"/>
          </a:xfrm>
          <a:prstGeom prst="rect">
            <a:avLst/>
          </a:prstGeom>
        </p:spPr>
      </p:pic>
      <p:sp>
        <p:nvSpPr>
          <p:cNvPr id="7" name="Text 4"/>
          <p:cNvSpPr/>
          <p:nvPr/>
        </p:nvSpPr>
        <p:spPr>
          <a:xfrm>
            <a:off x="3057287" y="3628906"/>
            <a:ext cx="2561868" cy="290155"/>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Mass Communication</a:t>
            </a:r>
            <a:endParaRPr lang="en-US" sz="1800" dirty="0"/>
          </a:p>
        </p:txBody>
      </p:sp>
      <p:sp>
        <p:nvSpPr>
          <p:cNvPr id="8" name="Text 5"/>
          <p:cNvSpPr/>
          <p:nvPr/>
        </p:nvSpPr>
        <p:spPr>
          <a:xfrm>
            <a:off x="3057287" y="4030385"/>
            <a:ext cx="4631055" cy="297180"/>
          </a:xfrm>
          <a:prstGeom prst="rect">
            <a:avLst/>
          </a:prstGeom>
          <a:noFill/>
          <a:ln/>
        </p:spPr>
        <p:txBody>
          <a:bodyPr wrap="non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Direct appeals to the people through radio and rallies</a:t>
            </a:r>
            <a:endParaRPr lang="en-US" sz="1450" dirty="0"/>
          </a:p>
        </p:txBody>
      </p:sp>
      <p:sp>
        <p:nvSpPr>
          <p:cNvPr id="9" name="Shape 6"/>
          <p:cNvSpPr/>
          <p:nvPr/>
        </p:nvSpPr>
        <p:spPr>
          <a:xfrm>
            <a:off x="2964418" y="4503658"/>
            <a:ext cx="10923270" cy="11430"/>
          </a:xfrm>
          <a:prstGeom prst="roundRect">
            <a:avLst>
              <a:gd name="adj" fmla="val 243746"/>
            </a:avLst>
          </a:prstGeom>
          <a:solidFill>
            <a:srgbClr val="555553"/>
          </a:solidFill>
          <a:ln/>
        </p:spPr>
        <p:txBody>
          <a:bodyPr/>
          <a:lstStyle/>
          <a:p>
            <a:endParaRPr lang="en-US"/>
          </a:p>
        </p:txBody>
      </p:sp>
      <p:sp>
        <p:nvSpPr>
          <p:cNvPr id="10" name="Shape 7"/>
          <p:cNvSpPr/>
          <p:nvPr/>
        </p:nvSpPr>
        <p:spPr>
          <a:xfrm>
            <a:off x="649962" y="4605933"/>
            <a:ext cx="4443413" cy="1069896"/>
          </a:xfrm>
          <a:prstGeom prst="roundRect">
            <a:avLst>
              <a:gd name="adj" fmla="val 2604"/>
            </a:avLst>
          </a:prstGeom>
          <a:solidFill>
            <a:srgbClr val="3C3C3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2741057" y="4977646"/>
            <a:ext cx="261104" cy="326469"/>
          </a:xfrm>
          <a:prstGeom prst="rect">
            <a:avLst/>
          </a:prstGeom>
        </p:spPr>
      </p:pic>
      <p:sp>
        <p:nvSpPr>
          <p:cNvPr id="12" name="Text 8"/>
          <p:cNvSpPr/>
          <p:nvPr/>
        </p:nvSpPr>
        <p:spPr>
          <a:xfrm>
            <a:off x="5278993" y="4791551"/>
            <a:ext cx="2321600" cy="290155"/>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Labor Mobilization</a:t>
            </a:r>
            <a:endParaRPr lang="en-US" sz="1800" dirty="0"/>
          </a:p>
        </p:txBody>
      </p:sp>
      <p:sp>
        <p:nvSpPr>
          <p:cNvPr id="13" name="Text 9"/>
          <p:cNvSpPr/>
          <p:nvPr/>
        </p:nvSpPr>
        <p:spPr>
          <a:xfrm>
            <a:off x="5278993" y="5193030"/>
            <a:ext cx="4445437" cy="297180"/>
          </a:xfrm>
          <a:prstGeom prst="rect">
            <a:avLst/>
          </a:prstGeom>
          <a:noFill/>
          <a:ln/>
        </p:spPr>
        <p:txBody>
          <a:bodyPr wrap="non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Organization of workers into state-affiliated unions</a:t>
            </a:r>
            <a:endParaRPr lang="en-US" sz="1450" dirty="0"/>
          </a:p>
        </p:txBody>
      </p:sp>
      <p:sp>
        <p:nvSpPr>
          <p:cNvPr id="14" name="Shape 10"/>
          <p:cNvSpPr/>
          <p:nvPr/>
        </p:nvSpPr>
        <p:spPr>
          <a:xfrm>
            <a:off x="5186124" y="5666303"/>
            <a:ext cx="8701564" cy="11430"/>
          </a:xfrm>
          <a:prstGeom prst="roundRect">
            <a:avLst>
              <a:gd name="adj" fmla="val 243746"/>
            </a:avLst>
          </a:prstGeom>
          <a:solidFill>
            <a:srgbClr val="555553"/>
          </a:solidFill>
          <a:ln/>
        </p:spPr>
        <p:txBody>
          <a:bodyPr/>
          <a:lstStyle/>
          <a:p>
            <a:endParaRPr lang="en-US"/>
          </a:p>
        </p:txBody>
      </p:sp>
      <p:sp>
        <p:nvSpPr>
          <p:cNvPr id="15" name="Shape 11"/>
          <p:cNvSpPr/>
          <p:nvPr/>
        </p:nvSpPr>
        <p:spPr>
          <a:xfrm>
            <a:off x="649962" y="5768578"/>
            <a:ext cx="6665238" cy="1069896"/>
          </a:xfrm>
          <a:prstGeom prst="roundRect">
            <a:avLst>
              <a:gd name="adj" fmla="val 2604"/>
            </a:avLst>
          </a:prstGeom>
          <a:solidFill>
            <a:srgbClr val="3C3C3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3852029" y="6140291"/>
            <a:ext cx="261104" cy="326469"/>
          </a:xfrm>
          <a:prstGeom prst="rect">
            <a:avLst/>
          </a:prstGeom>
        </p:spPr>
      </p:pic>
      <p:sp>
        <p:nvSpPr>
          <p:cNvPr id="17" name="Text 12"/>
          <p:cNvSpPr/>
          <p:nvPr/>
        </p:nvSpPr>
        <p:spPr>
          <a:xfrm>
            <a:off x="7500818" y="5954197"/>
            <a:ext cx="2680097" cy="290155"/>
          </a:xfrm>
          <a:prstGeom prst="rect">
            <a:avLst/>
          </a:prstGeom>
          <a:noFill/>
          <a:ln/>
        </p:spPr>
        <p:txBody>
          <a:bodyPr wrap="none" lIns="0" tIns="0" rIns="0" bIns="0" rtlCol="0" anchor="t"/>
          <a:lstStyle/>
          <a:p>
            <a:pPr marL="0" indent="0" algn="l">
              <a:lnSpc>
                <a:spcPts val="2250"/>
              </a:lnSpc>
              <a:buNone/>
            </a:pPr>
            <a:r>
              <a:rPr lang="en-US" sz="1800" dirty="0">
                <a:solidFill>
                  <a:srgbClr val="C9C9C0"/>
                </a:solidFill>
                <a:latin typeface="Tomorrow Semi Bold" pitchFamily="34" charset="0"/>
                <a:ea typeface="Tomorrow Semi Bold" pitchFamily="34" charset="-122"/>
                <a:cs typeface="Tomorrow Semi Bold" pitchFamily="34" charset="-120"/>
              </a:rPr>
              <a:t>Nationalist Symbolism</a:t>
            </a:r>
            <a:endParaRPr lang="en-US" sz="1800" dirty="0"/>
          </a:p>
        </p:txBody>
      </p:sp>
      <p:sp>
        <p:nvSpPr>
          <p:cNvPr id="18" name="Text 13"/>
          <p:cNvSpPr/>
          <p:nvPr/>
        </p:nvSpPr>
        <p:spPr>
          <a:xfrm>
            <a:off x="7500818" y="6355675"/>
            <a:ext cx="4412813" cy="297180"/>
          </a:xfrm>
          <a:prstGeom prst="rect">
            <a:avLst/>
          </a:prstGeom>
          <a:noFill/>
          <a:ln/>
        </p:spPr>
        <p:txBody>
          <a:bodyPr wrap="non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Use of patriotic imagery and anti-imperial rhetoric</a:t>
            </a:r>
            <a:endParaRPr lang="en-US" sz="1450" dirty="0"/>
          </a:p>
        </p:txBody>
      </p:sp>
      <p:sp>
        <p:nvSpPr>
          <p:cNvPr id="19" name="Text 14"/>
          <p:cNvSpPr/>
          <p:nvPr/>
        </p:nvSpPr>
        <p:spPr>
          <a:xfrm>
            <a:off x="649962" y="7047309"/>
            <a:ext cx="13330476" cy="594360"/>
          </a:xfrm>
          <a:prstGeom prst="rect">
            <a:avLst/>
          </a:prstGeom>
          <a:noFill/>
          <a:ln/>
        </p:spPr>
        <p:txBody>
          <a:bodyPr wrap="square" lIns="0" tIns="0" rIns="0" bIns="0" rtlCol="0" anchor="t"/>
          <a:lstStyle/>
          <a:p>
            <a:pPr marL="0" indent="0" algn="l">
              <a:lnSpc>
                <a:spcPts val="2300"/>
              </a:lnSpc>
              <a:buNone/>
            </a:pPr>
            <a:r>
              <a:rPr lang="en-US" sz="1450" dirty="0">
                <a:solidFill>
                  <a:srgbClr val="C9C9C0"/>
                </a:solidFill>
                <a:latin typeface="Tomorrow" pitchFamily="34" charset="0"/>
                <a:ea typeface="Tomorrow" pitchFamily="34" charset="-122"/>
                <a:cs typeface="Tomorrow" pitchFamily="34" charset="-120"/>
              </a:rPr>
              <a:t>The populist nationalist model created a distinctive Latin American political tradition that would influence the region throughout the 20th century and beyond, establishing patterns of leadership and mass mobilization that continue to shape politics today.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3441</TotalTime>
  <Words>1475</Words>
  <Application>Microsoft Office PowerPoint</Application>
  <PresentationFormat>Personalizado</PresentationFormat>
  <Paragraphs>96</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Tomorrow Semi Bold</vt:lpstr>
      <vt:lpstr>Tomorrow</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Claudio Robelo</cp:lastModifiedBy>
  <cp:revision>4</cp:revision>
  <dcterms:created xsi:type="dcterms:W3CDTF">2025-05-10T01:32:31Z</dcterms:created>
  <dcterms:modified xsi:type="dcterms:W3CDTF">2025-05-14T16:59:18Z</dcterms:modified>
</cp:coreProperties>
</file>