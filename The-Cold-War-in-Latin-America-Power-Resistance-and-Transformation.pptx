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Tomorrow Semi Bold"/>
      <p:regular r:id="rId17"/>
    </p:embeddedFont>
    <p:embeddedFont>
      <p:font typeface="Tomorrow Semi Bold"/>
      <p:regular r:id="rId18"/>
    </p:embeddedFont>
    <p:embeddedFont>
      <p:font typeface="Tomorrow Semi Bold"/>
      <p:regular r:id="rId19"/>
    </p:embeddedFont>
    <p:embeddedFont>
      <p:font typeface="Tomorrow Semi Bold"/>
      <p:regular r:id="rId20"/>
    </p:embeddedFont>
    <p:embeddedFont>
      <p:font typeface="Tomorrow"/>
      <p:regular r:id="rId21"/>
    </p:embeddedFont>
    <p:embeddedFont>
      <p:font typeface="Tomorrow"/>
      <p:regular r:id="rId22"/>
    </p:embeddedFont>
    <p:embeddedFont>
      <p:font typeface="Tomorrow"/>
      <p:regular r:id="rId23"/>
    </p:embeddedFont>
    <p:embeddedFont>
      <p:font typeface="Tomorrow"/>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8.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4256" y="801291"/>
            <a:ext cx="7715488" cy="1913453"/>
          </a:xfrm>
          <a:prstGeom prst="rect">
            <a:avLst/>
          </a:prstGeom>
          <a:noFill/>
          <a:ln/>
        </p:spPr>
        <p:txBody>
          <a:bodyPr wrap="square" lIns="0" tIns="0" rIns="0" bIns="0" rtlCol="0" anchor="t"/>
          <a:lstStyle/>
          <a:p>
            <a:pPr algn="l" indent="0" marL="0">
              <a:lnSpc>
                <a:spcPts val="5000"/>
              </a:lnSpc>
              <a:buNone/>
            </a:pPr>
            <a:r>
              <a:rPr lang="en-US" sz="4000" dirty="0">
                <a:solidFill>
                  <a:srgbClr val="EDEDE8"/>
                </a:solidFill>
                <a:latin typeface="Tomorrow Semi Bold" pitchFamily="34" charset="0"/>
                <a:ea typeface="Tomorrow Semi Bold" pitchFamily="34" charset="-122"/>
                <a:cs typeface="Tomorrow Semi Bold" pitchFamily="34" charset="-120"/>
              </a:rPr>
              <a:t>The Cold War in Latin America: Power, Resistance, and Transformation</a:t>
            </a:r>
            <a:endParaRPr lang="en-US" sz="4000" dirty="0"/>
          </a:p>
        </p:txBody>
      </p:sp>
      <p:sp>
        <p:nvSpPr>
          <p:cNvPr id="4" name="Text 1"/>
          <p:cNvSpPr/>
          <p:nvPr/>
        </p:nvSpPr>
        <p:spPr>
          <a:xfrm>
            <a:off x="714256" y="3020854"/>
            <a:ext cx="7715488" cy="1958816"/>
          </a:xfrm>
          <a:prstGeom prst="rect">
            <a:avLst/>
          </a:prstGeom>
          <a:noFill/>
          <a:ln/>
        </p:spPr>
        <p:txBody>
          <a:bodyPr wrap="square" lIns="0" tIns="0" rIns="0" bIns="0" rtlCol="0" anchor="t"/>
          <a:lstStyle/>
          <a:p>
            <a:pPr algn="l" indent="0" marL="0">
              <a:lnSpc>
                <a:spcPts val="2550"/>
              </a:lnSpc>
              <a:buNone/>
            </a:pPr>
            <a:r>
              <a:rPr lang="en-US" sz="1600" dirty="0">
                <a:solidFill>
                  <a:srgbClr val="C9C9C0"/>
                </a:solidFill>
                <a:latin typeface="Tomorrow" pitchFamily="34" charset="0"/>
                <a:ea typeface="Tomorrow" pitchFamily="34" charset="-122"/>
                <a:cs typeface="Tomorrow" pitchFamily="34" charset="-120"/>
              </a:rPr>
              <a:t>This presentation examines the complex dynamics of Latin America during the Cold War period, a time when global ideological tensions between communism and capitalism profoundly shaped regional political landscapes. Far from being passive participants, Latin American nations and peoples actively navigated these turbulent waters—sometimes aligning with superpower interests, sometimes resisting them.</a:t>
            </a:r>
            <a:endParaRPr lang="en-US" sz="1600" dirty="0"/>
          </a:p>
        </p:txBody>
      </p:sp>
      <p:sp>
        <p:nvSpPr>
          <p:cNvPr id="5" name="Text 2"/>
          <p:cNvSpPr/>
          <p:nvPr/>
        </p:nvSpPr>
        <p:spPr>
          <a:xfrm>
            <a:off x="714256" y="5209223"/>
            <a:ext cx="7715488" cy="1632347"/>
          </a:xfrm>
          <a:prstGeom prst="rect">
            <a:avLst/>
          </a:prstGeom>
          <a:noFill/>
          <a:ln/>
        </p:spPr>
        <p:txBody>
          <a:bodyPr wrap="square" lIns="0" tIns="0" rIns="0" bIns="0" rtlCol="0" anchor="t"/>
          <a:lstStyle/>
          <a:p>
            <a:pPr algn="l" indent="0" marL="0">
              <a:lnSpc>
                <a:spcPts val="2550"/>
              </a:lnSpc>
              <a:buNone/>
            </a:pPr>
            <a:r>
              <a:rPr lang="en-US" sz="1600" dirty="0">
                <a:solidFill>
                  <a:srgbClr val="C9C9C0"/>
                </a:solidFill>
                <a:latin typeface="Tomorrow" pitchFamily="34" charset="0"/>
                <a:ea typeface="Tomorrow" pitchFamily="34" charset="-122"/>
                <a:cs typeface="Tomorrow" pitchFamily="34" charset="-120"/>
              </a:rPr>
              <a:t>We'll explore the rise of military dictatorships, revolutionary movements, and social resistance that characterized this transformative era, highlighting how Cold War politics intertwined with local conditions to produce unique national experiences that continue to influence contemporary Latin American politics and society.</a:t>
            </a:r>
            <a:endParaRPr lang="en-US" sz="1600" dirty="0"/>
          </a:p>
        </p:txBody>
      </p:sp>
      <p:sp>
        <p:nvSpPr>
          <p:cNvPr id="6" name="Shape 3"/>
          <p:cNvSpPr/>
          <p:nvPr/>
        </p:nvSpPr>
        <p:spPr>
          <a:xfrm>
            <a:off x="714256" y="7086481"/>
            <a:ext cx="326469" cy="326469"/>
          </a:xfrm>
          <a:prstGeom prst="roundRect">
            <a:avLst>
              <a:gd name="adj" fmla="val 28005984"/>
            </a:avLst>
          </a:prstGeom>
          <a:noFill/>
          <a:ln w="7620">
            <a:solidFill>
              <a:srgbClr val="4D4D51"/>
            </a:solidFill>
            <a:prstDash val="solid"/>
          </a:ln>
        </p:spPr>
      </p:sp>
      <p:pic>
        <p:nvPicPr>
          <p:cNvPr id="7" name="Image 1" descr="preencoded.png">    </p:cNvPr>
          <p:cNvPicPr>
            <a:picLocks noChangeAspect="1"/>
          </p:cNvPicPr>
          <p:nvPr/>
        </p:nvPicPr>
        <p:blipFill>
          <a:blip r:embed="rId2"/>
          <a:stretch>
            <a:fillRect/>
          </a:stretch>
        </p:blipFill>
        <p:spPr>
          <a:xfrm>
            <a:off x="721876" y="7094101"/>
            <a:ext cx="311229" cy="311229"/>
          </a:xfrm>
          <a:prstGeom prst="rect">
            <a:avLst/>
          </a:prstGeom>
        </p:spPr>
      </p:pic>
      <p:sp>
        <p:nvSpPr>
          <p:cNvPr id="8" name="Text 4"/>
          <p:cNvSpPr/>
          <p:nvPr/>
        </p:nvSpPr>
        <p:spPr>
          <a:xfrm>
            <a:off x="1142762" y="7071122"/>
            <a:ext cx="2388989" cy="357188"/>
          </a:xfrm>
          <a:prstGeom prst="rect">
            <a:avLst/>
          </a:prstGeom>
          <a:noFill/>
          <a:ln/>
        </p:spPr>
        <p:txBody>
          <a:bodyPr wrap="none" lIns="0" tIns="0" rIns="0" bIns="0" rtlCol="0" anchor="t"/>
          <a:lstStyle/>
          <a:p>
            <a:pPr algn="l" indent="0" marL="0">
              <a:lnSpc>
                <a:spcPts val="2800"/>
              </a:lnSpc>
              <a:buNone/>
            </a:pPr>
            <a:r>
              <a:rPr lang="en-US" sz="2000" b="1" dirty="0">
                <a:solidFill>
                  <a:srgbClr val="C9C9C0"/>
                </a:solidFill>
                <a:latin typeface="Tomorrow Bold" pitchFamily="34" charset="0"/>
                <a:ea typeface="Tomorrow Bold" pitchFamily="34" charset="-122"/>
                <a:cs typeface="Tomorrow Bold" pitchFamily="34" charset="-120"/>
              </a:rPr>
              <a:t>by Claudio Robelo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2583" y="521494"/>
            <a:ext cx="12408813" cy="591503"/>
          </a:xfrm>
          <a:prstGeom prst="rect">
            <a:avLst/>
          </a:prstGeom>
          <a:noFill/>
          <a:ln/>
        </p:spPr>
        <p:txBody>
          <a:bodyPr wrap="none" lIns="0" tIns="0" rIns="0" bIns="0" rtlCol="0" anchor="t"/>
          <a:lstStyle/>
          <a:p>
            <a:pPr algn="l" indent="0" marL="0">
              <a:lnSpc>
                <a:spcPts val="4650"/>
              </a:lnSpc>
              <a:buNone/>
            </a:pPr>
            <a:r>
              <a:rPr lang="en-US" sz="3700" dirty="0">
                <a:solidFill>
                  <a:srgbClr val="EDEDE8"/>
                </a:solidFill>
                <a:latin typeface="Tomorrow Semi Bold" pitchFamily="34" charset="0"/>
                <a:ea typeface="Tomorrow Semi Bold" pitchFamily="34" charset="-122"/>
                <a:cs typeface="Tomorrow Semi Bold" pitchFamily="34" charset="-120"/>
              </a:rPr>
              <a:t>Cold War Context and the National Security Doctrine</a:t>
            </a:r>
            <a:endParaRPr lang="en-US" sz="3700" dirty="0"/>
          </a:p>
        </p:txBody>
      </p:sp>
      <p:pic>
        <p:nvPicPr>
          <p:cNvPr id="3" name="Image 0" descr="preencoded.png">    </p:cNvPr>
          <p:cNvPicPr>
            <a:picLocks noChangeAspect="1"/>
          </p:cNvPicPr>
          <p:nvPr/>
        </p:nvPicPr>
        <p:blipFill>
          <a:blip r:embed="rId1"/>
          <a:stretch>
            <a:fillRect/>
          </a:stretch>
        </p:blipFill>
        <p:spPr>
          <a:xfrm>
            <a:off x="2891195" y="1491615"/>
            <a:ext cx="2195274" cy="1090970"/>
          </a:xfrm>
          <a:prstGeom prst="rect">
            <a:avLst/>
          </a:prstGeom>
        </p:spPr>
      </p:pic>
      <p:pic>
        <p:nvPicPr>
          <p:cNvPr id="4" name="Image 1" descr="preencoded.png">    </p:cNvPr>
          <p:cNvPicPr>
            <a:picLocks noChangeAspect="1"/>
          </p:cNvPicPr>
          <p:nvPr/>
        </p:nvPicPr>
        <p:blipFill>
          <a:blip r:embed="rId2"/>
          <a:stretch>
            <a:fillRect/>
          </a:stretch>
        </p:blipFill>
        <p:spPr>
          <a:xfrm>
            <a:off x="3855601" y="2005846"/>
            <a:ext cx="266224" cy="332780"/>
          </a:xfrm>
          <a:prstGeom prst="rect">
            <a:avLst/>
          </a:prstGeom>
        </p:spPr>
      </p:pic>
      <p:sp>
        <p:nvSpPr>
          <p:cNvPr id="5" name="Text 1"/>
          <p:cNvSpPr/>
          <p:nvPr/>
        </p:nvSpPr>
        <p:spPr>
          <a:xfrm>
            <a:off x="5275778" y="1680924"/>
            <a:ext cx="3614976" cy="29587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U.S. Anti-Communist Strategy</a:t>
            </a:r>
            <a:endParaRPr lang="en-US" sz="1850" dirty="0"/>
          </a:p>
        </p:txBody>
      </p:sp>
      <p:sp>
        <p:nvSpPr>
          <p:cNvPr id="6" name="Text 2"/>
          <p:cNvSpPr/>
          <p:nvPr/>
        </p:nvSpPr>
        <p:spPr>
          <a:xfrm>
            <a:off x="5275778" y="2090380"/>
            <a:ext cx="3614976" cy="302895"/>
          </a:xfrm>
          <a:prstGeom prst="rect">
            <a:avLst/>
          </a:prstGeom>
          <a:noFill/>
          <a:ln/>
        </p:spPr>
        <p:txBody>
          <a:bodyPr wrap="none" lIns="0" tIns="0" rIns="0" bIns="0" rtlCol="0" anchor="t"/>
          <a:lstStyle/>
          <a:p>
            <a:pPr algn="l" indent="0" marL="0">
              <a:lnSpc>
                <a:spcPts val="2350"/>
              </a:lnSpc>
              <a:buNone/>
            </a:pPr>
            <a:r>
              <a:rPr lang="en-US" sz="1450" dirty="0">
                <a:solidFill>
                  <a:srgbClr val="C9C9C0"/>
                </a:solidFill>
                <a:latin typeface="Tomorrow" pitchFamily="34" charset="0"/>
                <a:ea typeface="Tomorrow" pitchFamily="34" charset="-122"/>
                <a:cs typeface="Tomorrow" pitchFamily="34" charset="-120"/>
              </a:rPr>
              <a:t>Regional containment policy</a:t>
            </a:r>
            <a:endParaRPr lang="en-US" sz="1450" dirty="0"/>
          </a:p>
        </p:txBody>
      </p:sp>
      <p:sp>
        <p:nvSpPr>
          <p:cNvPr id="7" name="Shape 3"/>
          <p:cNvSpPr/>
          <p:nvPr/>
        </p:nvSpPr>
        <p:spPr>
          <a:xfrm>
            <a:off x="5133737" y="2596634"/>
            <a:ext cx="8786813" cy="11430"/>
          </a:xfrm>
          <a:prstGeom prst="roundRect">
            <a:avLst>
              <a:gd name="adj" fmla="val 248454"/>
            </a:avLst>
          </a:prstGeom>
          <a:solidFill>
            <a:srgbClr val="555553"/>
          </a:solidFill>
          <a:ln/>
        </p:spPr>
      </p:sp>
      <p:pic>
        <p:nvPicPr>
          <p:cNvPr id="8" name="Image 2" descr="preencoded.png">    </p:cNvPr>
          <p:cNvPicPr>
            <a:picLocks noChangeAspect="1"/>
          </p:cNvPicPr>
          <p:nvPr/>
        </p:nvPicPr>
        <p:blipFill>
          <a:blip r:embed="rId3"/>
          <a:stretch>
            <a:fillRect/>
          </a:stretch>
        </p:blipFill>
        <p:spPr>
          <a:xfrm>
            <a:off x="1793438" y="2629853"/>
            <a:ext cx="4390668" cy="1090970"/>
          </a:xfrm>
          <a:prstGeom prst="rect">
            <a:avLst/>
          </a:prstGeom>
        </p:spPr>
      </p:pic>
      <p:pic>
        <p:nvPicPr>
          <p:cNvPr id="9" name="Image 3" descr="preencoded.png">    </p:cNvPr>
          <p:cNvPicPr>
            <a:picLocks noChangeAspect="1"/>
          </p:cNvPicPr>
          <p:nvPr/>
        </p:nvPicPr>
        <p:blipFill>
          <a:blip r:embed="rId4"/>
          <a:stretch>
            <a:fillRect/>
          </a:stretch>
        </p:blipFill>
        <p:spPr>
          <a:xfrm>
            <a:off x="3855601" y="3008948"/>
            <a:ext cx="266224" cy="332780"/>
          </a:xfrm>
          <a:prstGeom prst="rect">
            <a:avLst/>
          </a:prstGeom>
        </p:spPr>
      </p:pic>
      <p:sp>
        <p:nvSpPr>
          <p:cNvPr id="10" name="Text 4"/>
          <p:cNvSpPr/>
          <p:nvPr/>
        </p:nvSpPr>
        <p:spPr>
          <a:xfrm>
            <a:off x="6373416" y="2819162"/>
            <a:ext cx="2514362" cy="29587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Military Politicization</a:t>
            </a:r>
            <a:endParaRPr lang="en-US" sz="1850" dirty="0"/>
          </a:p>
        </p:txBody>
      </p:sp>
      <p:sp>
        <p:nvSpPr>
          <p:cNvPr id="11" name="Text 5"/>
          <p:cNvSpPr/>
          <p:nvPr/>
        </p:nvSpPr>
        <p:spPr>
          <a:xfrm>
            <a:off x="6373416" y="3228618"/>
            <a:ext cx="3406021" cy="302895"/>
          </a:xfrm>
          <a:prstGeom prst="rect">
            <a:avLst/>
          </a:prstGeom>
          <a:noFill/>
          <a:ln/>
        </p:spPr>
        <p:txBody>
          <a:bodyPr wrap="none" lIns="0" tIns="0" rIns="0" bIns="0" rtlCol="0" anchor="t"/>
          <a:lstStyle/>
          <a:p>
            <a:pPr algn="l" indent="0" marL="0">
              <a:lnSpc>
                <a:spcPts val="2350"/>
              </a:lnSpc>
              <a:buNone/>
            </a:pPr>
            <a:r>
              <a:rPr lang="en-US" sz="1450" dirty="0">
                <a:solidFill>
                  <a:srgbClr val="C9C9C0"/>
                </a:solidFill>
                <a:latin typeface="Tomorrow" pitchFamily="34" charset="0"/>
                <a:ea typeface="Tomorrow" pitchFamily="34" charset="-122"/>
                <a:cs typeface="Tomorrow" pitchFamily="34" charset="-120"/>
              </a:rPr>
              <a:t>Armed forces as ideological enforcers</a:t>
            </a:r>
            <a:endParaRPr lang="en-US" sz="1450" dirty="0"/>
          </a:p>
        </p:txBody>
      </p:sp>
      <p:sp>
        <p:nvSpPr>
          <p:cNvPr id="12" name="Shape 6"/>
          <p:cNvSpPr/>
          <p:nvPr/>
        </p:nvSpPr>
        <p:spPr>
          <a:xfrm>
            <a:off x="6231374" y="3734872"/>
            <a:ext cx="7689175" cy="11430"/>
          </a:xfrm>
          <a:prstGeom prst="roundRect">
            <a:avLst>
              <a:gd name="adj" fmla="val 248454"/>
            </a:avLst>
          </a:prstGeom>
          <a:solidFill>
            <a:srgbClr val="555553"/>
          </a:solidFill>
          <a:ln/>
        </p:spPr>
      </p:sp>
      <p:pic>
        <p:nvPicPr>
          <p:cNvPr id="13" name="Image 4" descr="preencoded.png">    </p:cNvPr>
          <p:cNvPicPr>
            <a:picLocks noChangeAspect="1"/>
          </p:cNvPicPr>
          <p:nvPr/>
        </p:nvPicPr>
        <p:blipFill>
          <a:blip r:embed="rId5"/>
          <a:stretch>
            <a:fillRect/>
          </a:stretch>
        </p:blipFill>
        <p:spPr>
          <a:xfrm>
            <a:off x="695801" y="3768090"/>
            <a:ext cx="6586061" cy="1090970"/>
          </a:xfrm>
          <a:prstGeom prst="rect">
            <a:avLst/>
          </a:prstGeom>
        </p:spPr>
      </p:pic>
      <p:pic>
        <p:nvPicPr>
          <p:cNvPr id="14" name="Image 5" descr="preencoded.png">    </p:cNvPr>
          <p:cNvPicPr>
            <a:picLocks noChangeAspect="1"/>
          </p:cNvPicPr>
          <p:nvPr/>
        </p:nvPicPr>
        <p:blipFill>
          <a:blip r:embed="rId6"/>
          <a:stretch>
            <a:fillRect/>
          </a:stretch>
        </p:blipFill>
        <p:spPr>
          <a:xfrm>
            <a:off x="3855720" y="4147185"/>
            <a:ext cx="266224" cy="332780"/>
          </a:xfrm>
          <a:prstGeom prst="rect">
            <a:avLst/>
          </a:prstGeom>
        </p:spPr>
      </p:pic>
      <p:sp>
        <p:nvSpPr>
          <p:cNvPr id="15" name="Text 7"/>
          <p:cNvSpPr/>
          <p:nvPr/>
        </p:nvSpPr>
        <p:spPr>
          <a:xfrm>
            <a:off x="7471172" y="3957399"/>
            <a:ext cx="2547342" cy="29587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Strategic Partnership</a:t>
            </a:r>
            <a:endParaRPr lang="en-US" sz="1850" dirty="0"/>
          </a:p>
        </p:txBody>
      </p:sp>
      <p:sp>
        <p:nvSpPr>
          <p:cNvPr id="16" name="Text 8"/>
          <p:cNvSpPr/>
          <p:nvPr/>
        </p:nvSpPr>
        <p:spPr>
          <a:xfrm>
            <a:off x="7471172" y="4366855"/>
            <a:ext cx="3693438" cy="302895"/>
          </a:xfrm>
          <a:prstGeom prst="rect">
            <a:avLst/>
          </a:prstGeom>
          <a:noFill/>
          <a:ln/>
        </p:spPr>
        <p:txBody>
          <a:bodyPr wrap="none" lIns="0" tIns="0" rIns="0" bIns="0" rtlCol="0" anchor="t"/>
          <a:lstStyle/>
          <a:p>
            <a:pPr algn="l" indent="0" marL="0">
              <a:lnSpc>
                <a:spcPts val="2350"/>
              </a:lnSpc>
              <a:buNone/>
            </a:pPr>
            <a:r>
              <a:rPr lang="en-US" sz="1450" dirty="0">
                <a:solidFill>
                  <a:srgbClr val="C9C9C0"/>
                </a:solidFill>
                <a:latin typeface="Tomorrow" pitchFamily="34" charset="0"/>
                <a:ea typeface="Tomorrow" pitchFamily="34" charset="-122"/>
                <a:cs typeface="Tomorrow" pitchFamily="34" charset="-120"/>
              </a:rPr>
              <a:t>U.S.-Latin American security cooperation</a:t>
            </a:r>
            <a:endParaRPr lang="en-US" sz="1450" dirty="0"/>
          </a:p>
        </p:txBody>
      </p:sp>
      <p:sp>
        <p:nvSpPr>
          <p:cNvPr id="17" name="Text 9"/>
          <p:cNvSpPr/>
          <p:nvPr/>
        </p:nvSpPr>
        <p:spPr>
          <a:xfrm>
            <a:off x="662583" y="5071943"/>
            <a:ext cx="13305234" cy="1211580"/>
          </a:xfrm>
          <a:prstGeom prst="rect">
            <a:avLst/>
          </a:prstGeom>
          <a:noFill/>
          <a:ln/>
        </p:spPr>
        <p:txBody>
          <a:bodyPr wrap="square" lIns="0" tIns="0" rIns="0" bIns="0" rtlCol="0" anchor="t"/>
          <a:lstStyle/>
          <a:p>
            <a:pPr algn="l" indent="0" marL="0">
              <a:lnSpc>
                <a:spcPts val="2350"/>
              </a:lnSpc>
              <a:buNone/>
            </a:pPr>
            <a:r>
              <a:rPr lang="en-US" sz="1450" dirty="0">
                <a:solidFill>
                  <a:srgbClr val="C9C9C0"/>
                </a:solidFill>
                <a:latin typeface="Tomorrow" pitchFamily="34" charset="0"/>
                <a:ea typeface="Tomorrow" pitchFamily="34" charset="-122"/>
                <a:cs typeface="Tomorrow" pitchFamily="34" charset="-120"/>
              </a:rPr>
              <a:t>The Cold War transformed Latin America into a critical battleground in the global struggle against communism. The United States, viewing the region as its strategic backyard, systematically exported anti-communist ideology through military training programs, economic aid, and diplomatic pressure. This strategy crystallized in the National Security Doctrine, a comprehensive security framework that fundamentally altered civil-military relations.</a:t>
            </a:r>
            <a:endParaRPr lang="en-US" sz="1450" dirty="0"/>
          </a:p>
        </p:txBody>
      </p:sp>
      <p:sp>
        <p:nvSpPr>
          <p:cNvPr id="18" name="Text 10"/>
          <p:cNvSpPr/>
          <p:nvPr/>
        </p:nvSpPr>
        <p:spPr>
          <a:xfrm>
            <a:off x="662583" y="6496407"/>
            <a:ext cx="13305234" cy="1211580"/>
          </a:xfrm>
          <a:prstGeom prst="rect">
            <a:avLst/>
          </a:prstGeom>
          <a:noFill/>
          <a:ln/>
        </p:spPr>
        <p:txBody>
          <a:bodyPr wrap="square" lIns="0" tIns="0" rIns="0" bIns="0" rtlCol="0" anchor="t"/>
          <a:lstStyle/>
          <a:p>
            <a:pPr algn="l" indent="0" marL="0">
              <a:lnSpc>
                <a:spcPts val="2350"/>
              </a:lnSpc>
              <a:buNone/>
            </a:pPr>
            <a:r>
              <a:rPr lang="en-US" sz="1450" dirty="0">
                <a:solidFill>
                  <a:srgbClr val="C9C9C0"/>
                </a:solidFill>
                <a:latin typeface="Tomorrow" pitchFamily="34" charset="0"/>
                <a:ea typeface="Tomorrow" pitchFamily="34" charset="-122"/>
                <a:cs typeface="Tomorrow" pitchFamily="34" charset="-120"/>
              </a:rPr>
              <a:t>Under this doctrine, a division of labor emerged: while the United States defended against external Soviet threats, Latin American militaries were tasked with eliminating "internal enemies"—often broadly defined to include students, labor activists, and intellectual critics. This reconceptualization of security profoundly politicized armed forces across the region, transforming them from defenders of national sovereignty into active participants in domestic politics and ideological warfare.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8765" y="607933"/>
            <a:ext cx="12263080" cy="534710"/>
          </a:xfrm>
          <a:prstGeom prst="rect">
            <a:avLst/>
          </a:prstGeom>
          <a:noFill/>
          <a:ln/>
        </p:spPr>
        <p:txBody>
          <a:bodyPr wrap="none" lIns="0" tIns="0" rIns="0" bIns="0" rtlCol="0" anchor="t"/>
          <a:lstStyle/>
          <a:p>
            <a:pPr algn="l" indent="0" marL="0">
              <a:lnSpc>
                <a:spcPts val="4200"/>
              </a:lnSpc>
              <a:buNone/>
            </a:pPr>
            <a:r>
              <a:rPr lang="en-US" sz="3350" dirty="0">
                <a:solidFill>
                  <a:srgbClr val="EDEDE8"/>
                </a:solidFill>
                <a:latin typeface="Tomorrow Semi Bold" pitchFamily="34" charset="0"/>
                <a:ea typeface="Tomorrow Semi Bold" pitchFamily="34" charset="-122"/>
                <a:cs typeface="Tomorrow Semi Bold" pitchFamily="34" charset="-120"/>
              </a:rPr>
              <a:t>Military Dictatorships and Bureaucratic Authoritarianism</a:t>
            </a:r>
            <a:endParaRPr lang="en-US" sz="3350" dirty="0"/>
          </a:p>
        </p:txBody>
      </p:sp>
      <p:sp>
        <p:nvSpPr>
          <p:cNvPr id="3" name="Shape 1"/>
          <p:cNvSpPr/>
          <p:nvPr/>
        </p:nvSpPr>
        <p:spPr>
          <a:xfrm>
            <a:off x="791170" y="1484828"/>
            <a:ext cx="22860" cy="3835956"/>
          </a:xfrm>
          <a:prstGeom prst="roundRect">
            <a:avLst>
              <a:gd name="adj" fmla="val 112272"/>
            </a:avLst>
          </a:prstGeom>
          <a:solidFill>
            <a:srgbClr val="555553"/>
          </a:solidFill>
          <a:ln/>
        </p:spPr>
      </p:sp>
      <p:sp>
        <p:nvSpPr>
          <p:cNvPr id="4" name="Shape 2"/>
          <p:cNvSpPr/>
          <p:nvPr/>
        </p:nvSpPr>
        <p:spPr>
          <a:xfrm>
            <a:off x="960775" y="1665803"/>
            <a:ext cx="513278" cy="22860"/>
          </a:xfrm>
          <a:prstGeom prst="roundRect">
            <a:avLst>
              <a:gd name="adj" fmla="val 112272"/>
            </a:avLst>
          </a:prstGeom>
          <a:solidFill>
            <a:srgbClr val="555553"/>
          </a:solidFill>
          <a:ln/>
        </p:spPr>
      </p:sp>
      <p:sp>
        <p:nvSpPr>
          <p:cNvPr id="5" name="Shape 3"/>
          <p:cNvSpPr/>
          <p:nvPr/>
        </p:nvSpPr>
        <p:spPr>
          <a:xfrm>
            <a:off x="598706" y="1484828"/>
            <a:ext cx="384929" cy="384929"/>
          </a:xfrm>
          <a:prstGeom prst="roundRect">
            <a:avLst>
              <a:gd name="adj" fmla="val 6668"/>
            </a:avLst>
          </a:prstGeom>
          <a:solidFill>
            <a:srgbClr val="3C3C3A"/>
          </a:solidFill>
          <a:ln/>
        </p:spPr>
      </p:sp>
      <p:pic>
        <p:nvPicPr>
          <p:cNvPr id="6" name="Image 0" descr="preencoded.png">    </p:cNvPr>
          <p:cNvPicPr>
            <a:picLocks noChangeAspect="1"/>
          </p:cNvPicPr>
          <p:nvPr/>
        </p:nvPicPr>
        <p:blipFill>
          <a:blip r:embed="rId1"/>
          <a:stretch>
            <a:fillRect/>
          </a:stretch>
        </p:blipFill>
        <p:spPr>
          <a:xfrm>
            <a:off x="662821" y="1516856"/>
            <a:ext cx="256580" cy="320754"/>
          </a:xfrm>
          <a:prstGeom prst="rect">
            <a:avLst/>
          </a:prstGeom>
        </p:spPr>
      </p:pic>
      <p:sp>
        <p:nvSpPr>
          <p:cNvPr id="7" name="Text 4"/>
          <p:cNvSpPr/>
          <p:nvPr/>
        </p:nvSpPr>
        <p:spPr>
          <a:xfrm>
            <a:off x="1646753" y="1543526"/>
            <a:ext cx="2138720" cy="267295"/>
          </a:xfrm>
          <a:prstGeom prst="rect">
            <a:avLst/>
          </a:prstGeom>
          <a:noFill/>
          <a:ln/>
        </p:spPr>
        <p:txBody>
          <a:bodyPr wrap="none" lIns="0" tIns="0" rIns="0" bIns="0" rtlCol="0" anchor="t"/>
          <a:lstStyle/>
          <a:p>
            <a:pPr algn="l" indent="0" marL="0">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Brazil 1964</a:t>
            </a:r>
            <a:endParaRPr lang="en-US" sz="1650" dirty="0"/>
          </a:p>
        </p:txBody>
      </p:sp>
      <p:sp>
        <p:nvSpPr>
          <p:cNvPr id="8" name="Text 5"/>
          <p:cNvSpPr/>
          <p:nvPr/>
        </p:nvSpPr>
        <p:spPr>
          <a:xfrm>
            <a:off x="1646753" y="1913453"/>
            <a:ext cx="12384881" cy="273725"/>
          </a:xfrm>
          <a:prstGeom prst="rect">
            <a:avLst/>
          </a:prstGeom>
          <a:noFill/>
          <a:ln/>
        </p:spPr>
        <p:txBody>
          <a:bodyPr wrap="none" lIns="0" tIns="0" rIns="0" bIns="0" rtlCol="0" anchor="t"/>
          <a:lstStyle/>
          <a:p>
            <a:pPr algn="l" indent="0" marL="0">
              <a:lnSpc>
                <a:spcPts val="2150"/>
              </a:lnSpc>
              <a:buNone/>
            </a:pPr>
            <a:r>
              <a:rPr lang="en-US" sz="1300" dirty="0">
                <a:solidFill>
                  <a:srgbClr val="C9C9C0"/>
                </a:solidFill>
                <a:latin typeface="Tomorrow" pitchFamily="34" charset="0"/>
                <a:ea typeface="Tomorrow" pitchFamily="34" charset="-122"/>
                <a:cs typeface="Tomorrow" pitchFamily="34" charset="-120"/>
              </a:rPr>
              <a:t>Military coup against Goulart establishes dictatorship lasting until 1985</a:t>
            </a:r>
            <a:endParaRPr lang="en-US" sz="1300" dirty="0"/>
          </a:p>
        </p:txBody>
      </p:sp>
      <p:sp>
        <p:nvSpPr>
          <p:cNvPr id="9" name="Shape 6"/>
          <p:cNvSpPr/>
          <p:nvPr/>
        </p:nvSpPr>
        <p:spPr>
          <a:xfrm>
            <a:off x="960775" y="2710339"/>
            <a:ext cx="513278" cy="22860"/>
          </a:xfrm>
          <a:prstGeom prst="roundRect">
            <a:avLst>
              <a:gd name="adj" fmla="val 112272"/>
            </a:avLst>
          </a:prstGeom>
          <a:solidFill>
            <a:srgbClr val="555553"/>
          </a:solidFill>
          <a:ln/>
        </p:spPr>
      </p:sp>
      <p:sp>
        <p:nvSpPr>
          <p:cNvPr id="10" name="Shape 7"/>
          <p:cNvSpPr/>
          <p:nvPr/>
        </p:nvSpPr>
        <p:spPr>
          <a:xfrm>
            <a:off x="598706" y="2529364"/>
            <a:ext cx="384929" cy="384929"/>
          </a:xfrm>
          <a:prstGeom prst="roundRect">
            <a:avLst>
              <a:gd name="adj" fmla="val 6668"/>
            </a:avLst>
          </a:prstGeom>
          <a:solidFill>
            <a:srgbClr val="3C3C3A"/>
          </a:solidFill>
          <a:ln/>
        </p:spPr>
      </p:sp>
      <p:pic>
        <p:nvPicPr>
          <p:cNvPr id="11" name="Image 1" descr="preencoded.png">    </p:cNvPr>
          <p:cNvPicPr>
            <a:picLocks noChangeAspect="1"/>
          </p:cNvPicPr>
          <p:nvPr/>
        </p:nvPicPr>
        <p:blipFill>
          <a:blip r:embed="rId2"/>
          <a:stretch>
            <a:fillRect/>
          </a:stretch>
        </p:blipFill>
        <p:spPr>
          <a:xfrm>
            <a:off x="662821" y="2561392"/>
            <a:ext cx="256580" cy="320754"/>
          </a:xfrm>
          <a:prstGeom prst="rect">
            <a:avLst/>
          </a:prstGeom>
        </p:spPr>
      </p:pic>
      <p:sp>
        <p:nvSpPr>
          <p:cNvPr id="12" name="Text 8"/>
          <p:cNvSpPr/>
          <p:nvPr/>
        </p:nvSpPr>
        <p:spPr>
          <a:xfrm>
            <a:off x="1646753" y="2588062"/>
            <a:ext cx="2138720" cy="267295"/>
          </a:xfrm>
          <a:prstGeom prst="rect">
            <a:avLst/>
          </a:prstGeom>
          <a:noFill/>
          <a:ln/>
        </p:spPr>
        <p:txBody>
          <a:bodyPr wrap="none" lIns="0" tIns="0" rIns="0" bIns="0" rtlCol="0" anchor="t"/>
          <a:lstStyle/>
          <a:p>
            <a:pPr algn="l" indent="0" marL="0">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Chile 1973</a:t>
            </a:r>
            <a:endParaRPr lang="en-US" sz="1650" dirty="0"/>
          </a:p>
        </p:txBody>
      </p:sp>
      <p:sp>
        <p:nvSpPr>
          <p:cNvPr id="13" name="Text 9"/>
          <p:cNvSpPr/>
          <p:nvPr/>
        </p:nvSpPr>
        <p:spPr>
          <a:xfrm>
            <a:off x="1646753" y="2957989"/>
            <a:ext cx="12384881" cy="273725"/>
          </a:xfrm>
          <a:prstGeom prst="rect">
            <a:avLst/>
          </a:prstGeom>
          <a:noFill/>
          <a:ln/>
        </p:spPr>
        <p:txBody>
          <a:bodyPr wrap="none" lIns="0" tIns="0" rIns="0" bIns="0" rtlCol="0" anchor="t"/>
          <a:lstStyle/>
          <a:p>
            <a:pPr algn="l" indent="0" marL="0">
              <a:lnSpc>
                <a:spcPts val="2150"/>
              </a:lnSpc>
              <a:buNone/>
            </a:pPr>
            <a:r>
              <a:rPr lang="en-US" sz="1300" dirty="0">
                <a:solidFill>
                  <a:srgbClr val="C9C9C0"/>
                </a:solidFill>
                <a:latin typeface="Tomorrow" pitchFamily="34" charset="0"/>
                <a:ea typeface="Tomorrow" pitchFamily="34" charset="-122"/>
                <a:cs typeface="Tomorrow" pitchFamily="34" charset="-120"/>
              </a:rPr>
              <a:t>Pinochet overthrows Allende's democratically elected government</a:t>
            </a:r>
            <a:endParaRPr lang="en-US" sz="1300" dirty="0"/>
          </a:p>
        </p:txBody>
      </p:sp>
      <p:sp>
        <p:nvSpPr>
          <p:cNvPr id="14" name="Shape 10"/>
          <p:cNvSpPr/>
          <p:nvPr/>
        </p:nvSpPr>
        <p:spPr>
          <a:xfrm>
            <a:off x="960775" y="3754874"/>
            <a:ext cx="513278" cy="22860"/>
          </a:xfrm>
          <a:prstGeom prst="roundRect">
            <a:avLst>
              <a:gd name="adj" fmla="val 112272"/>
            </a:avLst>
          </a:prstGeom>
          <a:solidFill>
            <a:srgbClr val="555553"/>
          </a:solidFill>
          <a:ln/>
        </p:spPr>
      </p:sp>
      <p:sp>
        <p:nvSpPr>
          <p:cNvPr id="15" name="Shape 11"/>
          <p:cNvSpPr/>
          <p:nvPr/>
        </p:nvSpPr>
        <p:spPr>
          <a:xfrm>
            <a:off x="598706" y="3573899"/>
            <a:ext cx="384929" cy="384929"/>
          </a:xfrm>
          <a:prstGeom prst="roundRect">
            <a:avLst>
              <a:gd name="adj" fmla="val 6668"/>
            </a:avLst>
          </a:prstGeom>
          <a:solidFill>
            <a:srgbClr val="3C3C3A"/>
          </a:solidFill>
          <a:ln/>
        </p:spPr>
      </p:sp>
      <p:pic>
        <p:nvPicPr>
          <p:cNvPr id="16" name="Image 2" descr="preencoded.png">    </p:cNvPr>
          <p:cNvPicPr>
            <a:picLocks noChangeAspect="1"/>
          </p:cNvPicPr>
          <p:nvPr/>
        </p:nvPicPr>
        <p:blipFill>
          <a:blip r:embed="rId3"/>
          <a:stretch>
            <a:fillRect/>
          </a:stretch>
        </p:blipFill>
        <p:spPr>
          <a:xfrm>
            <a:off x="662821" y="3605927"/>
            <a:ext cx="256580" cy="320754"/>
          </a:xfrm>
          <a:prstGeom prst="rect">
            <a:avLst/>
          </a:prstGeom>
        </p:spPr>
      </p:pic>
      <p:sp>
        <p:nvSpPr>
          <p:cNvPr id="17" name="Text 12"/>
          <p:cNvSpPr/>
          <p:nvPr/>
        </p:nvSpPr>
        <p:spPr>
          <a:xfrm>
            <a:off x="1646753" y="3632597"/>
            <a:ext cx="2138720" cy="267295"/>
          </a:xfrm>
          <a:prstGeom prst="rect">
            <a:avLst/>
          </a:prstGeom>
          <a:noFill/>
          <a:ln/>
        </p:spPr>
        <p:txBody>
          <a:bodyPr wrap="none" lIns="0" tIns="0" rIns="0" bIns="0" rtlCol="0" anchor="t"/>
          <a:lstStyle/>
          <a:p>
            <a:pPr algn="l" indent="0" marL="0">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Argentina 1976</a:t>
            </a:r>
            <a:endParaRPr lang="en-US" sz="1650" dirty="0"/>
          </a:p>
        </p:txBody>
      </p:sp>
      <p:sp>
        <p:nvSpPr>
          <p:cNvPr id="18" name="Text 13"/>
          <p:cNvSpPr/>
          <p:nvPr/>
        </p:nvSpPr>
        <p:spPr>
          <a:xfrm>
            <a:off x="1646753" y="4002524"/>
            <a:ext cx="12384881" cy="273725"/>
          </a:xfrm>
          <a:prstGeom prst="rect">
            <a:avLst/>
          </a:prstGeom>
          <a:noFill/>
          <a:ln/>
        </p:spPr>
        <p:txBody>
          <a:bodyPr wrap="none" lIns="0" tIns="0" rIns="0" bIns="0" rtlCol="0" anchor="t"/>
          <a:lstStyle/>
          <a:p>
            <a:pPr algn="l" indent="0" marL="0">
              <a:lnSpc>
                <a:spcPts val="2150"/>
              </a:lnSpc>
              <a:buNone/>
            </a:pPr>
            <a:r>
              <a:rPr lang="en-US" sz="1300" dirty="0">
                <a:solidFill>
                  <a:srgbClr val="C9C9C0"/>
                </a:solidFill>
                <a:latin typeface="Tomorrow" pitchFamily="34" charset="0"/>
                <a:ea typeface="Tomorrow" pitchFamily="34" charset="-122"/>
                <a:cs typeface="Tomorrow" pitchFamily="34" charset="-120"/>
              </a:rPr>
              <a:t>Military junta initiates "Process of National Reorganization"</a:t>
            </a:r>
            <a:endParaRPr lang="en-US" sz="1300" dirty="0"/>
          </a:p>
        </p:txBody>
      </p:sp>
      <p:sp>
        <p:nvSpPr>
          <p:cNvPr id="19" name="Shape 14"/>
          <p:cNvSpPr/>
          <p:nvPr/>
        </p:nvSpPr>
        <p:spPr>
          <a:xfrm>
            <a:off x="960775" y="4799409"/>
            <a:ext cx="513278" cy="22860"/>
          </a:xfrm>
          <a:prstGeom prst="roundRect">
            <a:avLst>
              <a:gd name="adj" fmla="val 112272"/>
            </a:avLst>
          </a:prstGeom>
          <a:solidFill>
            <a:srgbClr val="555553"/>
          </a:solidFill>
          <a:ln/>
        </p:spPr>
      </p:sp>
      <p:sp>
        <p:nvSpPr>
          <p:cNvPr id="20" name="Shape 15"/>
          <p:cNvSpPr/>
          <p:nvPr/>
        </p:nvSpPr>
        <p:spPr>
          <a:xfrm>
            <a:off x="598706" y="4618434"/>
            <a:ext cx="384929" cy="384929"/>
          </a:xfrm>
          <a:prstGeom prst="roundRect">
            <a:avLst>
              <a:gd name="adj" fmla="val 6668"/>
            </a:avLst>
          </a:prstGeom>
          <a:solidFill>
            <a:srgbClr val="3C3C3A"/>
          </a:solidFill>
          <a:ln/>
        </p:spPr>
      </p:sp>
      <p:pic>
        <p:nvPicPr>
          <p:cNvPr id="21" name="Image 3" descr="preencoded.png">    </p:cNvPr>
          <p:cNvPicPr>
            <a:picLocks noChangeAspect="1"/>
          </p:cNvPicPr>
          <p:nvPr/>
        </p:nvPicPr>
        <p:blipFill>
          <a:blip r:embed="rId4"/>
          <a:stretch>
            <a:fillRect/>
          </a:stretch>
        </p:blipFill>
        <p:spPr>
          <a:xfrm>
            <a:off x="662821" y="4650462"/>
            <a:ext cx="256580" cy="320754"/>
          </a:xfrm>
          <a:prstGeom prst="rect">
            <a:avLst/>
          </a:prstGeom>
        </p:spPr>
      </p:pic>
      <p:sp>
        <p:nvSpPr>
          <p:cNvPr id="22" name="Text 16"/>
          <p:cNvSpPr/>
          <p:nvPr/>
        </p:nvSpPr>
        <p:spPr>
          <a:xfrm>
            <a:off x="1646753" y="4677132"/>
            <a:ext cx="2138720" cy="267295"/>
          </a:xfrm>
          <a:prstGeom prst="rect">
            <a:avLst/>
          </a:prstGeom>
          <a:noFill/>
          <a:ln/>
        </p:spPr>
        <p:txBody>
          <a:bodyPr wrap="none" lIns="0" tIns="0" rIns="0" bIns="0" rtlCol="0" anchor="t"/>
          <a:lstStyle/>
          <a:p>
            <a:pPr algn="l" indent="0" marL="0">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Uruguay 1973</a:t>
            </a:r>
            <a:endParaRPr lang="en-US" sz="1650" dirty="0"/>
          </a:p>
        </p:txBody>
      </p:sp>
      <p:sp>
        <p:nvSpPr>
          <p:cNvPr id="23" name="Text 17"/>
          <p:cNvSpPr/>
          <p:nvPr/>
        </p:nvSpPr>
        <p:spPr>
          <a:xfrm>
            <a:off x="1646753" y="5047059"/>
            <a:ext cx="12384881" cy="273725"/>
          </a:xfrm>
          <a:prstGeom prst="rect">
            <a:avLst/>
          </a:prstGeom>
          <a:noFill/>
          <a:ln/>
        </p:spPr>
        <p:txBody>
          <a:bodyPr wrap="none" lIns="0" tIns="0" rIns="0" bIns="0" rtlCol="0" anchor="t"/>
          <a:lstStyle/>
          <a:p>
            <a:pPr algn="l" indent="0" marL="0">
              <a:lnSpc>
                <a:spcPts val="2150"/>
              </a:lnSpc>
              <a:buNone/>
            </a:pPr>
            <a:r>
              <a:rPr lang="en-US" sz="1300" dirty="0">
                <a:solidFill>
                  <a:srgbClr val="C9C9C0"/>
                </a:solidFill>
                <a:latin typeface="Tomorrow" pitchFamily="34" charset="0"/>
                <a:ea typeface="Tomorrow" pitchFamily="34" charset="-122"/>
                <a:cs typeface="Tomorrow" pitchFamily="34" charset="-120"/>
              </a:rPr>
              <a:t>Democratic institutions dismantled as military seizes control</a:t>
            </a:r>
            <a:endParaRPr lang="en-US" sz="1300" dirty="0"/>
          </a:p>
        </p:txBody>
      </p:sp>
      <p:sp>
        <p:nvSpPr>
          <p:cNvPr id="24" name="Text 18"/>
          <p:cNvSpPr/>
          <p:nvPr/>
        </p:nvSpPr>
        <p:spPr>
          <a:xfrm>
            <a:off x="598765" y="5513189"/>
            <a:ext cx="13432869" cy="1094899"/>
          </a:xfrm>
          <a:prstGeom prst="rect">
            <a:avLst/>
          </a:prstGeom>
          <a:noFill/>
          <a:ln/>
        </p:spPr>
        <p:txBody>
          <a:bodyPr wrap="square" lIns="0" tIns="0" rIns="0" bIns="0" rtlCol="0" anchor="t"/>
          <a:lstStyle/>
          <a:p>
            <a:pPr algn="l" indent="0" marL="0">
              <a:lnSpc>
                <a:spcPts val="2150"/>
              </a:lnSpc>
              <a:buNone/>
            </a:pPr>
            <a:r>
              <a:rPr lang="en-US" sz="1300" dirty="0">
                <a:solidFill>
                  <a:srgbClr val="C9C9C0"/>
                </a:solidFill>
                <a:latin typeface="Tomorrow" pitchFamily="34" charset="0"/>
                <a:ea typeface="Tomorrow" pitchFamily="34" charset="-122"/>
                <a:cs typeface="Tomorrow" pitchFamily="34" charset="-120"/>
              </a:rPr>
              <a:t>The military regimes that dominated Latin America during the Cold War adopted a distinctive form of governance known as "bureaucratic authoritarianism." This system combined technocratic governance with brutal repression, positioning the armed forces as the ultimate guardians of national interests against perceived subversion. Brazil's 1964 coup established a paradigmatic model, maintaining a veneer of constitutional order while systematically dismantling democratic institutions.</a:t>
            </a:r>
            <a:endParaRPr lang="en-US" sz="1300" dirty="0"/>
          </a:p>
        </p:txBody>
      </p:sp>
      <p:sp>
        <p:nvSpPr>
          <p:cNvPr id="25" name="Text 19"/>
          <p:cNvSpPr/>
          <p:nvPr/>
        </p:nvSpPr>
        <p:spPr>
          <a:xfrm>
            <a:off x="598765" y="6800493"/>
            <a:ext cx="13432869" cy="821174"/>
          </a:xfrm>
          <a:prstGeom prst="rect">
            <a:avLst/>
          </a:prstGeom>
          <a:noFill/>
          <a:ln/>
        </p:spPr>
        <p:txBody>
          <a:bodyPr wrap="square" lIns="0" tIns="0" rIns="0" bIns="0" rtlCol="0" anchor="t"/>
          <a:lstStyle/>
          <a:p>
            <a:pPr algn="l" indent="0" marL="0">
              <a:lnSpc>
                <a:spcPts val="2150"/>
              </a:lnSpc>
              <a:buNone/>
            </a:pPr>
            <a:r>
              <a:rPr lang="en-US" sz="1300" dirty="0">
                <a:solidFill>
                  <a:srgbClr val="C9C9C0"/>
                </a:solidFill>
                <a:latin typeface="Tomorrow" pitchFamily="34" charset="0"/>
                <a:ea typeface="Tomorrow" pitchFamily="34" charset="-122"/>
                <a:cs typeface="Tomorrow" pitchFamily="34" charset="-120"/>
              </a:rPr>
              <a:t>Argentina and Uruguay witnessed particularly brutal manifestations of military rule through their "dirty wars"—clandestine campaigns of state terrorism that targeted not only armed insurgents but also students, intellectuals, labor leaders, and human rights activists. These regimes institutionalized disappearances, torture, and extrajudicial killings as tools of governance, creating a climate of fear that silenced opposition and traumatized society for generations.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2232" y="797243"/>
            <a:ext cx="9682996" cy="635913"/>
          </a:xfrm>
          <a:prstGeom prst="rect">
            <a:avLst/>
          </a:prstGeom>
          <a:noFill/>
          <a:ln/>
        </p:spPr>
        <p:txBody>
          <a:bodyPr wrap="none" lIns="0" tIns="0" rIns="0" bIns="0" rtlCol="0" anchor="t"/>
          <a:lstStyle/>
          <a:p>
            <a:pPr algn="l" indent="0" marL="0">
              <a:lnSpc>
                <a:spcPts val="5000"/>
              </a:lnSpc>
              <a:buNone/>
            </a:pPr>
            <a:r>
              <a:rPr lang="en-US" sz="4000" dirty="0">
                <a:solidFill>
                  <a:srgbClr val="EDEDE8"/>
                </a:solidFill>
                <a:latin typeface="Tomorrow Semi Bold" pitchFamily="34" charset="0"/>
                <a:ea typeface="Tomorrow Semi Bold" pitchFamily="34" charset="-122"/>
                <a:cs typeface="Tomorrow Semi Bold" pitchFamily="34" charset="-120"/>
              </a:rPr>
              <a:t>Populism and Revolutionary Currents</a:t>
            </a:r>
            <a:endParaRPr lang="en-US" sz="4000" dirty="0"/>
          </a:p>
        </p:txBody>
      </p:sp>
      <p:sp>
        <p:nvSpPr>
          <p:cNvPr id="3" name="Text 1"/>
          <p:cNvSpPr/>
          <p:nvPr/>
        </p:nvSpPr>
        <p:spPr>
          <a:xfrm>
            <a:off x="712232" y="1941790"/>
            <a:ext cx="2543651" cy="317897"/>
          </a:xfrm>
          <a:prstGeom prst="rect">
            <a:avLst/>
          </a:prstGeom>
          <a:noFill/>
          <a:ln/>
        </p:spPr>
        <p:txBody>
          <a:bodyPr wrap="none" lIns="0" tIns="0" rIns="0" bIns="0" rtlCol="0" anchor="t"/>
          <a:lstStyle/>
          <a:p>
            <a:pPr algn="l" indent="0" marL="0">
              <a:lnSpc>
                <a:spcPts val="2500"/>
              </a:lnSpc>
              <a:buNone/>
            </a:pPr>
            <a:r>
              <a:rPr lang="en-US" sz="2000" dirty="0">
                <a:solidFill>
                  <a:srgbClr val="EDEDE8"/>
                </a:solidFill>
                <a:latin typeface="Tomorrow Semi Bold" pitchFamily="34" charset="0"/>
                <a:ea typeface="Tomorrow Semi Bold" pitchFamily="34" charset="-122"/>
                <a:cs typeface="Tomorrow Semi Bold" pitchFamily="34" charset="-120"/>
              </a:rPr>
              <a:t>Enduring Populism</a:t>
            </a:r>
            <a:endParaRPr lang="en-US" sz="2000" dirty="0"/>
          </a:p>
        </p:txBody>
      </p:sp>
      <p:sp>
        <p:nvSpPr>
          <p:cNvPr id="4" name="Text 2"/>
          <p:cNvSpPr/>
          <p:nvPr/>
        </p:nvSpPr>
        <p:spPr>
          <a:xfrm>
            <a:off x="712232" y="2463165"/>
            <a:ext cx="4070509" cy="3580686"/>
          </a:xfrm>
          <a:prstGeom prst="rect">
            <a:avLst/>
          </a:prstGeom>
          <a:noFill/>
          <a:ln/>
        </p:spPr>
        <p:txBody>
          <a:bodyPr wrap="square" lIns="0" tIns="0" rIns="0" bIns="0" rtlCol="0" anchor="t"/>
          <a:lstStyle/>
          <a:p>
            <a:pPr algn="l" indent="0" marL="0">
              <a:lnSpc>
                <a:spcPts val="2550"/>
              </a:lnSpc>
              <a:buNone/>
            </a:pPr>
            <a:r>
              <a:rPr lang="en-US" sz="1600" dirty="0">
                <a:solidFill>
                  <a:srgbClr val="C9C9C0"/>
                </a:solidFill>
                <a:latin typeface="Tomorrow" pitchFamily="34" charset="0"/>
                <a:ea typeface="Tomorrow" pitchFamily="34" charset="-122"/>
                <a:cs typeface="Tomorrow" pitchFamily="34" charset="-120"/>
              </a:rPr>
              <a:t>Despite repression, populist movements maintained significant influence across the region. The political legacies of charismatic leaders like Argentina's Juan Perón and Brazil's Getúlio Vargas proved remarkably resilient, having fundamentally transformed class relations and political participation. Their movements created durable political identities that continued to shape opposition even under military rule.</a:t>
            </a:r>
            <a:endParaRPr lang="en-US" sz="1600" dirty="0"/>
          </a:p>
        </p:txBody>
      </p:sp>
      <p:sp>
        <p:nvSpPr>
          <p:cNvPr id="5" name="Text 3"/>
          <p:cNvSpPr/>
          <p:nvPr/>
        </p:nvSpPr>
        <p:spPr>
          <a:xfrm>
            <a:off x="5286851" y="1941790"/>
            <a:ext cx="2543651" cy="317897"/>
          </a:xfrm>
          <a:prstGeom prst="rect">
            <a:avLst/>
          </a:prstGeom>
          <a:noFill/>
          <a:ln/>
        </p:spPr>
        <p:txBody>
          <a:bodyPr wrap="none" lIns="0" tIns="0" rIns="0" bIns="0" rtlCol="0" anchor="t"/>
          <a:lstStyle/>
          <a:p>
            <a:pPr algn="l" indent="0" marL="0">
              <a:lnSpc>
                <a:spcPts val="2500"/>
              </a:lnSpc>
              <a:buNone/>
            </a:pPr>
            <a:r>
              <a:rPr lang="en-US" sz="2000" dirty="0">
                <a:solidFill>
                  <a:srgbClr val="EDEDE8"/>
                </a:solidFill>
                <a:latin typeface="Tomorrow Semi Bold" pitchFamily="34" charset="0"/>
                <a:ea typeface="Tomorrow Semi Bold" pitchFamily="34" charset="-122"/>
                <a:cs typeface="Tomorrow Semi Bold" pitchFamily="34" charset="-120"/>
              </a:rPr>
              <a:t>Cuban Revolution</a:t>
            </a:r>
            <a:endParaRPr lang="en-US" sz="2000" dirty="0"/>
          </a:p>
        </p:txBody>
      </p:sp>
      <p:sp>
        <p:nvSpPr>
          <p:cNvPr id="6" name="Text 4"/>
          <p:cNvSpPr/>
          <p:nvPr/>
        </p:nvSpPr>
        <p:spPr>
          <a:xfrm>
            <a:off x="5286851" y="2463165"/>
            <a:ext cx="4070509" cy="3580686"/>
          </a:xfrm>
          <a:prstGeom prst="rect">
            <a:avLst/>
          </a:prstGeom>
          <a:noFill/>
          <a:ln/>
        </p:spPr>
        <p:txBody>
          <a:bodyPr wrap="square" lIns="0" tIns="0" rIns="0" bIns="0" rtlCol="0" anchor="t"/>
          <a:lstStyle/>
          <a:p>
            <a:pPr algn="l" indent="0" marL="0">
              <a:lnSpc>
                <a:spcPts val="2550"/>
              </a:lnSpc>
              <a:buNone/>
            </a:pPr>
            <a:r>
              <a:rPr lang="en-US" sz="1600" dirty="0">
                <a:solidFill>
                  <a:srgbClr val="C9C9C0"/>
                </a:solidFill>
                <a:latin typeface="Tomorrow" pitchFamily="34" charset="0"/>
                <a:ea typeface="Tomorrow" pitchFamily="34" charset="-122"/>
                <a:cs typeface="Tomorrow" pitchFamily="34" charset="-120"/>
              </a:rPr>
              <a:t>The 1959 Cuban Revolution represented a watershed moment that profoundly altered political imaginaries throughout Latin America. Fidel Castro's successful overthrow of the Batista regime and subsequent alignment with the Soviet Union demonstrated that a socialist revolution was possible in the Western Hemisphere, inspiring revolutionary movements while heightening U.S. anxieties about communist expansion.</a:t>
            </a:r>
            <a:endParaRPr lang="en-US" sz="1600" dirty="0"/>
          </a:p>
        </p:txBody>
      </p:sp>
      <p:sp>
        <p:nvSpPr>
          <p:cNvPr id="7" name="Text 5"/>
          <p:cNvSpPr/>
          <p:nvPr/>
        </p:nvSpPr>
        <p:spPr>
          <a:xfrm>
            <a:off x="9861471" y="1941790"/>
            <a:ext cx="2543651" cy="317897"/>
          </a:xfrm>
          <a:prstGeom prst="rect">
            <a:avLst/>
          </a:prstGeom>
          <a:noFill/>
          <a:ln/>
        </p:spPr>
        <p:txBody>
          <a:bodyPr wrap="none" lIns="0" tIns="0" rIns="0" bIns="0" rtlCol="0" anchor="t"/>
          <a:lstStyle/>
          <a:p>
            <a:pPr algn="l" indent="0" marL="0">
              <a:lnSpc>
                <a:spcPts val="2500"/>
              </a:lnSpc>
              <a:buNone/>
            </a:pPr>
            <a:r>
              <a:rPr lang="en-US" sz="2000" dirty="0">
                <a:solidFill>
                  <a:srgbClr val="EDEDE8"/>
                </a:solidFill>
                <a:latin typeface="Tomorrow Semi Bold" pitchFamily="34" charset="0"/>
                <a:ea typeface="Tomorrow Semi Bold" pitchFamily="34" charset="-122"/>
                <a:cs typeface="Tomorrow Semi Bold" pitchFamily="34" charset="-120"/>
              </a:rPr>
              <a:t>Regional Response</a:t>
            </a:r>
            <a:endParaRPr lang="en-US" sz="2000" dirty="0"/>
          </a:p>
        </p:txBody>
      </p:sp>
      <p:sp>
        <p:nvSpPr>
          <p:cNvPr id="8" name="Text 6"/>
          <p:cNvSpPr/>
          <p:nvPr/>
        </p:nvSpPr>
        <p:spPr>
          <a:xfrm>
            <a:off x="9861471" y="2463165"/>
            <a:ext cx="4070509" cy="3255169"/>
          </a:xfrm>
          <a:prstGeom prst="rect">
            <a:avLst/>
          </a:prstGeom>
          <a:noFill/>
          <a:ln/>
        </p:spPr>
        <p:txBody>
          <a:bodyPr wrap="square" lIns="0" tIns="0" rIns="0" bIns="0" rtlCol="0" anchor="t"/>
          <a:lstStyle/>
          <a:p>
            <a:pPr algn="l" indent="0" marL="0">
              <a:lnSpc>
                <a:spcPts val="2550"/>
              </a:lnSpc>
              <a:buNone/>
            </a:pPr>
            <a:r>
              <a:rPr lang="en-US" sz="1600" dirty="0">
                <a:solidFill>
                  <a:srgbClr val="C9C9C0"/>
                </a:solidFill>
                <a:latin typeface="Tomorrow" pitchFamily="34" charset="0"/>
                <a:ea typeface="Tomorrow" pitchFamily="34" charset="-122"/>
                <a:cs typeface="Tomorrow" pitchFamily="34" charset="-120"/>
              </a:rPr>
              <a:t>The Organization of American States became a key instrument for coordinating anti-communist policies across the hemisphere. The 1954 Declaration of Caracas formalized this approach, creating institutional mechanisms to combat "international communism" that effectively legitimized intervention against leftist governments and movements throughout the region.</a:t>
            </a:r>
            <a:endParaRPr lang="en-US" sz="1600" dirty="0"/>
          </a:p>
        </p:txBody>
      </p:sp>
      <p:sp>
        <p:nvSpPr>
          <p:cNvPr id="9" name="Text 7"/>
          <p:cNvSpPr/>
          <p:nvPr/>
        </p:nvSpPr>
        <p:spPr>
          <a:xfrm>
            <a:off x="712232" y="6455807"/>
            <a:ext cx="13205936" cy="976551"/>
          </a:xfrm>
          <a:prstGeom prst="rect">
            <a:avLst/>
          </a:prstGeom>
          <a:noFill/>
          <a:ln/>
        </p:spPr>
        <p:txBody>
          <a:bodyPr wrap="square" lIns="0" tIns="0" rIns="0" bIns="0" rtlCol="0" anchor="t"/>
          <a:lstStyle/>
          <a:p>
            <a:pPr algn="l" indent="0" marL="0">
              <a:lnSpc>
                <a:spcPts val="2550"/>
              </a:lnSpc>
              <a:buNone/>
            </a:pPr>
            <a:r>
              <a:rPr lang="en-US" sz="1600" dirty="0">
                <a:solidFill>
                  <a:srgbClr val="C9C9C0"/>
                </a:solidFill>
                <a:latin typeface="Tomorrow" pitchFamily="34" charset="0"/>
                <a:ea typeface="Tomorrow" pitchFamily="34" charset="-122"/>
                <a:cs typeface="Tomorrow" pitchFamily="34" charset="-120"/>
              </a:rPr>
              <a:t>The interplay between populism and revolutionary politics created a dynamic political landscape despite the constraints of Cold War binaries. While U.S. policy often treated all leftist movements as Soviet proxies, the reality was far more complex, with nationalist, reformist, and revolutionary currents expressing diverse local grievances and aspirations that transcended superpower rivalry.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3662" y="691277"/>
            <a:ext cx="11866959" cy="646152"/>
          </a:xfrm>
          <a:prstGeom prst="rect">
            <a:avLst/>
          </a:prstGeom>
          <a:noFill/>
          <a:ln/>
        </p:spPr>
        <p:txBody>
          <a:bodyPr wrap="none" lIns="0" tIns="0" rIns="0" bIns="0" rtlCol="0" anchor="t"/>
          <a:lstStyle/>
          <a:p>
            <a:pPr algn="l" indent="0" marL="0">
              <a:lnSpc>
                <a:spcPts val="5050"/>
              </a:lnSpc>
              <a:buNone/>
            </a:pPr>
            <a:r>
              <a:rPr lang="en-US" sz="4050" dirty="0">
                <a:solidFill>
                  <a:srgbClr val="EDEDE8"/>
                </a:solidFill>
                <a:latin typeface="Tomorrow Semi Bold" pitchFamily="34" charset="0"/>
                <a:ea typeface="Tomorrow Semi Bold" pitchFamily="34" charset="-122"/>
                <a:cs typeface="Tomorrow Semi Bold" pitchFamily="34" charset="-120"/>
              </a:rPr>
              <a:t>Revolutionary Movements and Proxy Warfare</a:t>
            </a:r>
            <a:endParaRPr lang="en-US" sz="4050" dirty="0"/>
          </a:p>
        </p:txBody>
      </p:sp>
      <p:sp>
        <p:nvSpPr>
          <p:cNvPr id="3" name="Shape 1"/>
          <p:cNvSpPr/>
          <p:nvPr/>
        </p:nvSpPr>
        <p:spPr>
          <a:xfrm>
            <a:off x="723662" y="2371249"/>
            <a:ext cx="4187547" cy="206693"/>
          </a:xfrm>
          <a:prstGeom prst="roundRect">
            <a:avLst>
              <a:gd name="adj" fmla="val 15007"/>
            </a:avLst>
          </a:prstGeom>
          <a:solidFill>
            <a:srgbClr val="3C3C3A"/>
          </a:solidFill>
          <a:ln/>
        </p:spPr>
      </p:sp>
      <p:sp>
        <p:nvSpPr>
          <p:cNvPr id="4" name="Text 2"/>
          <p:cNvSpPr/>
          <p:nvPr/>
        </p:nvSpPr>
        <p:spPr>
          <a:xfrm>
            <a:off x="723662" y="2888099"/>
            <a:ext cx="3355181" cy="323017"/>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Revolutionary Inspiration</a:t>
            </a:r>
            <a:endParaRPr lang="en-US" sz="2000" dirty="0"/>
          </a:p>
        </p:txBody>
      </p:sp>
      <p:sp>
        <p:nvSpPr>
          <p:cNvPr id="5" name="Text 3"/>
          <p:cNvSpPr/>
          <p:nvPr/>
        </p:nvSpPr>
        <p:spPr>
          <a:xfrm>
            <a:off x="723662" y="3335179"/>
            <a:ext cx="4187547" cy="2646998"/>
          </a:xfrm>
          <a:prstGeom prst="rect">
            <a:avLst/>
          </a:prstGeom>
          <a:noFill/>
          <a:ln/>
        </p:spPr>
        <p:txBody>
          <a:bodyPr wrap="square" lIns="0" tIns="0" rIns="0" bIns="0" rtlCol="0" anchor="t"/>
          <a:lstStyle/>
          <a:p>
            <a:pPr algn="l" indent="0" marL="0">
              <a:lnSpc>
                <a:spcPts val="2600"/>
              </a:lnSpc>
              <a:buNone/>
            </a:pPr>
            <a:r>
              <a:rPr lang="en-US" sz="1600" dirty="0">
                <a:solidFill>
                  <a:srgbClr val="C9C9C0"/>
                </a:solidFill>
                <a:latin typeface="Tomorrow" pitchFamily="34" charset="0"/>
                <a:ea typeface="Tomorrow" pitchFamily="34" charset="-122"/>
                <a:cs typeface="Tomorrow" pitchFamily="34" charset="-120"/>
              </a:rPr>
              <a:t>Cuba's successful revolution provided both ideological and practical inspiration for revolutionary movements across Latin America. Che Guevara's foco theory suggested that small guerrilla units could create conditions for broader revolution, influencing insurgent strategies throughout the region.</a:t>
            </a:r>
            <a:endParaRPr lang="en-US" sz="1600" dirty="0"/>
          </a:p>
        </p:txBody>
      </p:sp>
      <p:sp>
        <p:nvSpPr>
          <p:cNvPr id="6" name="Shape 4"/>
          <p:cNvSpPr/>
          <p:nvPr/>
        </p:nvSpPr>
        <p:spPr>
          <a:xfrm>
            <a:off x="5221367" y="2061091"/>
            <a:ext cx="4187547" cy="206693"/>
          </a:xfrm>
          <a:prstGeom prst="roundRect">
            <a:avLst>
              <a:gd name="adj" fmla="val 15007"/>
            </a:avLst>
          </a:prstGeom>
          <a:solidFill>
            <a:srgbClr val="3C3C3A"/>
          </a:solidFill>
          <a:ln/>
        </p:spPr>
      </p:sp>
      <p:sp>
        <p:nvSpPr>
          <p:cNvPr id="7" name="Text 5"/>
          <p:cNvSpPr/>
          <p:nvPr/>
        </p:nvSpPr>
        <p:spPr>
          <a:xfrm>
            <a:off x="5221367" y="2577941"/>
            <a:ext cx="3038951" cy="323017"/>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Nationalist Revolutions</a:t>
            </a:r>
            <a:endParaRPr lang="en-US" sz="2000" dirty="0"/>
          </a:p>
        </p:txBody>
      </p:sp>
      <p:sp>
        <p:nvSpPr>
          <p:cNvPr id="8" name="Text 6"/>
          <p:cNvSpPr/>
          <p:nvPr/>
        </p:nvSpPr>
        <p:spPr>
          <a:xfrm>
            <a:off x="5221367" y="3025021"/>
            <a:ext cx="4187547" cy="2646998"/>
          </a:xfrm>
          <a:prstGeom prst="rect">
            <a:avLst/>
          </a:prstGeom>
          <a:noFill/>
          <a:ln/>
        </p:spPr>
        <p:txBody>
          <a:bodyPr wrap="square" lIns="0" tIns="0" rIns="0" bIns="0" rtlCol="0" anchor="t"/>
          <a:lstStyle/>
          <a:p>
            <a:pPr algn="l" indent="0" marL="0">
              <a:lnSpc>
                <a:spcPts val="2600"/>
              </a:lnSpc>
              <a:buNone/>
            </a:pPr>
            <a:r>
              <a:rPr lang="en-US" sz="1600" dirty="0">
                <a:solidFill>
                  <a:srgbClr val="C9C9C0"/>
                </a:solidFill>
                <a:latin typeface="Tomorrow" pitchFamily="34" charset="0"/>
                <a:ea typeface="Tomorrow" pitchFamily="34" charset="-122"/>
                <a:cs typeface="Tomorrow" pitchFamily="34" charset="-120"/>
              </a:rPr>
              <a:t>Guatemala under Arbenz, Bolivia's MNR, Nicaragua's Sandinistas, and El Salvador's FMLN all pursued radical political and economic transformations that challenged U.S. interests and the regional status quo, combining nationalist and socialist elements in their revolutionary programs.</a:t>
            </a:r>
            <a:endParaRPr lang="en-US" sz="1600" dirty="0"/>
          </a:p>
        </p:txBody>
      </p:sp>
      <p:sp>
        <p:nvSpPr>
          <p:cNvPr id="9" name="Shape 7"/>
          <p:cNvSpPr/>
          <p:nvPr/>
        </p:nvSpPr>
        <p:spPr>
          <a:xfrm>
            <a:off x="9719072" y="1750933"/>
            <a:ext cx="4187547" cy="206693"/>
          </a:xfrm>
          <a:prstGeom prst="roundRect">
            <a:avLst>
              <a:gd name="adj" fmla="val 15007"/>
            </a:avLst>
          </a:prstGeom>
          <a:solidFill>
            <a:srgbClr val="3C3C3A"/>
          </a:solidFill>
          <a:ln/>
        </p:spPr>
      </p:sp>
      <p:sp>
        <p:nvSpPr>
          <p:cNvPr id="10" name="Text 8"/>
          <p:cNvSpPr/>
          <p:nvPr/>
        </p:nvSpPr>
        <p:spPr>
          <a:xfrm>
            <a:off x="9719072" y="2267783"/>
            <a:ext cx="3157776" cy="323017"/>
          </a:xfrm>
          <a:prstGeom prst="rect">
            <a:avLst/>
          </a:prstGeom>
          <a:noFill/>
          <a:ln/>
        </p:spPr>
        <p:txBody>
          <a:bodyPr wrap="none" lIns="0" tIns="0" rIns="0" bIns="0" rtlCol="0" anchor="t"/>
          <a:lstStyle/>
          <a:p>
            <a:pPr algn="l" indent="0" marL="0">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U.S. Counter-Revolution</a:t>
            </a:r>
            <a:endParaRPr lang="en-US" sz="2000" dirty="0"/>
          </a:p>
        </p:txBody>
      </p:sp>
      <p:sp>
        <p:nvSpPr>
          <p:cNvPr id="11" name="Text 9"/>
          <p:cNvSpPr/>
          <p:nvPr/>
        </p:nvSpPr>
        <p:spPr>
          <a:xfrm>
            <a:off x="9719072" y="2714863"/>
            <a:ext cx="4187547" cy="2316123"/>
          </a:xfrm>
          <a:prstGeom prst="rect">
            <a:avLst/>
          </a:prstGeom>
          <a:noFill/>
          <a:ln/>
        </p:spPr>
        <p:txBody>
          <a:bodyPr wrap="square" lIns="0" tIns="0" rIns="0" bIns="0" rtlCol="0" anchor="t"/>
          <a:lstStyle/>
          <a:p>
            <a:pPr algn="l" indent="0" marL="0">
              <a:lnSpc>
                <a:spcPts val="2600"/>
              </a:lnSpc>
              <a:buNone/>
            </a:pPr>
            <a:r>
              <a:rPr lang="en-US" sz="1600" dirty="0">
                <a:solidFill>
                  <a:srgbClr val="C9C9C0"/>
                </a:solidFill>
                <a:latin typeface="Tomorrow" pitchFamily="34" charset="0"/>
                <a:ea typeface="Tomorrow" pitchFamily="34" charset="-122"/>
                <a:cs typeface="Tomorrow" pitchFamily="34" charset="-120"/>
              </a:rPr>
              <a:t>The United States responded through proxy warfare—training, funding, and arming counter-revolutionary forces while providing economic aid packages like the Alliance for Progress that aimed to undermine revolutionary appeal through limited reforms and development.</a:t>
            </a:r>
            <a:endParaRPr lang="en-US" sz="1600" dirty="0"/>
          </a:p>
        </p:txBody>
      </p:sp>
      <p:sp>
        <p:nvSpPr>
          <p:cNvPr id="12" name="Text 10"/>
          <p:cNvSpPr/>
          <p:nvPr/>
        </p:nvSpPr>
        <p:spPr>
          <a:xfrm>
            <a:off x="723662" y="6214705"/>
            <a:ext cx="13183076" cy="1323499"/>
          </a:xfrm>
          <a:prstGeom prst="rect">
            <a:avLst/>
          </a:prstGeom>
          <a:noFill/>
          <a:ln/>
        </p:spPr>
        <p:txBody>
          <a:bodyPr wrap="square" lIns="0" tIns="0" rIns="0" bIns="0" rtlCol="0" anchor="t"/>
          <a:lstStyle/>
          <a:p>
            <a:pPr algn="l" indent="0" marL="0">
              <a:lnSpc>
                <a:spcPts val="2600"/>
              </a:lnSpc>
              <a:buNone/>
            </a:pPr>
            <a:r>
              <a:rPr lang="en-US" sz="1600" dirty="0">
                <a:solidFill>
                  <a:srgbClr val="C9C9C0"/>
                </a:solidFill>
                <a:latin typeface="Tomorrow" pitchFamily="34" charset="0"/>
                <a:ea typeface="Tomorrow" pitchFamily="34" charset="-122"/>
                <a:cs typeface="Tomorrow" pitchFamily="34" charset="-120"/>
              </a:rPr>
              <a:t>The dynamics of proxy warfare transformed local conflicts into internationalized struggles, with both the United States and Soviet Union providing material support to their respective allies. Guatemala's 1954 CIA-orchestrated coup against Jacobo Arbenz and the failed Bay of Pigs invasion of Cuba exemplified direct U.S. intervention, while more subtle forms of influence operated through military assistance programs that trained thousands of Latin American officers in counter-insurgency tactics at the School of the Americas.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6835" y="478631"/>
            <a:ext cx="6383536" cy="354330"/>
          </a:xfrm>
          <a:prstGeom prst="rect">
            <a:avLst/>
          </a:prstGeom>
          <a:noFill/>
          <a:ln/>
        </p:spPr>
        <p:txBody>
          <a:bodyPr wrap="none" lIns="0" tIns="0" rIns="0" bIns="0" rtlCol="0" anchor="t"/>
          <a:lstStyle/>
          <a:p>
            <a:pPr algn="l" indent="0" marL="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Liberation Theology: Faith-Based Resistance</a:t>
            </a:r>
            <a:endParaRPr lang="en-US" sz="2200" dirty="0"/>
          </a:p>
        </p:txBody>
      </p:sp>
      <p:pic>
        <p:nvPicPr>
          <p:cNvPr id="3" name="Image 0" descr="preencoded.png">    </p:cNvPr>
          <p:cNvPicPr>
            <a:picLocks noChangeAspect="1"/>
          </p:cNvPicPr>
          <p:nvPr/>
        </p:nvPicPr>
        <p:blipFill>
          <a:blip r:embed="rId1"/>
          <a:stretch>
            <a:fillRect/>
          </a:stretch>
        </p:blipFill>
        <p:spPr>
          <a:xfrm>
            <a:off x="396835" y="1059775"/>
            <a:ext cx="2835235" cy="1752243"/>
          </a:xfrm>
          <a:prstGeom prst="rect">
            <a:avLst/>
          </a:prstGeom>
        </p:spPr>
      </p:pic>
      <p:sp>
        <p:nvSpPr>
          <p:cNvPr id="4" name="Text 1"/>
          <p:cNvSpPr/>
          <p:nvPr/>
        </p:nvSpPr>
        <p:spPr>
          <a:xfrm>
            <a:off x="3373755" y="1059775"/>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C9C9C0"/>
                </a:solidFill>
                <a:latin typeface="Tomorrow Semi Bold" pitchFamily="34" charset="0"/>
                <a:ea typeface="Tomorrow Semi Bold" pitchFamily="34" charset="-122"/>
                <a:cs typeface="Tomorrow Semi Bold" pitchFamily="34" charset="-120"/>
              </a:rPr>
              <a:t>Grassroots Ministry</a:t>
            </a:r>
            <a:endParaRPr lang="en-US" sz="1100" dirty="0"/>
          </a:p>
        </p:txBody>
      </p:sp>
      <p:sp>
        <p:nvSpPr>
          <p:cNvPr id="5" name="Text 2"/>
          <p:cNvSpPr/>
          <p:nvPr/>
        </p:nvSpPr>
        <p:spPr>
          <a:xfrm>
            <a:off x="3373755" y="1304925"/>
            <a:ext cx="10859810" cy="181451"/>
          </a:xfrm>
          <a:prstGeom prst="rect">
            <a:avLst/>
          </a:prstGeom>
          <a:noFill/>
          <a:ln/>
        </p:spPr>
        <p:txBody>
          <a:bodyPr wrap="none" lIns="0" tIns="0" rIns="0" bIns="0" rtlCol="0" anchor="t"/>
          <a:lstStyle/>
          <a:p>
            <a:pPr algn="l" indent="0" marL="0">
              <a:lnSpc>
                <a:spcPts val="1400"/>
              </a:lnSpc>
              <a:buNone/>
            </a:pPr>
            <a:r>
              <a:rPr lang="en-US" sz="850" dirty="0">
                <a:solidFill>
                  <a:srgbClr val="C9C9C0"/>
                </a:solidFill>
                <a:latin typeface="Tomorrow" pitchFamily="34" charset="0"/>
                <a:ea typeface="Tomorrow" pitchFamily="34" charset="-122"/>
                <a:cs typeface="Tomorrow" pitchFamily="34" charset="-120"/>
              </a:rPr>
              <a:t>Rural priests adopted new approaches to pastoral work, forming Christian base communities that combined religious education with political consciousness-raising and community organizing.</a:t>
            </a:r>
            <a:endParaRPr lang="en-US" sz="850" dirty="0"/>
          </a:p>
        </p:txBody>
      </p:sp>
      <p:pic>
        <p:nvPicPr>
          <p:cNvPr id="6" name="Image 1" descr="preencoded.png">    </p:cNvPr>
          <p:cNvPicPr>
            <a:picLocks noChangeAspect="1"/>
          </p:cNvPicPr>
          <p:nvPr/>
        </p:nvPicPr>
        <p:blipFill>
          <a:blip r:embed="rId2"/>
          <a:stretch>
            <a:fillRect/>
          </a:stretch>
        </p:blipFill>
        <p:spPr>
          <a:xfrm>
            <a:off x="396835" y="3038832"/>
            <a:ext cx="2835235" cy="1752243"/>
          </a:xfrm>
          <a:prstGeom prst="rect">
            <a:avLst/>
          </a:prstGeom>
        </p:spPr>
      </p:pic>
      <p:sp>
        <p:nvSpPr>
          <p:cNvPr id="7" name="Text 3"/>
          <p:cNvSpPr/>
          <p:nvPr/>
        </p:nvSpPr>
        <p:spPr>
          <a:xfrm>
            <a:off x="3373755" y="3038832"/>
            <a:ext cx="1644729" cy="177165"/>
          </a:xfrm>
          <a:prstGeom prst="rect">
            <a:avLst/>
          </a:prstGeom>
          <a:noFill/>
          <a:ln/>
        </p:spPr>
        <p:txBody>
          <a:bodyPr wrap="none" lIns="0" tIns="0" rIns="0" bIns="0" rtlCol="0" anchor="t"/>
          <a:lstStyle/>
          <a:p>
            <a:pPr algn="l" indent="0" marL="0">
              <a:lnSpc>
                <a:spcPts val="1350"/>
              </a:lnSpc>
              <a:buNone/>
            </a:pPr>
            <a:r>
              <a:rPr lang="en-US" sz="1100" dirty="0">
                <a:solidFill>
                  <a:srgbClr val="C9C9C0"/>
                </a:solidFill>
                <a:latin typeface="Tomorrow Semi Bold" pitchFamily="34" charset="0"/>
                <a:ea typeface="Tomorrow Semi Bold" pitchFamily="34" charset="-122"/>
                <a:cs typeface="Tomorrow Semi Bold" pitchFamily="34" charset="-120"/>
              </a:rPr>
              <a:t>Theological Innovation</a:t>
            </a:r>
            <a:endParaRPr lang="en-US" sz="1100" dirty="0"/>
          </a:p>
        </p:txBody>
      </p:sp>
      <p:sp>
        <p:nvSpPr>
          <p:cNvPr id="8" name="Text 4"/>
          <p:cNvSpPr/>
          <p:nvPr/>
        </p:nvSpPr>
        <p:spPr>
          <a:xfrm>
            <a:off x="3373755" y="3283982"/>
            <a:ext cx="10859810" cy="362903"/>
          </a:xfrm>
          <a:prstGeom prst="rect">
            <a:avLst/>
          </a:prstGeom>
          <a:noFill/>
          <a:ln/>
        </p:spPr>
        <p:txBody>
          <a:bodyPr wrap="square" lIns="0" tIns="0" rIns="0" bIns="0" rtlCol="0" anchor="t"/>
          <a:lstStyle/>
          <a:p>
            <a:pPr algn="l" indent="0" marL="0">
              <a:lnSpc>
                <a:spcPts val="1400"/>
              </a:lnSpc>
              <a:buNone/>
            </a:pPr>
            <a:r>
              <a:rPr lang="en-US" sz="850" dirty="0">
                <a:solidFill>
                  <a:srgbClr val="C9C9C0"/>
                </a:solidFill>
                <a:latin typeface="Tomorrow" pitchFamily="34" charset="0"/>
                <a:ea typeface="Tomorrow" pitchFamily="34" charset="-122"/>
                <a:cs typeface="Tomorrow" pitchFamily="34" charset="-120"/>
              </a:rPr>
              <a:t>Liberation theologians like Gustavo Gutiérrez reinterpreted Catholic teaching through Marxist analysis, viewing poverty as a structural sin requiring concrete political action rather than just spiritual remedy.</a:t>
            </a:r>
            <a:endParaRPr lang="en-US" sz="850" dirty="0"/>
          </a:p>
        </p:txBody>
      </p:sp>
      <p:pic>
        <p:nvPicPr>
          <p:cNvPr id="9" name="Image 2" descr="preencoded.png">    </p:cNvPr>
          <p:cNvPicPr>
            <a:picLocks noChangeAspect="1"/>
          </p:cNvPicPr>
          <p:nvPr/>
        </p:nvPicPr>
        <p:blipFill>
          <a:blip r:embed="rId3"/>
          <a:stretch>
            <a:fillRect/>
          </a:stretch>
        </p:blipFill>
        <p:spPr>
          <a:xfrm>
            <a:off x="396835" y="5017889"/>
            <a:ext cx="2835235" cy="1752243"/>
          </a:xfrm>
          <a:prstGeom prst="rect">
            <a:avLst/>
          </a:prstGeom>
        </p:spPr>
      </p:pic>
      <p:sp>
        <p:nvSpPr>
          <p:cNvPr id="10" name="Text 5"/>
          <p:cNvSpPr/>
          <p:nvPr/>
        </p:nvSpPr>
        <p:spPr>
          <a:xfrm>
            <a:off x="3373755" y="5017889"/>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C9C9C0"/>
                </a:solidFill>
                <a:latin typeface="Tomorrow Semi Bold" pitchFamily="34" charset="0"/>
                <a:ea typeface="Tomorrow Semi Bold" pitchFamily="34" charset="-122"/>
                <a:cs typeface="Tomorrow Semi Bold" pitchFamily="34" charset="-120"/>
              </a:rPr>
              <a:t>Prophetic Witness</a:t>
            </a:r>
            <a:endParaRPr lang="en-US" sz="1100" dirty="0"/>
          </a:p>
        </p:txBody>
      </p:sp>
      <p:sp>
        <p:nvSpPr>
          <p:cNvPr id="11" name="Text 6"/>
          <p:cNvSpPr/>
          <p:nvPr/>
        </p:nvSpPr>
        <p:spPr>
          <a:xfrm>
            <a:off x="3373755" y="5263039"/>
            <a:ext cx="10859810" cy="181451"/>
          </a:xfrm>
          <a:prstGeom prst="rect">
            <a:avLst/>
          </a:prstGeom>
          <a:noFill/>
          <a:ln/>
        </p:spPr>
        <p:txBody>
          <a:bodyPr wrap="none" lIns="0" tIns="0" rIns="0" bIns="0" rtlCol="0" anchor="t"/>
          <a:lstStyle/>
          <a:p>
            <a:pPr algn="l" indent="0" marL="0">
              <a:lnSpc>
                <a:spcPts val="1400"/>
              </a:lnSpc>
              <a:buNone/>
            </a:pPr>
            <a:r>
              <a:rPr lang="en-US" sz="850" dirty="0">
                <a:solidFill>
                  <a:srgbClr val="C9C9C0"/>
                </a:solidFill>
                <a:latin typeface="Tomorrow" pitchFamily="34" charset="0"/>
                <a:ea typeface="Tomorrow" pitchFamily="34" charset="-122"/>
                <a:cs typeface="Tomorrow" pitchFamily="34" charset="-120"/>
              </a:rPr>
              <a:t>Church leaders like Archbishop Oscar Romero of El Salvador became powerful voices against military repression, often paying with their lives for speaking truth to power.</a:t>
            </a:r>
            <a:endParaRPr lang="en-US" sz="850" dirty="0"/>
          </a:p>
        </p:txBody>
      </p:sp>
      <p:sp>
        <p:nvSpPr>
          <p:cNvPr id="12" name="Text 7"/>
          <p:cNvSpPr/>
          <p:nvPr/>
        </p:nvSpPr>
        <p:spPr>
          <a:xfrm>
            <a:off x="396835" y="6897648"/>
            <a:ext cx="13836729" cy="362903"/>
          </a:xfrm>
          <a:prstGeom prst="rect">
            <a:avLst/>
          </a:prstGeom>
          <a:noFill/>
          <a:ln/>
        </p:spPr>
        <p:txBody>
          <a:bodyPr wrap="square" lIns="0" tIns="0" rIns="0" bIns="0" rtlCol="0" anchor="t"/>
          <a:lstStyle/>
          <a:p>
            <a:pPr algn="l" indent="0" marL="0">
              <a:lnSpc>
                <a:spcPts val="1400"/>
              </a:lnSpc>
              <a:buNone/>
            </a:pPr>
            <a:r>
              <a:rPr lang="en-US" sz="850" dirty="0">
                <a:solidFill>
                  <a:srgbClr val="C9C9C0"/>
                </a:solidFill>
                <a:latin typeface="Tomorrow" pitchFamily="34" charset="0"/>
                <a:ea typeface="Tomorrow" pitchFamily="34" charset="-122"/>
                <a:cs typeface="Tomorrow" pitchFamily="34" charset="-120"/>
              </a:rPr>
              <a:t>Liberation Theology emerged as a distinctive form of religious-political resistance during the Cold War, challenging both traditional Catholic conservatism and secular revolutionary models. Inspired by the Second Vatican Council's call for the Church to engage with modern social problems, this movement reinterpreted Christian faith from the perspective of the marginalized, advocating for structural change to address poverty and inequality.</a:t>
            </a:r>
            <a:endParaRPr lang="en-US" sz="850" dirty="0"/>
          </a:p>
        </p:txBody>
      </p:sp>
      <p:sp>
        <p:nvSpPr>
          <p:cNvPr id="13" name="Text 8"/>
          <p:cNvSpPr/>
          <p:nvPr/>
        </p:nvSpPr>
        <p:spPr>
          <a:xfrm>
            <a:off x="396835" y="7388066"/>
            <a:ext cx="13836729" cy="362903"/>
          </a:xfrm>
          <a:prstGeom prst="rect">
            <a:avLst/>
          </a:prstGeom>
          <a:noFill/>
          <a:ln/>
        </p:spPr>
        <p:txBody>
          <a:bodyPr wrap="square" lIns="0" tIns="0" rIns="0" bIns="0" rtlCol="0" anchor="t"/>
          <a:lstStyle/>
          <a:p>
            <a:pPr algn="l" indent="0" marL="0">
              <a:lnSpc>
                <a:spcPts val="1400"/>
              </a:lnSpc>
              <a:buNone/>
            </a:pPr>
            <a:r>
              <a:rPr lang="en-US" sz="850" dirty="0">
                <a:solidFill>
                  <a:srgbClr val="C9C9C0"/>
                </a:solidFill>
                <a:latin typeface="Tomorrow" pitchFamily="34" charset="0"/>
                <a:ea typeface="Tomorrow" pitchFamily="34" charset="-122"/>
                <a:cs typeface="Tomorrow" pitchFamily="34" charset="-120"/>
              </a:rPr>
              <a:t>While the Vatican hierarchy remained suspicious of Liberation Theology's Marxist influences, the movement gained significant traction at the grassroots level, particularly in rural communities where priests often became important organizers and advocates. This religious dimension added moral authority to resistance movements and complicated Cold War narratives that reduced all opposition to communist subversion.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6263" y="452795"/>
            <a:ext cx="7529870" cy="514588"/>
          </a:xfrm>
          <a:prstGeom prst="rect">
            <a:avLst/>
          </a:prstGeom>
          <a:noFill/>
          <a:ln/>
        </p:spPr>
        <p:txBody>
          <a:bodyPr wrap="none" lIns="0" tIns="0" rIns="0" bIns="0" rtlCol="0" anchor="t"/>
          <a:lstStyle/>
          <a:p>
            <a:pPr algn="l" indent="0" marL="0">
              <a:lnSpc>
                <a:spcPts val="4050"/>
              </a:lnSpc>
              <a:buNone/>
            </a:pPr>
            <a:r>
              <a:rPr lang="en-US" sz="3200" dirty="0">
                <a:solidFill>
                  <a:srgbClr val="EDEDE8"/>
                </a:solidFill>
                <a:latin typeface="Tomorrow Semi Bold" pitchFamily="34" charset="0"/>
                <a:ea typeface="Tomorrow Semi Bold" pitchFamily="34" charset="-122"/>
                <a:cs typeface="Tomorrow Semi Bold" pitchFamily="34" charset="-120"/>
              </a:rPr>
              <a:t>Cases of Resistance and Repression</a:t>
            </a:r>
            <a:endParaRPr lang="en-US" sz="3200" dirty="0"/>
          </a:p>
        </p:txBody>
      </p:sp>
      <p:sp>
        <p:nvSpPr>
          <p:cNvPr id="3" name="Text 1"/>
          <p:cNvSpPr/>
          <p:nvPr/>
        </p:nvSpPr>
        <p:spPr>
          <a:xfrm>
            <a:off x="2562106" y="2038707"/>
            <a:ext cx="2147530" cy="257294"/>
          </a:xfrm>
          <a:prstGeom prst="rect">
            <a:avLst/>
          </a:prstGeom>
          <a:noFill/>
          <a:ln/>
        </p:spPr>
        <p:txBody>
          <a:bodyPr wrap="none" lIns="0" tIns="0" rIns="0" bIns="0" rtlCol="0" anchor="t"/>
          <a:lstStyle/>
          <a:p>
            <a:pPr algn="r"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Armed Insurgencies</a:t>
            </a:r>
            <a:endParaRPr lang="en-US" sz="1600" dirty="0"/>
          </a:p>
        </p:txBody>
      </p:sp>
      <p:sp>
        <p:nvSpPr>
          <p:cNvPr id="4" name="Text 2"/>
          <p:cNvSpPr/>
          <p:nvPr/>
        </p:nvSpPr>
        <p:spPr>
          <a:xfrm>
            <a:off x="576263" y="2394704"/>
            <a:ext cx="4133374" cy="263366"/>
          </a:xfrm>
          <a:prstGeom prst="rect">
            <a:avLst/>
          </a:prstGeom>
          <a:noFill/>
          <a:ln/>
        </p:spPr>
        <p:txBody>
          <a:bodyPr wrap="none" lIns="0" tIns="0" rIns="0" bIns="0" rtlCol="0" anchor="t"/>
          <a:lstStyle/>
          <a:p>
            <a:pPr algn="r" indent="0" marL="0">
              <a:lnSpc>
                <a:spcPts val="2050"/>
              </a:lnSpc>
              <a:buNone/>
            </a:pPr>
            <a:r>
              <a:rPr lang="en-US" sz="1250" dirty="0">
                <a:solidFill>
                  <a:srgbClr val="C9C9C0"/>
                </a:solidFill>
                <a:latin typeface="Tomorrow" pitchFamily="34" charset="0"/>
                <a:ea typeface="Tomorrow" pitchFamily="34" charset="-122"/>
                <a:cs typeface="Tomorrow" pitchFamily="34" charset="-120"/>
              </a:rPr>
              <a:t>FARC and ELN in Colombia, Montoneros in Argentina</a:t>
            </a:r>
            <a:endParaRPr lang="en-US" sz="1250" dirty="0"/>
          </a:p>
        </p:txBody>
      </p:sp>
      <p:pic>
        <p:nvPicPr>
          <p:cNvPr id="5" name="Image 0" descr="preencoded.png">    </p:cNvPr>
          <p:cNvPicPr>
            <a:picLocks noChangeAspect="1"/>
          </p:cNvPicPr>
          <p:nvPr/>
        </p:nvPicPr>
        <p:blipFill>
          <a:blip r:embed="rId1"/>
          <a:stretch>
            <a:fillRect/>
          </a:stretch>
        </p:blipFill>
        <p:spPr>
          <a:xfrm>
            <a:off x="4956572" y="1296710"/>
            <a:ext cx="4717256" cy="4717256"/>
          </a:xfrm>
          <a:prstGeom prst="rect">
            <a:avLst/>
          </a:prstGeom>
        </p:spPr>
      </p:pic>
      <p:pic>
        <p:nvPicPr>
          <p:cNvPr id="6" name="Image 1" descr="preencoded.png">    </p:cNvPr>
          <p:cNvPicPr>
            <a:picLocks noChangeAspect="1"/>
          </p:cNvPicPr>
          <p:nvPr/>
        </p:nvPicPr>
        <p:blipFill>
          <a:blip r:embed="rId2"/>
          <a:stretch>
            <a:fillRect/>
          </a:stretch>
        </p:blipFill>
        <p:spPr>
          <a:xfrm>
            <a:off x="6242625" y="2181165"/>
            <a:ext cx="246340" cy="246340"/>
          </a:xfrm>
          <a:prstGeom prst="rect">
            <a:avLst/>
          </a:prstGeom>
        </p:spPr>
      </p:pic>
      <p:sp>
        <p:nvSpPr>
          <p:cNvPr id="7" name="Text 3"/>
          <p:cNvSpPr/>
          <p:nvPr/>
        </p:nvSpPr>
        <p:spPr>
          <a:xfrm>
            <a:off x="9920764" y="2038707"/>
            <a:ext cx="2058353" cy="257294"/>
          </a:xfrm>
          <a:prstGeom prst="rect">
            <a:avLst/>
          </a:prstGeom>
          <a:noFill/>
          <a:ln/>
        </p:spPr>
        <p:txBody>
          <a:bodyPr wrap="none" lIns="0" tIns="0" rIns="0" bIns="0" rtlCol="0" anchor="t"/>
          <a:lstStyle/>
          <a:p>
            <a:pPr algn="l"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Civil Resistance</a:t>
            </a:r>
            <a:endParaRPr lang="en-US" sz="1600" dirty="0"/>
          </a:p>
        </p:txBody>
      </p:sp>
      <p:sp>
        <p:nvSpPr>
          <p:cNvPr id="8" name="Text 4"/>
          <p:cNvSpPr/>
          <p:nvPr/>
        </p:nvSpPr>
        <p:spPr>
          <a:xfrm>
            <a:off x="9920764" y="2394704"/>
            <a:ext cx="4133374" cy="263366"/>
          </a:xfrm>
          <a:prstGeom prst="rect">
            <a:avLst/>
          </a:prstGeom>
          <a:noFill/>
          <a:ln/>
        </p:spPr>
        <p:txBody>
          <a:bodyPr wrap="none" lIns="0" tIns="0" rIns="0" bIns="0" rtlCol="0" anchor="t"/>
          <a:lstStyle/>
          <a:p>
            <a:pPr algn="l" indent="0" marL="0">
              <a:lnSpc>
                <a:spcPts val="2050"/>
              </a:lnSpc>
              <a:buNone/>
            </a:pPr>
            <a:r>
              <a:rPr lang="en-US" sz="1250" dirty="0">
                <a:solidFill>
                  <a:srgbClr val="C9C9C0"/>
                </a:solidFill>
                <a:latin typeface="Tomorrow" pitchFamily="34" charset="0"/>
                <a:ea typeface="Tomorrow" pitchFamily="34" charset="-122"/>
                <a:cs typeface="Tomorrow" pitchFamily="34" charset="-120"/>
              </a:rPr>
              <a:t>Las Madres de Plaza de Mayo, student movements</a:t>
            </a:r>
            <a:endParaRPr lang="en-US" sz="1250" dirty="0"/>
          </a:p>
        </p:txBody>
      </p:sp>
      <p:pic>
        <p:nvPicPr>
          <p:cNvPr id="9" name="Image 2" descr="preencoded.png">    </p:cNvPr>
          <p:cNvPicPr>
            <a:picLocks noChangeAspect="1"/>
          </p:cNvPicPr>
          <p:nvPr/>
        </p:nvPicPr>
        <p:blipFill>
          <a:blip r:embed="rId3"/>
          <a:stretch>
            <a:fillRect/>
          </a:stretch>
        </p:blipFill>
        <p:spPr>
          <a:xfrm>
            <a:off x="4956572" y="1296710"/>
            <a:ext cx="4717256" cy="4717256"/>
          </a:xfrm>
          <a:prstGeom prst="rect">
            <a:avLst/>
          </a:prstGeom>
        </p:spPr>
      </p:pic>
      <p:pic>
        <p:nvPicPr>
          <p:cNvPr id="10" name="Image 3" descr="preencoded.png">    </p:cNvPr>
          <p:cNvPicPr>
            <a:picLocks noChangeAspect="1"/>
          </p:cNvPicPr>
          <p:nvPr/>
        </p:nvPicPr>
        <p:blipFill>
          <a:blip r:embed="rId4"/>
          <a:stretch>
            <a:fillRect/>
          </a:stretch>
        </p:blipFill>
        <p:spPr>
          <a:xfrm>
            <a:off x="8542794" y="2551926"/>
            <a:ext cx="246340" cy="307896"/>
          </a:xfrm>
          <a:prstGeom prst="rect">
            <a:avLst/>
          </a:prstGeom>
        </p:spPr>
      </p:pic>
      <p:sp>
        <p:nvSpPr>
          <p:cNvPr id="11" name="Text 5"/>
          <p:cNvSpPr/>
          <p:nvPr/>
        </p:nvSpPr>
        <p:spPr>
          <a:xfrm>
            <a:off x="9920764" y="4520803"/>
            <a:ext cx="2058353" cy="257294"/>
          </a:xfrm>
          <a:prstGeom prst="rect">
            <a:avLst/>
          </a:prstGeom>
          <a:noFill/>
          <a:ln/>
        </p:spPr>
        <p:txBody>
          <a:bodyPr wrap="none" lIns="0" tIns="0" rIns="0" bIns="0" rtlCol="0" anchor="t"/>
          <a:lstStyle/>
          <a:p>
            <a:pPr algn="l"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State Repression</a:t>
            </a:r>
            <a:endParaRPr lang="en-US" sz="1600" dirty="0"/>
          </a:p>
        </p:txBody>
      </p:sp>
      <p:sp>
        <p:nvSpPr>
          <p:cNvPr id="12" name="Text 6"/>
          <p:cNvSpPr/>
          <p:nvPr/>
        </p:nvSpPr>
        <p:spPr>
          <a:xfrm>
            <a:off x="9920764" y="4876800"/>
            <a:ext cx="4133374" cy="263366"/>
          </a:xfrm>
          <a:prstGeom prst="rect">
            <a:avLst/>
          </a:prstGeom>
          <a:noFill/>
          <a:ln/>
        </p:spPr>
        <p:txBody>
          <a:bodyPr wrap="none" lIns="0" tIns="0" rIns="0" bIns="0" rtlCol="0" anchor="t"/>
          <a:lstStyle/>
          <a:p>
            <a:pPr algn="l" indent="0" marL="0">
              <a:lnSpc>
                <a:spcPts val="2050"/>
              </a:lnSpc>
              <a:buNone/>
            </a:pPr>
            <a:r>
              <a:rPr lang="en-US" sz="1250" dirty="0">
                <a:solidFill>
                  <a:srgbClr val="C9C9C0"/>
                </a:solidFill>
                <a:latin typeface="Tomorrow" pitchFamily="34" charset="0"/>
                <a:ea typeface="Tomorrow" pitchFamily="34" charset="-122"/>
                <a:cs typeface="Tomorrow" pitchFamily="34" charset="-120"/>
              </a:rPr>
              <a:t>Disappearances, torture, exile, censorship</a:t>
            </a:r>
            <a:endParaRPr lang="en-US" sz="1250" dirty="0"/>
          </a:p>
        </p:txBody>
      </p:sp>
      <p:pic>
        <p:nvPicPr>
          <p:cNvPr id="13" name="Image 4" descr="preencoded.png">    </p:cNvPr>
          <p:cNvPicPr>
            <a:picLocks noChangeAspect="1"/>
          </p:cNvPicPr>
          <p:nvPr/>
        </p:nvPicPr>
        <p:blipFill>
          <a:blip r:embed="rId5"/>
          <a:stretch>
            <a:fillRect/>
          </a:stretch>
        </p:blipFill>
        <p:spPr>
          <a:xfrm>
            <a:off x="4956572" y="1296710"/>
            <a:ext cx="4717256" cy="4717256"/>
          </a:xfrm>
          <a:prstGeom prst="rect">
            <a:avLst/>
          </a:prstGeom>
        </p:spPr>
      </p:pic>
      <p:pic>
        <p:nvPicPr>
          <p:cNvPr id="14" name="Image 5" descr="preencoded.png">    </p:cNvPr>
          <p:cNvPicPr>
            <a:picLocks noChangeAspect="1"/>
          </p:cNvPicPr>
          <p:nvPr/>
        </p:nvPicPr>
        <p:blipFill>
          <a:blip r:embed="rId6"/>
          <a:stretch>
            <a:fillRect/>
          </a:stretch>
        </p:blipFill>
        <p:spPr>
          <a:xfrm>
            <a:off x="8141315" y="4852095"/>
            <a:ext cx="246340" cy="307896"/>
          </a:xfrm>
          <a:prstGeom prst="rect">
            <a:avLst/>
          </a:prstGeom>
        </p:spPr>
      </p:pic>
      <p:sp>
        <p:nvSpPr>
          <p:cNvPr id="15" name="Text 7"/>
          <p:cNvSpPr/>
          <p:nvPr/>
        </p:nvSpPr>
        <p:spPr>
          <a:xfrm>
            <a:off x="2453402" y="4389120"/>
            <a:ext cx="2256234" cy="257294"/>
          </a:xfrm>
          <a:prstGeom prst="rect">
            <a:avLst/>
          </a:prstGeom>
          <a:noFill/>
          <a:ln/>
        </p:spPr>
        <p:txBody>
          <a:bodyPr wrap="none" lIns="0" tIns="0" rIns="0" bIns="0" rtlCol="0" anchor="t"/>
          <a:lstStyle/>
          <a:p>
            <a:pPr algn="r" indent="0" marL="0">
              <a:lnSpc>
                <a:spcPts val="2000"/>
              </a:lnSpc>
              <a:buNone/>
            </a:pPr>
            <a:r>
              <a:rPr lang="en-US" sz="1600" dirty="0">
                <a:solidFill>
                  <a:srgbClr val="C9C9C0"/>
                </a:solidFill>
                <a:latin typeface="Tomorrow Semi Bold" pitchFamily="34" charset="0"/>
                <a:ea typeface="Tomorrow Semi Bold" pitchFamily="34" charset="-122"/>
                <a:cs typeface="Tomorrow Semi Bold" pitchFamily="34" charset="-120"/>
              </a:rPr>
              <a:t>Accountability Efforts</a:t>
            </a:r>
            <a:endParaRPr lang="en-US" sz="1600" dirty="0"/>
          </a:p>
        </p:txBody>
      </p:sp>
      <p:sp>
        <p:nvSpPr>
          <p:cNvPr id="16" name="Text 8"/>
          <p:cNvSpPr/>
          <p:nvPr/>
        </p:nvSpPr>
        <p:spPr>
          <a:xfrm>
            <a:off x="576263" y="4745117"/>
            <a:ext cx="4133374" cy="526733"/>
          </a:xfrm>
          <a:prstGeom prst="rect">
            <a:avLst/>
          </a:prstGeom>
          <a:noFill/>
          <a:ln/>
        </p:spPr>
        <p:txBody>
          <a:bodyPr wrap="square" lIns="0" tIns="0" rIns="0" bIns="0" rtlCol="0" anchor="t"/>
          <a:lstStyle/>
          <a:p>
            <a:pPr algn="r" indent="0" marL="0">
              <a:lnSpc>
                <a:spcPts val="2050"/>
              </a:lnSpc>
              <a:buNone/>
            </a:pPr>
            <a:r>
              <a:rPr lang="en-US" sz="1250" dirty="0">
                <a:solidFill>
                  <a:srgbClr val="C9C9C0"/>
                </a:solidFill>
                <a:latin typeface="Tomorrow" pitchFamily="34" charset="0"/>
                <a:ea typeface="Tomorrow" pitchFamily="34" charset="-122"/>
                <a:cs typeface="Tomorrow" pitchFamily="34" charset="-120"/>
              </a:rPr>
              <a:t>Human rights documentation, international pressure</a:t>
            </a:r>
            <a:endParaRPr lang="en-US" sz="1250" dirty="0"/>
          </a:p>
        </p:txBody>
      </p:sp>
      <p:pic>
        <p:nvPicPr>
          <p:cNvPr id="17" name="Image 6" descr="preencoded.png">    </p:cNvPr>
          <p:cNvPicPr>
            <a:picLocks noChangeAspect="1"/>
          </p:cNvPicPr>
          <p:nvPr/>
        </p:nvPicPr>
        <p:blipFill>
          <a:blip r:embed="rId7"/>
          <a:stretch>
            <a:fillRect/>
          </a:stretch>
        </p:blipFill>
        <p:spPr>
          <a:xfrm>
            <a:off x="4956572" y="1296710"/>
            <a:ext cx="4717256" cy="4717256"/>
          </a:xfrm>
          <a:prstGeom prst="rect">
            <a:avLst/>
          </a:prstGeom>
        </p:spPr>
      </p:pic>
      <p:pic>
        <p:nvPicPr>
          <p:cNvPr id="18" name="Image 7" descr="preencoded.png">    </p:cNvPr>
          <p:cNvPicPr>
            <a:picLocks noChangeAspect="1"/>
          </p:cNvPicPr>
          <p:nvPr/>
        </p:nvPicPr>
        <p:blipFill>
          <a:blip r:embed="rId8"/>
          <a:stretch>
            <a:fillRect/>
          </a:stretch>
        </p:blipFill>
        <p:spPr>
          <a:xfrm>
            <a:off x="5841147" y="4450616"/>
            <a:ext cx="246340" cy="307896"/>
          </a:xfrm>
          <a:prstGeom prst="rect">
            <a:avLst/>
          </a:prstGeom>
        </p:spPr>
      </p:pic>
      <p:sp>
        <p:nvSpPr>
          <p:cNvPr id="19" name="Text 9"/>
          <p:cNvSpPr/>
          <p:nvPr/>
        </p:nvSpPr>
        <p:spPr>
          <a:xfrm>
            <a:off x="576263" y="6199108"/>
            <a:ext cx="13477875" cy="1053465"/>
          </a:xfrm>
          <a:prstGeom prst="rect">
            <a:avLst/>
          </a:prstGeom>
          <a:noFill/>
          <a:ln/>
        </p:spPr>
        <p:txBody>
          <a:bodyPr wrap="square" lIns="0" tIns="0" rIns="0" bIns="0" rtlCol="0" anchor="t"/>
          <a:lstStyle/>
          <a:p>
            <a:pPr algn="l" indent="0" marL="0">
              <a:lnSpc>
                <a:spcPts val="2050"/>
              </a:lnSpc>
              <a:buNone/>
            </a:pPr>
            <a:r>
              <a:rPr lang="en-US" sz="1250" dirty="0">
                <a:solidFill>
                  <a:srgbClr val="C9C9C0"/>
                </a:solidFill>
                <a:latin typeface="Tomorrow" pitchFamily="34" charset="0"/>
                <a:ea typeface="Tomorrow" pitchFamily="34" charset="-122"/>
                <a:cs typeface="Tomorrow" pitchFamily="34" charset="-120"/>
              </a:rPr>
              <a:t>The dialectic between resistance and repression manifested in diverse ways across Latin America. Colombia's FARC and ELN insurgencies, rooted in Cold War radicalism and rural grievances, evolved into protracted guerrilla campaigns partially financed through involvement in coca production. In the Southern Cone, urban guerrilla groups like Argentina's Montoneros and Uruguay's Tupamaros adopted tactics of kidnapping, bank robberies, and targeted assassinations before being brutally suppressed by military forces.</a:t>
            </a:r>
            <a:endParaRPr lang="en-US" sz="1250" dirty="0"/>
          </a:p>
        </p:txBody>
      </p:sp>
      <p:sp>
        <p:nvSpPr>
          <p:cNvPr id="20" name="Text 10"/>
          <p:cNvSpPr/>
          <p:nvPr/>
        </p:nvSpPr>
        <p:spPr>
          <a:xfrm>
            <a:off x="576263" y="7437715"/>
            <a:ext cx="13477875" cy="790099"/>
          </a:xfrm>
          <a:prstGeom prst="rect">
            <a:avLst/>
          </a:prstGeom>
          <a:noFill/>
          <a:ln/>
        </p:spPr>
        <p:txBody>
          <a:bodyPr wrap="square" lIns="0" tIns="0" rIns="0" bIns="0" rtlCol="0" anchor="t"/>
          <a:lstStyle/>
          <a:p>
            <a:pPr algn="l" indent="0" marL="0">
              <a:lnSpc>
                <a:spcPts val="2050"/>
              </a:lnSpc>
              <a:buNone/>
            </a:pPr>
            <a:r>
              <a:rPr lang="en-US" sz="1250" dirty="0">
                <a:solidFill>
                  <a:srgbClr val="C9C9C0"/>
                </a:solidFill>
                <a:latin typeface="Tomorrow" pitchFamily="34" charset="0"/>
                <a:ea typeface="Tomorrow" pitchFamily="34" charset="-122"/>
                <a:cs typeface="Tomorrow" pitchFamily="34" charset="-120"/>
              </a:rPr>
              <a:t>Perhaps the most powerful symbol of resistance emerged through Las Madres de la Plaza de Mayo—mothers who defied Argentina's military junta by publicly demanding information about their disappeared children. By mobilizing maternal identity as political resistance, they created a moral challenge to state terrorism that the regime struggled to suppress, demonstrating how new forms of civil resistance could emerge even under extreme repression.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2818" y="545068"/>
            <a:ext cx="9121973" cy="574000"/>
          </a:xfrm>
          <a:prstGeom prst="rect">
            <a:avLst/>
          </a:prstGeom>
          <a:noFill/>
          <a:ln/>
        </p:spPr>
        <p:txBody>
          <a:bodyPr wrap="none" lIns="0" tIns="0" rIns="0" bIns="0" rtlCol="0" anchor="t"/>
          <a:lstStyle/>
          <a:p>
            <a:pPr algn="l" indent="0" marL="0">
              <a:lnSpc>
                <a:spcPts val="4500"/>
              </a:lnSpc>
              <a:buNone/>
            </a:pPr>
            <a:r>
              <a:rPr lang="en-US" sz="3600" dirty="0">
                <a:solidFill>
                  <a:srgbClr val="EDEDE8"/>
                </a:solidFill>
                <a:latin typeface="Tomorrow Semi Bold" pitchFamily="34" charset="0"/>
                <a:ea typeface="Tomorrow Semi Bold" pitchFamily="34" charset="-122"/>
                <a:cs typeface="Tomorrow Semi Bold" pitchFamily="34" charset="-120"/>
              </a:rPr>
              <a:t>Exceptional Cases: Costa Rica and Peru</a:t>
            </a:r>
            <a:endParaRPr lang="en-US" sz="3600" dirty="0"/>
          </a:p>
        </p:txBody>
      </p:sp>
      <p:sp>
        <p:nvSpPr>
          <p:cNvPr id="3" name="Shape 1"/>
          <p:cNvSpPr/>
          <p:nvPr/>
        </p:nvSpPr>
        <p:spPr>
          <a:xfrm>
            <a:off x="642818" y="1486376"/>
            <a:ext cx="4325898" cy="5109924"/>
          </a:xfrm>
          <a:prstGeom prst="roundRect">
            <a:avLst>
              <a:gd name="adj" fmla="val 637"/>
            </a:avLst>
          </a:prstGeom>
          <a:solidFill>
            <a:srgbClr val="3C3C3A"/>
          </a:solidFill>
          <a:ln/>
        </p:spPr>
      </p:sp>
      <p:sp>
        <p:nvSpPr>
          <p:cNvPr id="4" name="Text 2"/>
          <p:cNvSpPr/>
          <p:nvPr/>
        </p:nvSpPr>
        <p:spPr>
          <a:xfrm>
            <a:off x="826413" y="1669971"/>
            <a:ext cx="3958709" cy="574119"/>
          </a:xfrm>
          <a:prstGeom prst="rect">
            <a:avLst/>
          </a:prstGeom>
          <a:noFill/>
          <a:ln/>
        </p:spPr>
        <p:txBody>
          <a:bodyPr wrap="square" lIns="0" tIns="0" rIns="0" bIns="0" rtlCol="0" anchor="t"/>
          <a:lstStyle/>
          <a:p>
            <a:pPr algn="l" indent="0" marL="0">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Costa Rica's Democratic Exception</a:t>
            </a:r>
            <a:endParaRPr lang="en-US" sz="1800" dirty="0"/>
          </a:p>
        </p:txBody>
      </p:sp>
      <p:sp>
        <p:nvSpPr>
          <p:cNvPr id="5" name="Text 3"/>
          <p:cNvSpPr/>
          <p:nvPr/>
        </p:nvSpPr>
        <p:spPr>
          <a:xfrm>
            <a:off x="826413" y="2354223"/>
            <a:ext cx="3958709" cy="2056924"/>
          </a:xfrm>
          <a:prstGeom prst="rect">
            <a:avLst/>
          </a:prstGeom>
          <a:noFill/>
          <a:ln/>
        </p:spPr>
        <p:txBody>
          <a:bodyPr wrap="square" lIns="0" tIns="0" rIns="0" bIns="0" rtlCol="0" anchor="t"/>
          <a:lstStyle/>
          <a:p>
            <a:pPr algn="l" indent="0" marL="0">
              <a:lnSpc>
                <a:spcPts val="2300"/>
              </a:lnSpc>
              <a:buNone/>
            </a:pPr>
            <a:r>
              <a:rPr lang="en-US" sz="1400" dirty="0">
                <a:solidFill>
                  <a:srgbClr val="C9C9C0"/>
                </a:solidFill>
                <a:latin typeface="Tomorrow" pitchFamily="34" charset="0"/>
                <a:ea typeface="Tomorrow" pitchFamily="34" charset="-122"/>
                <a:cs typeface="Tomorrow" pitchFamily="34" charset="-120"/>
              </a:rPr>
              <a:t>Following its 1948 civil war, Costa Rica abolished its military and established a stable democracy with strong social welfare institutions. This unique path allowed the country to navigate Cold War pressures while avoiding the authoritarian turn experienced by its neighbors.</a:t>
            </a:r>
            <a:endParaRPr lang="en-US" sz="1400" dirty="0"/>
          </a:p>
        </p:txBody>
      </p:sp>
      <p:sp>
        <p:nvSpPr>
          <p:cNvPr id="6" name="Text 4"/>
          <p:cNvSpPr/>
          <p:nvPr/>
        </p:nvSpPr>
        <p:spPr>
          <a:xfrm>
            <a:off x="826413" y="4521279"/>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Constitutional abolition of armed forces in 1949</a:t>
            </a:r>
            <a:endParaRPr lang="en-US" sz="1400" dirty="0"/>
          </a:p>
        </p:txBody>
      </p:sp>
      <p:sp>
        <p:nvSpPr>
          <p:cNvPr id="7" name="Text 5"/>
          <p:cNvSpPr/>
          <p:nvPr/>
        </p:nvSpPr>
        <p:spPr>
          <a:xfrm>
            <a:off x="826413" y="5173147"/>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Investment in education and healthcare instead of military</a:t>
            </a:r>
            <a:endParaRPr lang="en-US" sz="1400" dirty="0"/>
          </a:p>
        </p:txBody>
      </p:sp>
      <p:sp>
        <p:nvSpPr>
          <p:cNvPr id="8" name="Text 6"/>
          <p:cNvSpPr/>
          <p:nvPr/>
        </p:nvSpPr>
        <p:spPr>
          <a:xfrm>
            <a:off x="826413" y="5825014"/>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Maintenance of democratic institutions throughout Cold War</a:t>
            </a:r>
            <a:endParaRPr lang="en-US" sz="1400" dirty="0"/>
          </a:p>
        </p:txBody>
      </p:sp>
      <p:sp>
        <p:nvSpPr>
          <p:cNvPr id="9" name="Shape 7"/>
          <p:cNvSpPr/>
          <p:nvPr/>
        </p:nvSpPr>
        <p:spPr>
          <a:xfrm>
            <a:off x="5152311" y="1486376"/>
            <a:ext cx="4325898" cy="5109924"/>
          </a:xfrm>
          <a:prstGeom prst="roundRect">
            <a:avLst>
              <a:gd name="adj" fmla="val 637"/>
            </a:avLst>
          </a:prstGeom>
          <a:solidFill>
            <a:srgbClr val="3C3C3A"/>
          </a:solidFill>
          <a:ln/>
        </p:spPr>
      </p:sp>
      <p:sp>
        <p:nvSpPr>
          <p:cNvPr id="10" name="Text 8"/>
          <p:cNvSpPr/>
          <p:nvPr/>
        </p:nvSpPr>
        <p:spPr>
          <a:xfrm>
            <a:off x="5335905" y="1669971"/>
            <a:ext cx="3363397" cy="287060"/>
          </a:xfrm>
          <a:prstGeom prst="rect">
            <a:avLst/>
          </a:prstGeom>
          <a:noFill/>
          <a:ln/>
        </p:spPr>
        <p:txBody>
          <a:bodyPr wrap="none" lIns="0" tIns="0" rIns="0" bIns="0" rtlCol="0" anchor="t"/>
          <a:lstStyle/>
          <a:p>
            <a:pPr algn="l" indent="0" marL="0">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Peru's Revolutionary Military</a:t>
            </a:r>
            <a:endParaRPr lang="en-US" sz="1800" dirty="0"/>
          </a:p>
        </p:txBody>
      </p:sp>
      <p:sp>
        <p:nvSpPr>
          <p:cNvPr id="11" name="Text 9"/>
          <p:cNvSpPr/>
          <p:nvPr/>
        </p:nvSpPr>
        <p:spPr>
          <a:xfrm>
            <a:off x="5335905" y="2067163"/>
            <a:ext cx="3958709" cy="1763078"/>
          </a:xfrm>
          <a:prstGeom prst="rect">
            <a:avLst/>
          </a:prstGeom>
          <a:noFill/>
          <a:ln/>
        </p:spPr>
        <p:txBody>
          <a:bodyPr wrap="square" lIns="0" tIns="0" rIns="0" bIns="0" rtlCol="0" anchor="t"/>
          <a:lstStyle/>
          <a:p>
            <a:pPr algn="l" indent="0" marL="0">
              <a:lnSpc>
                <a:spcPts val="2300"/>
              </a:lnSpc>
              <a:buNone/>
            </a:pPr>
            <a:r>
              <a:rPr lang="en-US" sz="1400" dirty="0">
                <a:solidFill>
                  <a:srgbClr val="C9C9C0"/>
                </a:solidFill>
                <a:latin typeface="Tomorrow" pitchFamily="34" charset="0"/>
                <a:ea typeface="Tomorrow" pitchFamily="34" charset="-122"/>
                <a:cs typeface="Tomorrow" pitchFamily="34" charset="-120"/>
              </a:rPr>
              <a:t>Peru developed a contradictory model under General Juan Velasco Alvarado (1968-1975), whose military government pursued nationalist reforms including agrarian reform, nationalization of industries, and diplomatic relations with socialist countries.</a:t>
            </a:r>
            <a:endParaRPr lang="en-US" sz="1400" dirty="0"/>
          </a:p>
        </p:txBody>
      </p:sp>
      <p:sp>
        <p:nvSpPr>
          <p:cNvPr id="12" name="Text 10"/>
          <p:cNvSpPr/>
          <p:nvPr/>
        </p:nvSpPr>
        <p:spPr>
          <a:xfrm>
            <a:off x="5335905" y="3940373"/>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Expropriation of foreign companies like International Petroleum</a:t>
            </a:r>
            <a:endParaRPr lang="en-US" sz="1400" dirty="0"/>
          </a:p>
        </p:txBody>
      </p:sp>
      <p:sp>
        <p:nvSpPr>
          <p:cNvPr id="13" name="Text 11"/>
          <p:cNvSpPr/>
          <p:nvPr/>
        </p:nvSpPr>
        <p:spPr>
          <a:xfrm>
            <a:off x="5335905" y="4592241"/>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Radical land redistribution to peasant communities</a:t>
            </a:r>
            <a:endParaRPr lang="en-US" sz="1400" dirty="0"/>
          </a:p>
        </p:txBody>
      </p:sp>
      <p:sp>
        <p:nvSpPr>
          <p:cNvPr id="14" name="Text 12"/>
          <p:cNvSpPr/>
          <p:nvPr/>
        </p:nvSpPr>
        <p:spPr>
          <a:xfrm>
            <a:off x="5335905" y="5244108"/>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Non-aligned foreign policy challenging U.S. hegemony</a:t>
            </a:r>
            <a:endParaRPr lang="en-US" sz="1400" dirty="0"/>
          </a:p>
        </p:txBody>
      </p:sp>
      <p:sp>
        <p:nvSpPr>
          <p:cNvPr id="15" name="Shape 13"/>
          <p:cNvSpPr/>
          <p:nvPr/>
        </p:nvSpPr>
        <p:spPr>
          <a:xfrm>
            <a:off x="9661803" y="1486376"/>
            <a:ext cx="4325898" cy="5109924"/>
          </a:xfrm>
          <a:prstGeom prst="roundRect">
            <a:avLst>
              <a:gd name="adj" fmla="val 637"/>
            </a:avLst>
          </a:prstGeom>
          <a:solidFill>
            <a:srgbClr val="3C3C3A"/>
          </a:solidFill>
          <a:ln/>
        </p:spPr>
      </p:sp>
      <p:sp>
        <p:nvSpPr>
          <p:cNvPr id="16" name="Text 14"/>
          <p:cNvSpPr/>
          <p:nvPr/>
        </p:nvSpPr>
        <p:spPr>
          <a:xfrm>
            <a:off x="9845397" y="1669971"/>
            <a:ext cx="2525078" cy="287060"/>
          </a:xfrm>
          <a:prstGeom prst="rect">
            <a:avLst/>
          </a:prstGeom>
          <a:noFill/>
          <a:ln/>
        </p:spPr>
        <p:txBody>
          <a:bodyPr wrap="none" lIns="0" tIns="0" rIns="0" bIns="0" rtlCol="0" anchor="t"/>
          <a:lstStyle/>
          <a:p>
            <a:pPr algn="l" indent="0" marL="0">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Regional Significance</a:t>
            </a:r>
            <a:endParaRPr lang="en-US" sz="1800" dirty="0"/>
          </a:p>
        </p:txBody>
      </p:sp>
      <p:sp>
        <p:nvSpPr>
          <p:cNvPr id="17" name="Text 15"/>
          <p:cNvSpPr/>
          <p:nvPr/>
        </p:nvSpPr>
        <p:spPr>
          <a:xfrm>
            <a:off x="9845397" y="2067163"/>
            <a:ext cx="3958709" cy="1469231"/>
          </a:xfrm>
          <a:prstGeom prst="rect">
            <a:avLst/>
          </a:prstGeom>
          <a:noFill/>
          <a:ln/>
        </p:spPr>
        <p:txBody>
          <a:bodyPr wrap="square" lIns="0" tIns="0" rIns="0" bIns="0" rtlCol="0" anchor="t"/>
          <a:lstStyle/>
          <a:p>
            <a:pPr algn="l" indent="0" marL="0">
              <a:lnSpc>
                <a:spcPts val="2300"/>
              </a:lnSpc>
              <a:buNone/>
            </a:pPr>
            <a:r>
              <a:rPr lang="en-US" sz="1400" dirty="0">
                <a:solidFill>
                  <a:srgbClr val="C9C9C0"/>
                </a:solidFill>
                <a:latin typeface="Tomorrow" pitchFamily="34" charset="0"/>
                <a:ea typeface="Tomorrow" pitchFamily="34" charset="-122"/>
                <a:cs typeface="Tomorrow" pitchFamily="34" charset="-120"/>
              </a:rPr>
              <a:t>These exceptions illustrate the diversity of political paths in Cold War Latin America and demonstrate how local conditions could produce outcomes that defied simplistic East-West binary frameworks.</a:t>
            </a:r>
            <a:endParaRPr lang="en-US" sz="1400" dirty="0"/>
          </a:p>
        </p:txBody>
      </p:sp>
      <p:sp>
        <p:nvSpPr>
          <p:cNvPr id="18" name="Text 16"/>
          <p:cNvSpPr/>
          <p:nvPr/>
        </p:nvSpPr>
        <p:spPr>
          <a:xfrm>
            <a:off x="9845397" y="3646527"/>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Models of alternative development possibilities</a:t>
            </a:r>
            <a:endParaRPr lang="en-US" sz="1400" dirty="0"/>
          </a:p>
        </p:txBody>
      </p:sp>
      <p:sp>
        <p:nvSpPr>
          <p:cNvPr id="19" name="Text 17"/>
          <p:cNvSpPr/>
          <p:nvPr/>
        </p:nvSpPr>
        <p:spPr>
          <a:xfrm>
            <a:off x="9845397" y="4298394"/>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Challenge to deterministic Cold War narratives</a:t>
            </a:r>
            <a:endParaRPr lang="en-US" sz="1400" dirty="0"/>
          </a:p>
        </p:txBody>
      </p:sp>
      <p:sp>
        <p:nvSpPr>
          <p:cNvPr id="20" name="Text 18"/>
          <p:cNvSpPr/>
          <p:nvPr/>
        </p:nvSpPr>
        <p:spPr>
          <a:xfrm>
            <a:off x="9845397" y="4950262"/>
            <a:ext cx="3958709" cy="587693"/>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C9C9C0"/>
                </a:solidFill>
                <a:latin typeface="Tomorrow" pitchFamily="34" charset="0"/>
                <a:ea typeface="Tomorrow" pitchFamily="34" charset="-122"/>
                <a:cs typeface="Tomorrow" pitchFamily="34" charset="-120"/>
              </a:rPr>
              <a:t>Important comparative cases for understanding regime variation</a:t>
            </a:r>
            <a:endParaRPr lang="en-US" sz="1400" dirty="0"/>
          </a:p>
        </p:txBody>
      </p:sp>
      <p:sp>
        <p:nvSpPr>
          <p:cNvPr id="21" name="Text 19"/>
          <p:cNvSpPr/>
          <p:nvPr/>
        </p:nvSpPr>
        <p:spPr>
          <a:xfrm>
            <a:off x="642818" y="6802874"/>
            <a:ext cx="13344763" cy="881539"/>
          </a:xfrm>
          <a:prstGeom prst="rect">
            <a:avLst/>
          </a:prstGeom>
          <a:noFill/>
          <a:ln/>
        </p:spPr>
        <p:txBody>
          <a:bodyPr wrap="square" lIns="0" tIns="0" rIns="0" bIns="0" rtlCol="0" anchor="t"/>
          <a:lstStyle/>
          <a:p>
            <a:pPr algn="l" indent="0" marL="0">
              <a:lnSpc>
                <a:spcPts val="2300"/>
              </a:lnSpc>
              <a:buNone/>
            </a:pPr>
            <a:r>
              <a:rPr lang="en-US" sz="1400" dirty="0">
                <a:solidFill>
                  <a:srgbClr val="C9C9C0"/>
                </a:solidFill>
                <a:latin typeface="Tomorrow" pitchFamily="34" charset="0"/>
                <a:ea typeface="Tomorrow" pitchFamily="34" charset="-122"/>
                <a:cs typeface="Tomorrow" pitchFamily="34" charset="-120"/>
              </a:rPr>
              <a:t>Costa Rica and Peru represent fascinating counterpoints to the dominant Cold War narratives, demonstrating how specific historical circumstances could produce divergent outcomes even within the constraints of great power competition. Costa Rica's abolition of its military following the 1948 civil war allowed the country to invest in social services rather than security forces, creating a democratic exception in a region dominated by militarism.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6991" y="663773"/>
            <a:ext cx="13256419" cy="1226820"/>
          </a:xfrm>
          <a:prstGeom prst="rect">
            <a:avLst/>
          </a:prstGeom>
          <a:noFill/>
          <a:ln/>
        </p:spPr>
        <p:txBody>
          <a:bodyPr wrap="square" lIns="0" tIns="0" rIns="0" bIns="0" rtlCol="0" anchor="t"/>
          <a:lstStyle/>
          <a:p>
            <a:pPr algn="l" indent="0" marL="0">
              <a:lnSpc>
                <a:spcPts val="4800"/>
              </a:lnSpc>
              <a:buNone/>
            </a:pPr>
            <a:r>
              <a:rPr lang="en-US" sz="3850" dirty="0">
                <a:solidFill>
                  <a:srgbClr val="EDEDE8"/>
                </a:solidFill>
                <a:latin typeface="Tomorrow Semi Bold" pitchFamily="34" charset="0"/>
                <a:ea typeface="Tomorrow Semi Bold" pitchFamily="34" charset="-122"/>
                <a:cs typeface="Tomorrow Semi Bold" pitchFamily="34" charset="-120"/>
              </a:rPr>
              <a:t>The Collapse of Military Rule and Democratic Transitions</a:t>
            </a:r>
            <a:endParaRPr lang="en-US" sz="3850" dirty="0"/>
          </a:p>
        </p:txBody>
      </p:sp>
      <p:pic>
        <p:nvPicPr>
          <p:cNvPr id="3" name="Image 0" descr="preencoded.png">    </p:cNvPr>
          <p:cNvPicPr>
            <a:picLocks noChangeAspect="1"/>
          </p:cNvPicPr>
          <p:nvPr/>
        </p:nvPicPr>
        <p:blipFill>
          <a:blip r:embed="rId1"/>
          <a:stretch>
            <a:fillRect/>
          </a:stretch>
        </p:blipFill>
        <p:spPr>
          <a:xfrm>
            <a:off x="686991" y="2283143"/>
            <a:ext cx="3314105" cy="785217"/>
          </a:xfrm>
          <a:prstGeom prst="rect">
            <a:avLst/>
          </a:prstGeom>
        </p:spPr>
      </p:pic>
      <p:sp>
        <p:nvSpPr>
          <p:cNvPr id="4" name="Text 1"/>
          <p:cNvSpPr/>
          <p:nvPr/>
        </p:nvSpPr>
        <p:spPr>
          <a:xfrm>
            <a:off x="883206" y="3362801"/>
            <a:ext cx="2453878" cy="306705"/>
          </a:xfrm>
          <a:prstGeom prst="rect">
            <a:avLst/>
          </a:prstGeom>
          <a:noFill/>
          <a:ln/>
        </p:spPr>
        <p:txBody>
          <a:bodyPr wrap="none" lIns="0" tIns="0" rIns="0" bIns="0" rtlCol="0" anchor="t"/>
          <a:lstStyle/>
          <a:p>
            <a:pPr algn="l" indent="0" marL="0">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Regime Crisis</a:t>
            </a:r>
            <a:endParaRPr lang="en-US" sz="1900" dirty="0"/>
          </a:p>
        </p:txBody>
      </p:sp>
      <p:sp>
        <p:nvSpPr>
          <p:cNvPr id="5" name="Text 2"/>
          <p:cNvSpPr/>
          <p:nvPr/>
        </p:nvSpPr>
        <p:spPr>
          <a:xfrm>
            <a:off x="883206" y="3787259"/>
            <a:ext cx="2921675" cy="628174"/>
          </a:xfrm>
          <a:prstGeom prst="rect">
            <a:avLst/>
          </a:prstGeom>
          <a:noFill/>
          <a:ln/>
        </p:spPr>
        <p:txBody>
          <a:bodyPr wrap="square" lIns="0" tIns="0" rIns="0" bIns="0" rtlCol="0" anchor="t"/>
          <a:lstStyle/>
          <a:p>
            <a:pPr algn="l" indent="0" marL="0">
              <a:lnSpc>
                <a:spcPts val="2450"/>
              </a:lnSpc>
              <a:buNone/>
            </a:pPr>
            <a:r>
              <a:rPr lang="en-US" sz="1500" dirty="0">
                <a:solidFill>
                  <a:srgbClr val="C9C9C0"/>
                </a:solidFill>
                <a:latin typeface="Tomorrow" pitchFamily="34" charset="0"/>
                <a:ea typeface="Tomorrow" pitchFamily="34" charset="-122"/>
                <a:cs typeface="Tomorrow" pitchFamily="34" charset="-120"/>
              </a:rPr>
              <a:t>Economic failures, human rights pressure, legitimacy loss</a:t>
            </a:r>
            <a:endParaRPr lang="en-US" sz="1500" dirty="0"/>
          </a:p>
        </p:txBody>
      </p:sp>
      <p:pic>
        <p:nvPicPr>
          <p:cNvPr id="6" name="Image 1" descr="preencoded.png">    </p:cNvPr>
          <p:cNvPicPr>
            <a:picLocks noChangeAspect="1"/>
          </p:cNvPicPr>
          <p:nvPr/>
        </p:nvPicPr>
        <p:blipFill>
          <a:blip r:embed="rId2"/>
          <a:stretch>
            <a:fillRect/>
          </a:stretch>
        </p:blipFill>
        <p:spPr>
          <a:xfrm>
            <a:off x="4001095" y="2283143"/>
            <a:ext cx="3314105" cy="785217"/>
          </a:xfrm>
          <a:prstGeom prst="rect">
            <a:avLst/>
          </a:prstGeom>
        </p:spPr>
      </p:pic>
      <p:sp>
        <p:nvSpPr>
          <p:cNvPr id="7" name="Text 3"/>
          <p:cNvSpPr/>
          <p:nvPr/>
        </p:nvSpPr>
        <p:spPr>
          <a:xfrm>
            <a:off x="4197310" y="3362801"/>
            <a:ext cx="2794873" cy="306705"/>
          </a:xfrm>
          <a:prstGeom prst="rect">
            <a:avLst/>
          </a:prstGeom>
          <a:noFill/>
          <a:ln/>
        </p:spPr>
        <p:txBody>
          <a:bodyPr wrap="none" lIns="0" tIns="0" rIns="0" bIns="0" rtlCol="0" anchor="t"/>
          <a:lstStyle/>
          <a:p>
            <a:pPr algn="l" indent="0" marL="0">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Negotiated Transitions</a:t>
            </a:r>
            <a:endParaRPr lang="en-US" sz="1900" dirty="0"/>
          </a:p>
        </p:txBody>
      </p:sp>
      <p:sp>
        <p:nvSpPr>
          <p:cNvPr id="8" name="Text 4"/>
          <p:cNvSpPr/>
          <p:nvPr/>
        </p:nvSpPr>
        <p:spPr>
          <a:xfrm>
            <a:off x="4197310" y="3787259"/>
            <a:ext cx="2921675" cy="628174"/>
          </a:xfrm>
          <a:prstGeom prst="rect">
            <a:avLst/>
          </a:prstGeom>
          <a:noFill/>
          <a:ln/>
        </p:spPr>
        <p:txBody>
          <a:bodyPr wrap="square" lIns="0" tIns="0" rIns="0" bIns="0" rtlCol="0" anchor="t"/>
          <a:lstStyle/>
          <a:p>
            <a:pPr algn="l" indent="0" marL="0">
              <a:lnSpc>
                <a:spcPts val="2450"/>
              </a:lnSpc>
              <a:buNone/>
            </a:pPr>
            <a:r>
              <a:rPr lang="en-US" sz="1500" dirty="0">
                <a:solidFill>
                  <a:srgbClr val="C9C9C0"/>
                </a:solidFill>
                <a:latin typeface="Tomorrow" pitchFamily="34" charset="0"/>
                <a:ea typeface="Tomorrow" pitchFamily="34" charset="-122"/>
                <a:cs typeface="Tomorrow" pitchFamily="34" charset="-120"/>
              </a:rPr>
              <a:t>Pacts between military and civilian elites</a:t>
            </a:r>
            <a:endParaRPr lang="en-US" sz="1500" dirty="0"/>
          </a:p>
        </p:txBody>
      </p:sp>
      <p:pic>
        <p:nvPicPr>
          <p:cNvPr id="9" name="Image 2" descr="preencoded.png">    </p:cNvPr>
          <p:cNvPicPr>
            <a:picLocks noChangeAspect="1"/>
          </p:cNvPicPr>
          <p:nvPr/>
        </p:nvPicPr>
        <p:blipFill>
          <a:blip r:embed="rId3"/>
          <a:stretch>
            <a:fillRect/>
          </a:stretch>
        </p:blipFill>
        <p:spPr>
          <a:xfrm>
            <a:off x="7315200" y="2283143"/>
            <a:ext cx="3314105" cy="785217"/>
          </a:xfrm>
          <a:prstGeom prst="rect">
            <a:avLst/>
          </a:prstGeom>
        </p:spPr>
      </p:pic>
      <p:sp>
        <p:nvSpPr>
          <p:cNvPr id="10" name="Text 5"/>
          <p:cNvSpPr/>
          <p:nvPr/>
        </p:nvSpPr>
        <p:spPr>
          <a:xfrm>
            <a:off x="7511415" y="3362801"/>
            <a:ext cx="2648188" cy="306705"/>
          </a:xfrm>
          <a:prstGeom prst="rect">
            <a:avLst/>
          </a:prstGeom>
          <a:noFill/>
          <a:ln/>
        </p:spPr>
        <p:txBody>
          <a:bodyPr wrap="none" lIns="0" tIns="0" rIns="0" bIns="0" rtlCol="0" anchor="t"/>
          <a:lstStyle/>
          <a:p>
            <a:pPr algn="l" indent="0" marL="0">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Democratic Elections</a:t>
            </a:r>
            <a:endParaRPr lang="en-US" sz="1900" dirty="0"/>
          </a:p>
        </p:txBody>
      </p:sp>
      <p:sp>
        <p:nvSpPr>
          <p:cNvPr id="11" name="Text 6"/>
          <p:cNvSpPr/>
          <p:nvPr/>
        </p:nvSpPr>
        <p:spPr>
          <a:xfrm>
            <a:off x="7511415" y="3787259"/>
            <a:ext cx="2921675" cy="628174"/>
          </a:xfrm>
          <a:prstGeom prst="rect">
            <a:avLst/>
          </a:prstGeom>
          <a:noFill/>
          <a:ln/>
        </p:spPr>
        <p:txBody>
          <a:bodyPr wrap="square" lIns="0" tIns="0" rIns="0" bIns="0" rtlCol="0" anchor="t"/>
          <a:lstStyle/>
          <a:p>
            <a:pPr algn="l" indent="0" marL="0">
              <a:lnSpc>
                <a:spcPts val="2450"/>
              </a:lnSpc>
              <a:buNone/>
            </a:pPr>
            <a:r>
              <a:rPr lang="en-US" sz="1500" dirty="0">
                <a:solidFill>
                  <a:srgbClr val="C9C9C0"/>
                </a:solidFill>
                <a:latin typeface="Tomorrow" pitchFamily="34" charset="0"/>
                <a:ea typeface="Tomorrow" pitchFamily="34" charset="-122"/>
                <a:cs typeface="Tomorrow" pitchFamily="34" charset="-120"/>
              </a:rPr>
              <a:t>Return to civilian rule with constraints</a:t>
            </a:r>
            <a:endParaRPr lang="en-US" sz="1500" dirty="0"/>
          </a:p>
        </p:txBody>
      </p:sp>
      <p:pic>
        <p:nvPicPr>
          <p:cNvPr id="12" name="Image 3" descr="preencoded.png">    </p:cNvPr>
          <p:cNvPicPr>
            <a:picLocks noChangeAspect="1"/>
          </p:cNvPicPr>
          <p:nvPr/>
        </p:nvPicPr>
        <p:blipFill>
          <a:blip r:embed="rId4"/>
          <a:stretch>
            <a:fillRect/>
          </a:stretch>
        </p:blipFill>
        <p:spPr>
          <a:xfrm>
            <a:off x="10629305" y="2283143"/>
            <a:ext cx="3314105" cy="785217"/>
          </a:xfrm>
          <a:prstGeom prst="rect">
            <a:avLst/>
          </a:prstGeom>
        </p:spPr>
      </p:pic>
      <p:sp>
        <p:nvSpPr>
          <p:cNvPr id="13" name="Text 7"/>
          <p:cNvSpPr/>
          <p:nvPr/>
        </p:nvSpPr>
        <p:spPr>
          <a:xfrm>
            <a:off x="10825520" y="3362801"/>
            <a:ext cx="2453878" cy="306705"/>
          </a:xfrm>
          <a:prstGeom prst="rect">
            <a:avLst/>
          </a:prstGeom>
          <a:noFill/>
          <a:ln/>
        </p:spPr>
        <p:txBody>
          <a:bodyPr wrap="none" lIns="0" tIns="0" rIns="0" bIns="0" rtlCol="0" anchor="t"/>
          <a:lstStyle/>
          <a:p>
            <a:pPr algn="l" indent="0" marL="0">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Transitional Justice</a:t>
            </a:r>
            <a:endParaRPr lang="en-US" sz="1900" dirty="0"/>
          </a:p>
        </p:txBody>
      </p:sp>
      <p:sp>
        <p:nvSpPr>
          <p:cNvPr id="14" name="Text 8"/>
          <p:cNvSpPr/>
          <p:nvPr/>
        </p:nvSpPr>
        <p:spPr>
          <a:xfrm>
            <a:off x="10825520" y="3787259"/>
            <a:ext cx="2921675" cy="628174"/>
          </a:xfrm>
          <a:prstGeom prst="rect">
            <a:avLst/>
          </a:prstGeom>
          <a:noFill/>
          <a:ln/>
        </p:spPr>
        <p:txBody>
          <a:bodyPr wrap="square" lIns="0" tIns="0" rIns="0" bIns="0" rtlCol="0" anchor="t"/>
          <a:lstStyle/>
          <a:p>
            <a:pPr algn="l" indent="0" marL="0">
              <a:lnSpc>
                <a:spcPts val="2450"/>
              </a:lnSpc>
              <a:buNone/>
            </a:pPr>
            <a:r>
              <a:rPr lang="en-US" sz="1500" dirty="0">
                <a:solidFill>
                  <a:srgbClr val="C9C9C0"/>
                </a:solidFill>
                <a:latin typeface="Tomorrow" pitchFamily="34" charset="0"/>
                <a:ea typeface="Tomorrow" pitchFamily="34" charset="-122"/>
                <a:cs typeface="Tomorrow" pitchFamily="34" charset="-120"/>
              </a:rPr>
              <a:t>Truth commissions, trials, memorialization</a:t>
            </a:r>
            <a:endParaRPr lang="en-US" sz="1500" dirty="0"/>
          </a:p>
        </p:txBody>
      </p:sp>
      <p:sp>
        <p:nvSpPr>
          <p:cNvPr id="15" name="Text 9"/>
          <p:cNvSpPr/>
          <p:nvPr/>
        </p:nvSpPr>
        <p:spPr>
          <a:xfrm>
            <a:off x="686991" y="4832390"/>
            <a:ext cx="13256419" cy="1256348"/>
          </a:xfrm>
          <a:prstGeom prst="rect">
            <a:avLst/>
          </a:prstGeom>
          <a:noFill/>
          <a:ln/>
        </p:spPr>
        <p:txBody>
          <a:bodyPr wrap="square" lIns="0" tIns="0" rIns="0" bIns="0" rtlCol="0" anchor="t"/>
          <a:lstStyle/>
          <a:p>
            <a:pPr algn="l" indent="0" marL="0">
              <a:lnSpc>
                <a:spcPts val="2450"/>
              </a:lnSpc>
              <a:buNone/>
            </a:pPr>
            <a:r>
              <a:rPr lang="en-US" sz="1500" dirty="0">
                <a:solidFill>
                  <a:srgbClr val="C9C9C0"/>
                </a:solidFill>
                <a:latin typeface="Tomorrow" pitchFamily="34" charset="0"/>
                <a:ea typeface="Tomorrow" pitchFamily="34" charset="-122"/>
                <a:cs typeface="Tomorrow" pitchFamily="34" charset="-120"/>
              </a:rPr>
              <a:t>By the 1980s, military regimes across Latin America faced mounting crises that undermined their grip on power. Economic failures—particularly the debt crisis that followed Mexico's 1982 default—eroded technocratic legitimacy, while persistent human rights advocacy both domestically and internationally highlighted the moral bankruptcy of authoritarian rule. The collapse of the Soviet Union further weakened justifications for authoritarian "national security" states.</a:t>
            </a:r>
            <a:endParaRPr lang="en-US" sz="1500" dirty="0"/>
          </a:p>
        </p:txBody>
      </p:sp>
      <p:sp>
        <p:nvSpPr>
          <p:cNvPr id="16" name="Text 10"/>
          <p:cNvSpPr/>
          <p:nvPr/>
        </p:nvSpPr>
        <p:spPr>
          <a:xfrm>
            <a:off x="686991" y="6309479"/>
            <a:ext cx="13256419" cy="1256348"/>
          </a:xfrm>
          <a:prstGeom prst="rect">
            <a:avLst/>
          </a:prstGeom>
          <a:noFill/>
          <a:ln/>
        </p:spPr>
        <p:txBody>
          <a:bodyPr wrap="square" lIns="0" tIns="0" rIns="0" bIns="0" rtlCol="0" anchor="t"/>
          <a:lstStyle/>
          <a:p>
            <a:pPr algn="l" indent="0" marL="0">
              <a:lnSpc>
                <a:spcPts val="2450"/>
              </a:lnSpc>
              <a:buNone/>
            </a:pPr>
            <a:r>
              <a:rPr lang="en-US" sz="1500" dirty="0">
                <a:solidFill>
                  <a:srgbClr val="C9C9C0"/>
                </a:solidFill>
                <a:latin typeface="Tomorrow" pitchFamily="34" charset="0"/>
                <a:ea typeface="Tomorrow" pitchFamily="34" charset="-122"/>
                <a:cs typeface="Tomorrow" pitchFamily="34" charset="-120"/>
              </a:rPr>
              <a:t>Democratic transitions varied significantly in their timing and character. In Argentina, military defeat in the 1982 Falklands/Malvinas War precipitated rapid regime collapse, while Brazil saw a more gradual abertura (opening) process controlled by the military. These transitions often involved implicit or explicit pacts that protected military interests and limited accountability for human rights abuses—compromises that would shape the quality and depth of new democracies for decades to come.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17671" y="328136"/>
            <a:ext cx="5991939" cy="372904"/>
          </a:xfrm>
          <a:prstGeom prst="rect">
            <a:avLst/>
          </a:prstGeom>
          <a:noFill/>
          <a:ln/>
        </p:spPr>
        <p:txBody>
          <a:bodyPr wrap="none" lIns="0" tIns="0" rIns="0" bIns="0" rtlCol="0" anchor="t"/>
          <a:lstStyle/>
          <a:p>
            <a:pPr algn="l" indent="0" marL="0">
              <a:lnSpc>
                <a:spcPts val="2900"/>
              </a:lnSpc>
              <a:buNone/>
            </a:pPr>
            <a:r>
              <a:rPr lang="en-US" sz="2300" dirty="0">
                <a:solidFill>
                  <a:srgbClr val="EDEDE8"/>
                </a:solidFill>
                <a:latin typeface="Tomorrow Semi Bold" pitchFamily="34" charset="0"/>
                <a:ea typeface="Tomorrow Semi Bold" pitchFamily="34" charset="-122"/>
                <a:cs typeface="Tomorrow Semi Bold" pitchFamily="34" charset="-120"/>
              </a:rPr>
              <a:t>Legacy and Contemporary Implications</a:t>
            </a:r>
            <a:endParaRPr lang="en-US" sz="2300" dirty="0"/>
          </a:p>
        </p:txBody>
      </p:sp>
      <p:pic>
        <p:nvPicPr>
          <p:cNvPr id="3" name="Image 0" descr="preencoded.png">    </p:cNvPr>
          <p:cNvPicPr>
            <a:picLocks noChangeAspect="1"/>
          </p:cNvPicPr>
          <p:nvPr/>
        </p:nvPicPr>
        <p:blipFill>
          <a:blip r:embed="rId1"/>
          <a:stretch>
            <a:fillRect/>
          </a:stretch>
        </p:blipFill>
        <p:spPr>
          <a:xfrm>
            <a:off x="417671" y="939760"/>
            <a:ext cx="13795058" cy="7725132"/>
          </a:xfrm>
          <a:prstGeom prst="rect">
            <a:avLst/>
          </a:prstGeom>
        </p:spPr>
      </p:pic>
      <p:sp>
        <p:nvSpPr>
          <p:cNvPr id="4" name="Text 1"/>
          <p:cNvSpPr/>
          <p:nvPr/>
        </p:nvSpPr>
        <p:spPr>
          <a:xfrm>
            <a:off x="417671" y="8799076"/>
            <a:ext cx="13795058" cy="381952"/>
          </a:xfrm>
          <a:prstGeom prst="rect">
            <a:avLst/>
          </a:prstGeom>
          <a:noFill/>
          <a:ln/>
        </p:spPr>
        <p:txBody>
          <a:bodyPr wrap="square" lIns="0" tIns="0" rIns="0" bIns="0" rtlCol="0" anchor="t"/>
          <a:lstStyle/>
          <a:p>
            <a:pPr algn="l" indent="0" marL="0">
              <a:lnSpc>
                <a:spcPts val="1500"/>
              </a:lnSpc>
              <a:buNone/>
            </a:pPr>
            <a:r>
              <a:rPr lang="en-US" sz="900" dirty="0">
                <a:solidFill>
                  <a:srgbClr val="C9C9C0"/>
                </a:solidFill>
                <a:latin typeface="Tomorrow" pitchFamily="34" charset="0"/>
                <a:ea typeface="Tomorrow" pitchFamily="34" charset="-122"/>
                <a:cs typeface="Tomorrow" pitchFamily="34" charset="-120"/>
              </a:rPr>
              <a:t>The Cold War's legacy continues to shape Latin American politics and society in profound ways. The human toll—tens of thousands disappeared, tortured, and killed—created intergenerational trauma that continues to reverberate through affected communities. Memory struggles over how to interpret and commemorate this violent past remain contentious, with competing narratives from military apologists, human rights advocates, and various political actors.</a:t>
            </a:r>
            <a:endParaRPr lang="en-US" sz="900" dirty="0"/>
          </a:p>
        </p:txBody>
      </p:sp>
      <p:sp>
        <p:nvSpPr>
          <p:cNvPr id="5" name="Text 2"/>
          <p:cNvSpPr/>
          <p:nvPr/>
        </p:nvSpPr>
        <p:spPr>
          <a:xfrm>
            <a:off x="417671" y="9315212"/>
            <a:ext cx="13795058" cy="572929"/>
          </a:xfrm>
          <a:prstGeom prst="rect">
            <a:avLst/>
          </a:prstGeom>
          <a:noFill/>
          <a:ln/>
        </p:spPr>
        <p:txBody>
          <a:bodyPr wrap="square" lIns="0" tIns="0" rIns="0" bIns="0" rtlCol="0" anchor="t"/>
          <a:lstStyle/>
          <a:p>
            <a:pPr algn="l" indent="0" marL="0">
              <a:lnSpc>
                <a:spcPts val="1500"/>
              </a:lnSpc>
              <a:buNone/>
            </a:pPr>
            <a:r>
              <a:rPr lang="en-US" sz="900" dirty="0">
                <a:solidFill>
                  <a:srgbClr val="C9C9C0"/>
                </a:solidFill>
                <a:latin typeface="Tomorrow" pitchFamily="34" charset="0"/>
                <a:ea typeface="Tomorrow" pitchFamily="34" charset="-122"/>
                <a:cs typeface="Tomorrow" pitchFamily="34" charset="-120"/>
              </a:rPr>
              <a:t>Democratic institutions established during transitions often retain authoritarian enclaves—constitutional provisions, judicial biases, and security apparatus structures that constrain full democratic consolidation. Meanwhile, economic policies implemented during military rule, particularly neoliberal reforms, transformed social relations and state capacity in ways that continue to influence development trajectories. Understanding this complex Cold War heritage is essential for comprehending contemporary challenges to democracy, human rights, and social justice across Latin America.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2025-05-14T20:23:30Z</dcterms:created>
  <dcterms:modified xsi:type="dcterms:W3CDTF">2025-05-14T20:23:30Z</dcterms:modified>
</cp:coreProperties>
</file>