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9"/>
  </p:sldIdLst>
  <p:sldSz cx="14630400" cy="8229600"/>
  <p:notesSz cx="8229600" cy="14630400"/>
  <p:embeddedFontLst>
    <p:embeddedFont>
      <p:font typeface="Tomorrow" panose="020B0604020202020204" charset="0"/>
      <p:regular r:id="rId11"/>
    </p:embeddedFont>
    <p:embeddedFont>
      <p:font typeface="Tomorrow Semi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102" y="6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95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4E858C35-DBBE-44A5-BC39-ADD1D0E5310C}"/>
              </a:ext>
            </a:extLst>
          </p:cNvPr>
          <p:cNvSpPr/>
          <p:nvPr userDrawn="1"/>
        </p:nvSpPr>
        <p:spPr>
          <a:xfrm>
            <a:off x="0" y="-68580"/>
            <a:ext cx="14630400" cy="8229600"/>
          </a:xfrm>
          <a:prstGeom prst="rect">
            <a:avLst/>
          </a:prstGeom>
          <a:solidFill>
            <a:srgbClr val="1D1D1B"/>
          </a:solidFill>
          <a:ln/>
        </p:spPr>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60095" y="597218"/>
            <a:ext cx="7623810" cy="2714625"/>
          </a:xfrm>
          <a:prstGeom prst="rect">
            <a:avLst/>
          </a:prstGeom>
          <a:noFill/>
          <a:ln/>
        </p:spPr>
        <p:txBody>
          <a:bodyPr wrap="square" lIns="0" tIns="0" rIns="0" bIns="0" rtlCol="0" anchor="t"/>
          <a:lstStyle/>
          <a:p>
            <a:pPr marL="0" indent="0" algn="l">
              <a:lnSpc>
                <a:spcPts val="5300"/>
              </a:lnSpc>
              <a:buNone/>
            </a:pPr>
            <a:r>
              <a:rPr lang="en-US" sz="4250" dirty="0">
                <a:solidFill>
                  <a:srgbClr val="EDEDE8"/>
                </a:solidFill>
                <a:latin typeface="Tomorrow Semi Bold" pitchFamily="34" charset="0"/>
                <a:ea typeface="Tomorrow Semi Bold" pitchFamily="34" charset="-122"/>
                <a:cs typeface="Tomorrow Semi Bold" pitchFamily="34" charset="-120"/>
              </a:rPr>
              <a:t>Latin American Independence: From Colonial Stability to Revolutionary Change</a:t>
            </a:r>
            <a:endParaRPr lang="en-US" sz="4250" dirty="0"/>
          </a:p>
        </p:txBody>
      </p:sp>
      <p:sp>
        <p:nvSpPr>
          <p:cNvPr id="4" name="Text 1"/>
          <p:cNvSpPr/>
          <p:nvPr/>
        </p:nvSpPr>
        <p:spPr>
          <a:xfrm>
            <a:off x="760095" y="3637598"/>
            <a:ext cx="7623810" cy="1389698"/>
          </a:xfrm>
          <a:prstGeom prst="rect">
            <a:avLst/>
          </a:prstGeom>
          <a:noFill/>
          <a:ln/>
        </p:spPr>
        <p:txBody>
          <a:bodyPr wrap="square" lIns="0" tIns="0" rIns="0" bIns="0" rtlCol="0" anchor="t"/>
          <a:lstStyle/>
          <a:p>
            <a:pPr marL="0" indent="0" algn="l">
              <a:lnSpc>
                <a:spcPts val="2700"/>
              </a:lnSpc>
              <a:buNone/>
            </a:pPr>
            <a:r>
              <a:rPr lang="en-US" sz="1700" dirty="0">
                <a:solidFill>
                  <a:srgbClr val="C9C9C0"/>
                </a:solidFill>
                <a:latin typeface="Tomorrow" pitchFamily="34" charset="0"/>
                <a:ea typeface="Tomorrow" pitchFamily="34" charset="-122"/>
                <a:cs typeface="Tomorrow" pitchFamily="34" charset="-120"/>
              </a:rPr>
              <a:t>Before 1800, colonial Latin America experienced remarkable stability under Spanish and Portuguese rule for over 300 years. This stability was maintained through law, force, cultural hegemony, and a rigid social hierarchy that benefited Creoles (American-born whites).</a:t>
            </a:r>
            <a:endParaRPr lang="en-US" sz="1700" dirty="0"/>
          </a:p>
        </p:txBody>
      </p:sp>
      <p:sp>
        <p:nvSpPr>
          <p:cNvPr id="5" name="Text 2"/>
          <p:cNvSpPr/>
          <p:nvPr/>
        </p:nvSpPr>
        <p:spPr>
          <a:xfrm>
            <a:off x="760095" y="5271611"/>
            <a:ext cx="7623810" cy="1737122"/>
          </a:xfrm>
          <a:prstGeom prst="rect">
            <a:avLst/>
          </a:prstGeom>
          <a:noFill/>
          <a:ln/>
        </p:spPr>
        <p:txBody>
          <a:bodyPr wrap="square" lIns="0" tIns="0" rIns="0" bIns="0" rtlCol="0" anchor="t"/>
          <a:lstStyle/>
          <a:p>
            <a:pPr marL="0" indent="0" algn="l">
              <a:lnSpc>
                <a:spcPts val="2700"/>
              </a:lnSpc>
              <a:buNone/>
            </a:pPr>
            <a:r>
              <a:rPr lang="en-US" sz="1700" dirty="0">
                <a:solidFill>
                  <a:srgbClr val="C9C9C0"/>
                </a:solidFill>
                <a:latin typeface="Tomorrow" pitchFamily="34" charset="0"/>
                <a:ea typeface="Tomorrow" pitchFamily="34" charset="-122"/>
                <a:cs typeface="Tomorrow" pitchFamily="34" charset="-120"/>
              </a:rPr>
              <a:t>However, this centuries-old order was dramatically disrupted not by internal revolution but by external events—particularly Napoleon's invasion of the Iberian Peninsula. This crisis of legitimacy would ultimately trigger the independence movements that would transform the political landscape of Latin America forever.</a:t>
            </a:r>
            <a:endParaRPr lang="en-US" sz="1700" dirty="0"/>
          </a:p>
        </p:txBody>
      </p:sp>
      <p:pic>
        <p:nvPicPr>
          <p:cNvPr id="10" name="Imagen 9">
            <a:extLst>
              <a:ext uri="{FF2B5EF4-FFF2-40B4-BE49-F238E27FC236}">
                <a16:creationId xmlns:a16="http://schemas.microsoft.com/office/drawing/2014/main" id="{04BC3BDC-0FA3-187D-2C6F-00BAA89CFE59}"/>
              </a:ext>
            </a:extLst>
          </p:cNvPr>
          <p:cNvPicPr>
            <a:picLocks noChangeAspect="1"/>
          </p:cNvPicPr>
          <p:nvPr/>
        </p:nvPicPr>
        <p:blipFill>
          <a:blip r:embed="rId3"/>
          <a:stretch>
            <a:fillRect/>
          </a:stretch>
        </p:blipFill>
        <p:spPr>
          <a:xfrm>
            <a:off x="8383905" y="327660"/>
            <a:ext cx="6084570" cy="71730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20078" y="627698"/>
            <a:ext cx="5388412" cy="553641"/>
          </a:xfrm>
          <a:prstGeom prst="rect">
            <a:avLst/>
          </a:prstGeom>
          <a:noFill/>
          <a:ln/>
        </p:spPr>
        <p:txBody>
          <a:bodyPr wrap="none" lIns="0" tIns="0" rIns="0" bIns="0" rtlCol="0" anchor="t"/>
          <a:lstStyle/>
          <a:p>
            <a:pPr marL="0" indent="0" algn="l">
              <a:lnSpc>
                <a:spcPts val="4350"/>
              </a:lnSpc>
              <a:buNone/>
            </a:pPr>
            <a:r>
              <a:rPr lang="en-US" sz="3450" dirty="0">
                <a:solidFill>
                  <a:srgbClr val="EDEDE8"/>
                </a:solidFill>
                <a:latin typeface="Tomorrow Semi Bold" pitchFamily="34" charset="0"/>
                <a:ea typeface="Tomorrow Semi Bold" pitchFamily="34" charset="-122"/>
                <a:cs typeface="Tomorrow Semi Bold" pitchFamily="34" charset="-120"/>
              </a:rPr>
              <a:t>The Napoleonic Catalyst</a:t>
            </a:r>
            <a:endParaRPr lang="en-US" sz="3450" dirty="0"/>
          </a:p>
        </p:txBody>
      </p:sp>
      <p:sp>
        <p:nvSpPr>
          <p:cNvPr id="4" name="Shape 1"/>
          <p:cNvSpPr/>
          <p:nvPr/>
        </p:nvSpPr>
        <p:spPr>
          <a:xfrm>
            <a:off x="819388" y="1447086"/>
            <a:ext cx="22860" cy="4822031"/>
          </a:xfrm>
          <a:prstGeom prst="roundRect">
            <a:avLst>
              <a:gd name="adj" fmla="val 116256"/>
            </a:avLst>
          </a:prstGeom>
          <a:solidFill>
            <a:srgbClr val="555553"/>
          </a:solidFill>
          <a:ln/>
        </p:spPr>
        <p:txBody>
          <a:bodyPr/>
          <a:lstStyle/>
          <a:p>
            <a:endParaRPr lang="en-US"/>
          </a:p>
        </p:txBody>
      </p:sp>
      <p:sp>
        <p:nvSpPr>
          <p:cNvPr id="5" name="Shape 2"/>
          <p:cNvSpPr/>
          <p:nvPr/>
        </p:nvSpPr>
        <p:spPr>
          <a:xfrm>
            <a:off x="995839" y="1634966"/>
            <a:ext cx="531495" cy="22860"/>
          </a:xfrm>
          <a:prstGeom prst="roundRect">
            <a:avLst>
              <a:gd name="adj" fmla="val 116256"/>
            </a:avLst>
          </a:prstGeom>
          <a:solidFill>
            <a:srgbClr val="555553"/>
          </a:solidFill>
          <a:ln/>
        </p:spPr>
        <p:txBody>
          <a:bodyPr/>
          <a:lstStyle/>
          <a:p>
            <a:endParaRPr lang="en-US"/>
          </a:p>
        </p:txBody>
      </p:sp>
      <p:sp>
        <p:nvSpPr>
          <p:cNvPr id="6" name="Shape 3"/>
          <p:cNvSpPr/>
          <p:nvPr/>
        </p:nvSpPr>
        <p:spPr>
          <a:xfrm>
            <a:off x="620078" y="1447086"/>
            <a:ext cx="398621" cy="398621"/>
          </a:xfrm>
          <a:prstGeom prst="roundRect">
            <a:avLst>
              <a:gd name="adj" fmla="val 6667"/>
            </a:avLst>
          </a:prstGeom>
          <a:solidFill>
            <a:srgbClr val="3C3C3A"/>
          </a:solidFill>
          <a:ln/>
        </p:spPr>
        <p:txBody>
          <a:bodyPr/>
          <a:lstStyle/>
          <a:p>
            <a:endParaRPr lang="en-US"/>
          </a:p>
        </p:txBody>
      </p:sp>
      <p:sp>
        <p:nvSpPr>
          <p:cNvPr id="7" name="Text 4"/>
          <p:cNvSpPr/>
          <p:nvPr/>
        </p:nvSpPr>
        <p:spPr>
          <a:xfrm>
            <a:off x="686514" y="1480304"/>
            <a:ext cx="265748" cy="332184"/>
          </a:xfrm>
          <a:prstGeom prst="rect">
            <a:avLst/>
          </a:prstGeom>
          <a:noFill/>
          <a:ln/>
        </p:spPr>
        <p:txBody>
          <a:bodyPr wrap="none" lIns="0" tIns="0" rIns="0" bIns="0" rtlCol="0" anchor="t"/>
          <a:lstStyle/>
          <a:p>
            <a:pPr marL="0" indent="0" algn="ctr">
              <a:lnSpc>
                <a:spcPts val="2050"/>
              </a:lnSpc>
              <a:buNone/>
            </a:pPr>
            <a:r>
              <a:rPr lang="en-US" sz="2050" dirty="0">
                <a:solidFill>
                  <a:srgbClr val="C9C9C0"/>
                </a:solidFill>
                <a:latin typeface="Tomorrow Semi Bold" pitchFamily="34" charset="0"/>
                <a:ea typeface="Tomorrow Semi Bold" pitchFamily="34" charset="-122"/>
                <a:cs typeface="Tomorrow Semi Bold" pitchFamily="34" charset="-120"/>
              </a:rPr>
              <a:t>1</a:t>
            </a:r>
            <a:endParaRPr lang="en-US" sz="2050" dirty="0"/>
          </a:p>
        </p:txBody>
      </p:sp>
      <p:sp>
        <p:nvSpPr>
          <p:cNvPr id="8" name="Text 5"/>
          <p:cNvSpPr/>
          <p:nvPr/>
        </p:nvSpPr>
        <p:spPr>
          <a:xfrm>
            <a:off x="1705213" y="1507927"/>
            <a:ext cx="2214563" cy="276820"/>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1807</a:t>
            </a:r>
            <a:endParaRPr lang="en-US" sz="1700" dirty="0"/>
          </a:p>
        </p:txBody>
      </p:sp>
      <p:sp>
        <p:nvSpPr>
          <p:cNvPr id="9" name="Text 6"/>
          <p:cNvSpPr/>
          <p:nvPr/>
        </p:nvSpPr>
        <p:spPr>
          <a:xfrm>
            <a:off x="1705213" y="1890951"/>
            <a:ext cx="6818709" cy="566738"/>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Napoleon invades Portugal; Portuguese royal family flees to Brazil, making Rio de Janeiro the temporary capital of the Portuguese empire</a:t>
            </a:r>
            <a:endParaRPr lang="en-US" sz="1350" dirty="0"/>
          </a:p>
        </p:txBody>
      </p:sp>
      <p:sp>
        <p:nvSpPr>
          <p:cNvPr id="10" name="Shape 7"/>
          <p:cNvSpPr/>
          <p:nvPr/>
        </p:nvSpPr>
        <p:spPr>
          <a:xfrm>
            <a:off x="995839" y="2999899"/>
            <a:ext cx="531495" cy="22860"/>
          </a:xfrm>
          <a:prstGeom prst="roundRect">
            <a:avLst>
              <a:gd name="adj" fmla="val 116256"/>
            </a:avLst>
          </a:prstGeom>
          <a:solidFill>
            <a:srgbClr val="555553"/>
          </a:solidFill>
          <a:ln/>
        </p:spPr>
        <p:txBody>
          <a:bodyPr/>
          <a:lstStyle/>
          <a:p>
            <a:endParaRPr lang="en-US"/>
          </a:p>
        </p:txBody>
      </p:sp>
      <p:sp>
        <p:nvSpPr>
          <p:cNvPr id="11" name="Shape 8"/>
          <p:cNvSpPr/>
          <p:nvPr/>
        </p:nvSpPr>
        <p:spPr>
          <a:xfrm>
            <a:off x="620078" y="2812018"/>
            <a:ext cx="398621" cy="398621"/>
          </a:xfrm>
          <a:prstGeom prst="roundRect">
            <a:avLst>
              <a:gd name="adj" fmla="val 6667"/>
            </a:avLst>
          </a:prstGeom>
          <a:solidFill>
            <a:srgbClr val="3C3C3A"/>
          </a:solidFill>
          <a:ln/>
        </p:spPr>
        <p:txBody>
          <a:bodyPr/>
          <a:lstStyle/>
          <a:p>
            <a:endParaRPr lang="en-US"/>
          </a:p>
        </p:txBody>
      </p:sp>
      <p:sp>
        <p:nvSpPr>
          <p:cNvPr id="12" name="Text 9"/>
          <p:cNvSpPr/>
          <p:nvPr/>
        </p:nvSpPr>
        <p:spPr>
          <a:xfrm>
            <a:off x="686514" y="2845237"/>
            <a:ext cx="265748" cy="332184"/>
          </a:xfrm>
          <a:prstGeom prst="rect">
            <a:avLst/>
          </a:prstGeom>
          <a:noFill/>
          <a:ln/>
        </p:spPr>
        <p:txBody>
          <a:bodyPr wrap="none" lIns="0" tIns="0" rIns="0" bIns="0" rtlCol="0" anchor="t"/>
          <a:lstStyle/>
          <a:p>
            <a:pPr marL="0" indent="0" algn="ctr">
              <a:lnSpc>
                <a:spcPts val="2050"/>
              </a:lnSpc>
              <a:buNone/>
            </a:pPr>
            <a:r>
              <a:rPr lang="en-US" sz="2050" dirty="0">
                <a:solidFill>
                  <a:srgbClr val="C9C9C0"/>
                </a:solidFill>
                <a:latin typeface="Tomorrow Semi Bold" pitchFamily="34" charset="0"/>
                <a:ea typeface="Tomorrow Semi Bold" pitchFamily="34" charset="-122"/>
                <a:cs typeface="Tomorrow Semi Bold" pitchFamily="34" charset="-120"/>
              </a:rPr>
              <a:t>2</a:t>
            </a:r>
            <a:endParaRPr lang="en-US" sz="2050" dirty="0"/>
          </a:p>
        </p:txBody>
      </p:sp>
      <p:sp>
        <p:nvSpPr>
          <p:cNvPr id="13" name="Text 10"/>
          <p:cNvSpPr/>
          <p:nvPr/>
        </p:nvSpPr>
        <p:spPr>
          <a:xfrm>
            <a:off x="1705213" y="2872859"/>
            <a:ext cx="2214563" cy="276820"/>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1808</a:t>
            </a:r>
            <a:endParaRPr lang="en-US" sz="1700" dirty="0"/>
          </a:p>
        </p:txBody>
      </p:sp>
      <p:sp>
        <p:nvSpPr>
          <p:cNvPr id="14" name="Text 11"/>
          <p:cNvSpPr/>
          <p:nvPr/>
        </p:nvSpPr>
        <p:spPr>
          <a:xfrm>
            <a:off x="1705213" y="3255883"/>
            <a:ext cx="6818709" cy="566738"/>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Napoleon invades Spain, removes King Ferdinand VII, and installs his brother Joseph Bonaparte as king</a:t>
            </a:r>
            <a:endParaRPr lang="en-US" sz="1350" dirty="0"/>
          </a:p>
        </p:txBody>
      </p:sp>
      <p:sp>
        <p:nvSpPr>
          <p:cNvPr id="15" name="Shape 12"/>
          <p:cNvSpPr/>
          <p:nvPr/>
        </p:nvSpPr>
        <p:spPr>
          <a:xfrm>
            <a:off x="995839" y="4364831"/>
            <a:ext cx="531495" cy="22860"/>
          </a:xfrm>
          <a:prstGeom prst="roundRect">
            <a:avLst>
              <a:gd name="adj" fmla="val 116256"/>
            </a:avLst>
          </a:prstGeom>
          <a:solidFill>
            <a:srgbClr val="555553"/>
          </a:solidFill>
          <a:ln/>
        </p:spPr>
        <p:txBody>
          <a:bodyPr/>
          <a:lstStyle/>
          <a:p>
            <a:endParaRPr lang="en-US"/>
          </a:p>
        </p:txBody>
      </p:sp>
      <p:sp>
        <p:nvSpPr>
          <p:cNvPr id="16" name="Shape 13"/>
          <p:cNvSpPr/>
          <p:nvPr/>
        </p:nvSpPr>
        <p:spPr>
          <a:xfrm>
            <a:off x="620078" y="4176951"/>
            <a:ext cx="398621" cy="398621"/>
          </a:xfrm>
          <a:prstGeom prst="roundRect">
            <a:avLst>
              <a:gd name="adj" fmla="val 6667"/>
            </a:avLst>
          </a:prstGeom>
          <a:solidFill>
            <a:srgbClr val="3C3C3A"/>
          </a:solidFill>
          <a:ln/>
        </p:spPr>
        <p:txBody>
          <a:bodyPr/>
          <a:lstStyle/>
          <a:p>
            <a:endParaRPr lang="en-US"/>
          </a:p>
        </p:txBody>
      </p:sp>
      <p:sp>
        <p:nvSpPr>
          <p:cNvPr id="17" name="Text 14"/>
          <p:cNvSpPr/>
          <p:nvPr/>
        </p:nvSpPr>
        <p:spPr>
          <a:xfrm>
            <a:off x="686514" y="4210169"/>
            <a:ext cx="265748" cy="332184"/>
          </a:xfrm>
          <a:prstGeom prst="rect">
            <a:avLst/>
          </a:prstGeom>
          <a:noFill/>
          <a:ln/>
        </p:spPr>
        <p:txBody>
          <a:bodyPr wrap="none" lIns="0" tIns="0" rIns="0" bIns="0" rtlCol="0" anchor="t"/>
          <a:lstStyle/>
          <a:p>
            <a:pPr marL="0" indent="0" algn="ctr">
              <a:lnSpc>
                <a:spcPts val="2050"/>
              </a:lnSpc>
              <a:buNone/>
            </a:pPr>
            <a:r>
              <a:rPr lang="en-US" sz="2050" dirty="0">
                <a:solidFill>
                  <a:srgbClr val="C9C9C0"/>
                </a:solidFill>
                <a:latin typeface="Tomorrow Semi Bold" pitchFamily="34" charset="0"/>
                <a:ea typeface="Tomorrow Semi Bold" pitchFamily="34" charset="-122"/>
                <a:cs typeface="Tomorrow Semi Bold" pitchFamily="34" charset="-120"/>
              </a:rPr>
              <a:t>3</a:t>
            </a:r>
            <a:endParaRPr lang="en-US" sz="2050" dirty="0"/>
          </a:p>
        </p:txBody>
      </p:sp>
      <p:sp>
        <p:nvSpPr>
          <p:cNvPr id="18" name="Text 15"/>
          <p:cNvSpPr/>
          <p:nvPr/>
        </p:nvSpPr>
        <p:spPr>
          <a:xfrm>
            <a:off x="1705213" y="4237792"/>
            <a:ext cx="2214563" cy="276820"/>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1810-1815</a:t>
            </a:r>
            <a:endParaRPr lang="en-US" sz="1700" dirty="0"/>
          </a:p>
        </p:txBody>
      </p:sp>
      <p:sp>
        <p:nvSpPr>
          <p:cNvPr id="19" name="Text 16"/>
          <p:cNvSpPr/>
          <p:nvPr/>
        </p:nvSpPr>
        <p:spPr>
          <a:xfrm>
            <a:off x="1705213" y="4620816"/>
            <a:ext cx="6818709" cy="566738"/>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Initial independence movements emerge across Spanish America in response to the legitimacy crisis</a:t>
            </a:r>
            <a:endParaRPr lang="en-US" sz="1350" dirty="0"/>
          </a:p>
        </p:txBody>
      </p:sp>
      <p:sp>
        <p:nvSpPr>
          <p:cNvPr id="20" name="Shape 17"/>
          <p:cNvSpPr/>
          <p:nvPr/>
        </p:nvSpPr>
        <p:spPr>
          <a:xfrm>
            <a:off x="995839" y="5729764"/>
            <a:ext cx="531495" cy="22860"/>
          </a:xfrm>
          <a:prstGeom prst="roundRect">
            <a:avLst>
              <a:gd name="adj" fmla="val 116256"/>
            </a:avLst>
          </a:prstGeom>
          <a:solidFill>
            <a:srgbClr val="555553"/>
          </a:solidFill>
          <a:ln/>
        </p:spPr>
        <p:txBody>
          <a:bodyPr/>
          <a:lstStyle/>
          <a:p>
            <a:endParaRPr lang="en-US"/>
          </a:p>
        </p:txBody>
      </p:sp>
      <p:sp>
        <p:nvSpPr>
          <p:cNvPr id="21" name="Shape 18"/>
          <p:cNvSpPr/>
          <p:nvPr/>
        </p:nvSpPr>
        <p:spPr>
          <a:xfrm>
            <a:off x="620078" y="5541883"/>
            <a:ext cx="398621" cy="398621"/>
          </a:xfrm>
          <a:prstGeom prst="roundRect">
            <a:avLst>
              <a:gd name="adj" fmla="val 6667"/>
            </a:avLst>
          </a:prstGeom>
          <a:solidFill>
            <a:srgbClr val="3C3C3A"/>
          </a:solidFill>
          <a:ln/>
        </p:spPr>
        <p:txBody>
          <a:bodyPr/>
          <a:lstStyle/>
          <a:p>
            <a:endParaRPr lang="en-US"/>
          </a:p>
        </p:txBody>
      </p:sp>
      <p:sp>
        <p:nvSpPr>
          <p:cNvPr id="22" name="Text 19"/>
          <p:cNvSpPr/>
          <p:nvPr/>
        </p:nvSpPr>
        <p:spPr>
          <a:xfrm>
            <a:off x="686514" y="5575102"/>
            <a:ext cx="265748" cy="332184"/>
          </a:xfrm>
          <a:prstGeom prst="rect">
            <a:avLst/>
          </a:prstGeom>
          <a:noFill/>
          <a:ln/>
        </p:spPr>
        <p:txBody>
          <a:bodyPr wrap="none" lIns="0" tIns="0" rIns="0" bIns="0" rtlCol="0" anchor="t"/>
          <a:lstStyle/>
          <a:p>
            <a:pPr marL="0" indent="0" algn="ctr">
              <a:lnSpc>
                <a:spcPts val="2050"/>
              </a:lnSpc>
              <a:buNone/>
            </a:pPr>
            <a:r>
              <a:rPr lang="en-US" sz="2050" dirty="0">
                <a:solidFill>
                  <a:srgbClr val="C9C9C0"/>
                </a:solidFill>
                <a:latin typeface="Tomorrow Semi Bold" pitchFamily="34" charset="0"/>
                <a:ea typeface="Tomorrow Semi Bold" pitchFamily="34" charset="-122"/>
                <a:cs typeface="Tomorrow Semi Bold" pitchFamily="34" charset="-120"/>
              </a:rPr>
              <a:t>4</a:t>
            </a:r>
            <a:endParaRPr lang="en-US" sz="2050" dirty="0"/>
          </a:p>
        </p:txBody>
      </p:sp>
      <p:sp>
        <p:nvSpPr>
          <p:cNvPr id="23" name="Text 20"/>
          <p:cNvSpPr/>
          <p:nvPr/>
        </p:nvSpPr>
        <p:spPr>
          <a:xfrm>
            <a:off x="1705213" y="5602724"/>
            <a:ext cx="2214563" cy="276820"/>
          </a:xfrm>
          <a:prstGeom prst="rect">
            <a:avLst/>
          </a:prstGeom>
          <a:noFill/>
          <a:ln/>
        </p:spPr>
        <p:txBody>
          <a:bodyPr wrap="none" lIns="0" tIns="0" rIns="0" bIns="0" rtlCol="0" anchor="t"/>
          <a:lstStyle/>
          <a:p>
            <a:pPr marL="0" indent="0" algn="l">
              <a:lnSpc>
                <a:spcPts val="2150"/>
              </a:lnSpc>
              <a:buNone/>
            </a:pPr>
            <a:r>
              <a:rPr lang="en-US" sz="1700" dirty="0">
                <a:solidFill>
                  <a:srgbClr val="C9C9C0"/>
                </a:solidFill>
                <a:latin typeface="Tomorrow Semi Bold" pitchFamily="34" charset="0"/>
                <a:ea typeface="Tomorrow Semi Bold" pitchFamily="34" charset="-122"/>
                <a:cs typeface="Tomorrow Semi Bold" pitchFamily="34" charset="-120"/>
              </a:rPr>
              <a:t>1824</a:t>
            </a:r>
            <a:endParaRPr lang="en-US" sz="1700" dirty="0"/>
          </a:p>
        </p:txBody>
      </p:sp>
      <p:sp>
        <p:nvSpPr>
          <p:cNvPr id="24" name="Text 21"/>
          <p:cNvSpPr/>
          <p:nvPr/>
        </p:nvSpPr>
        <p:spPr>
          <a:xfrm>
            <a:off x="1705213" y="5985748"/>
            <a:ext cx="6818709" cy="283369"/>
          </a:xfrm>
          <a:prstGeom prst="rect">
            <a:avLst/>
          </a:prstGeom>
          <a:noFill/>
          <a:ln/>
        </p:spPr>
        <p:txBody>
          <a:bodyPr wrap="non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Battle of Ayacucho marks the decisive end of Spanish power in South America</a:t>
            </a:r>
            <a:endParaRPr lang="en-US" sz="1350" dirty="0"/>
          </a:p>
        </p:txBody>
      </p:sp>
      <p:sp>
        <p:nvSpPr>
          <p:cNvPr id="25" name="Text 22"/>
          <p:cNvSpPr/>
          <p:nvPr/>
        </p:nvSpPr>
        <p:spPr>
          <a:xfrm>
            <a:off x="620078" y="6468428"/>
            <a:ext cx="7903845" cy="1133475"/>
          </a:xfrm>
          <a:prstGeom prst="rect">
            <a:avLst/>
          </a:prstGeom>
          <a:noFill/>
          <a:ln/>
        </p:spPr>
        <p:txBody>
          <a:bodyPr wrap="square" lIns="0" tIns="0" rIns="0" bIns="0" rtlCol="0" anchor="t"/>
          <a:lstStyle/>
          <a:p>
            <a:pPr marL="0" indent="0" algn="l">
              <a:lnSpc>
                <a:spcPts val="2200"/>
              </a:lnSpc>
              <a:buNone/>
            </a:pPr>
            <a:r>
              <a:rPr lang="en-US" sz="1350" dirty="0">
                <a:solidFill>
                  <a:srgbClr val="C9C9C0"/>
                </a:solidFill>
                <a:latin typeface="Tomorrow" pitchFamily="34" charset="0"/>
                <a:ea typeface="Tomorrow" pitchFamily="34" charset="-122"/>
                <a:cs typeface="Tomorrow" pitchFamily="34" charset="-120"/>
              </a:rPr>
              <a:t>Napoleon's invasions of Portugal and Spain created an unprecedented political vacuum in Latin America. With the legitimate monarchs displaced, colonial authorities faced a crisis of legitimacy that opened the door for Creole elites to question who held authority in the absence of the crown.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300877"/>
            <a:ext cx="11262479"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Creole Response and Cabildos Abiertos</a:t>
            </a:r>
            <a:endParaRPr lang="en-US" sz="4450" dirty="0"/>
          </a:p>
        </p:txBody>
      </p:sp>
      <p:sp>
        <p:nvSpPr>
          <p:cNvPr id="3" name="Shape 1"/>
          <p:cNvSpPr/>
          <p:nvPr/>
        </p:nvSpPr>
        <p:spPr>
          <a:xfrm>
            <a:off x="793790" y="2463284"/>
            <a:ext cx="4196358" cy="2758559"/>
          </a:xfrm>
          <a:prstGeom prst="roundRect">
            <a:avLst>
              <a:gd name="adj" fmla="val 1233"/>
            </a:avLst>
          </a:prstGeom>
          <a:solidFill>
            <a:srgbClr val="3C3C3A"/>
          </a:solidFill>
          <a:ln/>
        </p:spPr>
        <p:txBody>
          <a:bodyPr/>
          <a:lstStyle/>
          <a:p>
            <a:endParaRPr lang="en-US"/>
          </a:p>
        </p:txBody>
      </p:sp>
      <p:sp>
        <p:nvSpPr>
          <p:cNvPr id="4" name="Text 2"/>
          <p:cNvSpPr/>
          <p:nvPr/>
        </p:nvSpPr>
        <p:spPr>
          <a:xfrm>
            <a:off x="1020604" y="2690098"/>
            <a:ext cx="2928699"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Political Opportunity</a:t>
            </a:r>
            <a:endParaRPr lang="en-US" sz="2200" dirty="0"/>
          </a:p>
        </p:txBody>
      </p:sp>
      <p:sp>
        <p:nvSpPr>
          <p:cNvPr id="5" name="Text 3"/>
          <p:cNvSpPr/>
          <p:nvPr/>
        </p:nvSpPr>
        <p:spPr>
          <a:xfrm>
            <a:off x="1020604" y="3180517"/>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Creole elites used cabildos abiertos (open town councils) to claim power while maintaining nominal loyalty to the deposed King Ferdinand VII</a:t>
            </a:r>
            <a:endParaRPr lang="en-US" sz="1750" dirty="0"/>
          </a:p>
        </p:txBody>
      </p:sp>
      <p:sp>
        <p:nvSpPr>
          <p:cNvPr id="6" name="Shape 4"/>
          <p:cNvSpPr/>
          <p:nvPr/>
        </p:nvSpPr>
        <p:spPr>
          <a:xfrm>
            <a:off x="5216962" y="2463284"/>
            <a:ext cx="4196358" cy="2758559"/>
          </a:xfrm>
          <a:prstGeom prst="roundRect">
            <a:avLst>
              <a:gd name="adj" fmla="val 1233"/>
            </a:avLst>
          </a:prstGeom>
          <a:solidFill>
            <a:srgbClr val="3C3C3A"/>
          </a:solidFill>
          <a:ln/>
        </p:spPr>
        <p:txBody>
          <a:bodyPr/>
          <a:lstStyle/>
          <a:p>
            <a:endParaRPr lang="en-US"/>
          </a:p>
        </p:txBody>
      </p:sp>
      <p:sp>
        <p:nvSpPr>
          <p:cNvPr id="7" name="Text 5"/>
          <p:cNvSpPr/>
          <p:nvPr/>
        </p:nvSpPr>
        <p:spPr>
          <a:xfrm>
            <a:off x="5443776" y="269009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Limited Goals</a:t>
            </a:r>
            <a:endParaRPr lang="en-US" sz="2200" dirty="0"/>
          </a:p>
        </p:txBody>
      </p:sp>
      <p:sp>
        <p:nvSpPr>
          <p:cNvPr id="8" name="Text 6"/>
          <p:cNvSpPr/>
          <p:nvPr/>
        </p:nvSpPr>
        <p:spPr>
          <a:xfrm>
            <a:off x="5443776" y="3180517"/>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Most Creoles sought political independence from Spain but were reluctant to dismantle the colonial social order or caste system</a:t>
            </a:r>
            <a:endParaRPr lang="en-US" sz="1750" dirty="0"/>
          </a:p>
        </p:txBody>
      </p:sp>
      <p:sp>
        <p:nvSpPr>
          <p:cNvPr id="9" name="Shape 7"/>
          <p:cNvSpPr/>
          <p:nvPr/>
        </p:nvSpPr>
        <p:spPr>
          <a:xfrm>
            <a:off x="9640133" y="2463284"/>
            <a:ext cx="4196358" cy="2758559"/>
          </a:xfrm>
          <a:prstGeom prst="roundRect">
            <a:avLst>
              <a:gd name="adj" fmla="val 1233"/>
            </a:avLst>
          </a:prstGeom>
          <a:solidFill>
            <a:srgbClr val="3C3C3A"/>
          </a:solidFill>
          <a:ln/>
        </p:spPr>
        <p:txBody>
          <a:bodyPr/>
          <a:lstStyle/>
          <a:p>
            <a:endParaRPr lang="en-US"/>
          </a:p>
        </p:txBody>
      </p:sp>
      <p:sp>
        <p:nvSpPr>
          <p:cNvPr id="10" name="Text 8"/>
          <p:cNvSpPr/>
          <p:nvPr/>
        </p:nvSpPr>
        <p:spPr>
          <a:xfrm>
            <a:off x="9866948" y="2690098"/>
            <a:ext cx="2993588"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Strategic Positioning</a:t>
            </a:r>
            <a:endParaRPr lang="en-US" sz="2200" dirty="0"/>
          </a:p>
        </p:txBody>
      </p:sp>
      <p:sp>
        <p:nvSpPr>
          <p:cNvPr id="11" name="Text 9"/>
          <p:cNvSpPr/>
          <p:nvPr/>
        </p:nvSpPr>
        <p:spPr>
          <a:xfrm>
            <a:off x="9866948" y="3180517"/>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These assemblies, though framed as loyalist, laid the groundwork for independence movements across Spanish America</a:t>
            </a:r>
            <a:endParaRPr lang="en-US" sz="1750" dirty="0"/>
          </a:p>
        </p:txBody>
      </p:sp>
      <p:sp>
        <p:nvSpPr>
          <p:cNvPr id="12" name="Text 10"/>
          <p:cNvSpPr/>
          <p:nvPr/>
        </p:nvSpPr>
        <p:spPr>
          <a:xfrm>
            <a:off x="793790" y="5476994"/>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cabildos abiertos became crucial vehicles for Creole political ambitions. In cities like Buenos Aires and Caracas, these gatherings allowed elites to express continued loyalty to the Spanish crown while simultaneously asserting their own political autonomy. This strategic positioning reflected the Creoles' frustration with Peninsular (Spanish-born) dominance while preserving their privileged position in the colonial hierarchy.</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868" y="649724"/>
            <a:ext cx="6573560" cy="590907"/>
          </a:xfrm>
          <a:prstGeom prst="rect">
            <a:avLst/>
          </a:prstGeom>
          <a:noFill/>
          <a:ln/>
        </p:spPr>
        <p:txBody>
          <a:bodyPr wrap="none" lIns="0" tIns="0" rIns="0" bIns="0" rtlCol="0" anchor="t"/>
          <a:lstStyle/>
          <a:p>
            <a:pPr marL="0" indent="0" algn="l">
              <a:lnSpc>
                <a:spcPts val="4650"/>
              </a:lnSpc>
              <a:buNone/>
            </a:pPr>
            <a:r>
              <a:rPr lang="en-US" sz="3700" dirty="0">
                <a:solidFill>
                  <a:srgbClr val="EDEDE8"/>
                </a:solidFill>
                <a:latin typeface="Tomorrow Semi Bold" pitchFamily="34" charset="0"/>
                <a:ea typeface="Tomorrow Semi Bold" pitchFamily="34" charset="-122"/>
                <a:cs typeface="Tomorrow Semi Bold" pitchFamily="34" charset="-120"/>
              </a:rPr>
              <a:t>Mexico's Radical Beginning</a:t>
            </a:r>
            <a:endParaRPr lang="en-US" sz="3700" dirty="0"/>
          </a:p>
        </p:txBody>
      </p:sp>
      <p:pic>
        <p:nvPicPr>
          <p:cNvPr id="3" name="Image 0" descr="preencoded.png"/>
          <p:cNvPicPr>
            <a:picLocks noChangeAspect="1"/>
          </p:cNvPicPr>
          <p:nvPr/>
        </p:nvPicPr>
        <p:blipFill>
          <a:blip r:embed="rId3"/>
          <a:stretch>
            <a:fillRect/>
          </a:stretch>
        </p:blipFill>
        <p:spPr>
          <a:xfrm>
            <a:off x="661868" y="1618774"/>
            <a:ext cx="945475" cy="1134666"/>
          </a:xfrm>
          <a:prstGeom prst="rect">
            <a:avLst/>
          </a:prstGeom>
        </p:spPr>
      </p:pic>
      <p:sp>
        <p:nvSpPr>
          <p:cNvPr id="4" name="Text 1"/>
          <p:cNvSpPr/>
          <p:nvPr/>
        </p:nvSpPr>
        <p:spPr>
          <a:xfrm>
            <a:off x="1890951" y="1807845"/>
            <a:ext cx="3371612" cy="295394"/>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Father Miguel Hidalgo (1810)</a:t>
            </a:r>
            <a:endParaRPr lang="en-US" sz="1850" dirty="0"/>
          </a:p>
        </p:txBody>
      </p:sp>
      <p:sp>
        <p:nvSpPr>
          <p:cNvPr id="5" name="Text 2"/>
          <p:cNvSpPr/>
          <p:nvPr/>
        </p:nvSpPr>
        <p:spPr>
          <a:xfrm>
            <a:off x="1890951" y="2216706"/>
            <a:ext cx="12077581" cy="302419"/>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Rallied Indigenous and Mestizo peasants under the Virgin of Guadalupe banner; rebellion became violent and lost Creole support</a:t>
            </a:r>
            <a:endParaRPr lang="en-US" sz="1450" dirty="0"/>
          </a:p>
        </p:txBody>
      </p:sp>
      <p:pic>
        <p:nvPicPr>
          <p:cNvPr id="6" name="Image 1" descr="preencoded.png"/>
          <p:cNvPicPr>
            <a:picLocks noChangeAspect="1"/>
          </p:cNvPicPr>
          <p:nvPr/>
        </p:nvPicPr>
        <p:blipFill>
          <a:blip r:embed="rId4"/>
          <a:stretch>
            <a:fillRect/>
          </a:stretch>
        </p:blipFill>
        <p:spPr>
          <a:xfrm>
            <a:off x="661868" y="2753439"/>
            <a:ext cx="945475" cy="1134666"/>
          </a:xfrm>
          <a:prstGeom prst="rect">
            <a:avLst/>
          </a:prstGeom>
        </p:spPr>
      </p:pic>
      <p:sp>
        <p:nvSpPr>
          <p:cNvPr id="7" name="Text 3"/>
          <p:cNvSpPr/>
          <p:nvPr/>
        </p:nvSpPr>
        <p:spPr>
          <a:xfrm>
            <a:off x="1890951" y="2942511"/>
            <a:ext cx="3099911" cy="295394"/>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Hidalgo's Execution (1811)</a:t>
            </a:r>
            <a:endParaRPr lang="en-US" sz="1850" dirty="0"/>
          </a:p>
        </p:txBody>
      </p:sp>
      <p:sp>
        <p:nvSpPr>
          <p:cNvPr id="8" name="Text 4"/>
          <p:cNvSpPr/>
          <p:nvPr/>
        </p:nvSpPr>
        <p:spPr>
          <a:xfrm>
            <a:off x="1890951" y="3351371"/>
            <a:ext cx="12077581" cy="302419"/>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Captured and executed after initial successes, but the revolutionary spark continued</a:t>
            </a:r>
            <a:endParaRPr lang="en-US" sz="1450" dirty="0"/>
          </a:p>
        </p:txBody>
      </p:sp>
      <p:pic>
        <p:nvPicPr>
          <p:cNvPr id="9" name="Image 2" descr="preencoded.png"/>
          <p:cNvPicPr>
            <a:picLocks noChangeAspect="1"/>
          </p:cNvPicPr>
          <p:nvPr/>
        </p:nvPicPr>
        <p:blipFill>
          <a:blip r:embed="rId5"/>
          <a:stretch>
            <a:fillRect/>
          </a:stretch>
        </p:blipFill>
        <p:spPr>
          <a:xfrm>
            <a:off x="661868" y="3888105"/>
            <a:ext cx="945475" cy="1134666"/>
          </a:xfrm>
          <a:prstGeom prst="rect">
            <a:avLst/>
          </a:prstGeom>
        </p:spPr>
      </p:pic>
      <p:sp>
        <p:nvSpPr>
          <p:cNvPr id="10" name="Text 5"/>
          <p:cNvSpPr/>
          <p:nvPr/>
        </p:nvSpPr>
        <p:spPr>
          <a:xfrm>
            <a:off x="1890951" y="4077176"/>
            <a:ext cx="4509135" cy="295394"/>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Father José María Morelos (1811-1815)</a:t>
            </a:r>
            <a:endParaRPr lang="en-US" sz="1850" dirty="0"/>
          </a:p>
        </p:txBody>
      </p:sp>
      <p:sp>
        <p:nvSpPr>
          <p:cNvPr id="11" name="Text 6"/>
          <p:cNvSpPr/>
          <p:nvPr/>
        </p:nvSpPr>
        <p:spPr>
          <a:xfrm>
            <a:off x="1890951" y="4486037"/>
            <a:ext cx="12077581" cy="302419"/>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Offered more focused agenda: end slavery, abolish caste system, eliminate Indigenous tribute</a:t>
            </a:r>
            <a:endParaRPr lang="en-US" sz="1450" dirty="0"/>
          </a:p>
        </p:txBody>
      </p:sp>
      <p:pic>
        <p:nvPicPr>
          <p:cNvPr id="12" name="Image 3" descr="preencoded.png"/>
          <p:cNvPicPr>
            <a:picLocks noChangeAspect="1"/>
          </p:cNvPicPr>
          <p:nvPr/>
        </p:nvPicPr>
        <p:blipFill>
          <a:blip r:embed="rId6"/>
          <a:stretch>
            <a:fillRect/>
          </a:stretch>
        </p:blipFill>
        <p:spPr>
          <a:xfrm>
            <a:off x="661868" y="5022771"/>
            <a:ext cx="945475" cy="1134666"/>
          </a:xfrm>
          <a:prstGeom prst="rect">
            <a:avLst/>
          </a:prstGeom>
        </p:spPr>
      </p:pic>
      <p:sp>
        <p:nvSpPr>
          <p:cNvPr id="13" name="Text 7"/>
          <p:cNvSpPr/>
          <p:nvPr/>
        </p:nvSpPr>
        <p:spPr>
          <a:xfrm>
            <a:off x="1890951" y="5211842"/>
            <a:ext cx="2615803" cy="295394"/>
          </a:xfrm>
          <a:prstGeom prst="rect">
            <a:avLst/>
          </a:prstGeom>
          <a:noFill/>
          <a:ln/>
        </p:spPr>
        <p:txBody>
          <a:bodyPr wrap="none" lIns="0" tIns="0" rIns="0" bIns="0" rtlCol="0" anchor="t"/>
          <a:lstStyle/>
          <a:p>
            <a:pPr marL="0" indent="0" algn="l">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Morelos' Defeat (1815)</a:t>
            </a:r>
            <a:endParaRPr lang="en-US" sz="1850" dirty="0"/>
          </a:p>
        </p:txBody>
      </p:sp>
      <p:sp>
        <p:nvSpPr>
          <p:cNvPr id="14" name="Text 8"/>
          <p:cNvSpPr/>
          <p:nvPr/>
        </p:nvSpPr>
        <p:spPr>
          <a:xfrm>
            <a:off x="1890951" y="5620703"/>
            <a:ext cx="12077581" cy="302419"/>
          </a:xfrm>
          <a:prstGeom prst="rect">
            <a:avLst/>
          </a:prstGeom>
          <a:noFill/>
          <a:ln/>
        </p:spPr>
        <p:txBody>
          <a:bodyPr wrap="non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Without elite backing, his disciplined insurgency was ultimately defeated and he was executed</a:t>
            </a:r>
            <a:endParaRPr lang="en-US" sz="1450" dirty="0"/>
          </a:p>
        </p:txBody>
      </p:sp>
      <p:sp>
        <p:nvSpPr>
          <p:cNvPr id="15" name="Text 9"/>
          <p:cNvSpPr/>
          <p:nvPr/>
        </p:nvSpPr>
        <p:spPr>
          <a:xfrm>
            <a:off x="661868" y="6370082"/>
            <a:ext cx="13306663" cy="1209675"/>
          </a:xfrm>
          <a:prstGeom prst="rect">
            <a:avLst/>
          </a:prstGeom>
          <a:noFill/>
          <a:ln/>
        </p:spPr>
        <p:txBody>
          <a:bodyPr wrap="square" lIns="0" tIns="0" rIns="0" bIns="0" rtlCol="0" anchor="t"/>
          <a:lstStyle/>
          <a:p>
            <a:pPr marL="0" indent="0" algn="l">
              <a:lnSpc>
                <a:spcPts val="2350"/>
              </a:lnSpc>
              <a:buNone/>
            </a:pPr>
            <a:r>
              <a:rPr lang="en-US" sz="1450" dirty="0">
                <a:solidFill>
                  <a:srgbClr val="C9C9C0"/>
                </a:solidFill>
                <a:latin typeface="Tomorrow" pitchFamily="34" charset="0"/>
                <a:ea typeface="Tomorrow" pitchFamily="34" charset="-122"/>
                <a:cs typeface="Tomorrow" pitchFamily="34" charset="-120"/>
              </a:rPr>
              <a:t>Mexico's independence movement began with a radical popular uprising led by Father Miguel Hidalgo, whose call to arms mobilized the masses but alarmed Creole elites. His successor, Father José María Morelos, advanced a more structured but equally radical agenda that directly challenged colonial social hierarchies. Both leaders were executed, but their movements represented a more socially revolutionary approach than seen elsewhere in Latin America.</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52976"/>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Revolutionary Rhetoric: Uniting Diverse Populations</a:t>
            </a:r>
            <a:endParaRPr lang="en-US" sz="4450" dirty="0"/>
          </a:p>
        </p:txBody>
      </p:sp>
      <p:sp>
        <p:nvSpPr>
          <p:cNvPr id="3" name="Shape 1"/>
          <p:cNvSpPr/>
          <p:nvPr/>
        </p:nvSpPr>
        <p:spPr>
          <a:xfrm>
            <a:off x="793790" y="2824163"/>
            <a:ext cx="510302" cy="510302"/>
          </a:xfrm>
          <a:prstGeom prst="roundRect">
            <a:avLst>
              <a:gd name="adj" fmla="val 6667"/>
            </a:avLst>
          </a:prstGeom>
          <a:solidFill>
            <a:srgbClr val="3C3C3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878860" y="2866668"/>
            <a:ext cx="340162" cy="425291"/>
          </a:xfrm>
          <a:prstGeom prst="rect">
            <a:avLst/>
          </a:prstGeom>
        </p:spPr>
      </p:pic>
      <p:sp>
        <p:nvSpPr>
          <p:cNvPr id="5" name="Text 2"/>
          <p:cNvSpPr/>
          <p:nvPr/>
        </p:nvSpPr>
        <p:spPr>
          <a:xfrm>
            <a:off x="1530906" y="29020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Nativism</a:t>
            </a:r>
            <a:endParaRPr lang="en-US" sz="2200" dirty="0"/>
          </a:p>
        </p:txBody>
      </p:sp>
      <p:sp>
        <p:nvSpPr>
          <p:cNvPr id="6" name="Text 3"/>
          <p:cNvSpPr/>
          <p:nvPr/>
        </p:nvSpPr>
        <p:spPr>
          <a:xfrm>
            <a:off x="1530906" y="3392448"/>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Leaders promoted a unifying identity of "Americanos" that encompassed all American-born people against foreign Peninsular elites, regardless of racial background</a:t>
            </a:r>
            <a:endParaRPr lang="en-US" sz="1750" dirty="0"/>
          </a:p>
        </p:txBody>
      </p:sp>
      <p:sp>
        <p:nvSpPr>
          <p:cNvPr id="7" name="Shape 4"/>
          <p:cNvSpPr/>
          <p:nvPr/>
        </p:nvSpPr>
        <p:spPr>
          <a:xfrm>
            <a:off x="5235893" y="2824163"/>
            <a:ext cx="510302" cy="510302"/>
          </a:xfrm>
          <a:prstGeom prst="roundRect">
            <a:avLst>
              <a:gd name="adj" fmla="val 6667"/>
            </a:avLst>
          </a:prstGeom>
          <a:solidFill>
            <a:srgbClr val="3C3C3A"/>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5320963" y="2866668"/>
            <a:ext cx="340162" cy="425291"/>
          </a:xfrm>
          <a:prstGeom prst="rect">
            <a:avLst/>
          </a:prstGeom>
        </p:spPr>
      </p:pic>
      <p:sp>
        <p:nvSpPr>
          <p:cNvPr id="9" name="Text 5"/>
          <p:cNvSpPr/>
          <p:nvPr/>
        </p:nvSpPr>
        <p:spPr>
          <a:xfrm>
            <a:off x="5973008" y="2902029"/>
            <a:ext cx="2937510"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Popular Sovereignty</a:t>
            </a:r>
            <a:endParaRPr lang="en-US" sz="2200" dirty="0"/>
          </a:p>
        </p:txBody>
      </p:sp>
      <p:sp>
        <p:nvSpPr>
          <p:cNvPr id="10" name="Text 6"/>
          <p:cNvSpPr/>
          <p:nvPr/>
        </p:nvSpPr>
        <p:spPr>
          <a:xfrm>
            <a:off x="5973008" y="3392448"/>
            <a:ext cx="3421499"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revolutionary concept that legitimate political authority arises from the people themselves became a powerful mobilizing idea</a:t>
            </a:r>
            <a:endParaRPr lang="en-US" sz="1750" dirty="0"/>
          </a:p>
        </p:txBody>
      </p:sp>
      <p:sp>
        <p:nvSpPr>
          <p:cNvPr id="11" name="Shape 7"/>
          <p:cNvSpPr/>
          <p:nvPr/>
        </p:nvSpPr>
        <p:spPr>
          <a:xfrm>
            <a:off x="9677995" y="2824163"/>
            <a:ext cx="510302" cy="510302"/>
          </a:xfrm>
          <a:prstGeom prst="roundRect">
            <a:avLst>
              <a:gd name="adj" fmla="val 6667"/>
            </a:avLst>
          </a:prstGeom>
          <a:solidFill>
            <a:srgbClr val="3C3C3A"/>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9763065" y="2866668"/>
            <a:ext cx="340162" cy="425291"/>
          </a:xfrm>
          <a:prstGeom prst="rect">
            <a:avLst/>
          </a:prstGeom>
        </p:spPr>
      </p:pic>
      <p:sp>
        <p:nvSpPr>
          <p:cNvPr id="13" name="Text 8"/>
          <p:cNvSpPr/>
          <p:nvPr/>
        </p:nvSpPr>
        <p:spPr>
          <a:xfrm>
            <a:off x="10415111" y="2902029"/>
            <a:ext cx="284797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Inclusive Discourse</a:t>
            </a:r>
            <a:endParaRPr lang="en-US" sz="2200" dirty="0"/>
          </a:p>
        </p:txBody>
      </p:sp>
      <p:sp>
        <p:nvSpPr>
          <p:cNvPr id="14" name="Text 9"/>
          <p:cNvSpPr/>
          <p:nvPr/>
        </p:nvSpPr>
        <p:spPr>
          <a:xfrm>
            <a:off x="10415111" y="3392448"/>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Unlike the U.S. revolution, Latin American independence movements at least rhetorically included racially diverse populations in their nationalist discourse</a:t>
            </a:r>
            <a:endParaRPr lang="en-US" sz="1750" dirty="0"/>
          </a:p>
        </p:txBody>
      </p:sp>
      <p:sp>
        <p:nvSpPr>
          <p:cNvPr id="15" name="Text 10"/>
          <p:cNvSpPr/>
          <p:nvPr/>
        </p:nvSpPr>
        <p:spPr>
          <a:xfrm>
            <a:off x="793790" y="5825014"/>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To expand support beyond the Creole elite, revolutionary leaders adopted powerful ideological strategies. By emphasizing nativism and popular sovereignty, they created a framework that could unite diverse populations against Spanish rule. This inclusive rhetoric distinguished Latin American independence movements from the more racially exclusive American Revolution, even if the social reality often fell short of the revolutionary promise.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749498"/>
            <a:ext cx="9309259"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Regional Paths to Independence</a:t>
            </a:r>
            <a:endParaRPr lang="en-US" sz="4450" dirty="0"/>
          </a:p>
        </p:txBody>
      </p:sp>
      <p:sp>
        <p:nvSpPr>
          <p:cNvPr id="3" name="Text 1"/>
          <p:cNvSpPr/>
          <p:nvPr/>
        </p:nvSpPr>
        <p:spPr>
          <a:xfrm>
            <a:off x="2200394" y="2871549"/>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Peru</a:t>
            </a:r>
            <a:endParaRPr lang="en-US" sz="2200" dirty="0"/>
          </a:p>
        </p:txBody>
      </p:sp>
      <p:sp>
        <p:nvSpPr>
          <p:cNvPr id="4" name="Text 2"/>
          <p:cNvSpPr/>
          <p:nvPr/>
        </p:nvSpPr>
        <p:spPr>
          <a:xfrm>
            <a:off x="793790" y="3361968"/>
            <a:ext cx="4241840" cy="1451610"/>
          </a:xfrm>
          <a:prstGeom prst="rect">
            <a:avLst/>
          </a:prstGeom>
          <a:noFill/>
          <a:ln/>
        </p:spPr>
        <p:txBody>
          <a:bodyPr wrap="square" lIns="0" tIns="0" rIns="0" bIns="0" rtlCol="0" anchor="t"/>
          <a:lstStyle/>
          <a:p>
            <a:pPr marL="0" indent="0" algn="r">
              <a:lnSpc>
                <a:spcPts val="2850"/>
              </a:lnSpc>
              <a:buNone/>
            </a:pPr>
            <a:r>
              <a:rPr lang="en-US" sz="1750" dirty="0">
                <a:solidFill>
                  <a:srgbClr val="C9C9C0"/>
                </a:solidFill>
                <a:latin typeface="Tomorrow" pitchFamily="34" charset="0"/>
                <a:ea typeface="Tomorrow" pitchFamily="34" charset="-122"/>
                <a:cs typeface="Tomorrow" pitchFamily="34" charset="-120"/>
              </a:rPr>
              <a:t>Creole elites remained cautious and loyal to Spain longer, haunted by memories of the Tupac Amaru II uprising of the 1780s</a:t>
            </a:r>
            <a:endParaRPr lang="en-US" sz="1750" dirty="0"/>
          </a:p>
        </p:txBody>
      </p:sp>
      <p:pic>
        <p:nvPicPr>
          <p:cNvPr id="5" name="Image 0" descr="preencoded.png"/>
          <p:cNvPicPr>
            <a:picLocks noChangeAspect="1"/>
          </p:cNvPicPr>
          <p:nvPr/>
        </p:nvPicPr>
        <p:blipFill>
          <a:blip r:embed="rId3"/>
          <a:stretch>
            <a:fillRect/>
          </a:stretch>
        </p:blipFill>
        <p:spPr>
          <a:xfrm>
            <a:off x="5489258" y="2016562"/>
            <a:ext cx="3651885" cy="3651885"/>
          </a:xfrm>
          <a:prstGeom prst="rect">
            <a:avLst/>
          </a:prstGeom>
        </p:spPr>
      </p:pic>
      <p:sp>
        <p:nvSpPr>
          <p:cNvPr id="6" name="Shape 3"/>
          <p:cNvSpPr/>
          <p:nvPr/>
        </p:nvSpPr>
        <p:spPr>
          <a:xfrm>
            <a:off x="5274231" y="3559016"/>
            <a:ext cx="566976" cy="566976"/>
          </a:xfrm>
          <a:prstGeom prst="roundRect">
            <a:avLst>
              <a:gd name="adj" fmla="val 1611154"/>
            </a:avLst>
          </a:prstGeom>
          <a:solidFill>
            <a:srgbClr val="3C3C3A"/>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5430083" y="3682960"/>
            <a:ext cx="255151" cy="318968"/>
          </a:xfrm>
          <a:prstGeom prst="rect">
            <a:avLst/>
          </a:prstGeom>
        </p:spPr>
      </p:pic>
      <p:sp>
        <p:nvSpPr>
          <p:cNvPr id="8" name="Text 4"/>
          <p:cNvSpPr/>
          <p:nvPr/>
        </p:nvSpPr>
        <p:spPr>
          <a:xfrm>
            <a:off x="9481304" y="191190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Brazil</a:t>
            </a:r>
            <a:endParaRPr lang="en-US" sz="2200" dirty="0"/>
          </a:p>
        </p:txBody>
      </p:sp>
      <p:sp>
        <p:nvSpPr>
          <p:cNvPr id="9" name="Text 5"/>
          <p:cNvSpPr/>
          <p:nvPr/>
        </p:nvSpPr>
        <p:spPr>
          <a:xfrm>
            <a:off x="9481304" y="2402324"/>
            <a:ext cx="4355306"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Unique path: Portuguese royal court relocated to Rio (1807); Prince Pedro declared independence (1822) and became Emperor Pedro I</a:t>
            </a:r>
            <a:endParaRPr lang="en-US" sz="1750" dirty="0"/>
          </a:p>
        </p:txBody>
      </p:sp>
      <p:pic>
        <p:nvPicPr>
          <p:cNvPr id="10" name="Image 2" descr="preencoded.png"/>
          <p:cNvPicPr>
            <a:picLocks noChangeAspect="1"/>
          </p:cNvPicPr>
          <p:nvPr/>
        </p:nvPicPr>
        <p:blipFill>
          <a:blip r:embed="rId5"/>
          <a:stretch>
            <a:fillRect/>
          </a:stretch>
        </p:blipFill>
        <p:spPr>
          <a:xfrm>
            <a:off x="5489258" y="2016562"/>
            <a:ext cx="3651885" cy="3651885"/>
          </a:xfrm>
          <a:prstGeom prst="rect">
            <a:avLst/>
          </a:prstGeom>
        </p:spPr>
      </p:pic>
      <p:sp>
        <p:nvSpPr>
          <p:cNvPr id="11" name="Shape 6"/>
          <p:cNvSpPr/>
          <p:nvPr/>
        </p:nvSpPr>
        <p:spPr>
          <a:xfrm>
            <a:off x="7910393" y="2036921"/>
            <a:ext cx="566976" cy="566976"/>
          </a:xfrm>
          <a:prstGeom prst="roundRect">
            <a:avLst>
              <a:gd name="adj" fmla="val 1611154"/>
            </a:avLst>
          </a:prstGeom>
          <a:solidFill>
            <a:srgbClr val="3C3C3A"/>
          </a:solidFill>
          <a:ln/>
        </p:spPr>
        <p:txBody>
          <a:bodyPr/>
          <a:lstStyle/>
          <a:p>
            <a:endParaRPr lang="en-US"/>
          </a:p>
        </p:txBody>
      </p:sp>
      <p:pic>
        <p:nvPicPr>
          <p:cNvPr id="12" name="Image 3" descr="preencoded.png"/>
          <p:cNvPicPr>
            <a:picLocks noChangeAspect="1"/>
          </p:cNvPicPr>
          <p:nvPr/>
        </p:nvPicPr>
        <p:blipFill>
          <a:blip r:embed="rId6"/>
          <a:stretch>
            <a:fillRect/>
          </a:stretch>
        </p:blipFill>
        <p:spPr>
          <a:xfrm>
            <a:off x="8066246" y="2160865"/>
            <a:ext cx="255151" cy="318968"/>
          </a:xfrm>
          <a:prstGeom prst="rect">
            <a:avLst/>
          </a:prstGeom>
        </p:spPr>
      </p:pic>
      <p:sp>
        <p:nvSpPr>
          <p:cNvPr id="13" name="Text 7"/>
          <p:cNvSpPr/>
          <p:nvPr/>
        </p:nvSpPr>
        <p:spPr>
          <a:xfrm>
            <a:off x="9481304" y="41940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Río de la Plata</a:t>
            </a:r>
            <a:endParaRPr lang="en-US" sz="2200" dirty="0"/>
          </a:p>
        </p:txBody>
      </p:sp>
      <p:sp>
        <p:nvSpPr>
          <p:cNvPr id="14" name="Text 8"/>
          <p:cNvSpPr/>
          <p:nvPr/>
        </p:nvSpPr>
        <p:spPr>
          <a:xfrm>
            <a:off x="9481304" y="4684514"/>
            <a:ext cx="4355306" cy="1088708"/>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Early independence (1816); region's economic orientation toward Atlantic trade fueled separatist sentiment</a:t>
            </a:r>
            <a:endParaRPr lang="en-US" sz="1750" dirty="0"/>
          </a:p>
        </p:txBody>
      </p:sp>
      <p:pic>
        <p:nvPicPr>
          <p:cNvPr id="15" name="Image 4" descr="preencoded.png"/>
          <p:cNvPicPr>
            <a:picLocks noChangeAspect="1"/>
          </p:cNvPicPr>
          <p:nvPr/>
        </p:nvPicPr>
        <p:blipFill>
          <a:blip r:embed="rId7"/>
          <a:stretch>
            <a:fillRect/>
          </a:stretch>
        </p:blipFill>
        <p:spPr>
          <a:xfrm>
            <a:off x="5489258" y="2016562"/>
            <a:ext cx="3651885" cy="3651885"/>
          </a:xfrm>
          <a:prstGeom prst="rect">
            <a:avLst/>
          </a:prstGeom>
        </p:spPr>
      </p:pic>
      <p:sp>
        <p:nvSpPr>
          <p:cNvPr id="16" name="Shape 9"/>
          <p:cNvSpPr/>
          <p:nvPr/>
        </p:nvSpPr>
        <p:spPr>
          <a:xfrm>
            <a:off x="7910393" y="5080992"/>
            <a:ext cx="566976" cy="566976"/>
          </a:xfrm>
          <a:prstGeom prst="roundRect">
            <a:avLst>
              <a:gd name="adj" fmla="val 1611154"/>
            </a:avLst>
          </a:prstGeom>
          <a:solidFill>
            <a:srgbClr val="3C3C3A"/>
          </a:solidFill>
          <a:ln/>
        </p:spPr>
        <p:txBody>
          <a:bodyPr/>
          <a:lstStyle/>
          <a:p>
            <a:endParaRPr lang="en-US"/>
          </a:p>
        </p:txBody>
      </p:sp>
      <p:pic>
        <p:nvPicPr>
          <p:cNvPr id="17" name="Image 5" descr="preencoded.png"/>
          <p:cNvPicPr>
            <a:picLocks noChangeAspect="1"/>
          </p:cNvPicPr>
          <p:nvPr/>
        </p:nvPicPr>
        <p:blipFill>
          <a:blip r:embed="rId8"/>
          <a:stretch>
            <a:fillRect/>
          </a:stretch>
        </p:blipFill>
        <p:spPr>
          <a:xfrm>
            <a:off x="8066246" y="5204936"/>
            <a:ext cx="255151" cy="318968"/>
          </a:xfrm>
          <a:prstGeom prst="rect">
            <a:avLst/>
          </a:prstGeom>
        </p:spPr>
      </p:pic>
      <p:sp>
        <p:nvSpPr>
          <p:cNvPr id="18" name="Text 10"/>
          <p:cNvSpPr/>
          <p:nvPr/>
        </p:nvSpPr>
        <p:spPr>
          <a:xfrm>
            <a:off x="793790" y="6028373"/>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Independence unfolded differently across regions. In Peru, fear of Indigenous uprisings made Creoles hesitant to break with Spain. Brazil's unique path involved the Portuguese royal family's presence and a relatively peaceful transition to an independent monarchy that preserved existing hierarchies, including slavery. The Río de la Plata region (modern Argentina, Uruguay) moved early toward independence, driven by economic interests tied to Atlantic trade.</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26877"/>
            <a:ext cx="7512487" cy="708779"/>
          </a:xfrm>
          <a:prstGeom prst="rect">
            <a:avLst/>
          </a:prstGeom>
          <a:noFill/>
          <a:ln/>
        </p:spPr>
        <p:txBody>
          <a:bodyPr wrap="none" lIns="0" tIns="0" rIns="0" bIns="0" rtlCol="0" anchor="t"/>
          <a:lstStyle/>
          <a:p>
            <a:pPr marL="0" indent="0" algn="l">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The Liberation Campaigns</a:t>
            </a:r>
            <a:endParaRPr lang="en-US" sz="4450" dirty="0"/>
          </a:p>
        </p:txBody>
      </p:sp>
      <p:sp>
        <p:nvSpPr>
          <p:cNvPr id="3" name="Shape 1"/>
          <p:cNvSpPr/>
          <p:nvPr/>
        </p:nvSpPr>
        <p:spPr>
          <a:xfrm>
            <a:off x="793790" y="2569726"/>
            <a:ext cx="4120753" cy="226814"/>
          </a:xfrm>
          <a:prstGeom prst="roundRect">
            <a:avLst>
              <a:gd name="adj" fmla="val 15001"/>
            </a:avLst>
          </a:prstGeom>
          <a:solidFill>
            <a:srgbClr val="3C3C3A"/>
          </a:solidFill>
          <a:ln/>
        </p:spPr>
        <p:txBody>
          <a:bodyPr/>
          <a:lstStyle/>
          <a:p>
            <a:endParaRPr lang="en-US"/>
          </a:p>
        </p:txBody>
      </p:sp>
      <p:sp>
        <p:nvSpPr>
          <p:cNvPr id="4" name="Text 2"/>
          <p:cNvSpPr/>
          <p:nvPr/>
        </p:nvSpPr>
        <p:spPr>
          <a:xfrm>
            <a:off x="793790" y="3136702"/>
            <a:ext cx="4120753" cy="708660"/>
          </a:xfrm>
          <a:prstGeom prst="rect">
            <a:avLst/>
          </a:prstGeom>
          <a:noFill/>
          <a:ln/>
        </p:spPr>
        <p:txBody>
          <a:bodyPr wrap="squar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Simón Bolívar's Northern Campaign</a:t>
            </a:r>
            <a:endParaRPr lang="en-US" sz="2200" dirty="0"/>
          </a:p>
        </p:txBody>
      </p:sp>
      <p:sp>
        <p:nvSpPr>
          <p:cNvPr id="5" name="Text 3"/>
          <p:cNvSpPr/>
          <p:nvPr/>
        </p:nvSpPr>
        <p:spPr>
          <a:xfrm>
            <a:off x="793790" y="3981450"/>
            <a:ext cx="4120753"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Venezuelan Creole led forces through the Andes, securing decisive victories at Boyacá (1819) and Carabobo (1821), liberating Colombia, Venezuela, Ecuador, and later Bolivia</a:t>
            </a:r>
            <a:endParaRPr lang="en-US" sz="1750" dirty="0"/>
          </a:p>
        </p:txBody>
      </p:sp>
      <p:sp>
        <p:nvSpPr>
          <p:cNvPr id="6" name="Shape 4"/>
          <p:cNvSpPr/>
          <p:nvPr/>
        </p:nvSpPr>
        <p:spPr>
          <a:xfrm>
            <a:off x="5254704" y="2229445"/>
            <a:ext cx="4120872" cy="226814"/>
          </a:xfrm>
          <a:prstGeom prst="roundRect">
            <a:avLst>
              <a:gd name="adj" fmla="val 15001"/>
            </a:avLst>
          </a:prstGeom>
          <a:solidFill>
            <a:srgbClr val="3C3C3A"/>
          </a:solidFill>
          <a:ln/>
        </p:spPr>
        <p:txBody>
          <a:bodyPr/>
          <a:lstStyle/>
          <a:p>
            <a:endParaRPr lang="en-US"/>
          </a:p>
        </p:txBody>
      </p:sp>
      <p:sp>
        <p:nvSpPr>
          <p:cNvPr id="7" name="Text 5"/>
          <p:cNvSpPr/>
          <p:nvPr/>
        </p:nvSpPr>
        <p:spPr>
          <a:xfrm>
            <a:off x="5254704" y="2796421"/>
            <a:ext cx="4120872" cy="708660"/>
          </a:xfrm>
          <a:prstGeom prst="rect">
            <a:avLst/>
          </a:prstGeom>
          <a:noFill/>
          <a:ln/>
        </p:spPr>
        <p:txBody>
          <a:bodyPr wrap="squar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José de San Martín's Southern Campaign</a:t>
            </a:r>
            <a:endParaRPr lang="en-US" sz="2200" dirty="0"/>
          </a:p>
        </p:txBody>
      </p:sp>
      <p:sp>
        <p:nvSpPr>
          <p:cNvPr id="8" name="Text 6"/>
          <p:cNvSpPr/>
          <p:nvPr/>
        </p:nvSpPr>
        <p:spPr>
          <a:xfrm>
            <a:off x="5254704" y="3641169"/>
            <a:ext cx="4120872" cy="1814513"/>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Argentine general led forces across the Andes into Chile and Peru, meeting with Bolívar in Guayaquil (1822) before ceding leadership to him</a:t>
            </a:r>
            <a:endParaRPr lang="en-US" sz="1750" dirty="0"/>
          </a:p>
        </p:txBody>
      </p:sp>
      <p:sp>
        <p:nvSpPr>
          <p:cNvPr id="9" name="Shape 7"/>
          <p:cNvSpPr/>
          <p:nvPr/>
        </p:nvSpPr>
        <p:spPr>
          <a:xfrm>
            <a:off x="9715738" y="1889284"/>
            <a:ext cx="4120872" cy="226814"/>
          </a:xfrm>
          <a:prstGeom prst="roundRect">
            <a:avLst>
              <a:gd name="adj" fmla="val 15001"/>
            </a:avLst>
          </a:prstGeom>
          <a:solidFill>
            <a:srgbClr val="3C3C3A"/>
          </a:solidFill>
          <a:ln/>
        </p:spPr>
        <p:txBody>
          <a:bodyPr/>
          <a:lstStyle/>
          <a:p>
            <a:endParaRPr lang="en-US"/>
          </a:p>
        </p:txBody>
      </p:sp>
      <p:sp>
        <p:nvSpPr>
          <p:cNvPr id="10" name="Text 8"/>
          <p:cNvSpPr/>
          <p:nvPr/>
        </p:nvSpPr>
        <p:spPr>
          <a:xfrm>
            <a:off x="9715738" y="2456259"/>
            <a:ext cx="3645575" cy="354330"/>
          </a:xfrm>
          <a:prstGeom prst="rect">
            <a:avLst/>
          </a:prstGeom>
          <a:noFill/>
          <a:ln/>
        </p:spPr>
        <p:txBody>
          <a:bodyPr wrap="none" lIns="0" tIns="0" rIns="0" bIns="0" rtlCol="0" anchor="t"/>
          <a:lstStyle/>
          <a:p>
            <a:pPr marL="0" indent="0" algn="l">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Battle of Ayacucho (1824)</a:t>
            </a:r>
            <a:endParaRPr lang="en-US" sz="2200" dirty="0"/>
          </a:p>
        </p:txBody>
      </p:sp>
      <p:sp>
        <p:nvSpPr>
          <p:cNvPr id="11" name="Text 9"/>
          <p:cNvSpPr/>
          <p:nvPr/>
        </p:nvSpPr>
        <p:spPr>
          <a:xfrm>
            <a:off x="9715738" y="2946678"/>
            <a:ext cx="4120872"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The final decisive battle crushed Spanish power in South America, effectively ending the wars of independence</a:t>
            </a:r>
            <a:endParaRPr lang="en-US" sz="1750" dirty="0"/>
          </a:p>
        </p:txBody>
      </p:sp>
      <p:sp>
        <p:nvSpPr>
          <p:cNvPr id="12" name="Text 10"/>
          <p:cNvSpPr/>
          <p:nvPr/>
        </p:nvSpPr>
        <p:spPr>
          <a:xfrm>
            <a:off x="793790" y="6051113"/>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C9C9C0"/>
                </a:solidFill>
                <a:latin typeface="Tomorrow" pitchFamily="34" charset="0"/>
                <a:ea typeface="Tomorrow" pitchFamily="34" charset="-122"/>
                <a:cs typeface="Tomorrow" pitchFamily="34" charset="-120"/>
              </a:rPr>
              <a:t>Two major military campaigns finally secured independence for most of Spanish South America. Simón Bolívar's bold northern campaign and José de San Martín's southern advance converged in their goal of liberating the continent. Their historic meeting in Guayaquil in 1822 marked a turning point, with San Martín stepping aside and Bolívar continuing the campaign that would culminate in the decisive victory at Ayacucho in 1824.</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6633" y="540068"/>
            <a:ext cx="7387233" cy="613172"/>
          </a:xfrm>
          <a:prstGeom prst="rect">
            <a:avLst/>
          </a:prstGeom>
          <a:noFill/>
          <a:ln/>
        </p:spPr>
        <p:txBody>
          <a:bodyPr wrap="none" lIns="0" tIns="0" rIns="0" bIns="0" rtlCol="0" anchor="t"/>
          <a:lstStyle/>
          <a:p>
            <a:pPr marL="0" indent="0" algn="l">
              <a:lnSpc>
                <a:spcPts val="4800"/>
              </a:lnSpc>
              <a:buNone/>
            </a:pPr>
            <a:r>
              <a:rPr lang="en-US" sz="3850" dirty="0">
                <a:solidFill>
                  <a:srgbClr val="EDEDE8"/>
                </a:solidFill>
                <a:latin typeface="Tomorrow Semi Bold" pitchFamily="34" charset="0"/>
                <a:ea typeface="Tomorrow Semi Bold" pitchFamily="34" charset="-122"/>
                <a:cs typeface="Tomorrow Semi Bold" pitchFamily="34" charset="-120"/>
              </a:rPr>
              <a:t>Outcomes and Contradictions</a:t>
            </a:r>
            <a:endParaRPr lang="en-US" sz="3850" dirty="0"/>
          </a:p>
        </p:txBody>
      </p:sp>
      <p:pic>
        <p:nvPicPr>
          <p:cNvPr id="3" name="Image 0" descr="preencoded.png"/>
          <p:cNvPicPr>
            <a:picLocks noChangeAspect="1"/>
          </p:cNvPicPr>
          <p:nvPr/>
        </p:nvPicPr>
        <p:blipFill>
          <a:blip r:embed="rId3"/>
          <a:stretch>
            <a:fillRect/>
          </a:stretch>
        </p:blipFill>
        <p:spPr>
          <a:xfrm>
            <a:off x="3180517" y="1545550"/>
            <a:ext cx="1640562" cy="1130260"/>
          </a:xfrm>
          <a:prstGeom prst="rect">
            <a:avLst/>
          </a:prstGeom>
        </p:spPr>
      </p:pic>
      <p:pic>
        <p:nvPicPr>
          <p:cNvPr id="4" name="Image 1" descr="preencoded.png"/>
          <p:cNvPicPr>
            <a:picLocks noChangeAspect="1"/>
          </p:cNvPicPr>
          <p:nvPr/>
        </p:nvPicPr>
        <p:blipFill>
          <a:blip r:embed="rId4"/>
          <a:stretch>
            <a:fillRect/>
          </a:stretch>
        </p:blipFill>
        <p:spPr>
          <a:xfrm>
            <a:off x="3862864" y="2078355"/>
            <a:ext cx="275868" cy="344805"/>
          </a:xfrm>
          <a:prstGeom prst="rect">
            <a:avLst/>
          </a:prstGeom>
        </p:spPr>
      </p:pic>
      <p:sp>
        <p:nvSpPr>
          <p:cNvPr id="5" name="Text 1"/>
          <p:cNvSpPr/>
          <p:nvPr/>
        </p:nvSpPr>
        <p:spPr>
          <a:xfrm>
            <a:off x="5017175" y="1741646"/>
            <a:ext cx="2855595" cy="306586"/>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Political Independence</a:t>
            </a:r>
            <a:endParaRPr lang="en-US" sz="1900" dirty="0"/>
          </a:p>
        </p:txBody>
      </p:sp>
      <p:sp>
        <p:nvSpPr>
          <p:cNvPr id="6" name="Text 2"/>
          <p:cNvSpPr/>
          <p:nvPr/>
        </p:nvSpPr>
        <p:spPr>
          <a:xfrm>
            <a:off x="5017175" y="2165866"/>
            <a:ext cx="4880848" cy="313849"/>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Most of Latin America gained independence by 1825</a:t>
            </a:r>
            <a:endParaRPr lang="en-US" sz="1500" dirty="0"/>
          </a:p>
        </p:txBody>
      </p:sp>
      <p:sp>
        <p:nvSpPr>
          <p:cNvPr id="7" name="Shape 3"/>
          <p:cNvSpPr/>
          <p:nvPr/>
        </p:nvSpPr>
        <p:spPr>
          <a:xfrm>
            <a:off x="4870013" y="2690693"/>
            <a:ext cx="9024818" cy="11430"/>
          </a:xfrm>
          <a:prstGeom prst="roundRect">
            <a:avLst>
              <a:gd name="adj" fmla="val 257472"/>
            </a:avLst>
          </a:prstGeom>
          <a:solidFill>
            <a:srgbClr val="555553"/>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2360295" y="2724745"/>
            <a:ext cx="3281124" cy="1130260"/>
          </a:xfrm>
          <a:prstGeom prst="rect">
            <a:avLst/>
          </a:prstGeom>
        </p:spPr>
      </p:pic>
      <p:pic>
        <p:nvPicPr>
          <p:cNvPr id="9" name="Image 3" descr="preencoded.png"/>
          <p:cNvPicPr>
            <a:picLocks noChangeAspect="1"/>
          </p:cNvPicPr>
          <p:nvPr/>
        </p:nvPicPr>
        <p:blipFill>
          <a:blip r:embed="rId6"/>
          <a:stretch>
            <a:fillRect/>
          </a:stretch>
        </p:blipFill>
        <p:spPr>
          <a:xfrm>
            <a:off x="3862864" y="3117413"/>
            <a:ext cx="275868" cy="344805"/>
          </a:xfrm>
          <a:prstGeom prst="rect">
            <a:avLst/>
          </a:prstGeom>
        </p:spPr>
      </p:pic>
      <p:sp>
        <p:nvSpPr>
          <p:cNvPr id="10" name="Text 4"/>
          <p:cNvSpPr/>
          <p:nvPr/>
        </p:nvSpPr>
        <p:spPr>
          <a:xfrm>
            <a:off x="5837515" y="2920841"/>
            <a:ext cx="2452330" cy="306586"/>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Social Continuity</a:t>
            </a:r>
            <a:endParaRPr lang="en-US" sz="1900" dirty="0"/>
          </a:p>
        </p:txBody>
      </p:sp>
      <p:sp>
        <p:nvSpPr>
          <p:cNvPr id="11" name="Text 5"/>
          <p:cNvSpPr/>
          <p:nvPr/>
        </p:nvSpPr>
        <p:spPr>
          <a:xfrm>
            <a:off x="5837515" y="3345061"/>
            <a:ext cx="3525083" cy="313849"/>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Colonial hierarchies largely preserved</a:t>
            </a:r>
            <a:endParaRPr lang="en-US" sz="1500" dirty="0"/>
          </a:p>
        </p:txBody>
      </p:sp>
      <p:sp>
        <p:nvSpPr>
          <p:cNvPr id="12" name="Shape 6"/>
          <p:cNvSpPr/>
          <p:nvPr/>
        </p:nvSpPr>
        <p:spPr>
          <a:xfrm>
            <a:off x="5690354" y="3869888"/>
            <a:ext cx="8204478" cy="11430"/>
          </a:xfrm>
          <a:prstGeom prst="roundRect">
            <a:avLst>
              <a:gd name="adj" fmla="val 257472"/>
            </a:avLst>
          </a:prstGeom>
          <a:solidFill>
            <a:srgbClr val="555553"/>
          </a:solidFill>
          <a:ln/>
        </p:spPr>
        <p:txBody>
          <a:bodyPr/>
          <a:lstStyle/>
          <a:p>
            <a:endParaRPr lang="en-US"/>
          </a:p>
        </p:txBody>
      </p:sp>
      <p:pic>
        <p:nvPicPr>
          <p:cNvPr id="13" name="Image 4" descr="preencoded.png"/>
          <p:cNvPicPr>
            <a:picLocks noChangeAspect="1"/>
          </p:cNvPicPr>
          <p:nvPr/>
        </p:nvPicPr>
        <p:blipFill>
          <a:blip r:embed="rId7"/>
          <a:stretch>
            <a:fillRect/>
          </a:stretch>
        </p:blipFill>
        <p:spPr>
          <a:xfrm>
            <a:off x="1539954" y="3903940"/>
            <a:ext cx="4921687" cy="1130260"/>
          </a:xfrm>
          <a:prstGeom prst="rect">
            <a:avLst/>
          </a:prstGeom>
        </p:spPr>
      </p:pic>
      <p:pic>
        <p:nvPicPr>
          <p:cNvPr id="14" name="Image 5" descr="preencoded.png"/>
          <p:cNvPicPr>
            <a:picLocks noChangeAspect="1"/>
          </p:cNvPicPr>
          <p:nvPr/>
        </p:nvPicPr>
        <p:blipFill>
          <a:blip r:embed="rId8"/>
          <a:stretch>
            <a:fillRect/>
          </a:stretch>
        </p:blipFill>
        <p:spPr>
          <a:xfrm>
            <a:off x="3862745" y="4296608"/>
            <a:ext cx="275868" cy="344805"/>
          </a:xfrm>
          <a:prstGeom prst="rect">
            <a:avLst/>
          </a:prstGeom>
        </p:spPr>
      </p:pic>
      <p:sp>
        <p:nvSpPr>
          <p:cNvPr id="15" name="Text 7"/>
          <p:cNvSpPr/>
          <p:nvPr/>
        </p:nvSpPr>
        <p:spPr>
          <a:xfrm>
            <a:off x="6657737" y="4100036"/>
            <a:ext cx="2593300" cy="306586"/>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Persistent Inequality</a:t>
            </a:r>
            <a:endParaRPr lang="en-US" sz="1900" dirty="0"/>
          </a:p>
        </p:txBody>
      </p:sp>
      <p:sp>
        <p:nvSpPr>
          <p:cNvPr id="16" name="Text 8"/>
          <p:cNvSpPr/>
          <p:nvPr/>
        </p:nvSpPr>
        <p:spPr>
          <a:xfrm>
            <a:off x="6657737" y="4524256"/>
            <a:ext cx="4326731" cy="313849"/>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Slavery and informal caste systems continued</a:t>
            </a:r>
            <a:endParaRPr lang="en-US" sz="1500" dirty="0"/>
          </a:p>
        </p:txBody>
      </p:sp>
      <p:sp>
        <p:nvSpPr>
          <p:cNvPr id="17" name="Shape 9"/>
          <p:cNvSpPr/>
          <p:nvPr/>
        </p:nvSpPr>
        <p:spPr>
          <a:xfrm>
            <a:off x="6510576" y="5049083"/>
            <a:ext cx="7384256" cy="11430"/>
          </a:xfrm>
          <a:prstGeom prst="roundRect">
            <a:avLst>
              <a:gd name="adj" fmla="val 257472"/>
            </a:avLst>
          </a:prstGeom>
          <a:solidFill>
            <a:srgbClr val="555553"/>
          </a:solidFill>
          <a:ln/>
        </p:spPr>
        <p:txBody>
          <a:bodyPr/>
          <a:lstStyle/>
          <a:p>
            <a:endParaRPr lang="en-US"/>
          </a:p>
        </p:txBody>
      </p:sp>
      <p:pic>
        <p:nvPicPr>
          <p:cNvPr id="18" name="Image 6" descr="preencoded.png"/>
          <p:cNvPicPr>
            <a:picLocks noChangeAspect="1"/>
          </p:cNvPicPr>
          <p:nvPr/>
        </p:nvPicPr>
        <p:blipFill>
          <a:blip r:embed="rId9"/>
          <a:stretch>
            <a:fillRect/>
          </a:stretch>
        </p:blipFill>
        <p:spPr>
          <a:xfrm>
            <a:off x="719733" y="5083135"/>
            <a:ext cx="6562249" cy="1130260"/>
          </a:xfrm>
          <a:prstGeom prst="rect">
            <a:avLst/>
          </a:prstGeom>
        </p:spPr>
      </p:pic>
      <p:pic>
        <p:nvPicPr>
          <p:cNvPr id="19" name="Image 7" descr="preencoded.png"/>
          <p:cNvPicPr>
            <a:picLocks noChangeAspect="1"/>
          </p:cNvPicPr>
          <p:nvPr/>
        </p:nvPicPr>
        <p:blipFill>
          <a:blip r:embed="rId10"/>
          <a:stretch>
            <a:fillRect/>
          </a:stretch>
        </p:blipFill>
        <p:spPr>
          <a:xfrm>
            <a:off x="3862864" y="5475803"/>
            <a:ext cx="275868" cy="344805"/>
          </a:xfrm>
          <a:prstGeom prst="rect">
            <a:avLst/>
          </a:prstGeom>
        </p:spPr>
      </p:pic>
      <p:sp>
        <p:nvSpPr>
          <p:cNvPr id="20" name="Text 10"/>
          <p:cNvSpPr/>
          <p:nvPr/>
        </p:nvSpPr>
        <p:spPr>
          <a:xfrm>
            <a:off x="7478078" y="5279231"/>
            <a:ext cx="2452330" cy="306586"/>
          </a:xfrm>
          <a:prstGeom prst="rect">
            <a:avLst/>
          </a:prstGeom>
          <a:noFill/>
          <a:ln/>
        </p:spPr>
        <p:txBody>
          <a:bodyPr wrap="none" lIns="0" tIns="0" rIns="0" bIns="0" rtlCol="0" anchor="t"/>
          <a:lstStyle/>
          <a:p>
            <a:pPr marL="0" indent="0" algn="l">
              <a:lnSpc>
                <a:spcPts val="2400"/>
              </a:lnSpc>
              <a:buNone/>
            </a:pPr>
            <a:r>
              <a:rPr lang="en-US" sz="1900" dirty="0">
                <a:solidFill>
                  <a:srgbClr val="C9C9C0"/>
                </a:solidFill>
                <a:latin typeface="Tomorrow Semi Bold" pitchFamily="34" charset="0"/>
                <a:ea typeface="Tomorrow Semi Bold" pitchFamily="34" charset="-122"/>
                <a:cs typeface="Tomorrow Semi Bold" pitchFamily="34" charset="-120"/>
              </a:rPr>
              <a:t>Creole Dominance</a:t>
            </a:r>
            <a:endParaRPr lang="en-US" sz="1900" dirty="0"/>
          </a:p>
        </p:txBody>
      </p:sp>
      <p:sp>
        <p:nvSpPr>
          <p:cNvPr id="21" name="Text 11"/>
          <p:cNvSpPr/>
          <p:nvPr/>
        </p:nvSpPr>
        <p:spPr>
          <a:xfrm>
            <a:off x="7478078" y="5703451"/>
            <a:ext cx="4553664" cy="313849"/>
          </a:xfrm>
          <a:prstGeom prst="rect">
            <a:avLst/>
          </a:prstGeom>
          <a:noFill/>
          <a:ln/>
        </p:spPr>
        <p:txBody>
          <a:bodyPr wrap="non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New nations ruled by American-born white elites</a:t>
            </a:r>
            <a:endParaRPr lang="en-US" sz="1500" dirty="0"/>
          </a:p>
        </p:txBody>
      </p:sp>
      <p:sp>
        <p:nvSpPr>
          <p:cNvPr id="22" name="Text 12"/>
          <p:cNvSpPr/>
          <p:nvPr/>
        </p:nvSpPr>
        <p:spPr>
          <a:xfrm>
            <a:off x="686633" y="6434018"/>
            <a:ext cx="13257133" cy="1255395"/>
          </a:xfrm>
          <a:prstGeom prst="rect">
            <a:avLst/>
          </a:prstGeom>
          <a:noFill/>
          <a:ln/>
        </p:spPr>
        <p:txBody>
          <a:bodyPr wrap="square" lIns="0" tIns="0" rIns="0" bIns="0" rtlCol="0" anchor="t"/>
          <a:lstStyle/>
          <a:p>
            <a:pPr marL="0" indent="0" algn="l">
              <a:lnSpc>
                <a:spcPts val="2450"/>
              </a:lnSpc>
              <a:buNone/>
            </a:pPr>
            <a:r>
              <a:rPr lang="en-US" sz="1500" dirty="0">
                <a:solidFill>
                  <a:srgbClr val="C9C9C0"/>
                </a:solidFill>
                <a:latin typeface="Tomorrow" pitchFamily="34" charset="0"/>
                <a:ea typeface="Tomorrow" pitchFamily="34" charset="-122"/>
                <a:cs typeface="Tomorrow" pitchFamily="34" charset="-120"/>
              </a:rPr>
              <a:t>By 1825, most of Latin America had achieved independence, with the notable exceptions of Cuba and Puerto Rico, which remained Spanish colonies. However, independence did not lead to radical social transformation. The caste system persisted informally, slavery remained legal in many countries (especially Brazil), and the new republics and empires were dominated by Creole elites who had little interest in dismantling existing social hierarchies.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1075</Words>
  <Application>Microsoft Office PowerPoint</Application>
  <PresentationFormat>Personalizado</PresentationFormat>
  <Paragraphs>77</Paragraphs>
  <Slides>8</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Tomorrow</vt:lpstr>
      <vt:lpstr>Tomorrow Semi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Claudio Robelo</cp:lastModifiedBy>
  <cp:revision>4</cp:revision>
  <dcterms:created xsi:type="dcterms:W3CDTF">2025-05-09T20:19:39Z</dcterms:created>
  <dcterms:modified xsi:type="dcterms:W3CDTF">2025-05-21T01:39:34Z</dcterms:modified>
</cp:coreProperties>
</file>