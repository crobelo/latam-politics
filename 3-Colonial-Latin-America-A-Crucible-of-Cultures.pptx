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Tomorrow" panose="020B0604020202020204" charset="0"/>
      <p:regular r:id="rId13"/>
    </p:embeddedFont>
    <p:embeddedFont>
      <p:font typeface="Tomorrow Semi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0" d="100"/>
          <a:sy n="110" d="100"/>
        </p:scale>
        <p:origin x="78" y="-6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41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0F7C370E-422D-CFA2-A85D-7E4A3B844426}"/>
              </a:ext>
            </a:extLst>
          </p:cNvPr>
          <p:cNvSpPr/>
          <p:nvPr userDrawn="1"/>
        </p:nvSpPr>
        <p:spPr>
          <a:xfrm>
            <a:off x="0" y="0"/>
            <a:ext cx="14630400" cy="8229600"/>
          </a:xfrm>
          <a:prstGeom prst="rect">
            <a:avLst/>
          </a:prstGeom>
          <a:solidFill>
            <a:srgbClr val="1D1D1B"/>
          </a:solidFill>
          <a:ln/>
        </p:spPr>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86408"/>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Colonial Crucible</a:t>
            </a:r>
            <a:endParaRPr lang="en-US" sz="4450" dirty="0"/>
          </a:p>
        </p:txBody>
      </p:sp>
      <p:sp>
        <p:nvSpPr>
          <p:cNvPr id="4" name="Text 1"/>
          <p:cNvSpPr/>
          <p:nvPr/>
        </p:nvSpPr>
        <p:spPr>
          <a:xfrm>
            <a:off x="793790" y="2544128"/>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Latin American societies during the colonial period (roughly 1500–1800) were profoundly shaped by Iberian colonization. Rather than a straightforward imposition of Spanish and Portuguese rule, colonization created a cultural, social, and economic crucible where Indigenous, African, and European elements fused in complex and unequal ways.</a:t>
            </a:r>
            <a:endParaRPr lang="en-US" sz="1750" dirty="0"/>
          </a:p>
        </p:txBody>
      </p:sp>
      <p:sp>
        <p:nvSpPr>
          <p:cNvPr id="5" name="Text 2"/>
          <p:cNvSpPr/>
          <p:nvPr/>
        </p:nvSpPr>
        <p:spPr>
          <a:xfrm>
            <a:off x="793790" y="497669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This fusion occurred through economic systems centered on resource extraction, religious and patriarchal hegemony, and processes of transculturation that produced uniquely Latin American cultural forms. The resulting colonial society was characterized by rigid hierarchies yet remarkable diversity across regions.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56603" y="866299"/>
            <a:ext cx="7803594" cy="1196816"/>
          </a:xfrm>
          <a:prstGeom prst="rect">
            <a:avLst/>
          </a:prstGeom>
          <a:noFill/>
          <a:ln/>
        </p:spPr>
        <p:txBody>
          <a:bodyPr wrap="square" lIns="0" tIns="0" rIns="0" bIns="0" rtlCol="0" anchor="t"/>
          <a:lstStyle/>
          <a:p>
            <a:pPr marL="0" indent="0" algn="l">
              <a:lnSpc>
                <a:spcPts val="4700"/>
              </a:lnSpc>
              <a:buNone/>
            </a:pPr>
            <a:r>
              <a:rPr lang="en-US" sz="3750" dirty="0">
                <a:solidFill>
                  <a:srgbClr val="EDEDE8"/>
                </a:solidFill>
                <a:latin typeface="Tomorrow Semi Bold" pitchFamily="34" charset="0"/>
                <a:ea typeface="Tomorrow Semi Bold" pitchFamily="34" charset="-122"/>
                <a:cs typeface="Tomorrow Semi Bold" pitchFamily="34" charset="-120"/>
              </a:rPr>
              <a:t>Silver and Sugar: The Colonial Economic Backbone</a:t>
            </a:r>
            <a:endParaRPr lang="en-US" sz="3750" dirty="0"/>
          </a:p>
        </p:txBody>
      </p:sp>
      <p:sp>
        <p:nvSpPr>
          <p:cNvPr id="4" name="Shape 1"/>
          <p:cNvSpPr/>
          <p:nvPr/>
        </p:nvSpPr>
        <p:spPr>
          <a:xfrm>
            <a:off x="6156603" y="2350294"/>
            <a:ext cx="430887" cy="430887"/>
          </a:xfrm>
          <a:prstGeom prst="roundRect">
            <a:avLst>
              <a:gd name="adj" fmla="val 6667"/>
            </a:avLst>
          </a:prstGeom>
          <a:solidFill>
            <a:srgbClr val="3C3C3A"/>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6228398" y="2386132"/>
            <a:ext cx="287179" cy="359092"/>
          </a:xfrm>
          <a:prstGeom prst="rect">
            <a:avLst/>
          </a:prstGeom>
        </p:spPr>
      </p:pic>
      <p:sp>
        <p:nvSpPr>
          <p:cNvPr id="6" name="Text 2"/>
          <p:cNvSpPr/>
          <p:nvPr/>
        </p:nvSpPr>
        <p:spPr>
          <a:xfrm>
            <a:off x="6778943" y="2416016"/>
            <a:ext cx="3159800" cy="598408"/>
          </a:xfrm>
          <a:prstGeom prst="rect">
            <a:avLst/>
          </a:prstGeom>
          <a:noFill/>
          <a:ln/>
        </p:spPr>
        <p:txBody>
          <a:bodyPr wrap="squar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Silver Mining in Spanish America</a:t>
            </a:r>
            <a:endParaRPr lang="en-US" sz="1850" dirty="0"/>
          </a:p>
        </p:txBody>
      </p:sp>
      <p:sp>
        <p:nvSpPr>
          <p:cNvPr id="7" name="Text 3"/>
          <p:cNvSpPr/>
          <p:nvPr/>
        </p:nvSpPr>
        <p:spPr>
          <a:xfrm>
            <a:off x="6778943" y="3129320"/>
            <a:ext cx="3159800" cy="2451735"/>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Major mines like Zacatecas in Mexico and Potosí in Peru became massive enterprises requiring Indigenous labor. These operations reshaped local economies and created support industries in agriculture, textiles, and transport.</a:t>
            </a:r>
            <a:endParaRPr lang="en-US" sz="1500" dirty="0"/>
          </a:p>
        </p:txBody>
      </p:sp>
      <p:sp>
        <p:nvSpPr>
          <p:cNvPr id="8" name="Shape 4"/>
          <p:cNvSpPr/>
          <p:nvPr/>
        </p:nvSpPr>
        <p:spPr>
          <a:xfrm>
            <a:off x="10178058" y="2350294"/>
            <a:ext cx="430887" cy="430887"/>
          </a:xfrm>
          <a:prstGeom prst="roundRect">
            <a:avLst>
              <a:gd name="adj" fmla="val 6667"/>
            </a:avLst>
          </a:prstGeom>
          <a:solidFill>
            <a:srgbClr val="3C3C3A"/>
          </a:solidFill>
          <a:ln/>
        </p:spPr>
        <p:txBody>
          <a:bodyPr/>
          <a:lstStyle/>
          <a:p>
            <a:endParaRPr lang="en-US"/>
          </a:p>
        </p:txBody>
      </p:sp>
      <p:pic>
        <p:nvPicPr>
          <p:cNvPr id="9" name="Image 2" descr="preencoded.png"/>
          <p:cNvPicPr>
            <a:picLocks noChangeAspect="1"/>
          </p:cNvPicPr>
          <p:nvPr/>
        </p:nvPicPr>
        <p:blipFill>
          <a:blip r:embed="rId5"/>
          <a:stretch>
            <a:fillRect/>
          </a:stretch>
        </p:blipFill>
        <p:spPr>
          <a:xfrm>
            <a:off x="10249853" y="2386132"/>
            <a:ext cx="287179" cy="359092"/>
          </a:xfrm>
          <a:prstGeom prst="rect">
            <a:avLst/>
          </a:prstGeom>
        </p:spPr>
      </p:pic>
      <p:sp>
        <p:nvSpPr>
          <p:cNvPr id="10" name="Text 5"/>
          <p:cNvSpPr/>
          <p:nvPr/>
        </p:nvSpPr>
        <p:spPr>
          <a:xfrm>
            <a:off x="10800398" y="2416016"/>
            <a:ext cx="2393871" cy="299204"/>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Royal Revenue</a:t>
            </a:r>
            <a:endParaRPr lang="en-US" sz="1850" dirty="0"/>
          </a:p>
        </p:txBody>
      </p:sp>
      <p:sp>
        <p:nvSpPr>
          <p:cNvPr id="11" name="Text 6"/>
          <p:cNvSpPr/>
          <p:nvPr/>
        </p:nvSpPr>
        <p:spPr>
          <a:xfrm>
            <a:off x="10800398" y="2830116"/>
            <a:ext cx="3159800" cy="1532334"/>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The "royal fifth" (el quinto real), a 20% tax on all mining production, became the Spanish Crown's main revenue stream, funding imperial ambitions.</a:t>
            </a:r>
            <a:endParaRPr lang="en-US" sz="1500" dirty="0"/>
          </a:p>
        </p:txBody>
      </p:sp>
      <p:sp>
        <p:nvSpPr>
          <p:cNvPr id="12" name="Shape 7"/>
          <p:cNvSpPr/>
          <p:nvPr/>
        </p:nvSpPr>
        <p:spPr>
          <a:xfrm>
            <a:off x="6156603" y="5964079"/>
            <a:ext cx="430887" cy="430887"/>
          </a:xfrm>
          <a:prstGeom prst="roundRect">
            <a:avLst>
              <a:gd name="adj" fmla="val 6667"/>
            </a:avLst>
          </a:prstGeom>
          <a:solidFill>
            <a:srgbClr val="3C3C3A"/>
          </a:solidFill>
          <a:ln/>
        </p:spPr>
        <p:txBody>
          <a:bodyPr/>
          <a:lstStyle/>
          <a:p>
            <a:endParaRPr lang="en-US"/>
          </a:p>
        </p:txBody>
      </p:sp>
      <p:pic>
        <p:nvPicPr>
          <p:cNvPr id="13" name="Image 3" descr="preencoded.png"/>
          <p:cNvPicPr>
            <a:picLocks noChangeAspect="1"/>
          </p:cNvPicPr>
          <p:nvPr/>
        </p:nvPicPr>
        <p:blipFill>
          <a:blip r:embed="rId6"/>
          <a:stretch>
            <a:fillRect/>
          </a:stretch>
        </p:blipFill>
        <p:spPr>
          <a:xfrm>
            <a:off x="6228398" y="5999917"/>
            <a:ext cx="287179" cy="359092"/>
          </a:xfrm>
          <a:prstGeom prst="rect">
            <a:avLst/>
          </a:prstGeom>
        </p:spPr>
      </p:pic>
      <p:sp>
        <p:nvSpPr>
          <p:cNvPr id="14" name="Text 8"/>
          <p:cNvSpPr/>
          <p:nvPr/>
        </p:nvSpPr>
        <p:spPr>
          <a:xfrm>
            <a:off x="6778943" y="6029801"/>
            <a:ext cx="3298031" cy="299204"/>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Brazilian Sugar Plantations</a:t>
            </a:r>
            <a:endParaRPr lang="en-US" sz="1850" dirty="0"/>
          </a:p>
        </p:txBody>
      </p:sp>
      <p:sp>
        <p:nvSpPr>
          <p:cNvPr id="15" name="Text 9"/>
          <p:cNvSpPr/>
          <p:nvPr/>
        </p:nvSpPr>
        <p:spPr>
          <a:xfrm>
            <a:off x="6778943" y="6443901"/>
            <a:ext cx="7181255" cy="919401"/>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Brazil centered its economy on sugar plantations in the Northeast, where vast estates (engenhos) owned by senhores de engenho were worked by enslaved Africans brought from Africa.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9012" y="525542"/>
            <a:ext cx="7790021" cy="597337"/>
          </a:xfrm>
          <a:prstGeom prst="rect">
            <a:avLst/>
          </a:prstGeom>
          <a:noFill/>
          <a:ln/>
        </p:spPr>
        <p:txBody>
          <a:bodyPr wrap="none" lIns="0" tIns="0" rIns="0" bIns="0" rtlCol="0" anchor="t"/>
          <a:lstStyle/>
          <a:p>
            <a:pPr marL="0" indent="0" algn="l">
              <a:lnSpc>
                <a:spcPts val="4700"/>
              </a:lnSpc>
              <a:buNone/>
            </a:pPr>
            <a:r>
              <a:rPr lang="en-US" sz="3750" dirty="0">
                <a:solidFill>
                  <a:srgbClr val="EDEDE8"/>
                </a:solidFill>
                <a:latin typeface="Tomorrow Semi Bold" pitchFamily="34" charset="0"/>
                <a:ea typeface="Tomorrow Semi Bold" pitchFamily="34" charset="-122"/>
                <a:cs typeface="Tomorrow Semi Bold" pitchFamily="34" charset="-120"/>
              </a:rPr>
              <a:t>Colonial Urban Centers of Power</a:t>
            </a:r>
            <a:endParaRPr lang="en-US" sz="3750" dirty="0"/>
          </a:p>
        </p:txBody>
      </p:sp>
      <p:pic>
        <p:nvPicPr>
          <p:cNvPr id="3" name="Image 0" descr="preencoded.png"/>
          <p:cNvPicPr>
            <a:picLocks noChangeAspect="1"/>
          </p:cNvPicPr>
          <p:nvPr/>
        </p:nvPicPr>
        <p:blipFill>
          <a:blip r:embed="rId3"/>
          <a:stretch>
            <a:fillRect/>
          </a:stretch>
        </p:blipFill>
        <p:spPr>
          <a:xfrm>
            <a:off x="3169563" y="1505069"/>
            <a:ext cx="1644848" cy="1101209"/>
          </a:xfrm>
          <a:prstGeom prst="rect">
            <a:avLst/>
          </a:prstGeom>
        </p:spPr>
      </p:pic>
      <p:pic>
        <p:nvPicPr>
          <p:cNvPr id="4" name="Image 1" descr="preencoded.png"/>
          <p:cNvPicPr>
            <a:picLocks noChangeAspect="1"/>
          </p:cNvPicPr>
          <p:nvPr/>
        </p:nvPicPr>
        <p:blipFill>
          <a:blip r:embed="rId4"/>
          <a:stretch>
            <a:fillRect/>
          </a:stretch>
        </p:blipFill>
        <p:spPr>
          <a:xfrm>
            <a:off x="3857625" y="2024063"/>
            <a:ext cx="268724" cy="335994"/>
          </a:xfrm>
          <a:prstGeom prst="rect">
            <a:avLst/>
          </a:prstGeom>
        </p:spPr>
      </p:pic>
      <p:sp>
        <p:nvSpPr>
          <p:cNvPr id="5" name="Text 1"/>
          <p:cNvSpPr/>
          <p:nvPr/>
        </p:nvSpPr>
        <p:spPr>
          <a:xfrm>
            <a:off x="5005507" y="1696164"/>
            <a:ext cx="2389227" cy="298609"/>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Religious Authority</a:t>
            </a:r>
            <a:endParaRPr lang="en-US" sz="1850" dirty="0"/>
          </a:p>
        </p:txBody>
      </p:sp>
      <p:sp>
        <p:nvSpPr>
          <p:cNvPr id="6" name="Text 2"/>
          <p:cNvSpPr/>
          <p:nvPr/>
        </p:nvSpPr>
        <p:spPr>
          <a:xfrm>
            <a:off x="5005507" y="2109430"/>
            <a:ext cx="3127534" cy="305753"/>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Cathedrals dominated city centers</a:t>
            </a:r>
            <a:endParaRPr lang="en-US" sz="1500" dirty="0"/>
          </a:p>
        </p:txBody>
      </p:sp>
      <p:sp>
        <p:nvSpPr>
          <p:cNvPr id="7" name="Shape 3"/>
          <p:cNvSpPr/>
          <p:nvPr/>
        </p:nvSpPr>
        <p:spPr>
          <a:xfrm>
            <a:off x="4862155" y="2620566"/>
            <a:ext cx="9051488" cy="11430"/>
          </a:xfrm>
          <a:prstGeom prst="roundRect">
            <a:avLst>
              <a:gd name="adj" fmla="val 250849"/>
            </a:avLst>
          </a:prstGeom>
          <a:solidFill>
            <a:srgbClr val="555553"/>
          </a:solidFill>
          <a:ln/>
        </p:spPr>
        <p:txBody>
          <a:bodyPr/>
          <a:lstStyle/>
          <a:p>
            <a:endParaRPr lang="en-US"/>
          </a:p>
        </p:txBody>
      </p:sp>
      <p:pic>
        <p:nvPicPr>
          <p:cNvPr id="8" name="Image 2" descr="preencoded.png"/>
          <p:cNvPicPr>
            <a:picLocks noChangeAspect="1"/>
          </p:cNvPicPr>
          <p:nvPr/>
        </p:nvPicPr>
        <p:blipFill>
          <a:blip r:embed="rId5"/>
          <a:stretch>
            <a:fillRect/>
          </a:stretch>
        </p:blipFill>
        <p:spPr>
          <a:xfrm>
            <a:off x="2347079" y="2654022"/>
            <a:ext cx="3289816" cy="1101209"/>
          </a:xfrm>
          <a:prstGeom prst="rect">
            <a:avLst/>
          </a:prstGeom>
        </p:spPr>
      </p:pic>
      <p:pic>
        <p:nvPicPr>
          <p:cNvPr id="9" name="Image 3" descr="preencoded.png"/>
          <p:cNvPicPr>
            <a:picLocks noChangeAspect="1"/>
          </p:cNvPicPr>
          <p:nvPr/>
        </p:nvPicPr>
        <p:blipFill>
          <a:blip r:embed="rId6"/>
          <a:stretch>
            <a:fillRect/>
          </a:stretch>
        </p:blipFill>
        <p:spPr>
          <a:xfrm>
            <a:off x="3857625" y="3036570"/>
            <a:ext cx="268724" cy="335994"/>
          </a:xfrm>
          <a:prstGeom prst="rect">
            <a:avLst/>
          </a:prstGeom>
        </p:spPr>
      </p:pic>
      <p:sp>
        <p:nvSpPr>
          <p:cNvPr id="10" name="Text 4"/>
          <p:cNvSpPr/>
          <p:nvPr/>
        </p:nvSpPr>
        <p:spPr>
          <a:xfrm>
            <a:off x="5827990" y="2845118"/>
            <a:ext cx="2827615" cy="298609"/>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Political Administration</a:t>
            </a:r>
            <a:endParaRPr lang="en-US" sz="1850" dirty="0"/>
          </a:p>
        </p:txBody>
      </p:sp>
      <p:sp>
        <p:nvSpPr>
          <p:cNvPr id="11" name="Text 5"/>
          <p:cNvSpPr/>
          <p:nvPr/>
        </p:nvSpPr>
        <p:spPr>
          <a:xfrm>
            <a:off x="5827990" y="3258383"/>
            <a:ext cx="2905839" cy="305753"/>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Viceroys and councils governed</a:t>
            </a:r>
            <a:endParaRPr lang="en-US" sz="1500" dirty="0"/>
          </a:p>
        </p:txBody>
      </p:sp>
      <p:sp>
        <p:nvSpPr>
          <p:cNvPr id="12" name="Shape 6"/>
          <p:cNvSpPr/>
          <p:nvPr/>
        </p:nvSpPr>
        <p:spPr>
          <a:xfrm>
            <a:off x="5684639" y="3769519"/>
            <a:ext cx="8229005" cy="11430"/>
          </a:xfrm>
          <a:prstGeom prst="roundRect">
            <a:avLst>
              <a:gd name="adj" fmla="val 250849"/>
            </a:avLst>
          </a:prstGeom>
          <a:solidFill>
            <a:srgbClr val="555553"/>
          </a:solidFill>
          <a:ln/>
        </p:spPr>
        <p:txBody>
          <a:bodyPr/>
          <a:lstStyle/>
          <a:p>
            <a:endParaRPr lang="en-US"/>
          </a:p>
        </p:txBody>
      </p:sp>
      <p:pic>
        <p:nvPicPr>
          <p:cNvPr id="13" name="Image 4" descr="preencoded.png"/>
          <p:cNvPicPr>
            <a:picLocks noChangeAspect="1"/>
          </p:cNvPicPr>
          <p:nvPr/>
        </p:nvPicPr>
        <p:blipFill>
          <a:blip r:embed="rId7"/>
          <a:stretch>
            <a:fillRect/>
          </a:stretch>
        </p:blipFill>
        <p:spPr>
          <a:xfrm>
            <a:off x="1524595" y="3802975"/>
            <a:ext cx="4934783" cy="1101209"/>
          </a:xfrm>
          <a:prstGeom prst="rect">
            <a:avLst/>
          </a:prstGeom>
        </p:spPr>
      </p:pic>
      <p:pic>
        <p:nvPicPr>
          <p:cNvPr id="14" name="Image 5" descr="preencoded.png"/>
          <p:cNvPicPr>
            <a:picLocks noChangeAspect="1"/>
          </p:cNvPicPr>
          <p:nvPr/>
        </p:nvPicPr>
        <p:blipFill>
          <a:blip r:embed="rId8"/>
          <a:stretch>
            <a:fillRect/>
          </a:stretch>
        </p:blipFill>
        <p:spPr>
          <a:xfrm>
            <a:off x="3857506" y="4185523"/>
            <a:ext cx="268724" cy="335994"/>
          </a:xfrm>
          <a:prstGeom prst="rect">
            <a:avLst/>
          </a:prstGeom>
        </p:spPr>
      </p:pic>
      <p:sp>
        <p:nvSpPr>
          <p:cNvPr id="15" name="Text 7"/>
          <p:cNvSpPr/>
          <p:nvPr/>
        </p:nvSpPr>
        <p:spPr>
          <a:xfrm>
            <a:off x="6650474" y="3994071"/>
            <a:ext cx="2897862" cy="298609"/>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Educational Institutions</a:t>
            </a:r>
            <a:endParaRPr lang="en-US" sz="1850" dirty="0"/>
          </a:p>
        </p:txBody>
      </p:sp>
      <p:sp>
        <p:nvSpPr>
          <p:cNvPr id="16" name="Text 8"/>
          <p:cNvSpPr/>
          <p:nvPr/>
        </p:nvSpPr>
        <p:spPr>
          <a:xfrm>
            <a:off x="6650474" y="4407337"/>
            <a:ext cx="3047881" cy="305753"/>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Universities trained colonial elites</a:t>
            </a:r>
            <a:endParaRPr lang="en-US" sz="1500" dirty="0"/>
          </a:p>
        </p:txBody>
      </p:sp>
      <p:sp>
        <p:nvSpPr>
          <p:cNvPr id="17" name="Shape 9"/>
          <p:cNvSpPr/>
          <p:nvPr/>
        </p:nvSpPr>
        <p:spPr>
          <a:xfrm>
            <a:off x="6507123" y="4918472"/>
            <a:ext cx="7406521" cy="11430"/>
          </a:xfrm>
          <a:prstGeom prst="roundRect">
            <a:avLst>
              <a:gd name="adj" fmla="val 250849"/>
            </a:avLst>
          </a:prstGeom>
          <a:solidFill>
            <a:srgbClr val="555553"/>
          </a:solidFill>
          <a:ln/>
        </p:spPr>
        <p:txBody>
          <a:bodyPr/>
          <a:lstStyle/>
          <a:p>
            <a:endParaRPr lang="en-US"/>
          </a:p>
        </p:txBody>
      </p:sp>
      <p:pic>
        <p:nvPicPr>
          <p:cNvPr id="18" name="Image 6" descr="preencoded.png"/>
          <p:cNvPicPr>
            <a:picLocks noChangeAspect="1"/>
          </p:cNvPicPr>
          <p:nvPr/>
        </p:nvPicPr>
        <p:blipFill>
          <a:blip r:embed="rId9"/>
          <a:stretch>
            <a:fillRect/>
          </a:stretch>
        </p:blipFill>
        <p:spPr>
          <a:xfrm>
            <a:off x="702231" y="4951928"/>
            <a:ext cx="6579632" cy="1101209"/>
          </a:xfrm>
          <a:prstGeom prst="rect">
            <a:avLst/>
          </a:prstGeom>
        </p:spPr>
      </p:pic>
      <p:pic>
        <p:nvPicPr>
          <p:cNvPr id="19" name="Image 7" descr="preencoded.png"/>
          <p:cNvPicPr>
            <a:picLocks noChangeAspect="1"/>
          </p:cNvPicPr>
          <p:nvPr/>
        </p:nvPicPr>
        <p:blipFill>
          <a:blip r:embed="rId10"/>
          <a:stretch>
            <a:fillRect/>
          </a:stretch>
        </p:blipFill>
        <p:spPr>
          <a:xfrm>
            <a:off x="3857625" y="5334476"/>
            <a:ext cx="268724" cy="335994"/>
          </a:xfrm>
          <a:prstGeom prst="rect">
            <a:avLst/>
          </a:prstGeom>
        </p:spPr>
      </p:pic>
      <p:sp>
        <p:nvSpPr>
          <p:cNvPr id="20" name="Text 10"/>
          <p:cNvSpPr/>
          <p:nvPr/>
        </p:nvSpPr>
        <p:spPr>
          <a:xfrm>
            <a:off x="7472958" y="5143024"/>
            <a:ext cx="2389227" cy="298609"/>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Economic Activity</a:t>
            </a:r>
            <a:endParaRPr lang="en-US" sz="1850" dirty="0"/>
          </a:p>
        </p:txBody>
      </p:sp>
      <p:sp>
        <p:nvSpPr>
          <p:cNvPr id="21" name="Text 11"/>
          <p:cNvSpPr/>
          <p:nvPr/>
        </p:nvSpPr>
        <p:spPr>
          <a:xfrm>
            <a:off x="7472958" y="5556290"/>
            <a:ext cx="2543175" cy="305753"/>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Markets and trade networks</a:t>
            </a:r>
            <a:endParaRPr lang="en-US" sz="1500" dirty="0"/>
          </a:p>
        </p:txBody>
      </p:sp>
      <p:sp>
        <p:nvSpPr>
          <p:cNvPr id="22" name="Text 12"/>
          <p:cNvSpPr/>
          <p:nvPr/>
        </p:nvSpPr>
        <p:spPr>
          <a:xfrm>
            <a:off x="669012" y="6268164"/>
            <a:ext cx="13292376" cy="611505"/>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The wealthiest colonial centers formed around mining zones—Mexico City, Lima, and later Bogotá and Buenos Aires. These cities served as administrative centers with rigid colonial order, where European urban planning principles were imposed on the New World landscape.</a:t>
            </a:r>
            <a:endParaRPr lang="en-US" sz="1500" dirty="0"/>
          </a:p>
        </p:txBody>
      </p:sp>
      <p:sp>
        <p:nvSpPr>
          <p:cNvPr id="23" name="Text 13"/>
          <p:cNvSpPr/>
          <p:nvPr/>
        </p:nvSpPr>
        <p:spPr>
          <a:xfrm>
            <a:off x="669012" y="7094696"/>
            <a:ext cx="13292376" cy="611505"/>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Though dominated by White elites, these urban centers became crucibles of cultural exchange, home to Mestizos, Blacks, and Indigenous migrants who collectively shaped Latin American popular culture despite social stratification.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40130"/>
            <a:ext cx="9814917"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Hegemony: Rule Through Consent</a:t>
            </a:r>
            <a:endParaRPr lang="en-US" sz="4450" dirty="0"/>
          </a:p>
        </p:txBody>
      </p:sp>
      <p:sp>
        <p:nvSpPr>
          <p:cNvPr id="3" name="Text 1"/>
          <p:cNvSpPr/>
          <p:nvPr/>
        </p:nvSpPr>
        <p:spPr>
          <a:xfrm>
            <a:off x="793790" y="2315885"/>
            <a:ext cx="2864048"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The Catholic Church</a:t>
            </a:r>
            <a:endParaRPr lang="en-US" sz="2200" dirty="0"/>
          </a:p>
        </p:txBody>
      </p:sp>
      <p:sp>
        <p:nvSpPr>
          <p:cNvPr id="4" name="Text 2"/>
          <p:cNvSpPr/>
          <p:nvPr/>
        </p:nvSpPr>
        <p:spPr>
          <a:xfrm>
            <a:off x="793790" y="2897029"/>
            <a:ext cx="6244709"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Church played a central hegemonic role, blending spiritual authority with political legitimacy. It controlled time through religious calendars, education through mission schools, and everyday rituals through sacraments.</a:t>
            </a:r>
            <a:endParaRPr lang="en-US" sz="1750" dirty="0"/>
          </a:p>
        </p:txBody>
      </p:sp>
      <p:sp>
        <p:nvSpPr>
          <p:cNvPr id="5" name="Text 3"/>
          <p:cNvSpPr/>
          <p:nvPr/>
        </p:nvSpPr>
        <p:spPr>
          <a:xfrm>
            <a:off x="793790" y="4915614"/>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Its authority was presented as divinely ordained, making resistance seem not just illegal but sinful.</a:t>
            </a:r>
            <a:endParaRPr lang="en-US" sz="1750" dirty="0"/>
          </a:p>
        </p:txBody>
      </p:sp>
      <p:sp>
        <p:nvSpPr>
          <p:cNvPr id="6" name="Text 4"/>
          <p:cNvSpPr/>
          <p:nvPr/>
        </p:nvSpPr>
        <p:spPr>
          <a:xfrm>
            <a:off x="7599521" y="23158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Patriarchal Order</a:t>
            </a:r>
            <a:endParaRPr lang="en-US" sz="2200" dirty="0"/>
          </a:p>
        </p:txBody>
      </p:sp>
      <p:sp>
        <p:nvSpPr>
          <p:cNvPr id="7" name="Text 5"/>
          <p:cNvSpPr/>
          <p:nvPr/>
        </p:nvSpPr>
        <p:spPr>
          <a:xfrm>
            <a:off x="7599521" y="2897029"/>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Patriarchy served as another pillar of hegemony. Fathers ruled over households just as kings ruled over colonies, creating parallel structures of authority.</a:t>
            </a:r>
            <a:endParaRPr lang="en-US" sz="1750" dirty="0"/>
          </a:p>
        </p:txBody>
      </p:sp>
      <p:sp>
        <p:nvSpPr>
          <p:cNvPr id="8" name="Text 6"/>
          <p:cNvSpPr/>
          <p:nvPr/>
        </p:nvSpPr>
        <p:spPr>
          <a:xfrm>
            <a:off x="7599521" y="4189809"/>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Honor was defined differently for men and women, reinforcing strict gender roles and sexual double standards that maintained social control.</a:t>
            </a:r>
            <a:endParaRPr lang="en-US" sz="1750" dirty="0"/>
          </a:p>
        </p:txBody>
      </p:sp>
      <p:sp>
        <p:nvSpPr>
          <p:cNvPr id="9" name="Text 7"/>
          <p:cNvSpPr/>
          <p:nvPr/>
        </p:nvSpPr>
        <p:spPr>
          <a:xfrm>
            <a:off x="793790" y="6100643"/>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Hegemony explains how Iberian colonial control lasted for centuries without constant military enforcement. It represents rule by consent, where those at the bottom accept a social order that disadvantages them as "natural" or "just."</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47078" y="806529"/>
            <a:ext cx="7116366" cy="589955"/>
          </a:xfrm>
          <a:prstGeom prst="rect">
            <a:avLst/>
          </a:prstGeom>
          <a:noFill/>
          <a:ln/>
        </p:spPr>
        <p:txBody>
          <a:bodyPr wrap="none" lIns="0" tIns="0" rIns="0" bIns="0" rtlCol="0" anchor="t"/>
          <a:lstStyle/>
          <a:p>
            <a:pPr marL="0" indent="0" algn="l">
              <a:lnSpc>
                <a:spcPts val="4600"/>
              </a:lnSpc>
              <a:buNone/>
            </a:pPr>
            <a:r>
              <a:rPr lang="en-US" sz="3700" dirty="0">
                <a:solidFill>
                  <a:srgbClr val="EDEDE8"/>
                </a:solidFill>
                <a:latin typeface="Tomorrow Semi Bold" pitchFamily="34" charset="0"/>
                <a:ea typeface="Tomorrow Semi Bold" pitchFamily="34" charset="-122"/>
                <a:cs typeface="Tomorrow Semi Bold" pitchFamily="34" charset="-120"/>
              </a:rPr>
              <a:t>Resistance Within the System</a:t>
            </a:r>
            <a:endParaRPr lang="en-US" sz="3700" dirty="0"/>
          </a:p>
        </p:txBody>
      </p:sp>
      <p:sp>
        <p:nvSpPr>
          <p:cNvPr id="4" name="Shape 1"/>
          <p:cNvSpPr/>
          <p:nvPr/>
        </p:nvSpPr>
        <p:spPr>
          <a:xfrm>
            <a:off x="6359366" y="1679615"/>
            <a:ext cx="22860" cy="5743337"/>
          </a:xfrm>
          <a:prstGeom prst="roundRect">
            <a:avLst>
              <a:gd name="adj" fmla="val 123876"/>
            </a:avLst>
          </a:prstGeom>
          <a:solidFill>
            <a:srgbClr val="555553"/>
          </a:solidFill>
          <a:ln/>
        </p:spPr>
        <p:txBody>
          <a:bodyPr/>
          <a:lstStyle/>
          <a:p>
            <a:endParaRPr lang="en-US"/>
          </a:p>
        </p:txBody>
      </p:sp>
      <p:sp>
        <p:nvSpPr>
          <p:cNvPr id="5" name="Shape 2"/>
          <p:cNvSpPr/>
          <p:nvPr/>
        </p:nvSpPr>
        <p:spPr>
          <a:xfrm>
            <a:off x="6548854" y="1880473"/>
            <a:ext cx="566261" cy="22860"/>
          </a:xfrm>
          <a:prstGeom prst="roundRect">
            <a:avLst>
              <a:gd name="adj" fmla="val 123876"/>
            </a:avLst>
          </a:prstGeom>
          <a:solidFill>
            <a:srgbClr val="555553"/>
          </a:solidFill>
          <a:ln/>
        </p:spPr>
        <p:txBody>
          <a:bodyPr/>
          <a:lstStyle/>
          <a:p>
            <a:endParaRPr lang="en-US"/>
          </a:p>
        </p:txBody>
      </p:sp>
      <p:sp>
        <p:nvSpPr>
          <p:cNvPr id="6" name="Shape 3"/>
          <p:cNvSpPr/>
          <p:nvPr/>
        </p:nvSpPr>
        <p:spPr>
          <a:xfrm>
            <a:off x="6147018" y="1679615"/>
            <a:ext cx="424696" cy="424696"/>
          </a:xfrm>
          <a:prstGeom prst="roundRect">
            <a:avLst>
              <a:gd name="adj" fmla="val 6668"/>
            </a:avLst>
          </a:prstGeom>
          <a:solidFill>
            <a:srgbClr val="3C3C3A"/>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6217741" y="1714917"/>
            <a:ext cx="283131" cy="353973"/>
          </a:xfrm>
          <a:prstGeom prst="rect">
            <a:avLst/>
          </a:prstGeom>
        </p:spPr>
      </p:pic>
      <p:sp>
        <p:nvSpPr>
          <p:cNvPr id="8" name="Text 4"/>
          <p:cNvSpPr/>
          <p:nvPr/>
        </p:nvSpPr>
        <p:spPr>
          <a:xfrm>
            <a:off x="7303294" y="1744504"/>
            <a:ext cx="3050977" cy="294918"/>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Sor Juana Inés de la Cruz</a:t>
            </a:r>
            <a:endParaRPr lang="en-US" sz="1850" dirty="0"/>
          </a:p>
        </p:txBody>
      </p:sp>
      <p:sp>
        <p:nvSpPr>
          <p:cNvPr id="9" name="Text 5"/>
          <p:cNvSpPr/>
          <p:nvPr/>
        </p:nvSpPr>
        <p:spPr>
          <a:xfrm>
            <a:off x="7303294" y="2152650"/>
            <a:ext cx="6666428" cy="906185"/>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This brilliant nun challenged gender norms through her writing but was ultimately silenced for exceeding the limits of what women were expected to be.</a:t>
            </a:r>
            <a:endParaRPr lang="en-US" sz="1450" dirty="0"/>
          </a:p>
        </p:txBody>
      </p:sp>
      <p:sp>
        <p:nvSpPr>
          <p:cNvPr id="10" name="Shape 6"/>
          <p:cNvSpPr/>
          <p:nvPr/>
        </p:nvSpPr>
        <p:spPr>
          <a:xfrm>
            <a:off x="6548854" y="3637240"/>
            <a:ext cx="566261" cy="22860"/>
          </a:xfrm>
          <a:prstGeom prst="roundRect">
            <a:avLst>
              <a:gd name="adj" fmla="val 123876"/>
            </a:avLst>
          </a:prstGeom>
          <a:solidFill>
            <a:srgbClr val="555553"/>
          </a:solidFill>
          <a:ln/>
        </p:spPr>
        <p:txBody>
          <a:bodyPr/>
          <a:lstStyle/>
          <a:p>
            <a:endParaRPr lang="en-US"/>
          </a:p>
        </p:txBody>
      </p:sp>
      <p:sp>
        <p:nvSpPr>
          <p:cNvPr id="11" name="Shape 7"/>
          <p:cNvSpPr/>
          <p:nvPr/>
        </p:nvSpPr>
        <p:spPr>
          <a:xfrm>
            <a:off x="6147018" y="3436382"/>
            <a:ext cx="424696" cy="424696"/>
          </a:xfrm>
          <a:prstGeom prst="roundRect">
            <a:avLst>
              <a:gd name="adj" fmla="val 6668"/>
            </a:avLst>
          </a:prstGeom>
          <a:solidFill>
            <a:srgbClr val="3C3C3A"/>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6217741" y="3471684"/>
            <a:ext cx="283131" cy="353973"/>
          </a:xfrm>
          <a:prstGeom prst="rect">
            <a:avLst/>
          </a:prstGeom>
        </p:spPr>
      </p:pic>
      <p:sp>
        <p:nvSpPr>
          <p:cNvPr id="13" name="Text 8"/>
          <p:cNvSpPr/>
          <p:nvPr/>
        </p:nvSpPr>
        <p:spPr>
          <a:xfrm>
            <a:off x="7303294" y="3501271"/>
            <a:ext cx="3476387" cy="294918"/>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Syncretic Religious Practices</a:t>
            </a:r>
            <a:endParaRPr lang="en-US" sz="1850" dirty="0"/>
          </a:p>
        </p:txBody>
      </p:sp>
      <p:sp>
        <p:nvSpPr>
          <p:cNvPr id="14" name="Text 9"/>
          <p:cNvSpPr/>
          <p:nvPr/>
        </p:nvSpPr>
        <p:spPr>
          <a:xfrm>
            <a:off x="7303294" y="3909417"/>
            <a:ext cx="6666428" cy="604123"/>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Indigenous and African peoples maintained their spiritual traditions by hiding them within Catholic practices, creating unique blended religions.</a:t>
            </a:r>
            <a:endParaRPr lang="en-US" sz="1450" dirty="0"/>
          </a:p>
        </p:txBody>
      </p:sp>
      <p:sp>
        <p:nvSpPr>
          <p:cNvPr id="15" name="Shape 10"/>
          <p:cNvSpPr/>
          <p:nvPr/>
        </p:nvSpPr>
        <p:spPr>
          <a:xfrm>
            <a:off x="6548854" y="5091946"/>
            <a:ext cx="566261" cy="22860"/>
          </a:xfrm>
          <a:prstGeom prst="roundRect">
            <a:avLst>
              <a:gd name="adj" fmla="val 123876"/>
            </a:avLst>
          </a:prstGeom>
          <a:solidFill>
            <a:srgbClr val="555553"/>
          </a:solidFill>
          <a:ln/>
        </p:spPr>
        <p:txBody>
          <a:bodyPr/>
          <a:lstStyle/>
          <a:p>
            <a:endParaRPr lang="en-US"/>
          </a:p>
        </p:txBody>
      </p:sp>
      <p:sp>
        <p:nvSpPr>
          <p:cNvPr id="16" name="Shape 11"/>
          <p:cNvSpPr/>
          <p:nvPr/>
        </p:nvSpPr>
        <p:spPr>
          <a:xfrm>
            <a:off x="6147018" y="4891088"/>
            <a:ext cx="424696" cy="424696"/>
          </a:xfrm>
          <a:prstGeom prst="roundRect">
            <a:avLst>
              <a:gd name="adj" fmla="val 6668"/>
            </a:avLst>
          </a:prstGeom>
          <a:solidFill>
            <a:srgbClr val="3C3C3A"/>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6217741" y="4926390"/>
            <a:ext cx="283131" cy="353973"/>
          </a:xfrm>
          <a:prstGeom prst="rect">
            <a:avLst/>
          </a:prstGeom>
        </p:spPr>
      </p:pic>
      <p:sp>
        <p:nvSpPr>
          <p:cNvPr id="18" name="Text 12"/>
          <p:cNvSpPr/>
          <p:nvPr/>
        </p:nvSpPr>
        <p:spPr>
          <a:xfrm>
            <a:off x="7303294" y="4955977"/>
            <a:ext cx="2359819" cy="294918"/>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Inquisition Cases</a:t>
            </a:r>
            <a:endParaRPr lang="en-US" sz="1850" dirty="0"/>
          </a:p>
        </p:txBody>
      </p:sp>
      <p:sp>
        <p:nvSpPr>
          <p:cNvPr id="19" name="Text 13"/>
          <p:cNvSpPr/>
          <p:nvPr/>
        </p:nvSpPr>
        <p:spPr>
          <a:xfrm>
            <a:off x="7303294" y="5364123"/>
            <a:ext cx="6666428" cy="604123"/>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Records show how women, Indigenous people, and African slaves resisted through religion, magic, and everyday acts of disobedience.</a:t>
            </a:r>
            <a:endParaRPr lang="en-US" sz="1450" dirty="0"/>
          </a:p>
        </p:txBody>
      </p:sp>
      <p:sp>
        <p:nvSpPr>
          <p:cNvPr id="20" name="Shape 14"/>
          <p:cNvSpPr/>
          <p:nvPr/>
        </p:nvSpPr>
        <p:spPr>
          <a:xfrm>
            <a:off x="6548854" y="6546652"/>
            <a:ext cx="566261" cy="22860"/>
          </a:xfrm>
          <a:prstGeom prst="roundRect">
            <a:avLst>
              <a:gd name="adj" fmla="val 123876"/>
            </a:avLst>
          </a:prstGeom>
          <a:solidFill>
            <a:srgbClr val="555553"/>
          </a:solidFill>
          <a:ln/>
        </p:spPr>
        <p:txBody>
          <a:bodyPr/>
          <a:lstStyle/>
          <a:p>
            <a:endParaRPr lang="en-US"/>
          </a:p>
        </p:txBody>
      </p:sp>
      <p:sp>
        <p:nvSpPr>
          <p:cNvPr id="21" name="Shape 15"/>
          <p:cNvSpPr/>
          <p:nvPr/>
        </p:nvSpPr>
        <p:spPr>
          <a:xfrm>
            <a:off x="6147018" y="6345793"/>
            <a:ext cx="424696" cy="424696"/>
          </a:xfrm>
          <a:prstGeom prst="roundRect">
            <a:avLst>
              <a:gd name="adj" fmla="val 6668"/>
            </a:avLst>
          </a:prstGeom>
          <a:solidFill>
            <a:srgbClr val="3C3C3A"/>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6217741" y="6381095"/>
            <a:ext cx="283131" cy="353973"/>
          </a:xfrm>
          <a:prstGeom prst="rect">
            <a:avLst/>
          </a:prstGeom>
        </p:spPr>
      </p:pic>
      <p:sp>
        <p:nvSpPr>
          <p:cNvPr id="23" name="Text 16"/>
          <p:cNvSpPr/>
          <p:nvPr/>
        </p:nvSpPr>
        <p:spPr>
          <a:xfrm>
            <a:off x="7303294" y="6410682"/>
            <a:ext cx="3008948" cy="294918"/>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Tupac Amaru II Rebellion</a:t>
            </a:r>
            <a:endParaRPr lang="en-US" sz="1850" dirty="0"/>
          </a:p>
        </p:txBody>
      </p:sp>
      <p:sp>
        <p:nvSpPr>
          <p:cNvPr id="24" name="Text 17"/>
          <p:cNvSpPr/>
          <p:nvPr/>
        </p:nvSpPr>
        <p:spPr>
          <a:xfrm>
            <a:off x="7303294" y="6818828"/>
            <a:ext cx="6666428" cy="604123"/>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By the late colonial period, cross-class and cross-caste rebellions emerged, such as that led by Tupac Amaru II in Peru.</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2108" y="528042"/>
            <a:ext cx="10310336" cy="600194"/>
          </a:xfrm>
          <a:prstGeom prst="rect">
            <a:avLst/>
          </a:prstGeom>
          <a:noFill/>
          <a:ln/>
        </p:spPr>
        <p:txBody>
          <a:bodyPr wrap="none" lIns="0" tIns="0" rIns="0" bIns="0" rtlCol="0" anchor="t"/>
          <a:lstStyle/>
          <a:p>
            <a:pPr marL="0" indent="0" algn="l">
              <a:lnSpc>
                <a:spcPts val="4700"/>
              </a:lnSpc>
              <a:buNone/>
            </a:pPr>
            <a:r>
              <a:rPr lang="en-US" sz="3750" dirty="0">
                <a:solidFill>
                  <a:srgbClr val="EDEDE8"/>
                </a:solidFill>
                <a:latin typeface="Tomorrow Semi Bold" pitchFamily="34" charset="0"/>
                <a:ea typeface="Tomorrow Semi Bold" pitchFamily="34" charset="-122"/>
                <a:cs typeface="Tomorrow Semi Bold" pitchFamily="34" charset="-120"/>
              </a:rPr>
              <a:t>Transculturation: Creating Something New</a:t>
            </a:r>
            <a:endParaRPr lang="en-US" sz="3750" dirty="0"/>
          </a:p>
        </p:txBody>
      </p:sp>
      <p:sp>
        <p:nvSpPr>
          <p:cNvPr id="3" name="Text 1"/>
          <p:cNvSpPr/>
          <p:nvPr/>
        </p:nvSpPr>
        <p:spPr>
          <a:xfrm>
            <a:off x="2301597" y="2164794"/>
            <a:ext cx="2400538" cy="300038"/>
          </a:xfrm>
          <a:prstGeom prst="rect">
            <a:avLst/>
          </a:prstGeom>
          <a:noFill/>
          <a:ln/>
        </p:spPr>
        <p:txBody>
          <a:bodyPr wrap="none" lIns="0" tIns="0" rIns="0" bIns="0" rtlCol="0" anchor="t"/>
          <a:lstStyle/>
          <a:p>
            <a:pPr marL="0" indent="0" algn="r">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European Elements</a:t>
            </a:r>
            <a:endParaRPr lang="en-US" sz="1850" dirty="0"/>
          </a:p>
        </p:txBody>
      </p:sp>
      <p:sp>
        <p:nvSpPr>
          <p:cNvPr id="4" name="Text 2"/>
          <p:cNvSpPr/>
          <p:nvPr/>
        </p:nvSpPr>
        <p:spPr>
          <a:xfrm>
            <a:off x="672108" y="2579965"/>
            <a:ext cx="4030028" cy="307181"/>
          </a:xfrm>
          <a:prstGeom prst="rect">
            <a:avLst/>
          </a:prstGeom>
          <a:noFill/>
          <a:ln/>
        </p:spPr>
        <p:txBody>
          <a:bodyPr wrap="none" lIns="0" tIns="0" rIns="0" bIns="0" rtlCol="0" anchor="t"/>
          <a:lstStyle/>
          <a:p>
            <a:pPr marL="0" indent="0" algn="r">
              <a:lnSpc>
                <a:spcPts val="2400"/>
              </a:lnSpc>
              <a:buNone/>
            </a:pPr>
            <a:r>
              <a:rPr lang="en-US" sz="1500" dirty="0">
                <a:solidFill>
                  <a:srgbClr val="C9C9C0"/>
                </a:solidFill>
                <a:latin typeface="Tomorrow" pitchFamily="34" charset="0"/>
                <a:ea typeface="Tomorrow" pitchFamily="34" charset="-122"/>
                <a:cs typeface="Tomorrow" pitchFamily="34" charset="-120"/>
              </a:rPr>
              <a:t>Catholic religion, language, governance</a:t>
            </a:r>
            <a:endParaRPr lang="en-US" sz="1500" dirty="0"/>
          </a:p>
        </p:txBody>
      </p:sp>
      <p:pic>
        <p:nvPicPr>
          <p:cNvPr id="5" name="Image 0" descr="preencoded.png"/>
          <p:cNvPicPr>
            <a:picLocks noChangeAspect="1"/>
          </p:cNvPicPr>
          <p:nvPr/>
        </p:nvPicPr>
        <p:blipFill>
          <a:blip r:embed="rId3"/>
          <a:stretch>
            <a:fillRect/>
          </a:stretch>
        </p:blipFill>
        <p:spPr>
          <a:xfrm>
            <a:off x="4990148" y="1512332"/>
            <a:ext cx="4650105" cy="4650105"/>
          </a:xfrm>
          <a:prstGeom prst="rect">
            <a:avLst/>
          </a:prstGeom>
        </p:spPr>
      </p:pic>
      <p:pic>
        <p:nvPicPr>
          <p:cNvPr id="6" name="Image 1" descr="preencoded.png"/>
          <p:cNvPicPr>
            <a:picLocks noChangeAspect="1"/>
          </p:cNvPicPr>
          <p:nvPr/>
        </p:nvPicPr>
        <p:blipFill>
          <a:blip r:embed="rId4"/>
          <a:stretch>
            <a:fillRect/>
          </a:stretch>
        </p:blipFill>
        <p:spPr>
          <a:xfrm>
            <a:off x="6235541" y="2326243"/>
            <a:ext cx="287298" cy="359092"/>
          </a:xfrm>
          <a:prstGeom prst="rect">
            <a:avLst/>
          </a:prstGeom>
        </p:spPr>
      </p:pic>
      <p:sp>
        <p:nvSpPr>
          <p:cNvPr id="7" name="Text 3"/>
          <p:cNvSpPr/>
          <p:nvPr/>
        </p:nvSpPr>
        <p:spPr>
          <a:xfrm>
            <a:off x="9928265" y="2164794"/>
            <a:ext cx="3118009" cy="300038"/>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Indigenous Contributions</a:t>
            </a:r>
            <a:endParaRPr lang="en-US" sz="1850" dirty="0"/>
          </a:p>
        </p:txBody>
      </p:sp>
      <p:sp>
        <p:nvSpPr>
          <p:cNvPr id="8" name="Text 4"/>
          <p:cNvSpPr/>
          <p:nvPr/>
        </p:nvSpPr>
        <p:spPr>
          <a:xfrm>
            <a:off x="9928265" y="2579965"/>
            <a:ext cx="4030028" cy="307181"/>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Foods, medicinal knowledge, artistic motifs</a:t>
            </a:r>
            <a:endParaRPr lang="en-US" sz="1500" dirty="0"/>
          </a:p>
        </p:txBody>
      </p:sp>
      <p:pic>
        <p:nvPicPr>
          <p:cNvPr id="9" name="Image 2" descr="preencoded.png"/>
          <p:cNvPicPr>
            <a:picLocks noChangeAspect="1"/>
          </p:cNvPicPr>
          <p:nvPr/>
        </p:nvPicPr>
        <p:blipFill>
          <a:blip r:embed="rId5"/>
          <a:stretch>
            <a:fillRect/>
          </a:stretch>
        </p:blipFill>
        <p:spPr>
          <a:xfrm>
            <a:off x="4990148" y="1512332"/>
            <a:ext cx="4650105" cy="4650105"/>
          </a:xfrm>
          <a:prstGeom prst="rect">
            <a:avLst/>
          </a:prstGeom>
        </p:spPr>
      </p:pic>
      <p:pic>
        <p:nvPicPr>
          <p:cNvPr id="10" name="Image 3" descr="preencoded.png"/>
          <p:cNvPicPr>
            <a:picLocks noChangeAspect="1"/>
          </p:cNvPicPr>
          <p:nvPr/>
        </p:nvPicPr>
        <p:blipFill>
          <a:blip r:embed="rId6"/>
          <a:stretch>
            <a:fillRect/>
          </a:stretch>
        </p:blipFill>
        <p:spPr>
          <a:xfrm>
            <a:off x="8502968" y="2721888"/>
            <a:ext cx="287298" cy="359092"/>
          </a:xfrm>
          <a:prstGeom prst="rect">
            <a:avLst/>
          </a:prstGeom>
        </p:spPr>
      </p:pic>
      <p:sp>
        <p:nvSpPr>
          <p:cNvPr id="11" name="Text 5"/>
          <p:cNvSpPr/>
          <p:nvPr/>
        </p:nvSpPr>
        <p:spPr>
          <a:xfrm>
            <a:off x="9928265" y="4480322"/>
            <a:ext cx="2400538" cy="300038"/>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African Influences</a:t>
            </a:r>
            <a:endParaRPr lang="en-US" sz="1850" dirty="0"/>
          </a:p>
        </p:txBody>
      </p:sp>
      <p:sp>
        <p:nvSpPr>
          <p:cNvPr id="12" name="Text 6"/>
          <p:cNvSpPr/>
          <p:nvPr/>
        </p:nvSpPr>
        <p:spPr>
          <a:xfrm>
            <a:off x="9928265" y="4895493"/>
            <a:ext cx="4030028" cy="614363"/>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Music, spiritual practices, agricultural techniques</a:t>
            </a:r>
            <a:endParaRPr lang="en-US" sz="1500" dirty="0"/>
          </a:p>
        </p:txBody>
      </p:sp>
      <p:pic>
        <p:nvPicPr>
          <p:cNvPr id="13" name="Image 4" descr="preencoded.png"/>
          <p:cNvPicPr>
            <a:picLocks noChangeAspect="1"/>
          </p:cNvPicPr>
          <p:nvPr/>
        </p:nvPicPr>
        <p:blipFill>
          <a:blip r:embed="rId7"/>
          <a:stretch>
            <a:fillRect/>
          </a:stretch>
        </p:blipFill>
        <p:spPr>
          <a:xfrm>
            <a:off x="4990148" y="1512332"/>
            <a:ext cx="4650105" cy="4650105"/>
          </a:xfrm>
          <a:prstGeom prst="rect">
            <a:avLst/>
          </a:prstGeom>
        </p:spPr>
      </p:pic>
      <p:pic>
        <p:nvPicPr>
          <p:cNvPr id="14" name="Image 5" descr="preencoded.png"/>
          <p:cNvPicPr>
            <a:picLocks noChangeAspect="1"/>
          </p:cNvPicPr>
          <p:nvPr/>
        </p:nvPicPr>
        <p:blipFill>
          <a:blip r:embed="rId8"/>
          <a:stretch>
            <a:fillRect/>
          </a:stretch>
        </p:blipFill>
        <p:spPr>
          <a:xfrm>
            <a:off x="8107323" y="4989314"/>
            <a:ext cx="287298" cy="359092"/>
          </a:xfrm>
          <a:prstGeom prst="rect">
            <a:avLst/>
          </a:prstGeom>
        </p:spPr>
      </p:pic>
      <p:sp>
        <p:nvSpPr>
          <p:cNvPr id="15" name="Text 7"/>
          <p:cNvSpPr/>
          <p:nvPr/>
        </p:nvSpPr>
        <p:spPr>
          <a:xfrm>
            <a:off x="1977271" y="4633913"/>
            <a:ext cx="2724864" cy="300038"/>
          </a:xfrm>
          <a:prstGeom prst="rect">
            <a:avLst/>
          </a:prstGeom>
          <a:noFill/>
          <a:ln/>
        </p:spPr>
        <p:txBody>
          <a:bodyPr wrap="none" lIns="0" tIns="0" rIns="0" bIns="0" rtlCol="0" anchor="t"/>
          <a:lstStyle/>
          <a:p>
            <a:pPr marL="0" indent="0" algn="r">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Latin American Fusion</a:t>
            </a:r>
            <a:endParaRPr lang="en-US" sz="1850" dirty="0"/>
          </a:p>
        </p:txBody>
      </p:sp>
      <p:sp>
        <p:nvSpPr>
          <p:cNvPr id="16" name="Text 8"/>
          <p:cNvSpPr/>
          <p:nvPr/>
        </p:nvSpPr>
        <p:spPr>
          <a:xfrm>
            <a:off x="672108" y="5049083"/>
            <a:ext cx="4030028" cy="307181"/>
          </a:xfrm>
          <a:prstGeom prst="rect">
            <a:avLst/>
          </a:prstGeom>
          <a:noFill/>
          <a:ln/>
        </p:spPr>
        <p:txBody>
          <a:bodyPr wrap="none" lIns="0" tIns="0" rIns="0" bIns="0" rtlCol="0" anchor="t"/>
          <a:lstStyle/>
          <a:p>
            <a:pPr marL="0" indent="0" algn="r">
              <a:lnSpc>
                <a:spcPts val="2400"/>
              </a:lnSpc>
              <a:buNone/>
            </a:pPr>
            <a:r>
              <a:rPr lang="en-US" sz="1500" dirty="0">
                <a:solidFill>
                  <a:srgbClr val="C9C9C0"/>
                </a:solidFill>
                <a:latin typeface="Tomorrow" pitchFamily="34" charset="0"/>
                <a:ea typeface="Tomorrow" pitchFamily="34" charset="-122"/>
                <a:cs typeface="Tomorrow" pitchFamily="34" charset="-120"/>
              </a:rPr>
              <a:t>Unique cultural expressions emerge</a:t>
            </a:r>
            <a:endParaRPr lang="en-US" sz="1500" dirty="0"/>
          </a:p>
        </p:txBody>
      </p:sp>
      <p:pic>
        <p:nvPicPr>
          <p:cNvPr id="17" name="Image 6" descr="preencoded.png"/>
          <p:cNvPicPr>
            <a:picLocks noChangeAspect="1"/>
          </p:cNvPicPr>
          <p:nvPr/>
        </p:nvPicPr>
        <p:blipFill>
          <a:blip r:embed="rId9"/>
          <a:stretch>
            <a:fillRect/>
          </a:stretch>
        </p:blipFill>
        <p:spPr>
          <a:xfrm>
            <a:off x="4990148" y="1512332"/>
            <a:ext cx="4650105" cy="4650105"/>
          </a:xfrm>
          <a:prstGeom prst="rect">
            <a:avLst/>
          </a:prstGeom>
        </p:spPr>
      </p:pic>
      <p:pic>
        <p:nvPicPr>
          <p:cNvPr id="18" name="Image 7" descr="preencoded.png"/>
          <p:cNvPicPr>
            <a:picLocks noChangeAspect="1"/>
          </p:cNvPicPr>
          <p:nvPr/>
        </p:nvPicPr>
        <p:blipFill>
          <a:blip r:embed="rId10"/>
          <a:stretch>
            <a:fillRect/>
          </a:stretch>
        </p:blipFill>
        <p:spPr>
          <a:xfrm>
            <a:off x="5839897" y="4593669"/>
            <a:ext cx="287298" cy="359092"/>
          </a:xfrm>
          <a:prstGeom prst="rect">
            <a:avLst/>
          </a:prstGeom>
        </p:spPr>
      </p:pic>
      <p:sp>
        <p:nvSpPr>
          <p:cNvPr id="19" name="Text 9"/>
          <p:cNvSpPr/>
          <p:nvPr/>
        </p:nvSpPr>
        <p:spPr>
          <a:xfrm>
            <a:off x="672108" y="6378416"/>
            <a:ext cx="13286184" cy="921544"/>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Transculturation, a concept coined by Cuban scholar Fernando Ortiz, refers to the mutual, though unequal, exchange of cultural traits among Europeans, Indigenous peoples, and Africans. This process produced uniquely Latin American forms—blended religions, music, foodways, and languages.</a:t>
            </a:r>
            <a:endParaRPr lang="en-US" sz="1500" dirty="0"/>
          </a:p>
        </p:txBody>
      </p:sp>
      <p:sp>
        <p:nvSpPr>
          <p:cNvPr id="20" name="Text 10"/>
          <p:cNvSpPr/>
          <p:nvPr/>
        </p:nvSpPr>
        <p:spPr>
          <a:xfrm>
            <a:off x="672108" y="7515939"/>
            <a:ext cx="13286184" cy="614363"/>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A classic example is the Virgin of Guadalupe, which melded Indigenous and Catholic religious traditions to create a powerful symbol that resonated across cultural boundaries.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3889" y="500063"/>
            <a:ext cx="6054566" cy="566142"/>
          </a:xfrm>
          <a:prstGeom prst="rect">
            <a:avLst/>
          </a:prstGeom>
          <a:noFill/>
          <a:ln/>
        </p:spPr>
        <p:txBody>
          <a:bodyPr wrap="none" lIns="0" tIns="0" rIns="0" bIns="0" rtlCol="0" anchor="t"/>
          <a:lstStyle/>
          <a:p>
            <a:pPr marL="0" indent="0" algn="l">
              <a:lnSpc>
                <a:spcPts val="4450"/>
              </a:lnSpc>
              <a:buNone/>
            </a:pPr>
            <a:r>
              <a:rPr lang="en-US" sz="3550" dirty="0">
                <a:solidFill>
                  <a:srgbClr val="EDEDE8"/>
                </a:solidFill>
                <a:latin typeface="Tomorrow Semi Bold" pitchFamily="34" charset="0"/>
                <a:ea typeface="Tomorrow Semi Bold" pitchFamily="34" charset="-122"/>
                <a:cs typeface="Tomorrow Semi Bold" pitchFamily="34" charset="-120"/>
              </a:rPr>
              <a:t>The Colonial Caste System</a:t>
            </a:r>
            <a:endParaRPr lang="en-US" sz="3550" dirty="0"/>
          </a:p>
        </p:txBody>
      </p:sp>
      <p:sp>
        <p:nvSpPr>
          <p:cNvPr id="3" name="Shape 1"/>
          <p:cNvSpPr/>
          <p:nvPr/>
        </p:nvSpPr>
        <p:spPr>
          <a:xfrm>
            <a:off x="633889" y="1428393"/>
            <a:ext cx="1670328" cy="1043464"/>
          </a:xfrm>
          <a:prstGeom prst="roundRect">
            <a:avLst>
              <a:gd name="adj" fmla="val 2604"/>
            </a:avLst>
          </a:prstGeom>
          <a:solidFill>
            <a:srgbClr val="3C3C3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341715" y="1790938"/>
            <a:ext cx="254675" cy="318373"/>
          </a:xfrm>
          <a:prstGeom prst="rect">
            <a:avLst/>
          </a:prstGeom>
        </p:spPr>
      </p:pic>
      <p:sp>
        <p:nvSpPr>
          <p:cNvPr id="5" name="Text 2"/>
          <p:cNvSpPr/>
          <p:nvPr/>
        </p:nvSpPr>
        <p:spPr>
          <a:xfrm>
            <a:off x="2485311" y="1609487"/>
            <a:ext cx="2264212" cy="283012"/>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Peninsulares</a:t>
            </a:r>
            <a:endParaRPr lang="en-US" sz="1750" dirty="0"/>
          </a:p>
        </p:txBody>
      </p:sp>
      <p:sp>
        <p:nvSpPr>
          <p:cNvPr id="6" name="Text 3"/>
          <p:cNvSpPr/>
          <p:nvPr/>
        </p:nvSpPr>
        <p:spPr>
          <a:xfrm>
            <a:off x="2485311" y="2001083"/>
            <a:ext cx="2892623" cy="289679"/>
          </a:xfrm>
          <a:prstGeom prst="rect">
            <a:avLst/>
          </a:prstGeom>
          <a:noFill/>
          <a:ln/>
        </p:spPr>
        <p:txBody>
          <a:bodyPr wrap="non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Spanish/Portuguese-born whites</a:t>
            </a:r>
            <a:endParaRPr lang="en-US" sz="1400" dirty="0"/>
          </a:p>
        </p:txBody>
      </p:sp>
      <p:sp>
        <p:nvSpPr>
          <p:cNvPr id="7" name="Shape 4"/>
          <p:cNvSpPr/>
          <p:nvPr/>
        </p:nvSpPr>
        <p:spPr>
          <a:xfrm>
            <a:off x="2394704" y="2462332"/>
            <a:ext cx="11511320" cy="11430"/>
          </a:xfrm>
          <a:prstGeom prst="roundRect">
            <a:avLst>
              <a:gd name="adj" fmla="val 237719"/>
            </a:avLst>
          </a:prstGeom>
          <a:solidFill>
            <a:srgbClr val="555553"/>
          </a:solidFill>
          <a:ln/>
        </p:spPr>
        <p:txBody>
          <a:bodyPr/>
          <a:lstStyle/>
          <a:p>
            <a:endParaRPr lang="en-US"/>
          </a:p>
        </p:txBody>
      </p:sp>
      <p:sp>
        <p:nvSpPr>
          <p:cNvPr id="8" name="Shape 5"/>
          <p:cNvSpPr/>
          <p:nvPr/>
        </p:nvSpPr>
        <p:spPr>
          <a:xfrm>
            <a:off x="633889" y="2562344"/>
            <a:ext cx="3340656" cy="1043464"/>
          </a:xfrm>
          <a:prstGeom prst="roundRect">
            <a:avLst>
              <a:gd name="adj" fmla="val 2604"/>
            </a:avLst>
          </a:prstGeom>
          <a:solidFill>
            <a:srgbClr val="3C3C3A"/>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2176820" y="2924889"/>
            <a:ext cx="254675" cy="318373"/>
          </a:xfrm>
          <a:prstGeom prst="rect">
            <a:avLst/>
          </a:prstGeom>
        </p:spPr>
      </p:pic>
      <p:sp>
        <p:nvSpPr>
          <p:cNvPr id="10" name="Text 6"/>
          <p:cNvSpPr/>
          <p:nvPr/>
        </p:nvSpPr>
        <p:spPr>
          <a:xfrm>
            <a:off x="4155638" y="2743438"/>
            <a:ext cx="1950244" cy="283012"/>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Criollos</a:t>
            </a:r>
            <a:endParaRPr lang="en-US" sz="1750" dirty="0"/>
          </a:p>
        </p:txBody>
      </p:sp>
      <p:sp>
        <p:nvSpPr>
          <p:cNvPr id="11" name="Text 7"/>
          <p:cNvSpPr/>
          <p:nvPr/>
        </p:nvSpPr>
        <p:spPr>
          <a:xfrm>
            <a:off x="4155638" y="3135035"/>
            <a:ext cx="1950244" cy="289679"/>
          </a:xfrm>
          <a:prstGeom prst="rect">
            <a:avLst/>
          </a:prstGeom>
          <a:noFill/>
          <a:ln/>
        </p:spPr>
        <p:txBody>
          <a:bodyPr wrap="non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American-born whites</a:t>
            </a:r>
            <a:endParaRPr lang="en-US" sz="1400" dirty="0"/>
          </a:p>
        </p:txBody>
      </p:sp>
      <p:sp>
        <p:nvSpPr>
          <p:cNvPr id="12" name="Shape 8"/>
          <p:cNvSpPr/>
          <p:nvPr/>
        </p:nvSpPr>
        <p:spPr>
          <a:xfrm>
            <a:off x="4065032" y="3596283"/>
            <a:ext cx="9840992" cy="11430"/>
          </a:xfrm>
          <a:prstGeom prst="roundRect">
            <a:avLst>
              <a:gd name="adj" fmla="val 237719"/>
            </a:avLst>
          </a:prstGeom>
          <a:solidFill>
            <a:srgbClr val="555553"/>
          </a:solidFill>
          <a:ln/>
        </p:spPr>
        <p:txBody>
          <a:bodyPr/>
          <a:lstStyle/>
          <a:p>
            <a:endParaRPr lang="en-US"/>
          </a:p>
        </p:txBody>
      </p:sp>
      <p:sp>
        <p:nvSpPr>
          <p:cNvPr id="13" name="Shape 9"/>
          <p:cNvSpPr/>
          <p:nvPr/>
        </p:nvSpPr>
        <p:spPr>
          <a:xfrm>
            <a:off x="633889" y="3696295"/>
            <a:ext cx="5010983" cy="1043464"/>
          </a:xfrm>
          <a:prstGeom prst="roundRect">
            <a:avLst>
              <a:gd name="adj" fmla="val 2604"/>
            </a:avLst>
          </a:prstGeom>
          <a:solidFill>
            <a:srgbClr val="3C3C3A"/>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3012043" y="4058841"/>
            <a:ext cx="254675" cy="318373"/>
          </a:xfrm>
          <a:prstGeom prst="rect">
            <a:avLst/>
          </a:prstGeom>
        </p:spPr>
      </p:pic>
      <p:sp>
        <p:nvSpPr>
          <p:cNvPr id="15" name="Text 10"/>
          <p:cNvSpPr/>
          <p:nvPr/>
        </p:nvSpPr>
        <p:spPr>
          <a:xfrm>
            <a:off x="5825966" y="3877389"/>
            <a:ext cx="2264212" cy="283012"/>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Mestizos/Mulatos</a:t>
            </a:r>
            <a:endParaRPr lang="en-US" sz="1750" dirty="0"/>
          </a:p>
        </p:txBody>
      </p:sp>
      <p:sp>
        <p:nvSpPr>
          <p:cNvPr id="16" name="Text 11"/>
          <p:cNvSpPr/>
          <p:nvPr/>
        </p:nvSpPr>
        <p:spPr>
          <a:xfrm>
            <a:off x="5825966" y="4268986"/>
            <a:ext cx="3165753" cy="289679"/>
          </a:xfrm>
          <a:prstGeom prst="rect">
            <a:avLst/>
          </a:prstGeom>
          <a:noFill/>
          <a:ln/>
        </p:spPr>
        <p:txBody>
          <a:bodyPr wrap="non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Mixed European-Indigenous/African</a:t>
            </a:r>
            <a:endParaRPr lang="en-US" sz="1400" dirty="0"/>
          </a:p>
        </p:txBody>
      </p:sp>
      <p:sp>
        <p:nvSpPr>
          <p:cNvPr id="17" name="Shape 12"/>
          <p:cNvSpPr/>
          <p:nvPr/>
        </p:nvSpPr>
        <p:spPr>
          <a:xfrm>
            <a:off x="5735360" y="4730234"/>
            <a:ext cx="8170664" cy="11430"/>
          </a:xfrm>
          <a:prstGeom prst="roundRect">
            <a:avLst>
              <a:gd name="adj" fmla="val 237719"/>
            </a:avLst>
          </a:prstGeom>
          <a:solidFill>
            <a:srgbClr val="555553"/>
          </a:solidFill>
          <a:ln/>
        </p:spPr>
        <p:txBody>
          <a:bodyPr/>
          <a:lstStyle/>
          <a:p>
            <a:endParaRPr lang="en-US"/>
          </a:p>
        </p:txBody>
      </p:sp>
      <p:sp>
        <p:nvSpPr>
          <p:cNvPr id="18" name="Shape 13"/>
          <p:cNvSpPr/>
          <p:nvPr/>
        </p:nvSpPr>
        <p:spPr>
          <a:xfrm>
            <a:off x="633889" y="4830247"/>
            <a:ext cx="6681311" cy="1043464"/>
          </a:xfrm>
          <a:prstGeom prst="roundRect">
            <a:avLst>
              <a:gd name="adj" fmla="val 2604"/>
            </a:avLst>
          </a:prstGeom>
          <a:solidFill>
            <a:srgbClr val="3C3C3A"/>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3847148" y="5192792"/>
            <a:ext cx="254675" cy="318373"/>
          </a:xfrm>
          <a:prstGeom prst="rect">
            <a:avLst/>
          </a:prstGeom>
        </p:spPr>
      </p:pic>
      <p:sp>
        <p:nvSpPr>
          <p:cNvPr id="20" name="Text 14"/>
          <p:cNvSpPr/>
          <p:nvPr/>
        </p:nvSpPr>
        <p:spPr>
          <a:xfrm>
            <a:off x="7496294" y="5011341"/>
            <a:ext cx="2388394" cy="283012"/>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Indigenous/Africans</a:t>
            </a:r>
            <a:endParaRPr lang="en-US" sz="1750" dirty="0"/>
          </a:p>
        </p:txBody>
      </p:sp>
      <p:sp>
        <p:nvSpPr>
          <p:cNvPr id="21" name="Text 15"/>
          <p:cNvSpPr/>
          <p:nvPr/>
        </p:nvSpPr>
        <p:spPr>
          <a:xfrm>
            <a:off x="7496294" y="5402937"/>
            <a:ext cx="2388394" cy="289679"/>
          </a:xfrm>
          <a:prstGeom prst="rect">
            <a:avLst/>
          </a:prstGeom>
          <a:noFill/>
          <a:ln/>
        </p:spPr>
        <p:txBody>
          <a:bodyPr wrap="non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Lowest legal status</a:t>
            </a:r>
            <a:endParaRPr lang="en-US" sz="1400" dirty="0"/>
          </a:p>
        </p:txBody>
      </p:sp>
      <p:sp>
        <p:nvSpPr>
          <p:cNvPr id="22" name="Text 16"/>
          <p:cNvSpPr/>
          <p:nvPr/>
        </p:nvSpPr>
        <p:spPr>
          <a:xfrm>
            <a:off x="633889" y="6077426"/>
            <a:ext cx="13362623" cy="869037"/>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The caste system attempted to impose racial order through a complex hierarchy with Spaniards at the top, followed by various mixed categories (mestizo, mulatto, morisco), and Indigenous and African people at the bottom. Caste paintings illustrated these categories, though everyday life often blurred these rigid distinctions.</a:t>
            </a:r>
            <a:endParaRPr lang="en-US" sz="1400" dirty="0"/>
          </a:p>
        </p:txBody>
      </p:sp>
      <p:sp>
        <p:nvSpPr>
          <p:cNvPr id="23" name="Text 17"/>
          <p:cNvSpPr/>
          <p:nvPr/>
        </p:nvSpPr>
        <p:spPr>
          <a:xfrm>
            <a:off x="633889" y="7150179"/>
            <a:ext cx="13362623" cy="579358"/>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Despite its rigidity, the system could be negotiated. Wealth, clothing, and behavior could "whiten" a person socially or even legally through mechanisms like gracias al sacar, which allowed individuals to purchase a higher racial status.</a:t>
            </a:r>
            <a:endParaRPr lang="en-US" sz="1400" dirty="0"/>
          </a:p>
        </p:txBody>
      </p:sp>
      <p:pic>
        <p:nvPicPr>
          <p:cNvPr id="25" name="Imagen 24">
            <a:extLst>
              <a:ext uri="{FF2B5EF4-FFF2-40B4-BE49-F238E27FC236}">
                <a16:creationId xmlns:a16="http://schemas.microsoft.com/office/drawing/2014/main" id="{32864E74-6879-853C-AF43-87EFA1610887}"/>
              </a:ext>
            </a:extLst>
          </p:cNvPr>
          <p:cNvPicPr>
            <a:picLocks noChangeAspect="1"/>
          </p:cNvPicPr>
          <p:nvPr/>
        </p:nvPicPr>
        <p:blipFill>
          <a:blip r:embed="rId7"/>
          <a:stretch>
            <a:fillRect/>
          </a:stretch>
        </p:blipFill>
        <p:spPr>
          <a:xfrm>
            <a:off x="3541097" y="4941570"/>
            <a:ext cx="781050" cy="838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56523"/>
            <a:ext cx="9836468"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Rural Life and Cultural Persistence</a:t>
            </a:r>
            <a:endParaRPr lang="en-US" sz="4450" dirty="0"/>
          </a:p>
        </p:txBody>
      </p:sp>
      <p:sp>
        <p:nvSpPr>
          <p:cNvPr id="3" name="Shape 1"/>
          <p:cNvSpPr/>
          <p:nvPr/>
        </p:nvSpPr>
        <p:spPr>
          <a:xfrm>
            <a:off x="793790" y="1918930"/>
            <a:ext cx="4196358" cy="4210169"/>
          </a:xfrm>
          <a:prstGeom prst="roundRect">
            <a:avLst>
              <a:gd name="adj" fmla="val 811"/>
            </a:avLst>
          </a:prstGeom>
          <a:solidFill>
            <a:srgbClr val="3C3C3A"/>
          </a:solidFill>
          <a:ln/>
        </p:spPr>
        <p:txBody>
          <a:bodyPr/>
          <a:lstStyle/>
          <a:p>
            <a:endParaRPr lang="en-US"/>
          </a:p>
        </p:txBody>
      </p:sp>
      <p:sp>
        <p:nvSpPr>
          <p:cNvPr id="4" name="Text 2"/>
          <p:cNvSpPr/>
          <p:nvPr/>
        </p:nvSpPr>
        <p:spPr>
          <a:xfrm>
            <a:off x="1020604" y="214574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Haciendas</a:t>
            </a:r>
            <a:endParaRPr lang="en-US" sz="2200" dirty="0"/>
          </a:p>
        </p:txBody>
      </p:sp>
      <p:sp>
        <p:nvSpPr>
          <p:cNvPr id="5" name="Text 3"/>
          <p:cNvSpPr/>
          <p:nvPr/>
        </p:nvSpPr>
        <p:spPr>
          <a:xfrm>
            <a:off x="1020604" y="2636163"/>
            <a:ext cx="3742730" cy="254031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Large agricultural estates that produced for local consumption and export. These self-contained communities often developed their own social dynamics, allowing for more racial mixing among the working population.</a:t>
            </a:r>
            <a:endParaRPr lang="en-US" sz="1750" dirty="0"/>
          </a:p>
        </p:txBody>
      </p:sp>
      <p:sp>
        <p:nvSpPr>
          <p:cNvPr id="6" name="Shape 4"/>
          <p:cNvSpPr/>
          <p:nvPr/>
        </p:nvSpPr>
        <p:spPr>
          <a:xfrm>
            <a:off x="5216962" y="1918930"/>
            <a:ext cx="4196358" cy="4210169"/>
          </a:xfrm>
          <a:prstGeom prst="roundRect">
            <a:avLst>
              <a:gd name="adj" fmla="val 811"/>
            </a:avLst>
          </a:prstGeom>
          <a:solidFill>
            <a:srgbClr val="3C3C3A"/>
          </a:solidFill>
          <a:ln/>
        </p:spPr>
        <p:txBody>
          <a:bodyPr/>
          <a:lstStyle/>
          <a:p>
            <a:endParaRPr lang="en-US"/>
          </a:p>
        </p:txBody>
      </p:sp>
      <p:sp>
        <p:nvSpPr>
          <p:cNvPr id="7" name="Text 5"/>
          <p:cNvSpPr/>
          <p:nvPr/>
        </p:nvSpPr>
        <p:spPr>
          <a:xfrm>
            <a:off x="5443776" y="2145744"/>
            <a:ext cx="3661767"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Indigenous Communities</a:t>
            </a:r>
            <a:endParaRPr lang="en-US" sz="2200" dirty="0"/>
          </a:p>
        </p:txBody>
      </p:sp>
      <p:sp>
        <p:nvSpPr>
          <p:cNvPr id="8" name="Text 6"/>
          <p:cNvSpPr/>
          <p:nvPr/>
        </p:nvSpPr>
        <p:spPr>
          <a:xfrm>
            <a:off x="5443776" y="2636163"/>
            <a:ext cx="3742730" cy="326612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Many Indigenous groups maintained communal lands (ejidos) and traditional governance structures, especially in remote areas. These communities preserved languages, agricultural practices, and spiritual traditions despite colonial pressures.</a:t>
            </a:r>
            <a:endParaRPr lang="en-US" sz="1750" dirty="0"/>
          </a:p>
        </p:txBody>
      </p:sp>
      <p:sp>
        <p:nvSpPr>
          <p:cNvPr id="9" name="Shape 7"/>
          <p:cNvSpPr/>
          <p:nvPr/>
        </p:nvSpPr>
        <p:spPr>
          <a:xfrm>
            <a:off x="9640133" y="1918930"/>
            <a:ext cx="4196358" cy="4210169"/>
          </a:xfrm>
          <a:prstGeom prst="roundRect">
            <a:avLst>
              <a:gd name="adj" fmla="val 811"/>
            </a:avLst>
          </a:prstGeom>
          <a:solidFill>
            <a:srgbClr val="3C3C3A"/>
          </a:solidFill>
          <a:ln/>
        </p:spPr>
        <p:txBody>
          <a:bodyPr/>
          <a:lstStyle/>
          <a:p>
            <a:endParaRPr lang="en-US"/>
          </a:p>
        </p:txBody>
      </p:sp>
      <p:sp>
        <p:nvSpPr>
          <p:cNvPr id="10" name="Text 8"/>
          <p:cNvSpPr/>
          <p:nvPr/>
        </p:nvSpPr>
        <p:spPr>
          <a:xfrm>
            <a:off x="9866948" y="214574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Quilombos</a:t>
            </a:r>
            <a:endParaRPr lang="en-US" sz="2200" dirty="0"/>
          </a:p>
        </p:txBody>
      </p:sp>
      <p:sp>
        <p:nvSpPr>
          <p:cNvPr id="11" name="Text 9"/>
          <p:cNvSpPr/>
          <p:nvPr/>
        </p:nvSpPr>
        <p:spPr>
          <a:xfrm>
            <a:off x="9866948" y="2636163"/>
            <a:ext cx="3742730" cy="254031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In Brazil, escaped enslaved Africans established independent communities called quilombos. The most famous, Palmares, was led by Zumbi, who has become an enduring Afro-Brazilian hero for his resistance to Portuguese rule.</a:t>
            </a:r>
            <a:endParaRPr lang="en-US" sz="1750" dirty="0"/>
          </a:p>
        </p:txBody>
      </p:sp>
      <p:sp>
        <p:nvSpPr>
          <p:cNvPr id="12" name="Text 10"/>
          <p:cNvSpPr/>
          <p:nvPr/>
        </p:nvSpPr>
        <p:spPr>
          <a:xfrm>
            <a:off x="793790" y="6384250"/>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While cities enforced colonial order, the countryside allowed for more Indigenous and African cultural retention. Distance from administrative centers created spaces where alternative social arrangements could develop, though still within the broader colonial economic system.</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7241" y="618530"/>
            <a:ext cx="11715155" cy="702826"/>
          </a:xfrm>
          <a:prstGeom prst="rect">
            <a:avLst/>
          </a:prstGeom>
          <a:noFill/>
          <a:ln/>
        </p:spPr>
        <p:txBody>
          <a:bodyPr wrap="none" lIns="0" tIns="0" rIns="0" bIns="0" rtlCol="0" anchor="t"/>
          <a:lstStyle/>
          <a:p>
            <a:pPr marL="0" indent="0" algn="l">
              <a:lnSpc>
                <a:spcPts val="5500"/>
              </a:lnSpc>
              <a:buNone/>
            </a:pPr>
            <a:r>
              <a:rPr lang="en-US" sz="4400" dirty="0">
                <a:solidFill>
                  <a:srgbClr val="EDEDE8"/>
                </a:solidFill>
                <a:latin typeface="Tomorrow Semi Bold" pitchFamily="34" charset="0"/>
                <a:ea typeface="Tomorrow Semi Bold" pitchFamily="34" charset="-122"/>
                <a:cs typeface="Tomorrow Semi Bold" pitchFamily="34" charset="-120"/>
              </a:rPr>
              <a:t>Regional Diversity: The Fringes of Empire</a:t>
            </a:r>
            <a:endParaRPr lang="en-US" sz="4400" dirty="0"/>
          </a:p>
        </p:txBody>
      </p:sp>
      <p:pic>
        <p:nvPicPr>
          <p:cNvPr id="3" name="Image 0" descr="preencoded.png"/>
          <p:cNvPicPr>
            <a:picLocks noChangeAspect="1"/>
          </p:cNvPicPr>
          <p:nvPr/>
        </p:nvPicPr>
        <p:blipFill>
          <a:blip r:embed="rId3"/>
          <a:stretch>
            <a:fillRect/>
          </a:stretch>
        </p:blipFill>
        <p:spPr>
          <a:xfrm>
            <a:off x="787241" y="1771174"/>
            <a:ext cx="4164568" cy="2573893"/>
          </a:xfrm>
          <a:prstGeom prst="rect">
            <a:avLst/>
          </a:prstGeom>
        </p:spPr>
      </p:pic>
      <p:sp>
        <p:nvSpPr>
          <p:cNvPr id="4" name="Text 1"/>
          <p:cNvSpPr/>
          <p:nvPr/>
        </p:nvSpPr>
        <p:spPr>
          <a:xfrm>
            <a:off x="787241" y="4626173"/>
            <a:ext cx="3245644" cy="351472"/>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Brazilian Bandeirantes</a:t>
            </a:r>
            <a:endParaRPr lang="en-US" sz="2200" dirty="0"/>
          </a:p>
        </p:txBody>
      </p:sp>
      <p:sp>
        <p:nvSpPr>
          <p:cNvPr id="5" name="Text 2"/>
          <p:cNvSpPr/>
          <p:nvPr/>
        </p:nvSpPr>
        <p:spPr>
          <a:xfrm>
            <a:off x="787241" y="5112544"/>
            <a:ext cx="4164568" cy="2518648"/>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From São Paulo, these frontier explorers expanded settlement into Brazil's interior, driven by gold prospecting and slave hunting. Their exploits led to the destruction of quilombos but also opened up new territories for settlement.</a:t>
            </a:r>
            <a:endParaRPr lang="en-US" sz="1750" dirty="0"/>
          </a:p>
        </p:txBody>
      </p:sp>
      <p:pic>
        <p:nvPicPr>
          <p:cNvPr id="6" name="Image 1" descr="preencoded.png"/>
          <p:cNvPicPr>
            <a:picLocks noChangeAspect="1"/>
          </p:cNvPicPr>
          <p:nvPr/>
        </p:nvPicPr>
        <p:blipFill>
          <a:blip r:embed="rId4"/>
          <a:stretch>
            <a:fillRect/>
          </a:stretch>
        </p:blipFill>
        <p:spPr>
          <a:xfrm>
            <a:off x="5232916" y="1771174"/>
            <a:ext cx="4164568" cy="2573893"/>
          </a:xfrm>
          <a:prstGeom prst="rect">
            <a:avLst/>
          </a:prstGeom>
        </p:spPr>
      </p:pic>
      <p:sp>
        <p:nvSpPr>
          <p:cNvPr id="7" name="Text 3"/>
          <p:cNvSpPr/>
          <p:nvPr/>
        </p:nvSpPr>
        <p:spPr>
          <a:xfrm>
            <a:off x="5232916" y="4626173"/>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Río de la Plata</a:t>
            </a:r>
            <a:endParaRPr lang="en-US" sz="2200" dirty="0"/>
          </a:p>
        </p:txBody>
      </p:sp>
      <p:sp>
        <p:nvSpPr>
          <p:cNvPr id="8" name="Text 4"/>
          <p:cNvSpPr/>
          <p:nvPr/>
        </p:nvSpPr>
        <p:spPr>
          <a:xfrm>
            <a:off x="5232916" y="5112544"/>
            <a:ext cx="4164568" cy="2518648"/>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This southern region lacked valuable export commodities until late in the colonial period. It developed a distinctive ranching culture with gauchos (cowboys) and a more fluid social structure than mining or plantation regions.</a:t>
            </a:r>
            <a:endParaRPr lang="en-US" sz="1750" dirty="0"/>
          </a:p>
        </p:txBody>
      </p:sp>
      <p:pic>
        <p:nvPicPr>
          <p:cNvPr id="9" name="Image 2" descr="preencoded.png"/>
          <p:cNvPicPr>
            <a:picLocks noChangeAspect="1"/>
          </p:cNvPicPr>
          <p:nvPr/>
        </p:nvPicPr>
        <p:blipFill>
          <a:blip r:embed="rId5"/>
          <a:stretch>
            <a:fillRect/>
          </a:stretch>
        </p:blipFill>
        <p:spPr>
          <a:xfrm>
            <a:off x="9678591" y="1771174"/>
            <a:ext cx="4164568" cy="2573893"/>
          </a:xfrm>
          <a:prstGeom prst="rect">
            <a:avLst/>
          </a:prstGeom>
        </p:spPr>
      </p:pic>
      <p:sp>
        <p:nvSpPr>
          <p:cNvPr id="10" name="Text 5"/>
          <p:cNvSpPr/>
          <p:nvPr/>
        </p:nvSpPr>
        <p:spPr>
          <a:xfrm>
            <a:off x="9678591" y="4626173"/>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Paraguay</a:t>
            </a:r>
            <a:endParaRPr lang="en-US" sz="2200" dirty="0"/>
          </a:p>
        </p:txBody>
      </p:sp>
      <p:sp>
        <p:nvSpPr>
          <p:cNvPr id="11" name="Text 6"/>
          <p:cNvSpPr/>
          <p:nvPr/>
        </p:nvSpPr>
        <p:spPr>
          <a:xfrm>
            <a:off x="9678591" y="5112544"/>
            <a:ext cx="4164568" cy="2518648"/>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Under Jesuit influence until their expulsion in 1767, this region developed unique bilingual culture (Spanish/Guaraní) and economic patterns centered on yerba mate production rather than precious metals or sugar.</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8661" y="565071"/>
            <a:ext cx="11035546" cy="641747"/>
          </a:xfrm>
          <a:prstGeom prst="rect">
            <a:avLst/>
          </a:prstGeom>
          <a:noFill/>
          <a:ln/>
        </p:spPr>
        <p:txBody>
          <a:bodyPr wrap="none" lIns="0" tIns="0" rIns="0" bIns="0" rtlCol="0" anchor="t"/>
          <a:lstStyle/>
          <a:p>
            <a:pPr marL="0" indent="0" algn="l">
              <a:lnSpc>
                <a:spcPts val="5050"/>
              </a:lnSpc>
              <a:buNone/>
            </a:pPr>
            <a:r>
              <a:rPr lang="en-US" sz="4000" dirty="0">
                <a:solidFill>
                  <a:srgbClr val="EDEDE8"/>
                </a:solidFill>
                <a:latin typeface="Tomorrow Semi Bold" pitchFamily="34" charset="0"/>
                <a:ea typeface="Tomorrow Semi Bold" pitchFamily="34" charset="-122"/>
                <a:cs typeface="Tomorrow Semi Bold" pitchFamily="34" charset="-120"/>
              </a:rPr>
              <a:t>Late Colonial Reforms and Rising Tensions</a:t>
            </a:r>
            <a:endParaRPr lang="en-US" sz="4000" dirty="0"/>
          </a:p>
        </p:txBody>
      </p:sp>
      <p:pic>
        <p:nvPicPr>
          <p:cNvPr id="3" name="Image 0" descr="preencoded.png"/>
          <p:cNvPicPr>
            <a:picLocks noChangeAspect="1"/>
          </p:cNvPicPr>
          <p:nvPr/>
        </p:nvPicPr>
        <p:blipFill>
          <a:blip r:embed="rId3"/>
          <a:stretch>
            <a:fillRect/>
          </a:stretch>
        </p:blipFill>
        <p:spPr>
          <a:xfrm>
            <a:off x="718661" y="1617464"/>
            <a:ext cx="1026676" cy="1511737"/>
          </a:xfrm>
          <a:prstGeom prst="rect">
            <a:avLst/>
          </a:prstGeom>
        </p:spPr>
      </p:pic>
      <p:sp>
        <p:nvSpPr>
          <p:cNvPr id="4" name="Text 1"/>
          <p:cNvSpPr/>
          <p:nvPr/>
        </p:nvSpPr>
        <p:spPr>
          <a:xfrm>
            <a:off x="2053233" y="1822728"/>
            <a:ext cx="4329589" cy="320873"/>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Bourbon and Pombaline Reforms</a:t>
            </a:r>
            <a:endParaRPr lang="en-US" sz="2000" dirty="0"/>
          </a:p>
        </p:txBody>
      </p:sp>
      <p:sp>
        <p:nvSpPr>
          <p:cNvPr id="5" name="Text 2"/>
          <p:cNvSpPr/>
          <p:nvPr/>
        </p:nvSpPr>
        <p:spPr>
          <a:xfrm>
            <a:off x="2053233" y="2266712"/>
            <a:ext cx="11858506" cy="657225"/>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By the mid-1700s, Spain and Portugal initiated reforms seeking to rationalize colonial governance and extract more profit through increased taxes, royal monopolies, and restrictions on local production.</a:t>
            </a:r>
            <a:endParaRPr lang="en-US" sz="1600" dirty="0"/>
          </a:p>
        </p:txBody>
      </p:sp>
      <p:pic>
        <p:nvPicPr>
          <p:cNvPr id="6" name="Image 1" descr="preencoded.png"/>
          <p:cNvPicPr>
            <a:picLocks noChangeAspect="1"/>
          </p:cNvPicPr>
          <p:nvPr/>
        </p:nvPicPr>
        <p:blipFill>
          <a:blip r:embed="rId4"/>
          <a:stretch>
            <a:fillRect/>
          </a:stretch>
        </p:blipFill>
        <p:spPr>
          <a:xfrm>
            <a:off x="718661" y="3129201"/>
            <a:ext cx="1026676" cy="1511737"/>
          </a:xfrm>
          <a:prstGeom prst="rect">
            <a:avLst/>
          </a:prstGeom>
        </p:spPr>
      </p:pic>
      <p:sp>
        <p:nvSpPr>
          <p:cNvPr id="7" name="Text 3"/>
          <p:cNvSpPr/>
          <p:nvPr/>
        </p:nvSpPr>
        <p:spPr>
          <a:xfrm>
            <a:off x="2053233" y="3334464"/>
            <a:ext cx="2566749" cy="320873"/>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Colonial Discontent</a:t>
            </a:r>
            <a:endParaRPr lang="en-US" sz="2000" dirty="0"/>
          </a:p>
        </p:txBody>
      </p:sp>
      <p:sp>
        <p:nvSpPr>
          <p:cNvPr id="8" name="Text 4"/>
          <p:cNvSpPr/>
          <p:nvPr/>
        </p:nvSpPr>
        <p:spPr>
          <a:xfrm>
            <a:off x="2053233" y="3778448"/>
            <a:ext cx="11858506" cy="657225"/>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These reforms angered Indigenous peoples, mixed-race artisans, and creole elites, who began to feel increasingly alienated from imperial governance despite their loyalty to the crown.</a:t>
            </a:r>
            <a:endParaRPr lang="en-US" sz="1600" dirty="0"/>
          </a:p>
        </p:txBody>
      </p:sp>
      <p:pic>
        <p:nvPicPr>
          <p:cNvPr id="9" name="Image 2" descr="preencoded.png"/>
          <p:cNvPicPr>
            <a:picLocks noChangeAspect="1"/>
          </p:cNvPicPr>
          <p:nvPr/>
        </p:nvPicPr>
        <p:blipFill>
          <a:blip r:embed="rId5"/>
          <a:stretch>
            <a:fillRect/>
          </a:stretch>
        </p:blipFill>
        <p:spPr>
          <a:xfrm>
            <a:off x="718661" y="4640937"/>
            <a:ext cx="1026676" cy="1511737"/>
          </a:xfrm>
          <a:prstGeom prst="rect">
            <a:avLst/>
          </a:prstGeom>
        </p:spPr>
      </p:pic>
      <p:sp>
        <p:nvSpPr>
          <p:cNvPr id="10" name="Text 5"/>
          <p:cNvSpPr/>
          <p:nvPr/>
        </p:nvSpPr>
        <p:spPr>
          <a:xfrm>
            <a:off x="2053233" y="4846201"/>
            <a:ext cx="2566749" cy="320873"/>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Early Rebellions</a:t>
            </a:r>
            <a:endParaRPr lang="en-US" sz="2000" dirty="0"/>
          </a:p>
        </p:txBody>
      </p:sp>
      <p:sp>
        <p:nvSpPr>
          <p:cNvPr id="11" name="Text 6"/>
          <p:cNvSpPr/>
          <p:nvPr/>
        </p:nvSpPr>
        <p:spPr>
          <a:xfrm>
            <a:off x="2053233" y="5290185"/>
            <a:ext cx="11858506" cy="657225"/>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New cross-class and cross-caste rebellions emerged, such as that of Tupac Amaru II in Peru, foreshadowing the independence movements to come.</a:t>
            </a:r>
            <a:endParaRPr lang="en-US" sz="1600" dirty="0"/>
          </a:p>
        </p:txBody>
      </p:sp>
      <p:pic>
        <p:nvPicPr>
          <p:cNvPr id="12" name="Image 3" descr="preencoded.png"/>
          <p:cNvPicPr>
            <a:picLocks noChangeAspect="1"/>
          </p:cNvPicPr>
          <p:nvPr/>
        </p:nvPicPr>
        <p:blipFill>
          <a:blip r:embed="rId6"/>
          <a:stretch>
            <a:fillRect/>
          </a:stretch>
        </p:blipFill>
        <p:spPr>
          <a:xfrm>
            <a:off x="718661" y="6152674"/>
            <a:ext cx="1026676" cy="1511737"/>
          </a:xfrm>
          <a:prstGeom prst="rect">
            <a:avLst/>
          </a:prstGeom>
        </p:spPr>
      </p:pic>
      <p:sp>
        <p:nvSpPr>
          <p:cNvPr id="13" name="Text 7"/>
          <p:cNvSpPr/>
          <p:nvPr/>
        </p:nvSpPr>
        <p:spPr>
          <a:xfrm>
            <a:off x="2053233" y="6357938"/>
            <a:ext cx="2749510" cy="320873"/>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Eve of Independence</a:t>
            </a:r>
            <a:endParaRPr lang="en-US" sz="2000" dirty="0"/>
          </a:p>
        </p:txBody>
      </p:sp>
      <p:sp>
        <p:nvSpPr>
          <p:cNvPr id="14" name="Text 8"/>
          <p:cNvSpPr/>
          <p:nvPr/>
        </p:nvSpPr>
        <p:spPr>
          <a:xfrm>
            <a:off x="2053233" y="6801922"/>
            <a:ext cx="11858506" cy="657225"/>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By 1800, despite three centuries of domination, Latin America had become something new: a fusion of peoples, cultures, and contradictions—united under hegemony, yet filled with tensions ready to erupt.</a:t>
            </a:r>
            <a:endParaRPr lang="en-US" sz="1600" dirty="0"/>
          </a:p>
        </p:txBody>
      </p:sp>
      <p:pic>
        <p:nvPicPr>
          <p:cNvPr id="16" name="Imagen 15">
            <a:extLst>
              <a:ext uri="{FF2B5EF4-FFF2-40B4-BE49-F238E27FC236}">
                <a16:creationId xmlns:a16="http://schemas.microsoft.com/office/drawing/2014/main" id="{FD6BA5F4-6B93-589B-502C-B749CCD6E5B8}"/>
              </a:ext>
            </a:extLst>
          </p:cNvPr>
          <p:cNvPicPr>
            <a:picLocks noChangeAspect="1"/>
          </p:cNvPicPr>
          <p:nvPr/>
        </p:nvPicPr>
        <p:blipFill>
          <a:blip r:embed="rId7"/>
          <a:stretch>
            <a:fillRect/>
          </a:stretch>
        </p:blipFill>
        <p:spPr>
          <a:xfrm>
            <a:off x="998636" y="3668400"/>
            <a:ext cx="466725" cy="4667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1239</Words>
  <Application>Microsoft Office PowerPoint</Application>
  <PresentationFormat>Personalizado</PresentationFormat>
  <Paragraphs>94</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Tomorrow</vt:lpstr>
      <vt:lpstr>Arial</vt:lpstr>
      <vt:lpstr>Tomorrow Semi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Claudio Robelo</cp:lastModifiedBy>
  <cp:revision>3</cp:revision>
  <dcterms:created xsi:type="dcterms:W3CDTF">2025-05-09T18:26:49Z</dcterms:created>
  <dcterms:modified xsi:type="dcterms:W3CDTF">2025-05-09T18:38:17Z</dcterms:modified>
</cp:coreProperties>
</file>