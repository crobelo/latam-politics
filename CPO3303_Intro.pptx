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257" r:id="rId3"/>
    <p:sldId id="262" r:id="rId4"/>
    <p:sldId id="296" r:id="rId5"/>
    <p:sldId id="298" r:id="rId6"/>
    <p:sldId id="297" r:id="rId7"/>
    <p:sldId id="299" r:id="rId8"/>
    <p:sldId id="301" r:id="rId9"/>
    <p:sldId id="300" r:id="rId10"/>
    <p:sldId id="303" r:id="rId11"/>
    <p:sldId id="279" r:id="rId12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14"/>
      <p:bold r:id="rId15"/>
      <p:italic r:id="rId16"/>
      <p:boldItalic r:id="rId17"/>
    </p:embeddedFont>
    <p:embeddedFont>
      <p:font typeface="Raleway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770046-57D3-44E3-B694-BCD8E7A96D08}">
  <a:tblStyle styleId="{11770046-57D3-44E3-B694-BCD8E7A96D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EFD6CBC-4EB1-4D9E-8235-99C222CE1B5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619c2cdf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619c2cdf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CCA179F-FCB5-2D90-7375-A6DA334DB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:notes">
            <a:extLst>
              <a:ext uri="{FF2B5EF4-FFF2-40B4-BE49-F238E27FC236}">
                <a16:creationId xmlns:a16="http://schemas.microsoft.com/office/drawing/2014/main" id="{53BE41A1-7232-1416-EA6F-E5BBDA537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p:notes">
            <a:extLst>
              <a:ext uri="{FF2B5EF4-FFF2-40B4-BE49-F238E27FC236}">
                <a16:creationId xmlns:a16="http://schemas.microsoft.com/office/drawing/2014/main" id="{3B6D4E93-87F2-7D7B-4042-D5BA2DB40A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7344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5849CB7C-5706-BE85-A245-2CB108AD5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7b25608a60_0_84:notes">
            <a:extLst>
              <a:ext uri="{FF2B5EF4-FFF2-40B4-BE49-F238E27FC236}">
                <a16:creationId xmlns:a16="http://schemas.microsoft.com/office/drawing/2014/main" id="{189F4841-95C5-C179-59AA-61787843C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7b25608a60_0_84:notes">
            <a:extLst>
              <a:ext uri="{FF2B5EF4-FFF2-40B4-BE49-F238E27FC236}">
                <a16:creationId xmlns:a16="http://schemas.microsoft.com/office/drawing/2014/main" id="{B2D0E78A-CC0B-C315-4509-FC47C02F8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32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00" y="2580675"/>
            <a:ext cx="9144000" cy="256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903500" y="1786850"/>
            <a:ext cx="5337000" cy="1569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944450" y="1831388"/>
            <a:ext cx="5255100" cy="148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100" y="0"/>
            <a:ext cx="9144000" cy="79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1777275" y="522975"/>
            <a:ext cx="5589600" cy="546900"/>
          </a:xfrm>
          <a:prstGeom prst="rect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810200" y="557513"/>
            <a:ext cx="55236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0" y="1403306"/>
            <a:ext cx="8229600" cy="3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◉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100" y="0"/>
            <a:ext cx="9144000" cy="79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1777275" y="522975"/>
            <a:ext cx="5589600" cy="546900"/>
          </a:xfrm>
          <a:prstGeom prst="rect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397363"/>
            <a:ext cx="3994500" cy="35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92274" y="1397363"/>
            <a:ext cx="3994500" cy="35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1810200" y="557513"/>
            <a:ext cx="55236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100" y="0"/>
            <a:ext cx="9144000" cy="79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8"/>
          <p:cNvSpPr/>
          <p:nvPr/>
        </p:nvSpPr>
        <p:spPr>
          <a:xfrm>
            <a:off x="1777275" y="522975"/>
            <a:ext cx="5589600" cy="546900"/>
          </a:xfrm>
          <a:prstGeom prst="rect">
            <a:avLst/>
          </a:prstGeom>
          <a:noFill/>
          <a:ln w="9525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810200" y="557513"/>
            <a:ext cx="55236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ight" type="blank">
  <p:cSld name="BLANK">
    <p:bg>
      <p:bgPr>
        <a:solidFill>
          <a:schemeClr val="accent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/>
        </p:nvSpPr>
        <p:spPr>
          <a:xfrm>
            <a:off x="322800" y="328500"/>
            <a:ext cx="8498400" cy="448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385544" y="389475"/>
            <a:ext cx="8373000" cy="4364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3"/>
                </a:solidFill>
              </a:defRPr>
            </a:lvl1pPr>
            <a:lvl2pPr lvl="1">
              <a:buNone/>
              <a:defRPr>
                <a:solidFill>
                  <a:schemeClr val="accent3"/>
                </a:solidFill>
              </a:defRPr>
            </a:lvl2pPr>
            <a:lvl3pPr lvl="2">
              <a:buNone/>
              <a:defRPr>
                <a:solidFill>
                  <a:schemeClr val="accent3"/>
                </a:solidFill>
              </a:defRPr>
            </a:lvl3pPr>
            <a:lvl4pPr lvl="3">
              <a:buNone/>
              <a:defRPr>
                <a:solidFill>
                  <a:schemeClr val="accent3"/>
                </a:solidFill>
              </a:defRPr>
            </a:lvl4pPr>
            <a:lvl5pPr lvl="4">
              <a:buNone/>
              <a:defRPr>
                <a:solidFill>
                  <a:schemeClr val="accent3"/>
                </a:solidFill>
              </a:defRPr>
            </a:lvl5pPr>
            <a:lvl6pPr lvl="5">
              <a:buNone/>
              <a:defRPr>
                <a:solidFill>
                  <a:schemeClr val="accent3"/>
                </a:solidFill>
              </a:defRPr>
            </a:lvl6pPr>
            <a:lvl7pPr lvl="6">
              <a:buNone/>
              <a:defRPr>
                <a:solidFill>
                  <a:schemeClr val="accent3"/>
                </a:solidFill>
              </a:defRPr>
            </a:lvl7pPr>
            <a:lvl8pPr lvl="7">
              <a:buNone/>
              <a:defRPr>
                <a:solidFill>
                  <a:schemeClr val="accent3"/>
                </a:solidFill>
              </a:defRPr>
            </a:lvl8pPr>
            <a:lvl9pPr lvl="8">
              <a:buNone/>
              <a:defRPr>
                <a:solidFill>
                  <a:schemeClr val="accent3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322800" y="328500"/>
            <a:ext cx="8498400" cy="44865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385544" y="389475"/>
            <a:ext cx="8373000" cy="4364700"/>
          </a:xfrm>
          <a:prstGeom prst="rect">
            <a:avLst/>
          </a:prstGeom>
          <a:noFill/>
          <a:ln w="28575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810300" y="556800"/>
            <a:ext cx="5523600" cy="47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None/>
              <a:defRPr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345100"/>
            <a:ext cx="8229600" cy="3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◉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○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■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●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○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■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●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○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Char char="■"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buNone/>
              <a:defRPr sz="1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6" r:id="rId5"/>
    <p:sldLayoutId id="2147483657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robeloguzman@fsu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ctrTitle"/>
          </p:nvPr>
        </p:nvSpPr>
        <p:spPr>
          <a:xfrm>
            <a:off x="1944450" y="1831388"/>
            <a:ext cx="5255100" cy="14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Welcome to CPO 3303 Politics of Latin America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ctrTitle" idx="4294967295"/>
          </p:nvPr>
        </p:nvSpPr>
        <p:spPr>
          <a:xfrm>
            <a:off x="685800" y="1289081"/>
            <a:ext cx="7772400" cy="70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</a:rPr>
              <a:t>Hi!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4294967295"/>
          </p:nvPr>
        </p:nvSpPr>
        <p:spPr>
          <a:xfrm>
            <a:off x="685800" y="163991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/>
              <a:t>I AM CLAUDIO ROBELO</a:t>
            </a:r>
            <a:endParaRPr sz="3600" b="1"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4294967295"/>
          </p:nvPr>
        </p:nvSpPr>
        <p:spPr>
          <a:xfrm>
            <a:off x="685800" y="2717269"/>
            <a:ext cx="7772400" cy="16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PhD Candidate from Argentina studying Military Cooperation </a:t>
            </a:r>
            <a:endParaRPr sz="1800" dirty="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You can reach me at:</a:t>
            </a:r>
            <a:endParaRPr sz="1800" dirty="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u="sng" dirty="0">
                <a:solidFill>
                  <a:schemeClr val="hlink"/>
                </a:solidFill>
                <a:hlinkClick r:id="rId3"/>
              </a:rPr>
              <a:t>crobeloguzman@fsu.edu</a:t>
            </a:r>
            <a:r>
              <a:rPr lang="en" sz="1800" dirty="0"/>
              <a:t> or over zoom</a:t>
            </a:r>
            <a:endParaRPr sz="1800" dirty="0"/>
          </a:p>
        </p:txBody>
      </p:sp>
      <p:pic>
        <p:nvPicPr>
          <p:cNvPr id="76" name="Google Shape;7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3575" y="92223"/>
            <a:ext cx="1196700" cy="1196700"/>
          </a:xfrm>
          <a:prstGeom prst="diamond">
            <a:avLst/>
          </a:prstGeom>
          <a:noFill/>
          <a:ln w="38100" cap="flat" cmpd="sng">
            <a:solidFill>
              <a:srgbClr val="F5F1E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77" name="Google Shape;77;p13"/>
          <p:cNvGrpSpPr/>
          <p:nvPr/>
        </p:nvGrpSpPr>
        <p:grpSpPr>
          <a:xfrm>
            <a:off x="3927600" y="2539800"/>
            <a:ext cx="1288800" cy="63900"/>
            <a:chOff x="3927600" y="2539800"/>
            <a:chExt cx="1288800" cy="63900"/>
          </a:xfrm>
        </p:grpSpPr>
        <p:cxnSp>
          <p:nvCxnSpPr>
            <p:cNvPr id="78" name="Google Shape;78;p13"/>
            <p:cNvCxnSpPr/>
            <p:nvPr/>
          </p:nvCxnSpPr>
          <p:spPr>
            <a:xfrm>
              <a:off x="3927600" y="2571750"/>
              <a:ext cx="1288800" cy="0"/>
            </a:xfrm>
            <a:prstGeom prst="straightConnector1">
              <a:avLst/>
            </a:prstGeom>
            <a:noFill/>
            <a:ln w="9525" cap="flat" cmpd="sng">
              <a:solidFill>
                <a:srgbClr val="22222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9" name="Google Shape;79;p13"/>
            <p:cNvSpPr/>
            <p:nvPr/>
          </p:nvSpPr>
          <p:spPr>
            <a:xfrm flipH="1">
              <a:off x="4538275" y="2539800"/>
              <a:ext cx="67500" cy="63900"/>
            </a:xfrm>
            <a:prstGeom prst="diamond">
              <a:avLst/>
            </a:prstGeom>
            <a:solidFill>
              <a:srgbClr val="222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1810200" y="557513"/>
            <a:ext cx="55236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This Course Is About</a:t>
            </a:r>
            <a:endParaRPr dirty="0"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1"/>
          </p:nvPr>
        </p:nvSpPr>
        <p:spPr>
          <a:xfrm>
            <a:off x="457200" y="1403306"/>
            <a:ext cx="8229600" cy="3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An introduction to modern Latin American politics</a:t>
            </a:r>
          </a:p>
          <a:p>
            <a:pPr>
              <a:spcAft>
                <a:spcPts val="1200"/>
              </a:spcAft>
            </a:pPr>
            <a:r>
              <a:rPr lang="en-US" dirty="0"/>
              <a:t>Focus on institutions, political developments, and regional trends</a:t>
            </a:r>
          </a:p>
          <a:p>
            <a:pPr>
              <a:spcAft>
                <a:spcPts val="1200"/>
              </a:spcAft>
            </a:pPr>
            <a:r>
              <a:rPr lang="en-US" dirty="0"/>
              <a:t>Emphasis on Argentina, Brazil, and Mexico</a:t>
            </a:r>
          </a:p>
          <a:p>
            <a:pPr>
              <a:spcAft>
                <a:spcPts val="1200"/>
              </a:spcAft>
            </a:pPr>
            <a:r>
              <a:rPr lang="en-US" dirty="0"/>
              <a:t>Case studies from other countries to illustrate broader phenomena</a:t>
            </a:r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6637800B-BD84-AF1D-F6DE-FA865051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>
            <a:extLst>
              <a:ext uri="{FF2B5EF4-FFF2-40B4-BE49-F238E27FC236}">
                <a16:creationId xmlns:a16="http://schemas.microsoft.com/office/drawing/2014/main" id="{A95ECC95-A282-C755-F83F-A1BDDB179B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0200" y="557513"/>
            <a:ext cx="55236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Course Goals</a:t>
            </a:r>
            <a:endParaRPr dirty="0"/>
          </a:p>
        </p:txBody>
      </p:sp>
      <p:sp>
        <p:nvSpPr>
          <p:cNvPr id="121" name="Google Shape;121;p18">
            <a:extLst>
              <a:ext uri="{FF2B5EF4-FFF2-40B4-BE49-F238E27FC236}">
                <a16:creationId xmlns:a16="http://schemas.microsoft.com/office/drawing/2014/main" id="{BF8F2273-ABAE-01BA-4A02-C3A280EFA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03306"/>
            <a:ext cx="8229600" cy="3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Recognize historical and institutional patterns in Latin America</a:t>
            </a:r>
          </a:p>
          <a:p>
            <a:pPr>
              <a:spcAft>
                <a:spcPts val="1200"/>
              </a:spcAft>
            </a:pPr>
            <a:r>
              <a:rPr lang="en-US" dirty="0"/>
              <a:t>Analyze contemporary political developments using key concepts</a:t>
            </a:r>
          </a:p>
          <a:p>
            <a:pPr>
              <a:spcAft>
                <a:spcPts val="1200"/>
              </a:spcAft>
            </a:pPr>
            <a:r>
              <a:rPr lang="en-US" dirty="0"/>
              <a:t>Critically engage with news and scholarship</a:t>
            </a:r>
          </a:p>
          <a:p>
            <a:pPr>
              <a:spcAft>
                <a:spcPts val="1200"/>
              </a:spcAft>
            </a:pPr>
            <a:r>
              <a:rPr lang="en-US" dirty="0"/>
              <a:t>Apply what you learn to a country of your choice</a:t>
            </a:r>
          </a:p>
        </p:txBody>
      </p:sp>
      <p:sp>
        <p:nvSpPr>
          <p:cNvPr id="122" name="Google Shape;122;p18">
            <a:extLst>
              <a:ext uri="{FF2B5EF4-FFF2-40B4-BE49-F238E27FC236}">
                <a16:creationId xmlns:a16="http://schemas.microsoft.com/office/drawing/2014/main" id="{898AAB6F-C277-7157-D1FD-F6EDBB1C0C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356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24F3BBA1-16E8-1DBC-9A29-7B7BC59C2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>
            <a:extLst>
              <a:ext uri="{FF2B5EF4-FFF2-40B4-BE49-F238E27FC236}">
                <a16:creationId xmlns:a16="http://schemas.microsoft.com/office/drawing/2014/main" id="{62027288-F04B-962A-0607-9B59BB8806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408" name="Google Shape;408;p40">
            <a:extLst>
              <a:ext uri="{FF2B5EF4-FFF2-40B4-BE49-F238E27FC236}">
                <a16:creationId xmlns:a16="http://schemas.microsoft.com/office/drawing/2014/main" id="{7F2560E0-DB56-33FF-A370-07C103041280}"/>
              </a:ext>
            </a:extLst>
          </p:cNvPr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0">
            <a:extLst>
              <a:ext uri="{FF2B5EF4-FFF2-40B4-BE49-F238E27FC236}">
                <a16:creationId xmlns:a16="http://schemas.microsoft.com/office/drawing/2014/main" id="{F704E22F-B063-8ACE-07A9-3149D073F735}"/>
              </a:ext>
            </a:extLst>
          </p:cNvPr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0" name="Google Shape;410;p40">
            <a:extLst>
              <a:ext uri="{FF2B5EF4-FFF2-40B4-BE49-F238E27FC236}">
                <a16:creationId xmlns:a16="http://schemas.microsoft.com/office/drawing/2014/main" id="{921BBCA1-F891-2B39-9F1D-FDCCB634DA5F}"/>
              </a:ext>
            </a:extLst>
          </p:cNvPr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411" name="Google Shape;411;p40">
              <a:extLst>
                <a:ext uri="{FF2B5EF4-FFF2-40B4-BE49-F238E27FC236}">
                  <a16:creationId xmlns:a16="http://schemas.microsoft.com/office/drawing/2014/main" id="{31D6DFA8-C830-17F1-F88E-1AC7B2E9F9D6}"/>
                </a:ext>
              </a:extLst>
            </p:cNvPr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12" name="Google Shape;412;p40">
              <a:extLst>
                <a:ext uri="{FF2B5EF4-FFF2-40B4-BE49-F238E27FC236}">
                  <a16:creationId xmlns:a16="http://schemas.microsoft.com/office/drawing/2014/main" id="{1D4BAB6F-846B-399C-78B7-EA17A525C4FC}"/>
                </a:ext>
              </a:extLst>
            </p:cNvPr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  <a:endParaRPr sz="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13" name="Google Shape;413;p40">
            <a:extLst>
              <a:ext uri="{FF2B5EF4-FFF2-40B4-BE49-F238E27FC236}">
                <a16:creationId xmlns:a16="http://schemas.microsoft.com/office/drawing/2014/main" id="{49C06B99-A34A-DE77-8E38-6D4EC277CD29}"/>
              </a:ext>
            </a:extLst>
          </p:cNvPr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414" name="Google Shape;414;p40">
              <a:extLst>
                <a:ext uri="{FF2B5EF4-FFF2-40B4-BE49-F238E27FC236}">
                  <a16:creationId xmlns:a16="http://schemas.microsoft.com/office/drawing/2014/main" id="{74505C73-250C-F83C-810F-72A485791E08}"/>
                </a:ext>
              </a:extLst>
            </p:cNvPr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15" name="Google Shape;415;p40">
              <a:extLst>
                <a:ext uri="{FF2B5EF4-FFF2-40B4-BE49-F238E27FC236}">
                  <a16:creationId xmlns:a16="http://schemas.microsoft.com/office/drawing/2014/main" id="{64B79167-6269-D481-9BBA-99DA28B47E5C}"/>
                </a:ext>
              </a:extLst>
            </p:cNvPr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  <a:endParaRPr sz="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16" name="Google Shape;416;p40">
            <a:extLst>
              <a:ext uri="{FF2B5EF4-FFF2-40B4-BE49-F238E27FC236}">
                <a16:creationId xmlns:a16="http://schemas.microsoft.com/office/drawing/2014/main" id="{D385C596-F9DA-4522-190B-91609F1BCA68}"/>
              </a:ext>
            </a:extLst>
          </p:cNvPr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417" name="Google Shape;417;p40">
              <a:extLst>
                <a:ext uri="{FF2B5EF4-FFF2-40B4-BE49-F238E27FC236}">
                  <a16:creationId xmlns:a16="http://schemas.microsoft.com/office/drawing/2014/main" id="{AB35DE81-04CE-D539-622D-B6294BF48352}"/>
                </a:ext>
              </a:extLst>
            </p:cNvPr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18" name="Google Shape;418;p40">
              <a:extLst>
                <a:ext uri="{FF2B5EF4-FFF2-40B4-BE49-F238E27FC236}">
                  <a16:creationId xmlns:a16="http://schemas.microsoft.com/office/drawing/2014/main" id="{226596F9-C305-DB9E-DB0C-9752CA6D7247}"/>
                </a:ext>
              </a:extLst>
            </p:cNvPr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5</a:t>
              </a:r>
              <a:endParaRPr sz="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19" name="Google Shape;419;p40">
            <a:extLst>
              <a:ext uri="{FF2B5EF4-FFF2-40B4-BE49-F238E27FC236}">
                <a16:creationId xmlns:a16="http://schemas.microsoft.com/office/drawing/2014/main" id="{4CF2CFBD-DC05-3E53-FCE8-3D8B84174483}"/>
              </a:ext>
            </a:extLst>
          </p:cNvPr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420" name="Google Shape;420;p40">
              <a:extLst>
                <a:ext uri="{FF2B5EF4-FFF2-40B4-BE49-F238E27FC236}">
                  <a16:creationId xmlns:a16="http://schemas.microsoft.com/office/drawing/2014/main" id="{4BB56644-B18D-C619-B492-66E24E9AE821}"/>
                </a:ext>
              </a:extLst>
            </p:cNvPr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21" name="Google Shape;421;p40">
              <a:extLst>
                <a:ext uri="{FF2B5EF4-FFF2-40B4-BE49-F238E27FC236}">
                  <a16:creationId xmlns:a16="http://schemas.microsoft.com/office/drawing/2014/main" id="{1DAC1065-69EE-0DA5-006D-9B4EBF59B462}"/>
                </a:ext>
              </a:extLst>
            </p:cNvPr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6</a:t>
              </a:r>
              <a:endParaRPr sz="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22" name="Google Shape;422;p40">
            <a:extLst>
              <a:ext uri="{FF2B5EF4-FFF2-40B4-BE49-F238E27FC236}">
                <a16:creationId xmlns:a16="http://schemas.microsoft.com/office/drawing/2014/main" id="{CCB6A400-7130-5499-02C1-9250786E5FB2}"/>
              </a:ext>
            </a:extLst>
          </p:cNvPr>
          <p:cNvGrpSpPr/>
          <p:nvPr/>
        </p:nvGrpSpPr>
        <p:grpSpPr>
          <a:xfrm>
            <a:off x="4852739" y="3576300"/>
            <a:ext cx="473400" cy="473400"/>
            <a:chOff x="4852739" y="3576300"/>
            <a:chExt cx="473400" cy="473400"/>
          </a:xfrm>
        </p:grpSpPr>
        <p:sp>
          <p:nvSpPr>
            <p:cNvPr id="423" name="Google Shape;423;p40">
              <a:extLst>
                <a:ext uri="{FF2B5EF4-FFF2-40B4-BE49-F238E27FC236}">
                  <a16:creationId xmlns:a16="http://schemas.microsoft.com/office/drawing/2014/main" id="{4DA02906-5FFC-56B2-2609-5405BA4B91B2}"/>
                </a:ext>
              </a:extLst>
            </p:cNvPr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24" name="Google Shape;424;p40">
              <a:extLst>
                <a:ext uri="{FF2B5EF4-FFF2-40B4-BE49-F238E27FC236}">
                  <a16:creationId xmlns:a16="http://schemas.microsoft.com/office/drawing/2014/main" id="{82640CC9-8551-198E-07C4-3C49AAC7A737}"/>
                </a:ext>
              </a:extLst>
            </p:cNvPr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  <a:endParaRPr sz="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25" name="Google Shape;425;p40">
            <a:extLst>
              <a:ext uri="{FF2B5EF4-FFF2-40B4-BE49-F238E27FC236}">
                <a16:creationId xmlns:a16="http://schemas.microsoft.com/office/drawing/2014/main" id="{5F6B103F-55ED-7CB1-E2A0-7182EAE5A013}"/>
              </a:ext>
            </a:extLst>
          </p:cNvPr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426" name="Google Shape;426;p40">
              <a:extLst>
                <a:ext uri="{FF2B5EF4-FFF2-40B4-BE49-F238E27FC236}">
                  <a16:creationId xmlns:a16="http://schemas.microsoft.com/office/drawing/2014/main" id="{704AB7BE-4A5B-8399-3008-F2E6EC6BFA7C}"/>
                </a:ext>
              </a:extLst>
            </p:cNvPr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27" name="Google Shape;427;p40">
              <a:extLst>
                <a:ext uri="{FF2B5EF4-FFF2-40B4-BE49-F238E27FC236}">
                  <a16:creationId xmlns:a16="http://schemas.microsoft.com/office/drawing/2014/main" id="{5D434EFE-81CF-A866-BE78-0E40B4A43E25}"/>
                </a:ext>
              </a:extLst>
            </p:cNvPr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  <a:endParaRPr sz="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428" name="Google Shape;428;p40">
            <a:extLst>
              <a:ext uri="{FF2B5EF4-FFF2-40B4-BE49-F238E27FC236}">
                <a16:creationId xmlns:a16="http://schemas.microsoft.com/office/drawing/2014/main" id="{2FBA5FC0-B9F0-1496-C854-FDDF92FD183D}"/>
              </a:ext>
            </a:extLst>
          </p:cNvPr>
          <p:cNvSpPr txBox="1"/>
          <p:nvPr/>
        </p:nvSpPr>
        <p:spPr>
          <a:xfrm>
            <a:off x="137985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 algn="ctr"/>
            <a:r>
              <a:rPr lang="en-US" sz="1200" dirty="0"/>
              <a:t>State formation and struggles</a:t>
            </a:r>
            <a:endParaRPr lang="en-US" sz="7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6C6A9A43-6298-2041-B0FE-96310084D271}"/>
              </a:ext>
            </a:extLst>
          </p:cNvPr>
          <p:cNvSpPr txBox="1"/>
          <p:nvPr/>
        </p:nvSpPr>
        <p:spPr>
          <a:xfrm>
            <a:off x="3377205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Democratization and institutional designs</a:t>
            </a:r>
            <a:endParaRPr sz="7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0" name="Google Shape;430;p40">
            <a:extLst>
              <a:ext uri="{FF2B5EF4-FFF2-40B4-BE49-F238E27FC236}">
                <a16:creationId xmlns:a16="http://schemas.microsoft.com/office/drawing/2014/main" id="{AD066EDE-1193-81C2-C103-FEFC22EFEF4B}"/>
              </a:ext>
            </a:extLst>
          </p:cNvPr>
          <p:cNvSpPr txBox="1"/>
          <p:nvPr/>
        </p:nvSpPr>
        <p:spPr>
          <a:xfrm>
            <a:off x="543601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+mj-lt"/>
                <a:ea typeface="Raleway"/>
                <a:cs typeface="Raleway"/>
                <a:sym typeface="Raleway"/>
              </a:rPr>
              <a:t>Individual Case studies</a:t>
            </a:r>
            <a:endParaRPr lang="en-US" sz="700" dirty="0">
              <a:solidFill>
                <a:schemeClr val="dk1"/>
              </a:solidFill>
              <a:latin typeface="+mj-lt"/>
              <a:ea typeface="Raleway"/>
              <a:cs typeface="Raleway"/>
              <a:sym typeface="Raleway"/>
            </a:endParaRPr>
          </a:p>
        </p:txBody>
      </p:sp>
      <p:sp>
        <p:nvSpPr>
          <p:cNvPr id="431" name="Google Shape;431;p40">
            <a:extLst>
              <a:ext uri="{FF2B5EF4-FFF2-40B4-BE49-F238E27FC236}">
                <a16:creationId xmlns:a16="http://schemas.microsoft.com/office/drawing/2014/main" id="{7F88E725-FFA2-DD45-9D45-0AD7D8B53626}"/>
              </a:ext>
            </a:extLst>
          </p:cNvPr>
          <p:cNvSpPr txBox="1"/>
          <p:nvPr/>
        </p:nvSpPr>
        <p:spPr>
          <a:xfrm>
            <a:off x="241817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sz="1200" dirty="0"/>
              <a:t>Nationalism and liberalism</a:t>
            </a:r>
            <a:endParaRPr lang="en-US" sz="7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2" name="Google Shape;432;p40">
            <a:extLst>
              <a:ext uri="{FF2B5EF4-FFF2-40B4-BE49-F238E27FC236}">
                <a16:creationId xmlns:a16="http://schemas.microsoft.com/office/drawing/2014/main" id="{C5545FB4-FCCF-3F3D-600F-2F2EC3590B74}"/>
              </a:ext>
            </a:extLst>
          </p:cNvPr>
          <p:cNvSpPr txBox="1"/>
          <p:nvPr/>
        </p:nvSpPr>
        <p:spPr>
          <a:xfrm>
            <a:off x="444625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ea typeface="Raleway"/>
                <a:cs typeface="Raleway"/>
                <a:sym typeface="Raleway"/>
              </a:rPr>
              <a:t>Political challenges and new instabilities</a:t>
            </a:r>
            <a:endParaRPr lang="en-US" sz="700" dirty="0">
              <a:solidFill>
                <a:schemeClr val="dk1"/>
              </a:solidFill>
              <a:ea typeface="Raleway"/>
              <a:cs typeface="Raleway"/>
              <a:sym typeface="Raleway"/>
            </a:endParaRPr>
          </a:p>
        </p:txBody>
      </p:sp>
      <p:sp>
        <p:nvSpPr>
          <p:cNvPr id="433" name="Google Shape;433;p40">
            <a:extLst>
              <a:ext uri="{FF2B5EF4-FFF2-40B4-BE49-F238E27FC236}">
                <a16:creationId xmlns:a16="http://schemas.microsoft.com/office/drawing/2014/main" id="{8D46AB8E-6985-D5D8-0637-227438B25ACC}"/>
              </a:ext>
            </a:extLst>
          </p:cNvPr>
          <p:cNvSpPr txBox="1"/>
          <p:nvPr/>
        </p:nvSpPr>
        <p:spPr>
          <a:xfrm>
            <a:off x="647433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Democracy in the region</a:t>
            </a:r>
            <a:endParaRPr sz="7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4" name="Google Shape;434;p40">
            <a:extLst>
              <a:ext uri="{FF2B5EF4-FFF2-40B4-BE49-F238E27FC236}">
                <a16:creationId xmlns:a16="http://schemas.microsoft.com/office/drawing/2014/main" id="{DABF0A92-1291-3A7B-CA7E-874D0AC835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0200" y="557513"/>
            <a:ext cx="55236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Course Structure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1335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20A178-D8DE-4352-7126-73DA748178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55092" y="1397363"/>
            <a:ext cx="5331682" cy="3528300"/>
          </a:xfrm>
        </p:spPr>
        <p:txBody>
          <a:bodyPr/>
          <a:lstStyle/>
          <a:p>
            <a:r>
              <a:rPr lang="en-US" dirty="0"/>
              <a:t>Main text: Born in Blood and Fire by John Charles Chasteen (5th ed.)</a:t>
            </a:r>
          </a:p>
          <a:p>
            <a:r>
              <a:rPr lang="en-US" dirty="0"/>
              <a:t>All other materials available on Canvas</a:t>
            </a:r>
          </a:p>
          <a:p>
            <a:r>
              <a:rPr lang="en-US" dirty="0"/>
              <a:t>Complete readings before assignments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846D3A9-09AF-3C90-8B45-27B5E0F27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Readings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C613F3-AB9D-4F6A-0AA3-8D5D4F137A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 descr="Cover image: Born in Blood and Fire: A Concise History of Latin America">
            <a:extLst>
              <a:ext uri="{FF2B5EF4-FFF2-40B4-BE49-F238E27FC236}">
                <a16:creationId xmlns:a16="http://schemas.microsoft.com/office/drawing/2014/main" id="{B4474B4F-8CCD-6778-C12C-362B8BDCD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54" y="1223783"/>
            <a:ext cx="2418292" cy="362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590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BB86D-2F29-BA4A-BE2B-0C158495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Assignments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917DC5-2170-3FD7-24EA-784F50833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42149"/>
            <a:ext cx="8229600" cy="35226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dirty="0"/>
              <a:t>6 Quizzes (30%): Based on readings, 30 minutes each</a:t>
            </a:r>
          </a:p>
          <a:p>
            <a:pPr>
              <a:spcAft>
                <a:spcPts val="1200"/>
              </a:spcAft>
            </a:pPr>
            <a:r>
              <a:rPr lang="en-US" dirty="0"/>
              <a:t>1 Midterm Exam (15%): Covers Weeks 1–7</a:t>
            </a:r>
          </a:p>
          <a:p>
            <a:pPr>
              <a:spcAft>
                <a:spcPts val="1200"/>
              </a:spcAft>
            </a:pPr>
            <a:r>
              <a:rPr lang="en-US" dirty="0"/>
              <a:t>1 Final Exam (25%): Covers the entire course</a:t>
            </a:r>
          </a:p>
          <a:p>
            <a:pPr>
              <a:spcAft>
                <a:spcPts val="1200"/>
              </a:spcAft>
            </a:pPr>
            <a:r>
              <a:rPr lang="en-US" dirty="0"/>
              <a:t>1 Individual Video Presentation (30%): Political update of a selected country</a:t>
            </a:r>
          </a:p>
          <a:p>
            <a:pPr>
              <a:spcAft>
                <a:spcPts val="1200"/>
              </a:spcAft>
            </a:pPr>
            <a:r>
              <a:rPr lang="en-US" dirty="0"/>
              <a:t>5 Discussion Boards (up to 10% extra credit): Apply readings to current events</a:t>
            </a:r>
          </a:p>
          <a:p>
            <a:pPr marL="114300" indent="0">
              <a:spcAft>
                <a:spcPts val="1200"/>
              </a:spcAft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051484-F793-C3D8-3E96-46ECD4DAB7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38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40CBB-E30D-E81D-F08D-BDFFD171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Presentation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8AE4A4-5FEC-DB78-7043-30C84BA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42149"/>
            <a:ext cx="8229600" cy="35226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000" dirty="0"/>
              <a:t>5–10 minute video due Week 14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Analyze political developments in your chosen country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Address institutions, conflict, regional and U.S. relations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Optional one page draft and five page report due June 5 for feedback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Upload final video to Canvas by November 5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5A2019-E7EB-0BB5-5A49-D797801048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1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F146D-56BD-A7CD-7EF5-55D46E19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Boards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5D435E-B3C2-9170-8A8A-71030C60B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dirty="0"/>
              <a:t>Analyze a recent news article (last month)</a:t>
            </a:r>
          </a:p>
          <a:p>
            <a:pPr>
              <a:spcAft>
                <a:spcPts val="1200"/>
              </a:spcAft>
            </a:pPr>
            <a:r>
              <a:rPr lang="en-US" dirty="0"/>
              <a:t>Apply concepts from readings and lectures</a:t>
            </a:r>
          </a:p>
          <a:p>
            <a:pPr>
              <a:spcAft>
                <a:spcPts val="1200"/>
              </a:spcAft>
            </a:pPr>
            <a:r>
              <a:rPr lang="en-US" dirty="0"/>
              <a:t>Focus on your selected country when possible</a:t>
            </a:r>
          </a:p>
          <a:p>
            <a:pPr>
              <a:spcAft>
                <a:spcPts val="1200"/>
              </a:spcAft>
            </a:pPr>
            <a:r>
              <a:rPr lang="en-US" dirty="0"/>
              <a:t>Engage with classmates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63FBE6-C02F-9636-1A13-5E5A2F7F9D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34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111151A-BABC-ED02-5984-23112DB49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No makeups unless documented</a:t>
            </a:r>
          </a:p>
          <a:p>
            <a:r>
              <a:rPr lang="en-US" sz="1600" dirty="0"/>
              <a:t>Follow all deadlines; stay on track weekly</a:t>
            </a:r>
          </a:p>
          <a:p>
            <a:r>
              <a:rPr lang="en-US" sz="1600" dirty="0"/>
              <a:t>Check Canvas regularly</a:t>
            </a:r>
          </a:p>
          <a:p>
            <a:r>
              <a:rPr lang="en-US" sz="1600" dirty="0"/>
              <a:t>Use FSU resources: library, tutoring, office hours</a:t>
            </a:r>
          </a:p>
          <a:p>
            <a:r>
              <a:rPr lang="en-US" sz="1600" dirty="0"/>
              <a:t>Ask for help early if needed</a:t>
            </a:r>
          </a:p>
          <a:p>
            <a:endParaRPr lang="en-US" sz="160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F1B3AF-5082-906E-87F2-99A6DBFE798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Complete syllabus quiz and first-day attendance</a:t>
            </a:r>
          </a:p>
          <a:p>
            <a:r>
              <a:rPr lang="en-US" sz="1600" dirty="0"/>
              <a:t>Do Week 1 readings</a:t>
            </a:r>
          </a:p>
          <a:p>
            <a:r>
              <a:rPr lang="en-US" sz="1600" dirty="0"/>
              <a:t>Watch the video lectures for Module 1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318A573-7143-E6BB-07DC-BE75EB4B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and getting started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DCDED8-0CF1-C2A9-1EBE-BF5A98FA9D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88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 txBox="1">
            <a:spLocks noGrp="1"/>
          </p:cNvSpPr>
          <p:nvPr>
            <p:ph type="ctrTitle" idx="4294967295"/>
          </p:nvPr>
        </p:nvSpPr>
        <p:spPr>
          <a:xfrm>
            <a:off x="685800" y="857249"/>
            <a:ext cx="7772400" cy="74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</a:rPr>
              <a:t>Thanks!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333" name="Google Shape;333;p35"/>
          <p:cNvSpPr txBox="1">
            <a:spLocks noGrp="1"/>
          </p:cNvSpPr>
          <p:nvPr>
            <p:ph type="subTitle" idx="4294967295"/>
          </p:nvPr>
        </p:nvSpPr>
        <p:spPr>
          <a:xfrm>
            <a:off x="1275150" y="1468463"/>
            <a:ext cx="6593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lt1"/>
                </a:solidFill>
              </a:rPr>
              <a:t>ANY QUESTIONS?</a:t>
            </a:r>
            <a:endParaRPr sz="3600" b="1">
              <a:solidFill>
                <a:schemeClr val="lt1"/>
              </a:solidFill>
            </a:endParaRPr>
          </a:p>
        </p:txBody>
      </p:sp>
      <p:sp>
        <p:nvSpPr>
          <p:cNvPr id="334" name="Google Shape;334;p35"/>
          <p:cNvSpPr txBox="1">
            <a:spLocks noGrp="1"/>
          </p:cNvSpPr>
          <p:nvPr>
            <p:ph type="body" idx="4294967295"/>
          </p:nvPr>
        </p:nvSpPr>
        <p:spPr>
          <a:xfrm>
            <a:off x="1275150" y="2841694"/>
            <a:ext cx="6593700" cy="12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You can find me at: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crobeloguzman@fsu.edu</a:t>
            </a:r>
            <a:endParaRPr sz="1800" dirty="0">
              <a:solidFill>
                <a:srgbClr val="FFFFFF"/>
              </a:solidFill>
            </a:endParaRPr>
          </a:p>
        </p:txBody>
      </p:sp>
      <p:sp>
        <p:nvSpPr>
          <p:cNvPr id="335" name="Google Shape;335;p35"/>
          <p:cNvSpPr txBox="1">
            <a:spLocks noGrp="1"/>
          </p:cNvSpPr>
          <p:nvPr>
            <p:ph type="sldNum" idx="12"/>
          </p:nvPr>
        </p:nvSpPr>
        <p:spPr>
          <a:xfrm>
            <a:off x="4297650" y="4764749"/>
            <a:ext cx="548700" cy="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336" name="Google Shape;336;p35"/>
          <p:cNvGrpSpPr/>
          <p:nvPr/>
        </p:nvGrpSpPr>
        <p:grpSpPr>
          <a:xfrm>
            <a:off x="3927600" y="2539800"/>
            <a:ext cx="1288800" cy="63900"/>
            <a:chOff x="3927600" y="2539800"/>
            <a:chExt cx="1288800" cy="63900"/>
          </a:xfrm>
        </p:grpSpPr>
        <p:cxnSp>
          <p:nvCxnSpPr>
            <p:cNvPr id="337" name="Google Shape;337;p35"/>
            <p:cNvCxnSpPr/>
            <p:nvPr/>
          </p:nvCxnSpPr>
          <p:spPr>
            <a:xfrm>
              <a:off x="3927600" y="2571750"/>
              <a:ext cx="1288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8" name="Google Shape;338;p35"/>
            <p:cNvSpPr/>
            <p:nvPr/>
          </p:nvSpPr>
          <p:spPr>
            <a:xfrm flipH="1">
              <a:off x="4538275" y="2539800"/>
              <a:ext cx="67500" cy="63900"/>
            </a:xfrm>
            <a:prstGeom prst="diamond">
              <a:avLst/>
            </a:prstGeom>
            <a:solidFill>
              <a:srgbClr val="22222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thello template">
  <a:themeElements>
    <a:clrScheme name="Custom 347">
      <a:dk1>
        <a:srgbClr val="222222"/>
      </a:dk1>
      <a:lt1>
        <a:srgbClr val="FFFFFF"/>
      </a:lt1>
      <a:dk2>
        <a:srgbClr val="8B8B8B"/>
      </a:dk2>
      <a:lt2>
        <a:srgbClr val="F3F3F3"/>
      </a:lt2>
      <a:accent1>
        <a:srgbClr val="A8122A"/>
      </a:accent1>
      <a:accent2>
        <a:srgbClr val="B88A92"/>
      </a:accent2>
      <a:accent3>
        <a:srgbClr val="F5F1E0"/>
      </a:accent3>
      <a:accent4>
        <a:srgbClr val="D6CEAD"/>
      </a:accent4>
      <a:accent5>
        <a:srgbClr val="434343"/>
      </a:accent5>
      <a:accent6>
        <a:srgbClr val="B7B7B7"/>
      </a:accent6>
      <a:hlink>
        <a:srgbClr val="A8122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381</Words>
  <Application>Microsoft Office PowerPoint</Application>
  <PresentationFormat>Presentación en pantalla (16:9)</PresentationFormat>
  <Paragraphs>74</Paragraphs>
  <Slides>11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Raleway</vt:lpstr>
      <vt:lpstr>Calibri</vt:lpstr>
      <vt:lpstr>Arial</vt:lpstr>
      <vt:lpstr>Merriweather</vt:lpstr>
      <vt:lpstr>Othello template</vt:lpstr>
      <vt:lpstr>Welcome to CPO 3303 Politics of Latin America</vt:lpstr>
      <vt:lpstr>Hi!</vt:lpstr>
      <vt:lpstr>What This Course Is About</vt:lpstr>
      <vt:lpstr>Course Goals</vt:lpstr>
      <vt:lpstr>Course Structure</vt:lpstr>
      <vt:lpstr>Required Readings</vt:lpstr>
      <vt:lpstr>Major Assignments</vt:lpstr>
      <vt:lpstr>Video Presentation</vt:lpstr>
      <vt:lpstr>Discussion Boards</vt:lpstr>
      <vt:lpstr>Policies and getting started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Claudio Alberto Robelo Guzman</cp:lastModifiedBy>
  <cp:revision>6</cp:revision>
  <dcterms:modified xsi:type="dcterms:W3CDTF">2025-08-21T13:15:38Z</dcterms:modified>
</cp:coreProperties>
</file>