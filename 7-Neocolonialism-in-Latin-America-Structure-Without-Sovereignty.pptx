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Tomorrow" panose="020B0604020202020204" charset="0"/>
      <p:regular r:id="rId13"/>
    </p:embeddedFont>
    <p:embeddedFont>
      <p:font typeface="Tomorrow Semi Bold" panose="020B0604020202020204"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60" d="100"/>
          <a:sy n="60" d="100"/>
        </p:scale>
        <p:origin x="438" y="79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29940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 name="Shape 1">
            <a:extLst>
              <a:ext uri="{FF2B5EF4-FFF2-40B4-BE49-F238E27FC236}">
                <a16:creationId xmlns:a16="http://schemas.microsoft.com/office/drawing/2014/main" id="{D82DF6E8-631D-FD88-526D-A1829BEE9947}"/>
              </a:ext>
            </a:extLst>
          </p:cNvPr>
          <p:cNvSpPr/>
          <p:nvPr userDrawn="1"/>
        </p:nvSpPr>
        <p:spPr>
          <a:xfrm>
            <a:off x="0" y="0"/>
            <a:ext cx="14630400" cy="8229600"/>
          </a:xfrm>
          <a:prstGeom prst="rect">
            <a:avLst/>
          </a:prstGeom>
          <a:solidFill>
            <a:srgbClr val="1D1D1B"/>
          </a:solidFill>
          <a:ln/>
        </p:spPr>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327621" y="617597"/>
            <a:ext cx="7560707" cy="2120622"/>
          </a:xfrm>
          <a:prstGeom prst="rect">
            <a:avLst/>
          </a:prstGeom>
          <a:noFill/>
          <a:ln/>
        </p:spPr>
        <p:txBody>
          <a:bodyPr wrap="square" lIns="0" tIns="0" rIns="0" bIns="0" rtlCol="0" anchor="t"/>
          <a:lstStyle/>
          <a:p>
            <a:pPr marL="0" indent="0" algn="l">
              <a:lnSpc>
                <a:spcPts val="5550"/>
              </a:lnSpc>
              <a:buNone/>
            </a:pPr>
            <a:r>
              <a:rPr lang="en-US" sz="4450" dirty="0">
                <a:solidFill>
                  <a:srgbClr val="EDEDE8"/>
                </a:solidFill>
                <a:latin typeface="Tomorrow Semi Bold" pitchFamily="34" charset="0"/>
                <a:ea typeface="Tomorrow Semi Bold" pitchFamily="34" charset="-122"/>
                <a:cs typeface="Tomorrow Semi Bold" pitchFamily="34" charset="-120"/>
              </a:rPr>
              <a:t>Neocolonialism in Latin America: Structure Without Sovereignty</a:t>
            </a:r>
            <a:endParaRPr lang="en-US" sz="4450" dirty="0"/>
          </a:p>
        </p:txBody>
      </p:sp>
      <p:sp>
        <p:nvSpPr>
          <p:cNvPr id="4" name="Text 1"/>
          <p:cNvSpPr/>
          <p:nvPr/>
        </p:nvSpPr>
        <p:spPr>
          <a:xfrm>
            <a:off x="327621" y="3082528"/>
            <a:ext cx="7560707" cy="1809750"/>
          </a:xfrm>
          <a:prstGeom prst="rect">
            <a:avLst/>
          </a:prstGeom>
          <a:noFill/>
          <a:ln/>
        </p:spPr>
        <p:txBody>
          <a:bodyPr wrap="square" lIns="0" tIns="0" rIns="0" bIns="0" rtlCol="0" anchor="t"/>
          <a:lstStyle/>
          <a:p>
            <a:pPr marL="0" indent="0" algn="l">
              <a:lnSpc>
                <a:spcPts val="2800"/>
              </a:lnSpc>
              <a:buNone/>
            </a:pPr>
            <a:r>
              <a:rPr lang="en-US" sz="1750" dirty="0">
                <a:solidFill>
                  <a:srgbClr val="C9C9C0"/>
                </a:solidFill>
                <a:latin typeface="Tomorrow" pitchFamily="34" charset="0"/>
                <a:ea typeface="Tomorrow" pitchFamily="34" charset="-122"/>
                <a:cs typeface="Tomorrow" pitchFamily="34" charset="-120"/>
              </a:rPr>
              <a:t>Between 1880 and 1930, Latin America entered its "neocolonial" period—a time of deep economic, cultural, and political dependence on foreign powers, especially Britain and the United States. While politically independent, Latin American nations remained subordinated in global affairs.</a:t>
            </a:r>
            <a:endParaRPr lang="en-US" sz="1750" dirty="0"/>
          </a:p>
        </p:txBody>
      </p:sp>
      <p:sp>
        <p:nvSpPr>
          <p:cNvPr id="5" name="Text 2"/>
          <p:cNvSpPr/>
          <p:nvPr/>
        </p:nvSpPr>
        <p:spPr>
          <a:xfrm>
            <a:off x="327621" y="5146715"/>
            <a:ext cx="7560707" cy="1809750"/>
          </a:xfrm>
          <a:prstGeom prst="rect">
            <a:avLst/>
          </a:prstGeom>
          <a:noFill/>
          <a:ln/>
        </p:spPr>
        <p:txBody>
          <a:bodyPr wrap="square" lIns="0" tIns="0" rIns="0" bIns="0" rtlCol="0" anchor="t"/>
          <a:lstStyle/>
          <a:p>
            <a:pPr marL="0" indent="0" algn="l">
              <a:lnSpc>
                <a:spcPts val="2800"/>
              </a:lnSpc>
              <a:buNone/>
            </a:pPr>
            <a:r>
              <a:rPr lang="en-US" sz="1750" dirty="0">
                <a:solidFill>
                  <a:srgbClr val="C9C9C0"/>
                </a:solidFill>
                <a:latin typeface="Tomorrow" pitchFamily="34" charset="0"/>
                <a:ea typeface="Tomorrow" pitchFamily="34" charset="-122"/>
                <a:cs typeface="Tomorrow" pitchFamily="34" charset="-120"/>
              </a:rPr>
              <a:t>Foreign investment shaped economies, cities, and governments throughout the region. Hierarchies of race and class remained largely unchanged from colonial times. Social elites emulated European culture and depended heavily on export markets, creating a system where independence existed on paper but not in practice.</a:t>
            </a:r>
            <a:endParaRPr lang="en-US" sz="1750" dirty="0"/>
          </a:p>
        </p:txBody>
      </p:sp>
      <p:pic>
        <p:nvPicPr>
          <p:cNvPr id="1026" name="Picture 2" descr="Generation of '80 - Wikipedia">
            <a:extLst>
              <a:ext uri="{FF2B5EF4-FFF2-40B4-BE49-F238E27FC236}">
                <a16:creationId xmlns:a16="http://schemas.microsoft.com/office/drawing/2014/main" id="{2182886B-492D-4F5B-48C2-0C4B86D47FC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7113" r="6713"/>
          <a:stretch/>
        </p:blipFill>
        <p:spPr bwMode="auto">
          <a:xfrm>
            <a:off x="8133990" y="1202281"/>
            <a:ext cx="6278046" cy="58250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776407"/>
            <a:ext cx="6622852" cy="708779"/>
          </a:xfrm>
          <a:prstGeom prst="rect">
            <a:avLst/>
          </a:prstGeom>
          <a:noFill/>
          <a:ln/>
        </p:spPr>
        <p:txBody>
          <a:bodyPr wrap="none" lIns="0" tIns="0" rIns="0" bIns="0" rtlCol="0" anchor="t"/>
          <a:lstStyle/>
          <a:p>
            <a:pPr marL="0" indent="0" algn="l">
              <a:lnSpc>
                <a:spcPts val="5550"/>
              </a:lnSpc>
              <a:buNone/>
            </a:pPr>
            <a:r>
              <a:rPr lang="en-US" sz="4450" dirty="0">
                <a:solidFill>
                  <a:srgbClr val="EDEDE8"/>
                </a:solidFill>
                <a:latin typeface="Tomorrow Semi Bold" pitchFamily="34" charset="0"/>
                <a:ea typeface="Tomorrow Semi Bold" pitchFamily="34" charset="-122"/>
                <a:cs typeface="Tomorrow Semi Bold" pitchFamily="34" charset="-120"/>
              </a:rPr>
              <a:t>The Great Export Boom</a:t>
            </a:r>
            <a:endParaRPr lang="en-US" sz="4450" dirty="0"/>
          </a:p>
        </p:txBody>
      </p:sp>
      <p:sp>
        <p:nvSpPr>
          <p:cNvPr id="3" name="Text 1"/>
          <p:cNvSpPr/>
          <p:nvPr/>
        </p:nvSpPr>
        <p:spPr>
          <a:xfrm>
            <a:off x="793790" y="1938814"/>
            <a:ext cx="13042821" cy="1088708"/>
          </a:xfrm>
          <a:prstGeom prst="rect">
            <a:avLst/>
          </a:prstGeom>
          <a:noFill/>
          <a:ln/>
        </p:spPr>
        <p:txBody>
          <a:bodyPr wrap="square" lIns="0" tIns="0" rIns="0" bIns="0" rtlCol="0" anchor="t"/>
          <a:lstStyle/>
          <a:p>
            <a:pPr marL="0" indent="0" algn="l">
              <a:lnSpc>
                <a:spcPts val="2850"/>
              </a:lnSpc>
              <a:buNone/>
            </a:pPr>
            <a:r>
              <a:rPr lang="en-US" sz="1750" dirty="0">
                <a:solidFill>
                  <a:srgbClr val="C9C9C0"/>
                </a:solidFill>
                <a:latin typeface="Tomorrow" pitchFamily="34" charset="0"/>
                <a:ea typeface="Tomorrow" pitchFamily="34" charset="-122"/>
                <a:cs typeface="Tomorrow" pitchFamily="34" charset="-120"/>
              </a:rPr>
              <a:t>Latin American economies exploded with growth through commodity exports during this period—but the benefits flowed almost exclusively to elites. Each country specialized: coffee in Brazil, nitrates in Chile, sugar in Cuba, and wheat in Argentina.</a:t>
            </a:r>
            <a:endParaRPr lang="en-US" sz="1750" dirty="0"/>
          </a:p>
        </p:txBody>
      </p:sp>
      <p:sp>
        <p:nvSpPr>
          <p:cNvPr id="4" name="Text 2"/>
          <p:cNvSpPr/>
          <p:nvPr/>
        </p:nvSpPr>
        <p:spPr>
          <a:xfrm>
            <a:off x="793790" y="3282672"/>
            <a:ext cx="13042821" cy="1088708"/>
          </a:xfrm>
          <a:prstGeom prst="rect">
            <a:avLst/>
          </a:prstGeom>
          <a:noFill/>
          <a:ln/>
        </p:spPr>
        <p:txBody>
          <a:bodyPr wrap="square" lIns="0" tIns="0" rIns="0" bIns="0" rtlCol="0" anchor="t"/>
          <a:lstStyle/>
          <a:p>
            <a:pPr marL="0" indent="0" algn="l">
              <a:lnSpc>
                <a:spcPts val="2850"/>
              </a:lnSpc>
              <a:buNone/>
            </a:pPr>
            <a:r>
              <a:rPr lang="en-US" sz="1750" dirty="0">
                <a:solidFill>
                  <a:srgbClr val="C9C9C0"/>
                </a:solidFill>
                <a:latin typeface="Tomorrow" pitchFamily="34" charset="0"/>
                <a:ea typeface="Tomorrow" pitchFamily="34" charset="-122"/>
                <a:cs typeface="Tomorrow" pitchFamily="34" charset="-120"/>
              </a:rPr>
              <a:t>Infrastructure like railroads was built specifically to serve exports, not internal development. The scale was impressive: Argentina's wheat exports multiplied 1,000-fold, while Brazil produced two-thirds of the world's coffee. Yet the vast majority of the population remained poor, landless, and disenfranchised.</a:t>
            </a:r>
            <a:endParaRPr lang="en-US" sz="1750" dirty="0"/>
          </a:p>
        </p:txBody>
      </p:sp>
      <p:sp>
        <p:nvSpPr>
          <p:cNvPr id="5" name="Text 3"/>
          <p:cNvSpPr/>
          <p:nvPr/>
        </p:nvSpPr>
        <p:spPr>
          <a:xfrm>
            <a:off x="793790" y="485334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EDEDE8"/>
                </a:solidFill>
                <a:latin typeface="Tomorrow Semi Bold" pitchFamily="34" charset="0"/>
                <a:ea typeface="Tomorrow Semi Bold" pitchFamily="34" charset="-122"/>
                <a:cs typeface="Tomorrow Semi Bold" pitchFamily="34" charset="-120"/>
              </a:rPr>
              <a:t>Coffee (Brazil)</a:t>
            </a:r>
            <a:endParaRPr lang="en-US" sz="2200" dirty="0"/>
          </a:p>
        </p:txBody>
      </p:sp>
      <p:sp>
        <p:nvSpPr>
          <p:cNvPr id="6" name="Text 4"/>
          <p:cNvSpPr/>
          <p:nvPr/>
        </p:nvSpPr>
        <p:spPr>
          <a:xfrm>
            <a:off x="793790" y="5434489"/>
            <a:ext cx="2845594" cy="1814513"/>
          </a:xfrm>
          <a:prstGeom prst="rect">
            <a:avLst/>
          </a:prstGeom>
          <a:noFill/>
          <a:ln/>
        </p:spPr>
        <p:txBody>
          <a:bodyPr wrap="square" lIns="0" tIns="0" rIns="0" bIns="0" rtlCol="0" anchor="t"/>
          <a:lstStyle/>
          <a:p>
            <a:pPr marL="0" indent="0" algn="l">
              <a:lnSpc>
                <a:spcPts val="2850"/>
              </a:lnSpc>
              <a:buNone/>
            </a:pPr>
            <a:r>
              <a:rPr lang="en-US" sz="1750" dirty="0">
                <a:solidFill>
                  <a:srgbClr val="C9C9C0"/>
                </a:solidFill>
                <a:latin typeface="Tomorrow" pitchFamily="34" charset="0"/>
                <a:ea typeface="Tomorrow" pitchFamily="34" charset="-122"/>
                <a:cs typeface="Tomorrow" pitchFamily="34" charset="-120"/>
              </a:rPr>
              <a:t>Dominated global markets, creating vast wealth for plantation owners while workers lived in poverty.</a:t>
            </a:r>
            <a:endParaRPr lang="en-US" sz="1750" dirty="0"/>
          </a:p>
        </p:txBody>
      </p:sp>
      <p:sp>
        <p:nvSpPr>
          <p:cNvPr id="7" name="Text 5"/>
          <p:cNvSpPr/>
          <p:nvPr/>
        </p:nvSpPr>
        <p:spPr>
          <a:xfrm>
            <a:off x="4200406" y="485334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EDEDE8"/>
                </a:solidFill>
                <a:latin typeface="Tomorrow Semi Bold" pitchFamily="34" charset="0"/>
                <a:ea typeface="Tomorrow Semi Bold" pitchFamily="34" charset="-122"/>
                <a:cs typeface="Tomorrow Semi Bold" pitchFamily="34" charset="-120"/>
              </a:rPr>
              <a:t>Nitrates (Chile)</a:t>
            </a:r>
            <a:endParaRPr lang="en-US" sz="2200" dirty="0"/>
          </a:p>
        </p:txBody>
      </p:sp>
      <p:sp>
        <p:nvSpPr>
          <p:cNvPr id="8" name="Text 6"/>
          <p:cNvSpPr/>
          <p:nvPr/>
        </p:nvSpPr>
        <p:spPr>
          <a:xfrm>
            <a:off x="4200406" y="5434489"/>
            <a:ext cx="2845594" cy="1814513"/>
          </a:xfrm>
          <a:prstGeom prst="rect">
            <a:avLst/>
          </a:prstGeom>
          <a:noFill/>
          <a:ln/>
        </p:spPr>
        <p:txBody>
          <a:bodyPr wrap="square" lIns="0" tIns="0" rIns="0" bIns="0" rtlCol="0" anchor="t"/>
          <a:lstStyle/>
          <a:p>
            <a:pPr marL="0" indent="0" algn="l">
              <a:lnSpc>
                <a:spcPts val="2850"/>
              </a:lnSpc>
              <a:buNone/>
            </a:pPr>
            <a:r>
              <a:rPr lang="en-US" sz="1750" dirty="0">
                <a:solidFill>
                  <a:srgbClr val="C9C9C0"/>
                </a:solidFill>
                <a:latin typeface="Tomorrow" pitchFamily="34" charset="0"/>
                <a:ea typeface="Tomorrow" pitchFamily="34" charset="-122"/>
                <a:cs typeface="Tomorrow" pitchFamily="34" charset="-120"/>
              </a:rPr>
              <a:t>Mining operations controlled by foreign companies, with minimal benefits for Chilean workers.</a:t>
            </a:r>
            <a:endParaRPr lang="en-US" sz="1750" dirty="0"/>
          </a:p>
        </p:txBody>
      </p:sp>
      <p:sp>
        <p:nvSpPr>
          <p:cNvPr id="9" name="Text 7"/>
          <p:cNvSpPr/>
          <p:nvPr/>
        </p:nvSpPr>
        <p:spPr>
          <a:xfrm>
            <a:off x="7607022" y="485334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EDEDE8"/>
                </a:solidFill>
                <a:latin typeface="Tomorrow Semi Bold" pitchFamily="34" charset="0"/>
                <a:ea typeface="Tomorrow Semi Bold" pitchFamily="34" charset="-122"/>
                <a:cs typeface="Tomorrow Semi Bold" pitchFamily="34" charset="-120"/>
              </a:rPr>
              <a:t>Sugar (Cuba)</a:t>
            </a:r>
            <a:endParaRPr lang="en-US" sz="2200" dirty="0"/>
          </a:p>
        </p:txBody>
      </p:sp>
      <p:sp>
        <p:nvSpPr>
          <p:cNvPr id="10" name="Text 8"/>
          <p:cNvSpPr/>
          <p:nvPr/>
        </p:nvSpPr>
        <p:spPr>
          <a:xfrm>
            <a:off x="7607022" y="5434489"/>
            <a:ext cx="2845594" cy="1451610"/>
          </a:xfrm>
          <a:prstGeom prst="rect">
            <a:avLst/>
          </a:prstGeom>
          <a:noFill/>
          <a:ln/>
        </p:spPr>
        <p:txBody>
          <a:bodyPr wrap="square" lIns="0" tIns="0" rIns="0" bIns="0" rtlCol="0" anchor="t"/>
          <a:lstStyle/>
          <a:p>
            <a:pPr marL="0" indent="0" algn="l">
              <a:lnSpc>
                <a:spcPts val="2850"/>
              </a:lnSpc>
              <a:buNone/>
            </a:pPr>
            <a:r>
              <a:rPr lang="en-US" sz="1750" dirty="0">
                <a:solidFill>
                  <a:srgbClr val="C9C9C0"/>
                </a:solidFill>
                <a:latin typeface="Tomorrow" pitchFamily="34" charset="0"/>
                <a:ea typeface="Tomorrow" pitchFamily="34" charset="-122"/>
                <a:cs typeface="Tomorrow" pitchFamily="34" charset="-120"/>
              </a:rPr>
              <a:t>Created a dependent economy vulnerable to price fluctuations and U.S. control.</a:t>
            </a:r>
            <a:endParaRPr lang="en-US" sz="1750" dirty="0"/>
          </a:p>
        </p:txBody>
      </p:sp>
      <p:sp>
        <p:nvSpPr>
          <p:cNvPr id="11" name="Text 9"/>
          <p:cNvSpPr/>
          <p:nvPr/>
        </p:nvSpPr>
        <p:spPr>
          <a:xfrm>
            <a:off x="11013638" y="485334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EDEDE8"/>
                </a:solidFill>
                <a:latin typeface="Tomorrow Semi Bold" pitchFamily="34" charset="0"/>
                <a:ea typeface="Tomorrow Semi Bold" pitchFamily="34" charset="-122"/>
                <a:cs typeface="Tomorrow Semi Bold" pitchFamily="34" charset="-120"/>
              </a:rPr>
              <a:t>Wheat (Argentina)</a:t>
            </a:r>
            <a:endParaRPr lang="en-US" sz="2200" dirty="0"/>
          </a:p>
        </p:txBody>
      </p:sp>
      <p:sp>
        <p:nvSpPr>
          <p:cNvPr id="12" name="Text 10"/>
          <p:cNvSpPr/>
          <p:nvPr/>
        </p:nvSpPr>
        <p:spPr>
          <a:xfrm>
            <a:off x="11013638" y="5434489"/>
            <a:ext cx="2845594" cy="1451610"/>
          </a:xfrm>
          <a:prstGeom prst="rect">
            <a:avLst/>
          </a:prstGeom>
          <a:noFill/>
          <a:ln/>
        </p:spPr>
        <p:txBody>
          <a:bodyPr wrap="square" lIns="0" tIns="0" rIns="0" bIns="0" rtlCol="0" anchor="t"/>
          <a:lstStyle/>
          <a:p>
            <a:pPr marL="0" indent="0" algn="l">
              <a:lnSpc>
                <a:spcPts val="2850"/>
              </a:lnSpc>
              <a:buNone/>
            </a:pPr>
            <a:r>
              <a:rPr lang="en-US" sz="1750" dirty="0">
                <a:solidFill>
                  <a:srgbClr val="C9C9C0"/>
                </a:solidFill>
                <a:latin typeface="Tomorrow" pitchFamily="34" charset="0"/>
                <a:ea typeface="Tomorrow" pitchFamily="34" charset="-122"/>
                <a:cs typeface="Tomorrow" pitchFamily="34" charset="-120"/>
              </a:rPr>
              <a:t>Exports multiplied 1,000-fold, enriching landowners while rural workers gained little.</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31865" y="497919"/>
            <a:ext cx="8961358" cy="564118"/>
          </a:xfrm>
          <a:prstGeom prst="rect">
            <a:avLst/>
          </a:prstGeom>
          <a:noFill/>
          <a:ln/>
        </p:spPr>
        <p:txBody>
          <a:bodyPr wrap="none" lIns="0" tIns="0" rIns="0" bIns="0" rtlCol="0" anchor="t"/>
          <a:lstStyle/>
          <a:p>
            <a:pPr marL="0" indent="0" algn="l">
              <a:lnSpc>
                <a:spcPts val="4400"/>
              </a:lnSpc>
              <a:buNone/>
            </a:pPr>
            <a:r>
              <a:rPr lang="en-US" sz="3550" dirty="0">
                <a:solidFill>
                  <a:srgbClr val="EDEDE8"/>
                </a:solidFill>
                <a:latin typeface="Tomorrow Semi Bold" pitchFamily="34" charset="0"/>
                <a:ea typeface="Tomorrow Semi Bold" pitchFamily="34" charset="-122"/>
                <a:cs typeface="Tomorrow Semi Bold" pitchFamily="34" charset="-120"/>
              </a:rPr>
              <a:t>Dispossession and Agrarian Capitalism</a:t>
            </a:r>
            <a:endParaRPr lang="en-US" sz="3550" dirty="0"/>
          </a:p>
        </p:txBody>
      </p:sp>
      <p:sp>
        <p:nvSpPr>
          <p:cNvPr id="3" name="Text 1"/>
          <p:cNvSpPr/>
          <p:nvPr/>
        </p:nvSpPr>
        <p:spPr>
          <a:xfrm>
            <a:off x="631865" y="1409827"/>
            <a:ext cx="13366671" cy="577929"/>
          </a:xfrm>
          <a:prstGeom prst="rect">
            <a:avLst/>
          </a:prstGeom>
          <a:noFill/>
          <a:ln/>
        </p:spPr>
        <p:txBody>
          <a:bodyPr wrap="square" lIns="0" tIns="0" rIns="0" bIns="0" rtlCol="0" anchor="t"/>
          <a:lstStyle/>
          <a:p>
            <a:pPr marL="0" indent="0" algn="l">
              <a:lnSpc>
                <a:spcPts val="2250"/>
              </a:lnSpc>
              <a:buNone/>
            </a:pPr>
            <a:r>
              <a:rPr lang="en-US" sz="1750" dirty="0">
                <a:solidFill>
                  <a:srgbClr val="C9C9C0"/>
                </a:solidFill>
                <a:latin typeface="Tomorrow" pitchFamily="34" charset="0"/>
                <a:ea typeface="Tomorrow" pitchFamily="34" charset="-122"/>
                <a:cs typeface="Tomorrow" pitchFamily="34" charset="-120"/>
              </a:rPr>
              <a:t>Economic modernization devastated traditional rural life across Latin America. In Mexico, railroad expansion displaced Indigenous communities, resulting in only 3% of the population owning land by 1910. This concentration of land ownership created extreme inequality.</a:t>
            </a:r>
            <a:endParaRPr lang="en-US" sz="1750" dirty="0"/>
          </a:p>
        </p:txBody>
      </p:sp>
      <p:sp>
        <p:nvSpPr>
          <p:cNvPr id="4" name="Text 2"/>
          <p:cNvSpPr/>
          <p:nvPr/>
        </p:nvSpPr>
        <p:spPr>
          <a:xfrm>
            <a:off x="634008" y="2562889"/>
            <a:ext cx="13366671" cy="866894"/>
          </a:xfrm>
          <a:prstGeom prst="rect">
            <a:avLst/>
          </a:prstGeom>
          <a:noFill/>
          <a:ln/>
        </p:spPr>
        <p:txBody>
          <a:bodyPr wrap="square" lIns="0" tIns="0" rIns="0" bIns="0" rtlCol="0" anchor="t"/>
          <a:lstStyle/>
          <a:p>
            <a:pPr marL="0" indent="0" algn="l">
              <a:lnSpc>
                <a:spcPts val="2250"/>
              </a:lnSpc>
              <a:buNone/>
            </a:pPr>
            <a:r>
              <a:rPr lang="en-US" sz="1750" dirty="0">
                <a:solidFill>
                  <a:srgbClr val="C9C9C0"/>
                </a:solidFill>
                <a:latin typeface="Tomorrow" pitchFamily="34" charset="0"/>
                <a:ea typeface="Tomorrow" pitchFamily="34" charset="-122"/>
                <a:cs typeface="Tomorrow" pitchFamily="34" charset="-120"/>
              </a:rPr>
              <a:t>Governments enforced vagrancy laws that forced rural laborers into underpaid work on large estates. In El Salvador and Guatemala, Indigenous people were systematically pushed onto coffee plantations, creating a captive workforce. Rural majorities couldn't influence politics due to literacy and income voting requirements.</a:t>
            </a:r>
            <a:endParaRPr lang="en-US" sz="1750" dirty="0"/>
          </a:p>
        </p:txBody>
      </p:sp>
      <p:sp>
        <p:nvSpPr>
          <p:cNvPr id="5" name="Shape 3"/>
          <p:cNvSpPr/>
          <p:nvPr/>
        </p:nvSpPr>
        <p:spPr>
          <a:xfrm>
            <a:off x="7303769" y="3931453"/>
            <a:ext cx="45719" cy="4140994"/>
          </a:xfrm>
          <a:prstGeom prst="roundRect">
            <a:avLst>
              <a:gd name="adj" fmla="val 118479"/>
            </a:avLst>
          </a:prstGeom>
          <a:solidFill>
            <a:srgbClr val="555553"/>
          </a:solidFill>
          <a:ln/>
        </p:spPr>
        <p:txBody>
          <a:bodyPr/>
          <a:lstStyle/>
          <a:p>
            <a:endParaRPr lang="en-US"/>
          </a:p>
        </p:txBody>
      </p:sp>
      <p:sp>
        <p:nvSpPr>
          <p:cNvPr id="6" name="Shape 4"/>
          <p:cNvSpPr/>
          <p:nvPr/>
        </p:nvSpPr>
        <p:spPr>
          <a:xfrm>
            <a:off x="6593324" y="4123143"/>
            <a:ext cx="541615" cy="22860"/>
          </a:xfrm>
          <a:prstGeom prst="roundRect">
            <a:avLst>
              <a:gd name="adj" fmla="val 118479"/>
            </a:avLst>
          </a:prstGeom>
          <a:solidFill>
            <a:srgbClr val="555553"/>
          </a:solidFill>
          <a:ln/>
        </p:spPr>
        <p:txBody>
          <a:bodyPr/>
          <a:lstStyle/>
          <a:p>
            <a:endParaRPr lang="en-US"/>
          </a:p>
        </p:txBody>
      </p:sp>
      <p:sp>
        <p:nvSpPr>
          <p:cNvPr id="7" name="Shape 5"/>
          <p:cNvSpPr/>
          <p:nvPr/>
        </p:nvSpPr>
        <p:spPr>
          <a:xfrm>
            <a:off x="7112079" y="3931453"/>
            <a:ext cx="406241" cy="406241"/>
          </a:xfrm>
          <a:prstGeom prst="roundRect">
            <a:avLst>
              <a:gd name="adj" fmla="val 6667"/>
            </a:avLst>
          </a:prstGeom>
          <a:solidFill>
            <a:srgbClr val="3C3C3A"/>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7179826" y="3965326"/>
            <a:ext cx="270748" cy="338495"/>
          </a:xfrm>
          <a:prstGeom prst="rect">
            <a:avLst/>
          </a:prstGeom>
        </p:spPr>
      </p:pic>
      <p:sp>
        <p:nvSpPr>
          <p:cNvPr id="9" name="Text 6"/>
          <p:cNvSpPr/>
          <p:nvPr/>
        </p:nvSpPr>
        <p:spPr>
          <a:xfrm>
            <a:off x="4155519" y="3993484"/>
            <a:ext cx="2256949" cy="282178"/>
          </a:xfrm>
          <a:prstGeom prst="rect">
            <a:avLst/>
          </a:prstGeom>
          <a:noFill/>
          <a:ln/>
        </p:spPr>
        <p:txBody>
          <a:bodyPr wrap="none" lIns="0" tIns="0" rIns="0" bIns="0" rtlCol="0" anchor="t"/>
          <a:lstStyle/>
          <a:p>
            <a:pPr marL="0" indent="0" algn="r">
              <a:lnSpc>
                <a:spcPts val="2200"/>
              </a:lnSpc>
              <a:buNone/>
            </a:pPr>
            <a:r>
              <a:rPr lang="en-US" sz="1750" dirty="0">
                <a:solidFill>
                  <a:srgbClr val="C9C9C0"/>
                </a:solidFill>
                <a:latin typeface="Tomorrow Semi Bold" pitchFamily="34" charset="0"/>
                <a:ea typeface="Tomorrow Semi Bold" pitchFamily="34" charset="-122"/>
                <a:cs typeface="Tomorrow Semi Bold" pitchFamily="34" charset="-120"/>
              </a:rPr>
              <a:t>Railroad Expansion</a:t>
            </a:r>
            <a:endParaRPr lang="en-US" sz="1750" dirty="0"/>
          </a:p>
        </p:txBody>
      </p:sp>
      <p:sp>
        <p:nvSpPr>
          <p:cNvPr id="10" name="Text 7"/>
          <p:cNvSpPr/>
          <p:nvPr/>
        </p:nvSpPr>
        <p:spPr>
          <a:xfrm>
            <a:off x="631865" y="4383890"/>
            <a:ext cx="5780603" cy="577929"/>
          </a:xfrm>
          <a:prstGeom prst="rect">
            <a:avLst/>
          </a:prstGeom>
          <a:noFill/>
          <a:ln/>
        </p:spPr>
        <p:txBody>
          <a:bodyPr wrap="square" lIns="0" tIns="0" rIns="0" bIns="0" rtlCol="0" anchor="t"/>
          <a:lstStyle/>
          <a:p>
            <a:pPr marL="0" indent="0" algn="r">
              <a:lnSpc>
                <a:spcPts val="2250"/>
              </a:lnSpc>
              <a:buNone/>
            </a:pPr>
            <a:r>
              <a:rPr lang="en-US" sz="1400" dirty="0">
                <a:solidFill>
                  <a:srgbClr val="C9C9C0"/>
                </a:solidFill>
                <a:latin typeface="Tomorrow" pitchFamily="34" charset="0"/>
                <a:ea typeface="Tomorrow" pitchFamily="34" charset="-122"/>
                <a:cs typeface="Tomorrow" pitchFamily="34" charset="-120"/>
              </a:rPr>
              <a:t>Displaced Indigenous communities and facilitated land grabs by elites and foreign companies</a:t>
            </a:r>
            <a:endParaRPr lang="en-US" sz="1400" dirty="0"/>
          </a:p>
        </p:txBody>
      </p:sp>
      <p:sp>
        <p:nvSpPr>
          <p:cNvPr id="11" name="Shape 8"/>
          <p:cNvSpPr/>
          <p:nvPr/>
        </p:nvSpPr>
        <p:spPr>
          <a:xfrm>
            <a:off x="7495461" y="5206493"/>
            <a:ext cx="541615" cy="22860"/>
          </a:xfrm>
          <a:prstGeom prst="roundRect">
            <a:avLst>
              <a:gd name="adj" fmla="val 118479"/>
            </a:avLst>
          </a:prstGeom>
          <a:solidFill>
            <a:srgbClr val="555553"/>
          </a:solidFill>
          <a:ln/>
        </p:spPr>
        <p:txBody>
          <a:bodyPr/>
          <a:lstStyle/>
          <a:p>
            <a:endParaRPr lang="en-US"/>
          </a:p>
        </p:txBody>
      </p:sp>
      <p:sp>
        <p:nvSpPr>
          <p:cNvPr id="12" name="Shape 9"/>
          <p:cNvSpPr/>
          <p:nvPr/>
        </p:nvSpPr>
        <p:spPr>
          <a:xfrm>
            <a:off x="7112079" y="5014802"/>
            <a:ext cx="406241" cy="406241"/>
          </a:xfrm>
          <a:prstGeom prst="roundRect">
            <a:avLst>
              <a:gd name="adj" fmla="val 6667"/>
            </a:avLst>
          </a:prstGeom>
          <a:solidFill>
            <a:srgbClr val="3C3C3A"/>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7179826" y="5048676"/>
            <a:ext cx="270748" cy="338495"/>
          </a:xfrm>
          <a:prstGeom prst="rect">
            <a:avLst/>
          </a:prstGeom>
        </p:spPr>
      </p:pic>
      <p:sp>
        <p:nvSpPr>
          <p:cNvPr id="14" name="Text 10"/>
          <p:cNvSpPr/>
          <p:nvPr/>
        </p:nvSpPr>
        <p:spPr>
          <a:xfrm>
            <a:off x="8217932" y="5076834"/>
            <a:ext cx="2256949" cy="282178"/>
          </a:xfrm>
          <a:prstGeom prst="rect">
            <a:avLst/>
          </a:prstGeom>
          <a:noFill/>
          <a:ln/>
        </p:spPr>
        <p:txBody>
          <a:bodyPr wrap="none" lIns="0" tIns="0" rIns="0" bIns="0" rtlCol="0" anchor="t"/>
          <a:lstStyle/>
          <a:p>
            <a:pPr marL="0" indent="0" algn="l">
              <a:lnSpc>
                <a:spcPts val="2200"/>
              </a:lnSpc>
              <a:buNone/>
            </a:pPr>
            <a:r>
              <a:rPr lang="en-US" sz="1750" dirty="0">
                <a:solidFill>
                  <a:srgbClr val="C9C9C0"/>
                </a:solidFill>
                <a:latin typeface="Tomorrow Semi Bold" pitchFamily="34" charset="0"/>
                <a:ea typeface="Tomorrow Semi Bold" pitchFamily="34" charset="-122"/>
                <a:cs typeface="Tomorrow Semi Bold" pitchFamily="34" charset="-120"/>
              </a:rPr>
              <a:t>Vagrancy Laws</a:t>
            </a:r>
            <a:endParaRPr lang="en-US" sz="1750" dirty="0"/>
          </a:p>
        </p:txBody>
      </p:sp>
      <p:sp>
        <p:nvSpPr>
          <p:cNvPr id="15" name="Text 11"/>
          <p:cNvSpPr/>
          <p:nvPr/>
        </p:nvSpPr>
        <p:spPr>
          <a:xfrm>
            <a:off x="8217932" y="5467240"/>
            <a:ext cx="5780603" cy="577929"/>
          </a:xfrm>
          <a:prstGeom prst="rect">
            <a:avLst/>
          </a:prstGeom>
          <a:noFill/>
          <a:ln/>
        </p:spPr>
        <p:txBody>
          <a:bodyPr wrap="square" lIns="0" tIns="0" rIns="0" bIns="0" rtlCol="0" anchor="t"/>
          <a:lstStyle/>
          <a:p>
            <a:pPr marL="0" indent="0" algn="l">
              <a:lnSpc>
                <a:spcPts val="2250"/>
              </a:lnSpc>
              <a:buNone/>
            </a:pPr>
            <a:r>
              <a:rPr lang="en-US" sz="1400" dirty="0">
                <a:solidFill>
                  <a:srgbClr val="C9C9C0"/>
                </a:solidFill>
                <a:latin typeface="Tomorrow" pitchFamily="34" charset="0"/>
                <a:ea typeface="Tomorrow" pitchFamily="34" charset="-122"/>
                <a:cs typeface="Tomorrow" pitchFamily="34" charset="-120"/>
              </a:rPr>
              <a:t>Criminalized unemployment, forcing rural people into exploitative labor arrangements</a:t>
            </a:r>
            <a:endParaRPr lang="en-US" sz="1400" dirty="0"/>
          </a:p>
        </p:txBody>
      </p:sp>
      <p:sp>
        <p:nvSpPr>
          <p:cNvPr id="16" name="Shape 12"/>
          <p:cNvSpPr/>
          <p:nvPr/>
        </p:nvSpPr>
        <p:spPr>
          <a:xfrm>
            <a:off x="6593324" y="6140300"/>
            <a:ext cx="541615" cy="22860"/>
          </a:xfrm>
          <a:prstGeom prst="roundRect">
            <a:avLst>
              <a:gd name="adj" fmla="val 118479"/>
            </a:avLst>
          </a:prstGeom>
          <a:solidFill>
            <a:srgbClr val="555553"/>
          </a:solidFill>
          <a:ln/>
        </p:spPr>
        <p:txBody>
          <a:bodyPr/>
          <a:lstStyle/>
          <a:p>
            <a:endParaRPr lang="en-US"/>
          </a:p>
        </p:txBody>
      </p:sp>
      <p:sp>
        <p:nvSpPr>
          <p:cNvPr id="17" name="Shape 13"/>
          <p:cNvSpPr/>
          <p:nvPr/>
        </p:nvSpPr>
        <p:spPr>
          <a:xfrm>
            <a:off x="7112079" y="5948610"/>
            <a:ext cx="406241" cy="406241"/>
          </a:xfrm>
          <a:prstGeom prst="roundRect">
            <a:avLst>
              <a:gd name="adj" fmla="val 6667"/>
            </a:avLst>
          </a:prstGeom>
          <a:solidFill>
            <a:srgbClr val="3C3C3A"/>
          </a:solidFill>
          <a:ln/>
        </p:spPr>
        <p:txBody>
          <a:bodyPr/>
          <a:lstStyle/>
          <a:p>
            <a:endParaRPr lang="en-US"/>
          </a:p>
        </p:txBody>
      </p:sp>
      <p:pic>
        <p:nvPicPr>
          <p:cNvPr id="18" name="Image 2" descr="preencoded.png"/>
          <p:cNvPicPr>
            <a:picLocks noChangeAspect="1"/>
          </p:cNvPicPr>
          <p:nvPr/>
        </p:nvPicPr>
        <p:blipFill>
          <a:blip r:embed="rId5"/>
          <a:stretch>
            <a:fillRect/>
          </a:stretch>
        </p:blipFill>
        <p:spPr>
          <a:xfrm>
            <a:off x="7179826" y="5982483"/>
            <a:ext cx="270748" cy="338495"/>
          </a:xfrm>
          <a:prstGeom prst="rect">
            <a:avLst/>
          </a:prstGeom>
        </p:spPr>
      </p:pic>
      <p:sp>
        <p:nvSpPr>
          <p:cNvPr id="19" name="Text 14"/>
          <p:cNvSpPr/>
          <p:nvPr/>
        </p:nvSpPr>
        <p:spPr>
          <a:xfrm>
            <a:off x="4099560" y="6010641"/>
            <a:ext cx="2312908" cy="282178"/>
          </a:xfrm>
          <a:prstGeom prst="rect">
            <a:avLst/>
          </a:prstGeom>
          <a:noFill/>
          <a:ln/>
        </p:spPr>
        <p:txBody>
          <a:bodyPr wrap="none" lIns="0" tIns="0" rIns="0" bIns="0" rtlCol="0" anchor="t"/>
          <a:lstStyle/>
          <a:p>
            <a:pPr marL="0" indent="0" algn="r">
              <a:lnSpc>
                <a:spcPts val="2200"/>
              </a:lnSpc>
              <a:buNone/>
            </a:pPr>
            <a:r>
              <a:rPr lang="en-US" sz="1750" dirty="0">
                <a:solidFill>
                  <a:srgbClr val="C9C9C0"/>
                </a:solidFill>
                <a:latin typeface="Tomorrow Semi Bold" pitchFamily="34" charset="0"/>
                <a:ea typeface="Tomorrow Semi Bold" pitchFamily="34" charset="-122"/>
                <a:cs typeface="Tomorrow Semi Bold" pitchFamily="34" charset="-120"/>
              </a:rPr>
              <a:t>Plantation Economy</a:t>
            </a:r>
            <a:endParaRPr lang="en-US" sz="1750" dirty="0"/>
          </a:p>
        </p:txBody>
      </p:sp>
      <p:sp>
        <p:nvSpPr>
          <p:cNvPr id="20" name="Text 15"/>
          <p:cNvSpPr/>
          <p:nvPr/>
        </p:nvSpPr>
        <p:spPr>
          <a:xfrm>
            <a:off x="631865" y="6401047"/>
            <a:ext cx="5780603" cy="577929"/>
          </a:xfrm>
          <a:prstGeom prst="rect">
            <a:avLst/>
          </a:prstGeom>
          <a:noFill/>
          <a:ln/>
        </p:spPr>
        <p:txBody>
          <a:bodyPr wrap="square" lIns="0" tIns="0" rIns="0" bIns="0" rtlCol="0" anchor="t"/>
          <a:lstStyle/>
          <a:p>
            <a:pPr marL="0" indent="0" algn="r">
              <a:lnSpc>
                <a:spcPts val="2250"/>
              </a:lnSpc>
              <a:buNone/>
            </a:pPr>
            <a:r>
              <a:rPr lang="en-US" sz="1400" dirty="0">
                <a:solidFill>
                  <a:srgbClr val="C9C9C0"/>
                </a:solidFill>
                <a:latin typeface="Tomorrow" pitchFamily="34" charset="0"/>
                <a:ea typeface="Tomorrow" pitchFamily="34" charset="-122"/>
                <a:cs typeface="Tomorrow" pitchFamily="34" charset="-120"/>
              </a:rPr>
              <a:t>Indigenous communities forced to work on coffee and other export crop plantations</a:t>
            </a:r>
            <a:endParaRPr lang="en-US" sz="1400" dirty="0"/>
          </a:p>
        </p:txBody>
      </p:sp>
      <p:sp>
        <p:nvSpPr>
          <p:cNvPr id="21" name="Shape 16"/>
          <p:cNvSpPr/>
          <p:nvPr/>
        </p:nvSpPr>
        <p:spPr>
          <a:xfrm>
            <a:off x="7495461" y="7074107"/>
            <a:ext cx="541615" cy="22860"/>
          </a:xfrm>
          <a:prstGeom prst="roundRect">
            <a:avLst>
              <a:gd name="adj" fmla="val 118479"/>
            </a:avLst>
          </a:prstGeom>
          <a:solidFill>
            <a:srgbClr val="555553"/>
          </a:solidFill>
          <a:ln/>
        </p:spPr>
        <p:txBody>
          <a:bodyPr/>
          <a:lstStyle/>
          <a:p>
            <a:endParaRPr lang="en-US"/>
          </a:p>
        </p:txBody>
      </p:sp>
      <p:sp>
        <p:nvSpPr>
          <p:cNvPr id="22" name="Shape 17"/>
          <p:cNvSpPr/>
          <p:nvPr/>
        </p:nvSpPr>
        <p:spPr>
          <a:xfrm>
            <a:off x="7112079" y="6882417"/>
            <a:ext cx="406241" cy="406241"/>
          </a:xfrm>
          <a:prstGeom prst="roundRect">
            <a:avLst>
              <a:gd name="adj" fmla="val 6667"/>
            </a:avLst>
          </a:prstGeom>
          <a:solidFill>
            <a:srgbClr val="3C3C3A"/>
          </a:solidFill>
          <a:ln/>
        </p:spPr>
        <p:txBody>
          <a:bodyPr/>
          <a:lstStyle/>
          <a:p>
            <a:endParaRPr lang="en-US"/>
          </a:p>
        </p:txBody>
      </p:sp>
      <p:pic>
        <p:nvPicPr>
          <p:cNvPr id="23" name="Image 3" descr="preencoded.png"/>
          <p:cNvPicPr>
            <a:picLocks noChangeAspect="1"/>
          </p:cNvPicPr>
          <p:nvPr/>
        </p:nvPicPr>
        <p:blipFill>
          <a:blip r:embed="rId6"/>
          <a:stretch>
            <a:fillRect/>
          </a:stretch>
        </p:blipFill>
        <p:spPr>
          <a:xfrm>
            <a:off x="7179826" y="6916290"/>
            <a:ext cx="270748" cy="338495"/>
          </a:xfrm>
          <a:prstGeom prst="rect">
            <a:avLst/>
          </a:prstGeom>
        </p:spPr>
      </p:pic>
      <p:sp>
        <p:nvSpPr>
          <p:cNvPr id="24" name="Text 18"/>
          <p:cNvSpPr/>
          <p:nvPr/>
        </p:nvSpPr>
        <p:spPr>
          <a:xfrm>
            <a:off x="8217932" y="6944448"/>
            <a:ext cx="2256949" cy="282178"/>
          </a:xfrm>
          <a:prstGeom prst="rect">
            <a:avLst/>
          </a:prstGeom>
          <a:noFill/>
          <a:ln/>
        </p:spPr>
        <p:txBody>
          <a:bodyPr wrap="none" lIns="0" tIns="0" rIns="0" bIns="0" rtlCol="0" anchor="t"/>
          <a:lstStyle/>
          <a:p>
            <a:pPr marL="0" indent="0" algn="l">
              <a:lnSpc>
                <a:spcPts val="2200"/>
              </a:lnSpc>
              <a:buNone/>
            </a:pPr>
            <a:r>
              <a:rPr lang="en-US" sz="1750" dirty="0">
                <a:solidFill>
                  <a:srgbClr val="C9C9C0"/>
                </a:solidFill>
                <a:latin typeface="Tomorrow Semi Bold" pitchFamily="34" charset="0"/>
                <a:ea typeface="Tomorrow Semi Bold" pitchFamily="34" charset="-122"/>
                <a:cs typeface="Tomorrow Semi Bold" pitchFamily="34" charset="-120"/>
              </a:rPr>
              <a:t>Political Exclusion</a:t>
            </a:r>
            <a:endParaRPr lang="en-US" sz="1750" dirty="0"/>
          </a:p>
        </p:txBody>
      </p:sp>
      <p:sp>
        <p:nvSpPr>
          <p:cNvPr id="25" name="Text 19"/>
          <p:cNvSpPr/>
          <p:nvPr/>
        </p:nvSpPr>
        <p:spPr>
          <a:xfrm>
            <a:off x="8217932" y="7334854"/>
            <a:ext cx="5780603" cy="577929"/>
          </a:xfrm>
          <a:prstGeom prst="rect">
            <a:avLst/>
          </a:prstGeom>
          <a:noFill/>
          <a:ln/>
        </p:spPr>
        <p:txBody>
          <a:bodyPr wrap="square" lIns="0" tIns="0" rIns="0" bIns="0" rtlCol="0" anchor="t"/>
          <a:lstStyle/>
          <a:p>
            <a:pPr marL="0" indent="0" algn="l">
              <a:lnSpc>
                <a:spcPts val="2250"/>
              </a:lnSpc>
              <a:buNone/>
            </a:pPr>
            <a:r>
              <a:rPr lang="en-US" sz="1400" dirty="0">
                <a:solidFill>
                  <a:srgbClr val="C9C9C0"/>
                </a:solidFill>
                <a:latin typeface="Tomorrow" pitchFamily="34" charset="0"/>
                <a:ea typeface="Tomorrow" pitchFamily="34" charset="-122"/>
                <a:cs typeface="Tomorrow" pitchFamily="34" charset="-120"/>
              </a:rPr>
              <a:t>Literacy and property requirements prevented rural majority from voting</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90801" y="842724"/>
            <a:ext cx="11044238" cy="616863"/>
          </a:xfrm>
          <a:prstGeom prst="rect">
            <a:avLst/>
          </a:prstGeom>
          <a:noFill/>
          <a:ln/>
        </p:spPr>
        <p:txBody>
          <a:bodyPr wrap="none" lIns="0" tIns="0" rIns="0" bIns="0" rtlCol="0" anchor="t"/>
          <a:lstStyle/>
          <a:p>
            <a:pPr marL="0" indent="0" algn="l">
              <a:lnSpc>
                <a:spcPts val="4850"/>
              </a:lnSpc>
              <a:buNone/>
            </a:pPr>
            <a:r>
              <a:rPr lang="en-US" sz="3850" dirty="0">
                <a:solidFill>
                  <a:srgbClr val="EDEDE8"/>
                </a:solidFill>
                <a:latin typeface="Tomorrow Semi Bold" pitchFamily="34" charset="0"/>
                <a:ea typeface="Tomorrow Semi Bold" pitchFamily="34" charset="-122"/>
                <a:cs typeface="Tomorrow Semi Bold" pitchFamily="34" charset="-120"/>
              </a:rPr>
              <a:t>Industrial Monocultures and Foreign Control</a:t>
            </a:r>
            <a:endParaRPr lang="en-US" sz="3850" dirty="0"/>
          </a:p>
        </p:txBody>
      </p:sp>
      <p:sp>
        <p:nvSpPr>
          <p:cNvPr id="3" name="Text 1"/>
          <p:cNvSpPr/>
          <p:nvPr/>
        </p:nvSpPr>
        <p:spPr>
          <a:xfrm>
            <a:off x="690801" y="1854279"/>
            <a:ext cx="13248799" cy="631507"/>
          </a:xfrm>
          <a:prstGeom prst="rect">
            <a:avLst/>
          </a:prstGeom>
          <a:noFill/>
          <a:ln/>
        </p:spPr>
        <p:txBody>
          <a:bodyPr wrap="square" lIns="0" tIns="0" rIns="0" bIns="0" rtlCol="0" anchor="t"/>
          <a:lstStyle/>
          <a:p>
            <a:pPr marL="0" indent="0" algn="l">
              <a:lnSpc>
                <a:spcPts val="2450"/>
              </a:lnSpc>
              <a:buNone/>
            </a:pPr>
            <a:r>
              <a:rPr lang="en-US" sz="1750" dirty="0">
                <a:solidFill>
                  <a:srgbClr val="C9C9C0"/>
                </a:solidFill>
                <a:latin typeface="Tomorrow" pitchFamily="34" charset="0"/>
                <a:ea typeface="Tomorrow" pitchFamily="34" charset="-122"/>
                <a:cs typeface="Tomorrow" pitchFamily="34" charset="-120"/>
              </a:rPr>
              <a:t>Certain industries became completely dominated by foreign corporations, creating economic enclaves with little connection to national development. Sugar refineries controlled local economies, while mining operations were mostly owned by British and American companies.</a:t>
            </a:r>
            <a:endParaRPr lang="en-US" sz="1750" dirty="0"/>
          </a:p>
        </p:txBody>
      </p:sp>
      <p:sp>
        <p:nvSpPr>
          <p:cNvPr id="4" name="Text 2"/>
          <p:cNvSpPr/>
          <p:nvPr/>
        </p:nvSpPr>
        <p:spPr>
          <a:xfrm>
            <a:off x="641509" y="2946689"/>
            <a:ext cx="13248799" cy="947261"/>
          </a:xfrm>
          <a:prstGeom prst="rect">
            <a:avLst/>
          </a:prstGeom>
          <a:noFill/>
          <a:ln/>
        </p:spPr>
        <p:txBody>
          <a:bodyPr wrap="square" lIns="0" tIns="0" rIns="0" bIns="0" rtlCol="0" anchor="t"/>
          <a:lstStyle/>
          <a:p>
            <a:pPr marL="0" indent="0" algn="l">
              <a:lnSpc>
                <a:spcPts val="2450"/>
              </a:lnSpc>
              <a:buNone/>
            </a:pPr>
            <a:r>
              <a:rPr lang="en-US" sz="1750" dirty="0">
                <a:solidFill>
                  <a:srgbClr val="C9C9C0"/>
                </a:solidFill>
                <a:latin typeface="Tomorrow" pitchFamily="34" charset="0"/>
                <a:ea typeface="Tomorrow" pitchFamily="34" charset="-122"/>
                <a:cs typeface="Tomorrow" pitchFamily="34" charset="-120"/>
              </a:rPr>
              <a:t>The rubber boom temporarily created enormous wealth before collapsing, leaving devastated Amazonian communities in its wake. Perhaps most notorious was the United Fruit Company, which established "banana republics" across Central America, controlling not just agriculture but often governments themselves.</a:t>
            </a:r>
            <a:endParaRPr lang="en-US" sz="1750" dirty="0"/>
          </a:p>
        </p:txBody>
      </p:sp>
      <p:pic>
        <p:nvPicPr>
          <p:cNvPr id="5" name="Image 0" descr="preencoded.png"/>
          <p:cNvPicPr>
            <a:picLocks noChangeAspect="1"/>
          </p:cNvPicPr>
          <p:nvPr/>
        </p:nvPicPr>
        <p:blipFill>
          <a:blip r:embed="rId3"/>
          <a:stretch>
            <a:fillRect/>
          </a:stretch>
        </p:blipFill>
        <p:spPr>
          <a:xfrm>
            <a:off x="2909888" y="4320074"/>
            <a:ext cx="2185988" cy="1137047"/>
          </a:xfrm>
          <a:prstGeom prst="rect">
            <a:avLst/>
          </a:prstGeom>
        </p:spPr>
      </p:pic>
      <p:pic>
        <p:nvPicPr>
          <p:cNvPr id="6" name="Image 1" descr="preencoded.png"/>
          <p:cNvPicPr>
            <a:picLocks noChangeAspect="1"/>
          </p:cNvPicPr>
          <p:nvPr/>
        </p:nvPicPr>
        <p:blipFill>
          <a:blip r:embed="rId4"/>
          <a:stretch>
            <a:fillRect/>
          </a:stretch>
        </p:blipFill>
        <p:spPr>
          <a:xfrm>
            <a:off x="3864054" y="4856094"/>
            <a:ext cx="277535" cy="346948"/>
          </a:xfrm>
          <a:prstGeom prst="rect">
            <a:avLst/>
          </a:prstGeom>
        </p:spPr>
      </p:pic>
      <p:sp>
        <p:nvSpPr>
          <p:cNvPr id="7" name="Text 3"/>
          <p:cNvSpPr/>
          <p:nvPr/>
        </p:nvSpPr>
        <p:spPr>
          <a:xfrm>
            <a:off x="5293162" y="4517361"/>
            <a:ext cx="3210639" cy="308372"/>
          </a:xfrm>
          <a:prstGeom prst="rect">
            <a:avLst/>
          </a:prstGeom>
          <a:noFill/>
          <a:ln/>
        </p:spPr>
        <p:txBody>
          <a:bodyPr wrap="none" lIns="0" tIns="0" rIns="0" bIns="0" rtlCol="0" anchor="t"/>
          <a:lstStyle/>
          <a:p>
            <a:pPr marL="0" indent="0" algn="l">
              <a:lnSpc>
                <a:spcPts val="2400"/>
              </a:lnSpc>
              <a:buNone/>
            </a:pPr>
            <a:r>
              <a:rPr lang="en-US" sz="1900" dirty="0">
                <a:solidFill>
                  <a:srgbClr val="C9C9C0"/>
                </a:solidFill>
                <a:latin typeface="Tomorrow Semi Bold" pitchFamily="34" charset="0"/>
                <a:ea typeface="Tomorrow Semi Bold" pitchFamily="34" charset="-122"/>
                <a:cs typeface="Tomorrow Semi Bold" pitchFamily="34" charset="-120"/>
              </a:rPr>
              <a:t>Foreign Corporate Control</a:t>
            </a:r>
            <a:endParaRPr lang="en-US" sz="1900" dirty="0"/>
          </a:p>
        </p:txBody>
      </p:sp>
      <p:sp>
        <p:nvSpPr>
          <p:cNvPr id="8" name="Text 4"/>
          <p:cNvSpPr/>
          <p:nvPr/>
        </p:nvSpPr>
        <p:spPr>
          <a:xfrm>
            <a:off x="5293162" y="4944081"/>
            <a:ext cx="4637246" cy="315754"/>
          </a:xfrm>
          <a:prstGeom prst="rect">
            <a:avLst/>
          </a:prstGeom>
          <a:noFill/>
          <a:ln/>
        </p:spPr>
        <p:txBody>
          <a:bodyPr wrap="none" lIns="0" tIns="0" rIns="0" bIns="0" rtlCol="0" anchor="t"/>
          <a:lstStyle/>
          <a:p>
            <a:pPr marL="0" indent="0" algn="l">
              <a:lnSpc>
                <a:spcPts val="2450"/>
              </a:lnSpc>
              <a:buNone/>
            </a:pPr>
            <a:r>
              <a:rPr lang="en-US" sz="1550" dirty="0">
                <a:solidFill>
                  <a:srgbClr val="C9C9C0"/>
                </a:solidFill>
                <a:latin typeface="Tomorrow" pitchFamily="34" charset="0"/>
                <a:ea typeface="Tomorrow" pitchFamily="34" charset="-122"/>
                <a:cs typeface="Tomorrow" pitchFamily="34" charset="-120"/>
              </a:rPr>
              <a:t>Direct ownership of production and infrastructure</a:t>
            </a:r>
            <a:endParaRPr lang="en-US" sz="1550" dirty="0"/>
          </a:p>
        </p:txBody>
      </p:sp>
      <p:sp>
        <p:nvSpPr>
          <p:cNvPr id="9" name="Shape 5"/>
          <p:cNvSpPr/>
          <p:nvPr/>
        </p:nvSpPr>
        <p:spPr>
          <a:xfrm>
            <a:off x="5145167" y="5472242"/>
            <a:ext cx="8745141" cy="11430"/>
          </a:xfrm>
          <a:prstGeom prst="roundRect">
            <a:avLst>
              <a:gd name="adj" fmla="val 259050"/>
            </a:avLst>
          </a:prstGeom>
          <a:solidFill>
            <a:srgbClr val="555553"/>
          </a:solidFill>
          <a:ln/>
        </p:spPr>
        <p:txBody>
          <a:bodyPr/>
          <a:lstStyle/>
          <a:p>
            <a:endParaRPr lang="en-US"/>
          </a:p>
        </p:txBody>
      </p:sp>
      <p:pic>
        <p:nvPicPr>
          <p:cNvPr id="10" name="Image 2" descr="preencoded.png"/>
          <p:cNvPicPr>
            <a:picLocks noChangeAspect="1"/>
          </p:cNvPicPr>
          <p:nvPr/>
        </p:nvPicPr>
        <p:blipFill>
          <a:blip r:embed="rId5"/>
          <a:stretch>
            <a:fillRect/>
          </a:stretch>
        </p:blipFill>
        <p:spPr>
          <a:xfrm>
            <a:off x="1816894" y="5506413"/>
            <a:ext cx="4372094" cy="1137047"/>
          </a:xfrm>
          <a:prstGeom prst="rect">
            <a:avLst/>
          </a:prstGeom>
        </p:spPr>
      </p:pic>
      <p:pic>
        <p:nvPicPr>
          <p:cNvPr id="11" name="Image 3" descr="preencoded.png"/>
          <p:cNvPicPr>
            <a:picLocks noChangeAspect="1"/>
          </p:cNvPicPr>
          <p:nvPr/>
        </p:nvPicPr>
        <p:blipFill>
          <a:blip r:embed="rId6"/>
          <a:stretch>
            <a:fillRect/>
          </a:stretch>
        </p:blipFill>
        <p:spPr>
          <a:xfrm>
            <a:off x="3864173" y="5901462"/>
            <a:ext cx="277535" cy="346948"/>
          </a:xfrm>
          <a:prstGeom prst="rect">
            <a:avLst/>
          </a:prstGeom>
        </p:spPr>
      </p:pic>
      <p:sp>
        <p:nvSpPr>
          <p:cNvPr id="12" name="Text 6"/>
          <p:cNvSpPr/>
          <p:nvPr/>
        </p:nvSpPr>
        <p:spPr>
          <a:xfrm>
            <a:off x="6386274" y="5703700"/>
            <a:ext cx="2467451" cy="308372"/>
          </a:xfrm>
          <a:prstGeom prst="rect">
            <a:avLst/>
          </a:prstGeom>
          <a:noFill/>
          <a:ln/>
        </p:spPr>
        <p:txBody>
          <a:bodyPr wrap="none" lIns="0" tIns="0" rIns="0" bIns="0" rtlCol="0" anchor="t"/>
          <a:lstStyle/>
          <a:p>
            <a:pPr marL="0" indent="0" algn="l">
              <a:lnSpc>
                <a:spcPts val="2400"/>
              </a:lnSpc>
              <a:buNone/>
            </a:pPr>
            <a:r>
              <a:rPr lang="en-US" sz="1900" dirty="0">
                <a:solidFill>
                  <a:srgbClr val="C9C9C0"/>
                </a:solidFill>
                <a:latin typeface="Tomorrow Semi Bold" pitchFamily="34" charset="0"/>
                <a:ea typeface="Tomorrow Semi Bold" pitchFamily="34" charset="-122"/>
                <a:cs typeface="Tomorrow Semi Bold" pitchFamily="34" charset="-120"/>
              </a:rPr>
              <a:t>Political Influence</a:t>
            </a:r>
            <a:endParaRPr lang="en-US" sz="1900" dirty="0"/>
          </a:p>
        </p:txBody>
      </p:sp>
      <p:sp>
        <p:nvSpPr>
          <p:cNvPr id="13" name="Text 7"/>
          <p:cNvSpPr/>
          <p:nvPr/>
        </p:nvSpPr>
        <p:spPr>
          <a:xfrm>
            <a:off x="6386274" y="6130420"/>
            <a:ext cx="5797748" cy="315754"/>
          </a:xfrm>
          <a:prstGeom prst="rect">
            <a:avLst/>
          </a:prstGeom>
          <a:noFill/>
          <a:ln/>
        </p:spPr>
        <p:txBody>
          <a:bodyPr wrap="none" lIns="0" tIns="0" rIns="0" bIns="0" rtlCol="0" anchor="t"/>
          <a:lstStyle/>
          <a:p>
            <a:pPr marL="0" indent="0" algn="l">
              <a:lnSpc>
                <a:spcPts val="2450"/>
              </a:lnSpc>
              <a:buNone/>
            </a:pPr>
            <a:r>
              <a:rPr lang="en-US" sz="1550" dirty="0">
                <a:solidFill>
                  <a:srgbClr val="C9C9C0"/>
                </a:solidFill>
                <a:latin typeface="Tomorrow" pitchFamily="34" charset="0"/>
                <a:ea typeface="Tomorrow" pitchFamily="34" charset="-122"/>
                <a:cs typeface="Tomorrow" pitchFamily="34" charset="-120"/>
              </a:rPr>
              <a:t>Manipulation of local governments through bribes and threats</a:t>
            </a:r>
            <a:endParaRPr lang="en-US" sz="1550" dirty="0"/>
          </a:p>
        </p:txBody>
      </p:sp>
      <p:sp>
        <p:nvSpPr>
          <p:cNvPr id="14" name="Shape 8"/>
          <p:cNvSpPr/>
          <p:nvPr/>
        </p:nvSpPr>
        <p:spPr>
          <a:xfrm>
            <a:off x="6238280" y="6658581"/>
            <a:ext cx="7652028" cy="11430"/>
          </a:xfrm>
          <a:prstGeom prst="roundRect">
            <a:avLst>
              <a:gd name="adj" fmla="val 259050"/>
            </a:avLst>
          </a:prstGeom>
          <a:solidFill>
            <a:srgbClr val="555553"/>
          </a:solidFill>
          <a:ln/>
        </p:spPr>
        <p:txBody>
          <a:bodyPr/>
          <a:lstStyle/>
          <a:p>
            <a:endParaRPr lang="en-US"/>
          </a:p>
        </p:txBody>
      </p:sp>
      <p:pic>
        <p:nvPicPr>
          <p:cNvPr id="15" name="Image 4" descr="preencoded.png"/>
          <p:cNvPicPr>
            <a:picLocks noChangeAspect="1"/>
          </p:cNvPicPr>
          <p:nvPr/>
        </p:nvPicPr>
        <p:blipFill>
          <a:blip r:embed="rId7"/>
          <a:stretch>
            <a:fillRect/>
          </a:stretch>
        </p:blipFill>
        <p:spPr>
          <a:xfrm>
            <a:off x="723900" y="6692752"/>
            <a:ext cx="6558082" cy="1137047"/>
          </a:xfrm>
          <a:prstGeom prst="rect">
            <a:avLst/>
          </a:prstGeom>
        </p:spPr>
      </p:pic>
      <p:pic>
        <p:nvPicPr>
          <p:cNvPr id="16" name="Image 5" descr="preencoded.png"/>
          <p:cNvPicPr>
            <a:picLocks noChangeAspect="1"/>
          </p:cNvPicPr>
          <p:nvPr/>
        </p:nvPicPr>
        <p:blipFill>
          <a:blip r:embed="rId8"/>
          <a:stretch>
            <a:fillRect/>
          </a:stretch>
        </p:blipFill>
        <p:spPr>
          <a:xfrm>
            <a:off x="3864054" y="7087801"/>
            <a:ext cx="277535" cy="346948"/>
          </a:xfrm>
          <a:prstGeom prst="rect">
            <a:avLst/>
          </a:prstGeom>
        </p:spPr>
      </p:pic>
      <p:sp>
        <p:nvSpPr>
          <p:cNvPr id="17" name="Text 9"/>
          <p:cNvSpPr/>
          <p:nvPr/>
        </p:nvSpPr>
        <p:spPr>
          <a:xfrm>
            <a:off x="7479268" y="6890038"/>
            <a:ext cx="2577346" cy="308372"/>
          </a:xfrm>
          <a:prstGeom prst="rect">
            <a:avLst/>
          </a:prstGeom>
          <a:noFill/>
          <a:ln/>
        </p:spPr>
        <p:txBody>
          <a:bodyPr wrap="none" lIns="0" tIns="0" rIns="0" bIns="0" rtlCol="0" anchor="t"/>
          <a:lstStyle/>
          <a:p>
            <a:pPr marL="0" indent="0" algn="l">
              <a:lnSpc>
                <a:spcPts val="2400"/>
              </a:lnSpc>
              <a:buNone/>
            </a:pPr>
            <a:r>
              <a:rPr lang="en-US" sz="1900" dirty="0">
                <a:solidFill>
                  <a:srgbClr val="C9C9C0"/>
                </a:solidFill>
                <a:latin typeface="Tomorrow Semi Bold" pitchFamily="34" charset="0"/>
                <a:ea typeface="Tomorrow Semi Bold" pitchFamily="34" charset="-122"/>
                <a:cs typeface="Tomorrow Semi Bold" pitchFamily="34" charset="-120"/>
              </a:rPr>
              <a:t>Military Intervention</a:t>
            </a:r>
            <a:endParaRPr lang="en-US" sz="1900" dirty="0"/>
          </a:p>
        </p:txBody>
      </p:sp>
      <p:sp>
        <p:nvSpPr>
          <p:cNvPr id="18" name="Text 10"/>
          <p:cNvSpPr/>
          <p:nvPr/>
        </p:nvSpPr>
        <p:spPr>
          <a:xfrm>
            <a:off x="7479268" y="7316758"/>
            <a:ext cx="5394246" cy="315754"/>
          </a:xfrm>
          <a:prstGeom prst="rect">
            <a:avLst/>
          </a:prstGeom>
          <a:noFill/>
          <a:ln/>
        </p:spPr>
        <p:txBody>
          <a:bodyPr wrap="none" lIns="0" tIns="0" rIns="0" bIns="0" rtlCol="0" anchor="t"/>
          <a:lstStyle/>
          <a:p>
            <a:pPr marL="0" indent="0" algn="l">
              <a:lnSpc>
                <a:spcPts val="2450"/>
              </a:lnSpc>
              <a:buNone/>
            </a:pPr>
            <a:r>
              <a:rPr lang="en-US" sz="1550" dirty="0">
                <a:solidFill>
                  <a:srgbClr val="C9C9C0"/>
                </a:solidFill>
                <a:latin typeface="Tomorrow" pitchFamily="34" charset="0"/>
                <a:ea typeface="Tomorrow" pitchFamily="34" charset="-122"/>
                <a:cs typeface="Tomorrow" pitchFamily="34" charset="-120"/>
              </a:rPr>
              <a:t>U.S. military support when corporate interests threatened</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039207" y="565309"/>
            <a:ext cx="7446169" cy="493633"/>
          </a:xfrm>
          <a:prstGeom prst="rect">
            <a:avLst/>
          </a:prstGeom>
          <a:noFill/>
          <a:ln/>
        </p:spPr>
        <p:txBody>
          <a:bodyPr wrap="none" lIns="0" tIns="0" rIns="0" bIns="0" rtlCol="0" anchor="t"/>
          <a:lstStyle/>
          <a:p>
            <a:pPr marL="0" indent="0" algn="l">
              <a:lnSpc>
                <a:spcPts val="3850"/>
              </a:lnSpc>
              <a:buNone/>
            </a:pPr>
            <a:r>
              <a:rPr lang="en-US" sz="3850" dirty="0">
                <a:solidFill>
                  <a:srgbClr val="EDEDE8"/>
                </a:solidFill>
                <a:latin typeface="Tomorrow Semi Bold" pitchFamily="34" charset="0"/>
                <a:ea typeface="Tomorrow Semi Bold" pitchFamily="34" charset="-122"/>
                <a:cs typeface="Tomorrow Semi Bold" pitchFamily="34" charset="-120"/>
              </a:rPr>
              <a:t>Urban Growth and Cultural Modernity</a:t>
            </a:r>
            <a:endParaRPr lang="en-US" sz="3850" dirty="0"/>
          </a:p>
        </p:txBody>
      </p:sp>
      <p:sp>
        <p:nvSpPr>
          <p:cNvPr id="4" name="Text 1"/>
          <p:cNvSpPr/>
          <p:nvPr/>
        </p:nvSpPr>
        <p:spPr>
          <a:xfrm>
            <a:off x="6039207" y="1311415"/>
            <a:ext cx="8038386" cy="758309"/>
          </a:xfrm>
          <a:prstGeom prst="rect">
            <a:avLst/>
          </a:prstGeom>
          <a:noFill/>
          <a:ln/>
        </p:spPr>
        <p:txBody>
          <a:bodyPr wrap="square" lIns="0" tIns="0" rIns="0" bIns="0" rtlCol="0" anchor="t"/>
          <a:lstStyle/>
          <a:p>
            <a:pPr marL="0" indent="0" algn="l">
              <a:lnSpc>
                <a:spcPts val="1950"/>
              </a:lnSpc>
              <a:buNone/>
            </a:pPr>
            <a:r>
              <a:rPr lang="en-US" sz="1750" dirty="0">
                <a:solidFill>
                  <a:srgbClr val="C9C9C0"/>
                </a:solidFill>
                <a:latin typeface="Tomorrow" pitchFamily="34" charset="0"/>
                <a:ea typeface="Tomorrow" pitchFamily="34" charset="-122"/>
                <a:cs typeface="Tomorrow" pitchFamily="34" charset="-120"/>
              </a:rPr>
              <a:t>While most Latin Americans remained rural, cities like Buenos Aires and Mexico City modernized rapidly during the neocolonial period. Buenos Aires transformed dramatically, growing from 100,000 residents in 1852 to 2 million by 1930, becoming a showcase of European-style "progress."</a:t>
            </a:r>
            <a:endParaRPr lang="en-US" sz="1750" dirty="0"/>
          </a:p>
        </p:txBody>
      </p:sp>
      <p:sp>
        <p:nvSpPr>
          <p:cNvPr id="5" name="Text 2"/>
          <p:cNvSpPr/>
          <p:nvPr/>
        </p:nvSpPr>
        <p:spPr>
          <a:xfrm>
            <a:off x="6039207" y="2525762"/>
            <a:ext cx="8038386" cy="758309"/>
          </a:xfrm>
          <a:prstGeom prst="rect">
            <a:avLst/>
          </a:prstGeom>
          <a:noFill/>
          <a:ln/>
        </p:spPr>
        <p:txBody>
          <a:bodyPr wrap="square" lIns="0" tIns="0" rIns="0" bIns="0" rtlCol="0" anchor="t"/>
          <a:lstStyle/>
          <a:p>
            <a:pPr marL="0" indent="0" algn="l">
              <a:lnSpc>
                <a:spcPts val="1950"/>
              </a:lnSpc>
              <a:buNone/>
            </a:pPr>
            <a:r>
              <a:rPr lang="en-US" sz="1750" dirty="0">
                <a:solidFill>
                  <a:srgbClr val="C9C9C0"/>
                </a:solidFill>
                <a:latin typeface="Tomorrow" pitchFamily="34" charset="0"/>
                <a:ea typeface="Tomorrow" pitchFamily="34" charset="-122"/>
                <a:cs typeface="Tomorrow" pitchFamily="34" charset="-120"/>
              </a:rPr>
              <a:t>Wealthy elites lived European lifestyles, consuming imported goods and constructing Paris-style boulevards and architecture. Education expanded, though slowly and unevenly, with elite sons typically studying law and politics to maintain their families' influence in government and business.</a:t>
            </a:r>
            <a:endParaRPr lang="en-US" sz="1750" dirty="0"/>
          </a:p>
        </p:txBody>
      </p:sp>
      <p:sp>
        <p:nvSpPr>
          <p:cNvPr id="6" name="Text 3"/>
          <p:cNvSpPr/>
          <p:nvPr/>
        </p:nvSpPr>
        <p:spPr>
          <a:xfrm>
            <a:off x="6039207" y="3940142"/>
            <a:ext cx="3900726" cy="521137"/>
          </a:xfrm>
          <a:prstGeom prst="rect">
            <a:avLst/>
          </a:prstGeom>
          <a:noFill/>
          <a:ln/>
        </p:spPr>
        <p:txBody>
          <a:bodyPr wrap="none" lIns="0" tIns="0" rIns="0" bIns="0" rtlCol="0" anchor="t"/>
          <a:lstStyle/>
          <a:p>
            <a:pPr marL="0" indent="0" algn="ctr">
              <a:lnSpc>
                <a:spcPts val="4100"/>
              </a:lnSpc>
              <a:buNone/>
            </a:pPr>
            <a:r>
              <a:rPr lang="en-US" sz="4100" dirty="0">
                <a:solidFill>
                  <a:srgbClr val="C9C9C0"/>
                </a:solidFill>
                <a:latin typeface="Tomorrow Semi Bold" pitchFamily="34" charset="0"/>
                <a:ea typeface="Tomorrow Semi Bold" pitchFamily="34" charset="-122"/>
                <a:cs typeface="Tomorrow Semi Bold" pitchFamily="34" charset="-120"/>
              </a:rPr>
              <a:t>1.9M</a:t>
            </a:r>
            <a:endParaRPr lang="en-US" sz="4100" dirty="0"/>
          </a:p>
        </p:txBody>
      </p:sp>
      <p:sp>
        <p:nvSpPr>
          <p:cNvPr id="7" name="Text 4"/>
          <p:cNvSpPr/>
          <p:nvPr/>
        </p:nvSpPr>
        <p:spPr>
          <a:xfrm>
            <a:off x="7002423" y="4658565"/>
            <a:ext cx="1974294" cy="246698"/>
          </a:xfrm>
          <a:prstGeom prst="rect">
            <a:avLst/>
          </a:prstGeom>
          <a:noFill/>
          <a:ln/>
        </p:spPr>
        <p:txBody>
          <a:bodyPr wrap="none" lIns="0" tIns="0" rIns="0" bIns="0" rtlCol="0" anchor="t"/>
          <a:lstStyle/>
          <a:p>
            <a:pPr marL="0" indent="0" algn="ctr">
              <a:lnSpc>
                <a:spcPts val="1900"/>
              </a:lnSpc>
              <a:buNone/>
            </a:pPr>
            <a:r>
              <a:rPr lang="en-US" sz="1550" dirty="0">
                <a:solidFill>
                  <a:srgbClr val="C9C9C0"/>
                </a:solidFill>
                <a:latin typeface="Tomorrow Semi Bold" pitchFamily="34" charset="0"/>
                <a:ea typeface="Tomorrow Semi Bold" pitchFamily="34" charset="-122"/>
                <a:cs typeface="Tomorrow Semi Bold" pitchFamily="34" charset="-120"/>
              </a:rPr>
              <a:t>Population Growth</a:t>
            </a:r>
            <a:endParaRPr lang="en-US" sz="1550" dirty="0"/>
          </a:p>
        </p:txBody>
      </p:sp>
      <p:sp>
        <p:nvSpPr>
          <p:cNvPr id="8" name="Text 5"/>
          <p:cNvSpPr/>
          <p:nvPr/>
        </p:nvSpPr>
        <p:spPr>
          <a:xfrm>
            <a:off x="6039207" y="4999918"/>
            <a:ext cx="3900726" cy="252770"/>
          </a:xfrm>
          <a:prstGeom prst="rect">
            <a:avLst/>
          </a:prstGeom>
          <a:noFill/>
          <a:ln/>
        </p:spPr>
        <p:txBody>
          <a:bodyPr wrap="none" lIns="0" tIns="0" rIns="0" bIns="0" rtlCol="0" anchor="t"/>
          <a:lstStyle/>
          <a:p>
            <a:pPr marL="0" indent="0" algn="ctr">
              <a:lnSpc>
                <a:spcPts val="1950"/>
              </a:lnSpc>
              <a:buNone/>
            </a:pPr>
            <a:r>
              <a:rPr lang="en-US" sz="1200" dirty="0">
                <a:solidFill>
                  <a:srgbClr val="C9C9C0"/>
                </a:solidFill>
                <a:latin typeface="Tomorrow" pitchFamily="34" charset="0"/>
                <a:ea typeface="Tomorrow" pitchFamily="34" charset="-122"/>
                <a:cs typeface="Tomorrow" pitchFamily="34" charset="-120"/>
              </a:rPr>
              <a:t>Buenos Aires growth from 1852-1930</a:t>
            </a:r>
            <a:endParaRPr lang="en-US" sz="1200" dirty="0"/>
          </a:p>
        </p:txBody>
      </p:sp>
      <p:sp>
        <p:nvSpPr>
          <p:cNvPr id="9" name="Text 6"/>
          <p:cNvSpPr/>
          <p:nvPr/>
        </p:nvSpPr>
        <p:spPr>
          <a:xfrm>
            <a:off x="10176748" y="3940142"/>
            <a:ext cx="3900845" cy="521137"/>
          </a:xfrm>
          <a:prstGeom prst="rect">
            <a:avLst/>
          </a:prstGeom>
          <a:noFill/>
          <a:ln/>
        </p:spPr>
        <p:txBody>
          <a:bodyPr wrap="none" lIns="0" tIns="0" rIns="0" bIns="0" rtlCol="0" anchor="t"/>
          <a:lstStyle/>
          <a:p>
            <a:pPr marL="0" indent="0" algn="ctr">
              <a:lnSpc>
                <a:spcPts val="4100"/>
              </a:lnSpc>
              <a:buNone/>
            </a:pPr>
            <a:r>
              <a:rPr lang="en-US" sz="4100" dirty="0">
                <a:solidFill>
                  <a:srgbClr val="C9C9C0"/>
                </a:solidFill>
                <a:latin typeface="Tomorrow Semi Bold" pitchFamily="34" charset="0"/>
                <a:ea typeface="Tomorrow Semi Bold" pitchFamily="34" charset="-122"/>
                <a:cs typeface="Tomorrow Semi Bold" pitchFamily="34" charset="-120"/>
              </a:rPr>
              <a:t>95%</a:t>
            </a:r>
            <a:endParaRPr lang="en-US" sz="4100" dirty="0"/>
          </a:p>
        </p:txBody>
      </p:sp>
      <p:sp>
        <p:nvSpPr>
          <p:cNvPr id="10" name="Text 7"/>
          <p:cNvSpPr/>
          <p:nvPr/>
        </p:nvSpPr>
        <p:spPr>
          <a:xfrm>
            <a:off x="10990540" y="4658565"/>
            <a:ext cx="2273141" cy="246698"/>
          </a:xfrm>
          <a:prstGeom prst="rect">
            <a:avLst/>
          </a:prstGeom>
          <a:noFill/>
          <a:ln/>
        </p:spPr>
        <p:txBody>
          <a:bodyPr wrap="none" lIns="0" tIns="0" rIns="0" bIns="0" rtlCol="0" anchor="t"/>
          <a:lstStyle/>
          <a:p>
            <a:pPr marL="0" indent="0" algn="ctr">
              <a:lnSpc>
                <a:spcPts val="1900"/>
              </a:lnSpc>
              <a:buNone/>
            </a:pPr>
            <a:r>
              <a:rPr lang="en-US" sz="1550" dirty="0">
                <a:solidFill>
                  <a:srgbClr val="C9C9C0"/>
                </a:solidFill>
                <a:latin typeface="Tomorrow Semi Bold" pitchFamily="34" charset="0"/>
                <a:ea typeface="Tomorrow Semi Bold" pitchFamily="34" charset="-122"/>
                <a:cs typeface="Tomorrow Semi Bold" pitchFamily="34" charset="-120"/>
              </a:rPr>
              <a:t>Hollywood Dominance</a:t>
            </a:r>
            <a:endParaRPr lang="en-US" sz="1550" dirty="0"/>
          </a:p>
        </p:txBody>
      </p:sp>
      <p:sp>
        <p:nvSpPr>
          <p:cNvPr id="11" name="Text 8"/>
          <p:cNvSpPr/>
          <p:nvPr/>
        </p:nvSpPr>
        <p:spPr>
          <a:xfrm>
            <a:off x="10176748" y="4999918"/>
            <a:ext cx="3900845" cy="505539"/>
          </a:xfrm>
          <a:prstGeom prst="rect">
            <a:avLst/>
          </a:prstGeom>
          <a:noFill/>
          <a:ln/>
        </p:spPr>
        <p:txBody>
          <a:bodyPr wrap="square" lIns="0" tIns="0" rIns="0" bIns="0" rtlCol="0" anchor="t"/>
          <a:lstStyle/>
          <a:p>
            <a:pPr marL="0" indent="0" algn="ctr">
              <a:lnSpc>
                <a:spcPts val="1950"/>
              </a:lnSpc>
              <a:buNone/>
            </a:pPr>
            <a:r>
              <a:rPr lang="en-US" sz="1200" dirty="0">
                <a:solidFill>
                  <a:srgbClr val="C9C9C0"/>
                </a:solidFill>
                <a:latin typeface="Tomorrow" pitchFamily="34" charset="0"/>
                <a:ea typeface="Tomorrow" pitchFamily="34" charset="-122"/>
                <a:cs typeface="Tomorrow" pitchFamily="34" charset="-120"/>
              </a:rPr>
              <a:t>Percentage of films shown in Latin America from U.S. by 1920</a:t>
            </a:r>
            <a:endParaRPr lang="en-US" sz="1200" dirty="0"/>
          </a:p>
        </p:txBody>
      </p:sp>
      <p:sp>
        <p:nvSpPr>
          <p:cNvPr id="12" name="Text 9"/>
          <p:cNvSpPr/>
          <p:nvPr/>
        </p:nvSpPr>
        <p:spPr>
          <a:xfrm>
            <a:off x="8107918" y="5858113"/>
            <a:ext cx="3900845" cy="521137"/>
          </a:xfrm>
          <a:prstGeom prst="rect">
            <a:avLst/>
          </a:prstGeom>
          <a:noFill/>
          <a:ln/>
        </p:spPr>
        <p:txBody>
          <a:bodyPr wrap="none" lIns="0" tIns="0" rIns="0" bIns="0" rtlCol="0" anchor="t"/>
          <a:lstStyle/>
          <a:p>
            <a:pPr marL="0" indent="0" algn="ctr">
              <a:lnSpc>
                <a:spcPts val="4100"/>
              </a:lnSpc>
              <a:buNone/>
            </a:pPr>
            <a:r>
              <a:rPr lang="en-US" sz="4100" dirty="0">
                <a:solidFill>
                  <a:srgbClr val="C9C9C0"/>
                </a:solidFill>
                <a:latin typeface="Tomorrow Semi Bold" pitchFamily="34" charset="0"/>
                <a:ea typeface="Tomorrow Semi Bold" pitchFamily="34" charset="-122"/>
                <a:cs typeface="Tomorrow Semi Bold" pitchFamily="34" charset="-120"/>
              </a:rPr>
              <a:t>3%</a:t>
            </a:r>
            <a:endParaRPr lang="en-US" sz="4100" dirty="0"/>
          </a:p>
        </p:txBody>
      </p:sp>
      <p:sp>
        <p:nvSpPr>
          <p:cNvPr id="13" name="Text 10"/>
          <p:cNvSpPr/>
          <p:nvPr/>
        </p:nvSpPr>
        <p:spPr>
          <a:xfrm>
            <a:off x="9071134" y="6576536"/>
            <a:ext cx="1974294" cy="246698"/>
          </a:xfrm>
          <a:prstGeom prst="rect">
            <a:avLst/>
          </a:prstGeom>
          <a:noFill/>
          <a:ln/>
        </p:spPr>
        <p:txBody>
          <a:bodyPr wrap="none" lIns="0" tIns="0" rIns="0" bIns="0" rtlCol="0" anchor="t"/>
          <a:lstStyle/>
          <a:p>
            <a:pPr marL="0" indent="0" algn="ctr">
              <a:lnSpc>
                <a:spcPts val="1900"/>
              </a:lnSpc>
              <a:buNone/>
            </a:pPr>
            <a:r>
              <a:rPr lang="en-US" sz="1550" dirty="0">
                <a:solidFill>
                  <a:srgbClr val="C9C9C0"/>
                </a:solidFill>
                <a:latin typeface="Tomorrow Semi Bold" pitchFamily="34" charset="0"/>
                <a:ea typeface="Tomorrow Semi Bold" pitchFamily="34" charset="-122"/>
                <a:cs typeface="Tomorrow Semi Bold" pitchFamily="34" charset="-120"/>
              </a:rPr>
              <a:t>Land Ownership</a:t>
            </a:r>
            <a:endParaRPr lang="en-US" sz="1550" dirty="0"/>
          </a:p>
        </p:txBody>
      </p:sp>
      <p:sp>
        <p:nvSpPr>
          <p:cNvPr id="14" name="Text 11"/>
          <p:cNvSpPr/>
          <p:nvPr/>
        </p:nvSpPr>
        <p:spPr>
          <a:xfrm>
            <a:off x="8107918" y="6917888"/>
            <a:ext cx="3900845" cy="252770"/>
          </a:xfrm>
          <a:prstGeom prst="rect">
            <a:avLst/>
          </a:prstGeom>
          <a:noFill/>
          <a:ln/>
        </p:spPr>
        <p:txBody>
          <a:bodyPr wrap="none" lIns="0" tIns="0" rIns="0" bIns="0" rtlCol="0" anchor="t"/>
          <a:lstStyle/>
          <a:p>
            <a:pPr marL="0" indent="0" algn="ctr">
              <a:lnSpc>
                <a:spcPts val="1950"/>
              </a:lnSpc>
              <a:buNone/>
            </a:pPr>
            <a:r>
              <a:rPr lang="en-US" sz="1200" dirty="0">
                <a:solidFill>
                  <a:srgbClr val="C9C9C0"/>
                </a:solidFill>
                <a:latin typeface="Tomorrow" pitchFamily="34" charset="0"/>
                <a:ea typeface="Tomorrow" pitchFamily="34" charset="-122"/>
                <a:cs typeface="Tomorrow" pitchFamily="34" charset="-120"/>
              </a:rPr>
              <a:t>Percentage of Mexicans who owned land by 1910</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39008" y="502087"/>
            <a:ext cx="8995886" cy="570548"/>
          </a:xfrm>
          <a:prstGeom prst="rect">
            <a:avLst/>
          </a:prstGeom>
          <a:noFill/>
          <a:ln/>
        </p:spPr>
        <p:txBody>
          <a:bodyPr wrap="none" lIns="0" tIns="0" rIns="0" bIns="0" rtlCol="0" anchor="t"/>
          <a:lstStyle/>
          <a:p>
            <a:pPr marL="0" indent="0" algn="l">
              <a:lnSpc>
                <a:spcPts val="4450"/>
              </a:lnSpc>
              <a:buNone/>
            </a:pPr>
            <a:r>
              <a:rPr lang="en-US" sz="3850" dirty="0">
                <a:solidFill>
                  <a:srgbClr val="EDEDE8"/>
                </a:solidFill>
                <a:latin typeface="Tomorrow Semi Bold" pitchFamily="34" charset="0"/>
                <a:ea typeface="Tomorrow Semi Bold" pitchFamily="34" charset="-122"/>
                <a:cs typeface="Tomorrow Semi Bold" pitchFamily="34" charset="-120"/>
              </a:rPr>
              <a:t>Managed Elections and Oligarchic Rule</a:t>
            </a:r>
            <a:endParaRPr lang="en-US" sz="3850" dirty="0"/>
          </a:p>
        </p:txBody>
      </p:sp>
      <p:sp>
        <p:nvSpPr>
          <p:cNvPr id="3" name="Text 1"/>
          <p:cNvSpPr/>
          <p:nvPr/>
        </p:nvSpPr>
        <p:spPr>
          <a:xfrm>
            <a:off x="638948" y="1311057"/>
            <a:ext cx="13352383" cy="876538"/>
          </a:xfrm>
          <a:prstGeom prst="rect">
            <a:avLst/>
          </a:prstGeom>
          <a:noFill/>
          <a:ln/>
        </p:spPr>
        <p:txBody>
          <a:bodyPr wrap="square" lIns="0" tIns="0" rIns="0" bIns="0" rtlCol="0" anchor="t"/>
          <a:lstStyle/>
          <a:p>
            <a:pPr marL="0" indent="0" algn="l">
              <a:lnSpc>
                <a:spcPts val="2300"/>
              </a:lnSpc>
              <a:buNone/>
            </a:pPr>
            <a:r>
              <a:rPr lang="en-US" sz="1750" dirty="0">
                <a:solidFill>
                  <a:srgbClr val="C9C9C0"/>
                </a:solidFill>
                <a:latin typeface="Tomorrow" pitchFamily="34" charset="0"/>
                <a:ea typeface="Tomorrow" pitchFamily="34" charset="-122"/>
                <a:cs typeface="Tomorrow" pitchFamily="34" charset="-120"/>
              </a:rPr>
              <a:t>Democracy in neocolonial Latin America was largely superficial. Elections were systematically manipulated by landowners and elites who disqualified opposition votes and controlled outcomes. Most citizens couldn't vote due to property and literacy requirements, effectively excluding the majority from political participation.</a:t>
            </a:r>
            <a:endParaRPr lang="en-US" sz="1750" dirty="0"/>
          </a:p>
        </p:txBody>
      </p:sp>
      <p:sp>
        <p:nvSpPr>
          <p:cNvPr id="4" name="Text 2"/>
          <p:cNvSpPr/>
          <p:nvPr/>
        </p:nvSpPr>
        <p:spPr>
          <a:xfrm>
            <a:off x="638947" y="2333685"/>
            <a:ext cx="13352383" cy="584359"/>
          </a:xfrm>
          <a:prstGeom prst="rect">
            <a:avLst/>
          </a:prstGeom>
          <a:noFill/>
          <a:ln/>
        </p:spPr>
        <p:txBody>
          <a:bodyPr wrap="square" lIns="0" tIns="0" rIns="0" bIns="0" rtlCol="0" anchor="t"/>
          <a:lstStyle/>
          <a:p>
            <a:pPr marL="0" indent="0" algn="l">
              <a:lnSpc>
                <a:spcPts val="2300"/>
              </a:lnSpc>
              <a:buNone/>
            </a:pPr>
            <a:r>
              <a:rPr lang="en-US" sz="1750" dirty="0">
                <a:solidFill>
                  <a:srgbClr val="C9C9C0"/>
                </a:solidFill>
                <a:latin typeface="Tomorrow" pitchFamily="34" charset="0"/>
                <a:ea typeface="Tomorrow" pitchFamily="34" charset="-122"/>
                <a:cs typeface="Tomorrow" pitchFamily="34" charset="-120"/>
              </a:rPr>
              <a:t>Governance typically took the form of oligarchies (rule by a few elites) or dictatorships (rule by a single strongman). Elites embraced "order and progress" over democratic participation, using positivist philosophy to justify authoritarian governance as scientifically necessary for development.</a:t>
            </a:r>
            <a:endParaRPr lang="en-US" sz="1750" dirty="0"/>
          </a:p>
        </p:txBody>
      </p:sp>
      <p:sp>
        <p:nvSpPr>
          <p:cNvPr id="5" name="Text 3"/>
          <p:cNvSpPr/>
          <p:nvPr/>
        </p:nvSpPr>
        <p:spPr>
          <a:xfrm>
            <a:off x="2422208" y="3992761"/>
            <a:ext cx="2282428" cy="285274"/>
          </a:xfrm>
          <a:prstGeom prst="rect">
            <a:avLst/>
          </a:prstGeom>
          <a:noFill/>
          <a:ln/>
        </p:spPr>
        <p:txBody>
          <a:bodyPr wrap="none" lIns="0" tIns="0" rIns="0" bIns="0" rtlCol="0" anchor="t"/>
          <a:lstStyle/>
          <a:p>
            <a:pPr marL="0" indent="0" algn="r">
              <a:lnSpc>
                <a:spcPts val="2200"/>
              </a:lnSpc>
              <a:buNone/>
            </a:pPr>
            <a:r>
              <a:rPr lang="en-US" sz="1750" dirty="0">
                <a:solidFill>
                  <a:srgbClr val="C9C9C0"/>
                </a:solidFill>
                <a:latin typeface="Tomorrow Semi Bold" pitchFamily="34" charset="0"/>
                <a:ea typeface="Tomorrow Semi Bold" pitchFamily="34" charset="-122"/>
                <a:cs typeface="Tomorrow Semi Bold" pitchFamily="34" charset="-120"/>
              </a:rPr>
              <a:t>Elite Agreements</a:t>
            </a:r>
            <a:endParaRPr lang="en-US" sz="1750" dirty="0"/>
          </a:p>
        </p:txBody>
      </p:sp>
      <p:sp>
        <p:nvSpPr>
          <p:cNvPr id="6" name="Text 4"/>
          <p:cNvSpPr/>
          <p:nvPr/>
        </p:nvSpPr>
        <p:spPr>
          <a:xfrm>
            <a:off x="639008" y="4387572"/>
            <a:ext cx="4065627" cy="584359"/>
          </a:xfrm>
          <a:prstGeom prst="rect">
            <a:avLst/>
          </a:prstGeom>
          <a:noFill/>
          <a:ln/>
        </p:spPr>
        <p:txBody>
          <a:bodyPr wrap="square" lIns="0" tIns="0" rIns="0" bIns="0" rtlCol="0" anchor="t"/>
          <a:lstStyle/>
          <a:p>
            <a:pPr marL="0" indent="0" algn="r">
              <a:lnSpc>
                <a:spcPts val="2300"/>
              </a:lnSpc>
              <a:buNone/>
            </a:pPr>
            <a:r>
              <a:rPr lang="en-US" sz="1400" dirty="0">
                <a:solidFill>
                  <a:srgbClr val="C9C9C0"/>
                </a:solidFill>
                <a:latin typeface="Tomorrow" pitchFamily="34" charset="0"/>
                <a:ea typeface="Tomorrow" pitchFamily="34" charset="-122"/>
                <a:cs typeface="Tomorrow" pitchFamily="34" charset="-120"/>
              </a:rPr>
              <a:t>Powerful families and interests determine candidates</a:t>
            </a:r>
            <a:endParaRPr lang="en-US" sz="1400" dirty="0"/>
          </a:p>
        </p:txBody>
      </p:sp>
      <p:pic>
        <p:nvPicPr>
          <p:cNvPr id="7" name="Image 0" descr="preencoded.png"/>
          <p:cNvPicPr>
            <a:picLocks noChangeAspect="1"/>
          </p:cNvPicPr>
          <p:nvPr/>
        </p:nvPicPr>
        <p:blipFill>
          <a:blip r:embed="rId3"/>
          <a:stretch>
            <a:fillRect/>
          </a:stretch>
        </p:blipFill>
        <p:spPr>
          <a:xfrm>
            <a:off x="4978479" y="3309461"/>
            <a:ext cx="4673322" cy="4673322"/>
          </a:xfrm>
          <a:prstGeom prst="rect">
            <a:avLst/>
          </a:prstGeom>
        </p:spPr>
      </p:pic>
      <p:pic>
        <p:nvPicPr>
          <p:cNvPr id="8" name="Image 1" descr="preencoded.png"/>
          <p:cNvPicPr>
            <a:picLocks noChangeAspect="1"/>
          </p:cNvPicPr>
          <p:nvPr/>
        </p:nvPicPr>
        <p:blipFill>
          <a:blip r:embed="rId4"/>
          <a:stretch>
            <a:fillRect/>
          </a:stretch>
        </p:blipFill>
        <p:spPr>
          <a:xfrm>
            <a:off x="6238042" y="4137065"/>
            <a:ext cx="273129" cy="341471"/>
          </a:xfrm>
          <a:prstGeom prst="rect">
            <a:avLst/>
          </a:prstGeom>
        </p:spPr>
      </p:pic>
      <p:sp>
        <p:nvSpPr>
          <p:cNvPr id="9" name="Text 5"/>
          <p:cNvSpPr/>
          <p:nvPr/>
        </p:nvSpPr>
        <p:spPr>
          <a:xfrm>
            <a:off x="9925645" y="4138851"/>
            <a:ext cx="2282428" cy="285274"/>
          </a:xfrm>
          <a:prstGeom prst="rect">
            <a:avLst/>
          </a:prstGeom>
          <a:noFill/>
          <a:ln/>
        </p:spPr>
        <p:txBody>
          <a:bodyPr wrap="none" lIns="0" tIns="0" rIns="0" bIns="0" rtlCol="0" anchor="t"/>
          <a:lstStyle/>
          <a:p>
            <a:pPr marL="0" indent="0" algn="l">
              <a:lnSpc>
                <a:spcPts val="2200"/>
              </a:lnSpc>
              <a:buNone/>
            </a:pPr>
            <a:r>
              <a:rPr lang="en-US" sz="1750" dirty="0">
                <a:solidFill>
                  <a:srgbClr val="C9C9C0"/>
                </a:solidFill>
                <a:latin typeface="Tomorrow Semi Bold" pitchFamily="34" charset="0"/>
                <a:ea typeface="Tomorrow Semi Bold" pitchFamily="34" charset="-122"/>
                <a:cs typeface="Tomorrow Semi Bold" pitchFamily="34" charset="-120"/>
              </a:rPr>
              <a:t>Managed Elections</a:t>
            </a:r>
            <a:endParaRPr lang="en-US" sz="1750" dirty="0"/>
          </a:p>
        </p:txBody>
      </p:sp>
      <p:sp>
        <p:nvSpPr>
          <p:cNvPr id="10" name="Text 6"/>
          <p:cNvSpPr/>
          <p:nvPr/>
        </p:nvSpPr>
        <p:spPr>
          <a:xfrm>
            <a:off x="9925645" y="4533662"/>
            <a:ext cx="4065746" cy="292179"/>
          </a:xfrm>
          <a:prstGeom prst="rect">
            <a:avLst/>
          </a:prstGeom>
          <a:noFill/>
          <a:ln/>
        </p:spPr>
        <p:txBody>
          <a:bodyPr wrap="none" lIns="0" tIns="0" rIns="0" bIns="0" rtlCol="0" anchor="t"/>
          <a:lstStyle/>
          <a:p>
            <a:pPr marL="0" indent="0" algn="l">
              <a:lnSpc>
                <a:spcPts val="2300"/>
              </a:lnSpc>
              <a:buNone/>
            </a:pPr>
            <a:r>
              <a:rPr lang="en-US" sz="1400" dirty="0">
                <a:solidFill>
                  <a:srgbClr val="C9C9C0"/>
                </a:solidFill>
                <a:latin typeface="Tomorrow" pitchFamily="34" charset="0"/>
                <a:ea typeface="Tomorrow" pitchFamily="34" charset="-122"/>
                <a:cs typeface="Tomorrow" pitchFamily="34" charset="-120"/>
              </a:rPr>
              <a:t>Voting restricted to literate property owners</a:t>
            </a:r>
            <a:endParaRPr lang="en-US" sz="1400" dirty="0"/>
          </a:p>
        </p:txBody>
      </p:sp>
      <p:pic>
        <p:nvPicPr>
          <p:cNvPr id="11" name="Image 2" descr="preencoded.png"/>
          <p:cNvPicPr>
            <a:picLocks noChangeAspect="1"/>
          </p:cNvPicPr>
          <p:nvPr/>
        </p:nvPicPr>
        <p:blipFill>
          <a:blip r:embed="rId5"/>
          <a:stretch>
            <a:fillRect/>
          </a:stretch>
        </p:blipFill>
        <p:spPr>
          <a:xfrm>
            <a:off x="4978479" y="3309461"/>
            <a:ext cx="4673322" cy="4673322"/>
          </a:xfrm>
          <a:prstGeom prst="rect">
            <a:avLst/>
          </a:prstGeom>
        </p:spPr>
      </p:pic>
      <p:pic>
        <p:nvPicPr>
          <p:cNvPr id="12" name="Image 3" descr="preencoded.png"/>
          <p:cNvPicPr>
            <a:picLocks noChangeAspect="1"/>
          </p:cNvPicPr>
          <p:nvPr/>
        </p:nvPicPr>
        <p:blipFill>
          <a:blip r:embed="rId6"/>
          <a:stretch>
            <a:fillRect/>
          </a:stretch>
        </p:blipFill>
        <p:spPr>
          <a:xfrm>
            <a:off x="8516779" y="4534853"/>
            <a:ext cx="273129" cy="341471"/>
          </a:xfrm>
          <a:prstGeom prst="rect">
            <a:avLst/>
          </a:prstGeom>
        </p:spPr>
      </p:pic>
      <p:sp>
        <p:nvSpPr>
          <p:cNvPr id="13" name="Text 7"/>
          <p:cNvSpPr/>
          <p:nvPr/>
        </p:nvSpPr>
        <p:spPr>
          <a:xfrm>
            <a:off x="9925645" y="6612374"/>
            <a:ext cx="2282428" cy="285274"/>
          </a:xfrm>
          <a:prstGeom prst="rect">
            <a:avLst/>
          </a:prstGeom>
          <a:noFill/>
          <a:ln/>
        </p:spPr>
        <p:txBody>
          <a:bodyPr wrap="none" lIns="0" tIns="0" rIns="0" bIns="0" rtlCol="0" anchor="t"/>
          <a:lstStyle/>
          <a:p>
            <a:pPr marL="0" indent="0" algn="l">
              <a:lnSpc>
                <a:spcPts val="2200"/>
              </a:lnSpc>
              <a:buNone/>
            </a:pPr>
            <a:r>
              <a:rPr lang="en-US" sz="1750" dirty="0">
                <a:solidFill>
                  <a:srgbClr val="C9C9C0"/>
                </a:solidFill>
                <a:latin typeface="Tomorrow Semi Bold" pitchFamily="34" charset="0"/>
                <a:ea typeface="Tomorrow Semi Bold" pitchFamily="34" charset="-122"/>
                <a:cs typeface="Tomorrow Semi Bold" pitchFamily="34" charset="-120"/>
              </a:rPr>
              <a:t>Oligarchic Rule</a:t>
            </a:r>
            <a:endParaRPr lang="en-US" sz="1750" dirty="0"/>
          </a:p>
        </p:txBody>
      </p:sp>
      <p:sp>
        <p:nvSpPr>
          <p:cNvPr id="14" name="Text 8"/>
          <p:cNvSpPr/>
          <p:nvPr/>
        </p:nvSpPr>
        <p:spPr>
          <a:xfrm>
            <a:off x="9925645" y="7007185"/>
            <a:ext cx="4065746" cy="292179"/>
          </a:xfrm>
          <a:prstGeom prst="rect">
            <a:avLst/>
          </a:prstGeom>
          <a:noFill/>
          <a:ln/>
        </p:spPr>
        <p:txBody>
          <a:bodyPr wrap="none" lIns="0" tIns="0" rIns="0" bIns="0" rtlCol="0" anchor="t"/>
          <a:lstStyle/>
          <a:p>
            <a:pPr marL="0" indent="0" algn="l">
              <a:lnSpc>
                <a:spcPts val="2300"/>
              </a:lnSpc>
              <a:buNone/>
            </a:pPr>
            <a:r>
              <a:rPr lang="en-US" sz="1400" dirty="0">
                <a:solidFill>
                  <a:srgbClr val="C9C9C0"/>
                </a:solidFill>
                <a:latin typeface="Tomorrow" pitchFamily="34" charset="0"/>
                <a:ea typeface="Tomorrow" pitchFamily="34" charset="-122"/>
                <a:cs typeface="Tomorrow" pitchFamily="34" charset="-120"/>
              </a:rPr>
              <a:t>Elected officials serve elite interests</a:t>
            </a:r>
            <a:endParaRPr lang="en-US" sz="1400" dirty="0"/>
          </a:p>
        </p:txBody>
      </p:sp>
      <p:pic>
        <p:nvPicPr>
          <p:cNvPr id="15" name="Image 4" descr="preencoded.png"/>
          <p:cNvPicPr>
            <a:picLocks noChangeAspect="1"/>
          </p:cNvPicPr>
          <p:nvPr/>
        </p:nvPicPr>
        <p:blipFill>
          <a:blip r:embed="rId7"/>
          <a:stretch>
            <a:fillRect/>
          </a:stretch>
        </p:blipFill>
        <p:spPr>
          <a:xfrm>
            <a:off x="4978479" y="3309461"/>
            <a:ext cx="4673322" cy="4673322"/>
          </a:xfrm>
          <a:prstGeom prst="rect">
            <a:avLst/>
          </a:prstGeom>
        </p:spPr>
      </p:pic>
      <p:pic>
        <p:nvPicPr>
          <p:cNvPr id="16" name="Image 5" descr="preencoded.png"/>
          <p:cNvPicPr>
            <a:picLocks noChangeAspect="1"/>
          </p:cNvPicPr>
          <p:nvPr/>
        </p:nvPicPr>
        <p:blipFill>
          <a:blip r:embed="rId8"/>
          <a:stretch>
            <a:fillRect/>
          </a:stretch>
        </p:blipFill>
        <p:spPr>
          <a:xfrm>
            <a:off x="8118991" y="6813590"/>
            <a:ext cx="273129" cy="341471"/>
          </a:xfrm>
          <a:prstGeom prst="rect">
            <a:avLst/>
          </a:prstGeom>
        </p:spPr>
      </p:pic>
      <p:sp>
        <p:nvSpPr>
          <p:cNvPr id="17" name="Text 9"/>
          <p:cNvSpPr/>
          <p:nvPr/>
        </p:nvSpPr>
        <p:spPr>
          <a:xfrm>
            <a:off x="2422208" y="6612374"/>
            <a:ext cx="2282428" cy="285274"/>
          </a:xfrm>
          <a:prstGeom prst="rect">
            <a:avLst/>
          </a:prstGeom>
          <a:noFill/>
          <a:ln/>
        </p:spPr>
        <p:txBody>
          <a:bodyPr wrap="none" lIns="0" tIns="0" rIns="0" bIns="0" rtlCol="0" anchor="t"/>
          <a:lstStyle/>
          <a:p>
            <a:pPr marL="0" indent="0" algn="r">
              <a:lnSpc>
                <a:spcPts val="2200"/>
              </a:lnSpc>
              <a:buNone/>
            </a:pPr>
            <a:r>
              <a:rPr lang="en-US" sz="1750" dirty="0">
                <a:solidFill>
                  <a:srgbClr val="C9C9C0"/>
                </a:solidFill>
                <a:latin typeface="Tomorrow Semi Bold" pitchFamily="34" charset="0"/>
                <a:ea typeface="Tomorrow Semi Bold" pitchFamily="34" charset="-122"/>
                <a:cs typeface="Tomorrow Semi Bold" pitchFamily="34" charset="-120"/>
              </a:rPr>
              <a:t>Economic Control</a:t>
            </a:r>
            <a:endParaRPr lang="en-US" sz="1750" dirty="0"/>
          </a:p>
        </p:txBody>
      </p:sp>
      <p:sp>
        <p:nvSpPr>
          <p:cNvPr id="18" name="Text 10"/>
          <p:cNvSpPr/>
          <p:nvPr/>
        </p:nvSpPr>
        <p:spPr>
          <a:xfrm>
            <a:off x="639008" y="7007185"/>
            <a:ext cx="4065627" cy="292179"/>
          </a:xfrm>
          <a:prstGeom prst="rect">
            <a:avLst/>
          </a:prstGeom>
          <a:noFill/>
          <a:ln/>
        </p:spPr>
        <p:txBody>
          <a:bodyPr wrap="none" lIns="0" tIns="0" rIns="0" bIns="0" rtlCol="0" anchor="t"/>
          <a:lstStyle/>
          <a:p>
            <a:pPr marL="0" indent="0" algn="r">
              <a:lnSpc>
                <a:spcPts val="2300"/>
              </a:lnSpc>
              <a:buNone/>
            </a:pPr>
            <a:r>
              <a:rPr lang="en-US" sz="1400" dirty="0">
                <a:solidFill>
                  <a:srgbClr val="C9C9C0"/>
                </a:solidFill>
                <a:latin typeface="Tomorrow" pitchFamily="34" charset="0"/>
                <a:ea typeface="Tomorrow" pitchFamily="34" charset="-122"/>
                <a:cs typeface="Tomorrow" pitchFamily="34" charset="-120"/>
              </a:rPr>
              <a:t>Policies favor foreign investment and exports</a:t>
            </a:r>
            <a:endParaRPr lang="en-US" sz="1400" dirty="0"/>
          </a:p>
        </p:txBody>
      </p:sp>
      <p:pic>
        <p:nvPicPr>
          <p:cNvPr id="19" name="Image 6" descr="preencoded.png"/>
          <p:cNvPicPr>
            <a:picLocks noChangeAspect="1"/>
          </p:cNvPicPr>
          <p:nvPr/>
        </p:nvPicPr>
        <p:blipFill>
          <a:blip r:embed="rId9"/>
          <a:stretch>
            <a:fillRect/>
          </a:stretch>
        </p:blipFill>
        <p:spPr>
          <a:xfrm>
            <a:off x="4978479" y="3309461"/>
            <a:ext cx="4673322" cy="4673322"/>
          </a:xfrm>
          <a:prstGeom prst="rect">
            <a:avLst/>
          </a:prstGeom>
        </p:spPr>
      </p:pic>
      <p:pic>
        <p:nvPicPr>
          <p:cNvPr id="20" name="Image 7" descr="preencoded.png"/>
          <p:cNvPicPr>
            <a:picLocks noChangeAspect="1"/>
          </p:cNvPicPr>
          <p:nvPr/>
        </p:nvPicPr>
        <p:blipFill>
          <a:blip r:embed="rId10"/>
          <a:stretch>
            <a:fillRect/>
          </a:stretch>
        </p:blipFill>
        <p:spPr>
          <a:xfrm>
            <a:off x="5840254" y="6415802"/>
            <a:ext cx="273129" cy="34147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810458"/>
            <a:ext cx="8623221" cy="708779"/>
          </a:xfrm>
          <a:prstGeom prst="rect">
            <a:avLst/>
          </a:prstGeom>
          <a:noFill/>
          <a:ln/>
        </p:spPr>
        <p:txBody>
          <a:bodyPr wrap="none" lIns="0" tIns="0" rIns="0" bIns="0" rtlCol="0" anchor="t"/>
          <a:lstStyle/>
          <a:p>
            <a:pPr marL="0" indent="0" algn="l">
              <a:lnSpc>
                <a:spcPts val="5550"/>
              </a:lnSpc>
              <a:buNone/>
            </a:pPr>
            <a:r>
              <a:rPr lang="en-US" sz="4450" dirty="0">
                <a:solidFill>
                  <a:srgbClr val="EDEDE8"/>
                </a:solidFill>
                <a:latin typeface="Tomorrow Semi Bold" pitchFamily="34" charset="0"/>
                <a:ea typeface="Tomorrow Semi Bold" pitchFamily="34" charset="-122"/>
                <a:cs typeface="Tomorrow Semi Bold" pitchFamily="34" charset="-120"/>
              </a:rPr>
              <a:t>Porfirio Díaz and the Porfiriato</a:t>
            </a:r>
            <a:endParaRPr lang="en-US" sz="4450" dirty="0"/>
          </a:p>
        </p:txBody>
      </p:sp>
      <p:sp>
        <p:nvSpPr>
          <p:cNvPr id="3" name="Text 1"/>
          <p:cNvSpPr/>
          <p:nvPr/>
        </p:nvSpPr>
        <p:spPr>
          <a:xfrm>
            <a:off x="793790" y="1972866"/>
            <a:ext cx="13042821" cy="1088708"/>
          </a:xfrm>
          <a:prstGeom prst="rect">
            <a:avLst/>
          </a:prstGeom>
          <a:noFill/>
          <a:ln/>
        </p:spPr>
        <p:txBody>
          <a:bodyPr wrap="square" lIns="0" tIns="0" rIns="0" bIns="0" rtlCol="0" anchor="t"/>
          <a:lstStyle/>
          <a:p>
            <a:pPr marL="0" indent="0" algn="l">
              <a:lnSpc>
                <a:spcPts val="2850"/>
              </a:lnSpc>
              <a:buNone/>
            </a:pPr>
            <a:r>
              <a:rPr lang="en-US" sz="1750" dirty="0">
                <a:solidFill>
                  <a:srgbClr val="C9C9C0"/>
                </a:solidFill>
                <a:latin typeface="Tomorrow" pitchFamily="34" charset="0"/>
                <a:ea typeface="Tomorrow" pitchFamily="34" charset="-122"/>
                <a:cs typeface="Tomorrow" pitchFamily="34" charset="-120"/>
              </a:rPr>
              <a:t>Porfirio Díaz's 35-year rule in Mexico (1876–1911) epitomized neocolonial dictatorship. His regime welcomed foreign investment, built extensive railroads, and modernized cities while brutally suppressing opposition and indigenous communities. His scientific advisors, known as the Científicos, guided policy based on positivist ideology.</a:t>
            </a:r>
            <a:endParaRPr lang="en-US" sz="1750" dirty="0"/>
          </a:p>
        </p:txBody>
      </p:sp>
      <p:sp>
        <p:nvSpPr>
          <p:cNvPr id="4" name="Text 2"/>
          <p:cNvSpPr/>
          <p:nvPr/>
        </p:nvSpPr>
        <p:spPr>
          <a:xfrm>
            <a:off x="793790" y="3316724"/>
            <a:ext cx="13042821" cy="1088708"/>
          </a:xfrm>
          <a:prstGeom prst="rect">
            <a:avLst/>
          </a:prstGeom>
          <a:noFill/>
          <a:ln/>
        </p:spPr>
        <p:txBody>
          <a:bodyPr wrap="square" lIns="0" tIns="0" rIns="0" bIns="0" rtlCol="0" anchor="t"/>
          <a:lstStyle/>
          <a:p>
            <a:pPr marL="0" indent="0" algn="l">
              <a:lnSpc>
                <a:spcPts val="2850"/>
              </a:lnSpc>
              <a:buNone/>
            </a:pPr>
            <a:r>
              <a:rPr lang="en-US" sz="1750" dirty="0">
                <a:solidFill>
                  <a:srgbClr val="C9C9C0"/>
                </a:solidFill>
                <a:latin typeface="Tomorrow" pitchFamily="34" charset="0"/>
                <a:ea typeface="Tomorrow" pitchFamily="34" charset="-122"/>
                <a:cs typeface="Tomorrow" pitchFamily="34" charset="-120"/>
              </a:rPr>
              <a:t>Under Díaz, Indigenous people were systematically pushed out of cities and even forcibly removed during national celebrations to present a "modern" image to foreign visitors. He created the rurales, a rural police force, to secure countryside areas for investors and suppress peasant resistance.</a:t>
            </a:r>
            <a:endParaRPr lang="en-US" sz="1750" dirty="0"/>
          </a:p>
        </p:txBody>
      </p:sp>
      <p:sp>
        <p:nvSpPr>
          <p:cNvPr id="5" name="Shape 3"/>
          <p:cNvSpPr/>
          <p:nvPr/>
        </p:nvSpPr>
        <p:spPr>
          <a:xfrm>
            <a:off x="793790" y="4660582"/>
            <a:ext cx="4196358" cy="2758559"/>
          </a:xfrm>
          <a:prstGeom prst="roundRect">
            <a:avLst>
              <a:gd name="adj" fmla="val 1233"/>
            </a:avLst>
          </a:prstGeom>
          <a:solidFill>
            <a:srgbClr val="3C3C3A"/>
          </a:solidFill>
          <a:ln/>
        </p:spPr>
        <p:txBody>
          <a:bodyPr/>
          <a:lstStyle/>
          <a:p>
            <a:endParaRPr lang="en-US"/>
          </a:p>
        </p:txBody>
      </p:sp>
      <p:sp>
        <p:nvSpPr>
          <p:cNvPr id="6" name="Text 4"/>
          <p:cNvSpPr/>
          <p:nvPr/>
        </p:nvSpPr>
        <p:spPr>
          <a:xfrm>
            <a:off x="1020604" y="488739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C9C9C0"/>
                </a:solidFill>
                <a:latin typeface="Tomorrow Semi Bold" pitchFamily="34" charset="0"/>
                <a:ea typeface="Tomorrow Semi Bold" pitchFamily="34" charset="-122"/>
                <a:cs typeface="Tomorrow Semi Bold" pitchFamily="34" charset="-120"/>
              </a:rPr>
              <a:t>Foreign Investment</a:t>
            </a:r>
            <a:endParaRPr lang="en-US" sz="2200" dirty="0"/>
          </a:p>
        </p:txBody>
      </p:sp>
      <p:sp>
        <p:nvSpPr>
          <p:cNvPr id="7" name="Text 5"/>
          <p:cNvSpPr/>
          <p:nvPr/>
        </p:nvSpPr>
        <p:spPr>
          <a:xfrm>
            <a:off x="1020604" y="5377815"/>
            <a:ext cx="3742730" cy="1814513"/>
          </a:xfrm>
          <a:prstGeom prst="rect">
            <a:avLst/>
          </a:prstGeom>
          <a:noFill/>
          <a:ln/>
        </p:spPr>
        <p:txBody>
          <a:bodyPr wrap="square" lIns="0" tIns="0" rIns="0" bIns="0" rtlCol="0" anchor="t"/>
          <a:lstStyle/>
          <a:p>
            <a:pPr marL="0" indent="0" algn="l">
              <a:lnSpc>
                <a:spcPts val="2850"/>
              </a:lnSpc>
              <a:buNone/>
            </a:pPr>
            <a:r>
              <a:rPr lang="en-US" sz="1750" dirty="0">
                <a:solidFill>
                  <a:srgbClr val="C9C9C0"/>
                </a:solidFill>
                <a:latin typeface="Tomorrow" pitchFamily="34" charset="0"/>
                <a:ea typeface="Tomorrow" pitchFamily="34" charset="-122"/>
                <a:cs typeface="Tomorrow" pitchFamily="34" charset="-120"/>
              </a:rPr>
              <a:t>Díaz welcomed British and American capital, giving generous concessions for railroads, mining, and oil extraction with minimal taxation or regulation.</a:t>
            </a:r>
            <a:endParaRPr lang="en-US" sz="1750" dirty="0"/>
          </a:p>
        </p:txBody>
      </p:sp>
      <p:sp>
        <p:nvSpPr>
          <p:cNvPr id="8" name="Shape 6"/>
          <p:cNvSpPr/>
          <p:nvPr/>
        </p:nvSpPr>
        <p:spPr>
          <a:xfrm>
            <a:off x="5216962" y="4660582"/>
            <a:ext cx="4196358" cy="2758559"/>
          </a:xfrm>
          <a:prstGeom prst="roundRect">
            <a:avLst>
              <a:gd name="adj" fmla="val 1233"/>
            </a:avLst>
          </a:prstGeom>
          <a:solidFill>
            <a:srgbClr val="3C3C3A"/>
          </a:solidFill>
          <a:ln/>
        </p:spPr>
        <p:txBody>
          <a:bodyPr/>
          <a:lstStyle/>
          <a:p>
            <a:endParaRPr lang="en-US"/>
          </a:p>
        </p:txBody>
      </p:sp>
      <p:sp>
        <p:nvSpPr>
          <p:cNvPr id="9" name="Text 7"/>
          <p:cNvSpPr/>
          <p:nvPr/>
        </p:nvSpPr>
        <p:spPr>
          <a:xfrm>
            <a:off x="5443776" y="488739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C9C9C0"/>
                </a:solidFill>
                <a:latin typeface="Tomorrow Semi Bold" pitchFamily="34" charset="0"/>
                <a:ea typeface="Tomorrow Semi Bold" pitchFamily="34" charset="-122"/>
                <a:cs typeface="Tomorrow Semi Bold" pitchFamily="34" charset="-120"/>
              </a:rPr>
              <a:t>Científicos</a:t>
            </a:r>
            <a:endParaRPr lang="en-US" sz="2200" dirty="0"/>
          </a:p>
        </p:txBody>
      </p:sp>
      <p:sp>
        <p:nvSpPr>
          <p:cNvPr id="10" name="Text 8"/>
          <p:cNvSpPr/>
          <p:nvPr/>
        </p:nvSpPr>
        <p:spPr>
          <a:xfrm>
            <a:off x="5443776" y="5377815"/>
            <a:ext cx="3742730" cy="1814513"/>
          </a:xfrm>
          <a:prstGeom prst="rect">
            <a:avLst/>
          </a:prstGeom>
          <a:noFill/>
          <a:ln/>
        </p:spPr>
        <p:txBody>
          <a:bodyPr wrap="square" lIns="0" tIns="0" rIns="0" bIns="0" rtlCol="0" anchor="t"/>
          <a:lstStyle/>
          <a:p>
            <a:pPr marL="0" indent="0" algn="l">
              <a:lnSpc>
                <a:spcPts val="2850"/>
              </a:lnSpc>
              <a:buNone/>
            </a:pPr>
            <a:r>
              <a:rPr lang="en-US" sz="1750" dirty="0">
                <a:solidFill>
                  <a:srgbClr val="C9C9C0"/>
                </a:solidFill>
                <a:latin typeface="Tomorrow" pitchFamily="34" charset="0"/>
                <a:ea typeface="Tomorrow" pitchFamily="34" charset="-122"/>
                <a:cs typeface="Tomorrow" pitchFamily="34" charset="-120"/>
              </a:rPr>
              <a:t>His positivist advisors promoted "scientific" governance, prioritizing economic development over democracy and justifying racial hierarchies.</a:t>
            </a:r>
            <a:endParaRPr lang="en-US" sz="1750" dirty="0"/>
          </a:p>
        </p:txBody>
      </p:sp>
      <p:sp>
        <p:nvSpPr>
          <p:cNvPr id="11" name="Shape 9"/>
          <p:cNvSpPr/>
          <p:nvPr/>
        </p:nvSpPr>
        <p:spPr>
          <a:xfrm>
            <a:off x="9640133" y="4660582"/>
            <a:ext cx="4196358" cy="2758559"/>
          </a:xfrm>
          <a:prstGeom prst="roundRect">
            <a:avLst>
              <a:gd name="adj" fmla="val 1233"/>
            </a:avLst>
          </a:prstGeom>
          <a:solidFill>
            <a:srgbClr val="3C3C3A"/>
          </a:solidFill>
          <a:ln/>
        </p:spPr>
        <p:txBody>
          <a:bodyPr/>
          <a:lstStyle/>
          <a:p>
            <a:endParaRPr lang="en-US"/>
          </a:p>
        </p:txBody>
      </p:sp>
      <p:sp>
        <p:nvSpPr>
          <p:cNvPr id="12" name="Text 10"/>
          <p:cNvSpPr/>
          <p:nvPr/>
        </p:nvSpPr>
        <p:spPr>
          <a:xfrm>
            <a:off x="9866948" y="488739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C9C9C0"/>
                </a:solidFill>
                <a:latin typeface="Tomorrow Semi Bold" pitchFamily="34" charset="0"/>
                <a:ea typeface="Tomorrow Semi Bold" pitchFamily="34" charset="-122"/>
                <a:cs typeface="Tomorrow Semi Bold" pitchFamily="34" charset="-120"/>
              </a:rPr>
              <a:t>Rurales</a:t>
            </a:r>
            <a:endParaRPr lang="en-US" sz="2200" dirty="0"/>
          </a:p>
        </p:txBody>
      </p:sp>
      <p:sp>
        <p:nvSpPr>
          <p:cNvPr id="13" name="Text 11"/>
          <p:cNvSpPr/>
          <p:nvPr/>
        </p:nvSpPr>
        <p:spPr>
          <a:xfrm>
            <a:off x="9866948" y="5377815"/>
            <a:ext cx="3742730" cy="1451610"/>
          </a:xfrm>
          <a:prstGeom prst="rect">
            <a:avLst/>
          </a:prstGeom>
          <a:noFill/>
          <a:ln/>
        </p:spPr>
        <p:txBody>
          <a:bodyPr wrap="square" lIns="0" tIns="0" rIns="0" bIns="0" rtlCol="0" anchor="t"/>
          <a:lstStyle/>
          <a:p>
            <a:pPr marL="0" indent="0" algn="l">
              <a:lnSpc>
                <a:spcPts val="2850"/>
              </a:lnSpc>
              <a:buNone/>
            </a:pPr>
            <a:r>
              <a:rPr lang="en-US" sz="1750" dirty="0">
                <a:solidFill>
                  <a:srgbClr val="C9C9C0"/>
                </a:solidFill>
                <a:latin typeface="Tomorrow" pitchFamily="34" charset="0"/>
                <a:ea typeface="Tomorrow" pitchFamily="34" charset="-122"/>
                <a:cs typeface="Tomorrow" pitchFamily="34" charset="-120"/>
              </a:rPr>
              <a:t>Rural police force that violently suppressed peasant uprisings and labor movements, ensuring stability for foreign investors.</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name="Slide 8">
    <p:spTree>
      <p:nvGrpSpPr>
        <p:cNvPr id="1" name=""/>
        <p:cNvGrpSpPr/>
        <p:nvPr/>
      </p:nvGrpSpPr>
      <p:grpSpPr>
        <a:xfrm>
          <a:off x="0" y="0"/>
          <a:ext cx="0" cy="0"/>
          <a:chOff x="0" y="0"/>
          <a:chExt cx="0" cy="0"/>
        </a:xfrm>
      </p:grpSpPr>
      <p:sp>
        <p:nvSpPr>
          <p:cNvPr id="2" name="Text 0"/>
          <p:cNvSpPr/>
          <p:nvPr/>
        </p:nvSpPr>
        <p:spPr>
          <a:xfrm>
            <a:off x="413504" y="325874"/>
            <a:ext cx="4105751" cy="369213"/>
          </a:xfrm>
          <a:prstGeom prst="rect">
            <a:avLst/>
          </a:prstGeom>
          <a:noFill/>
          <a:ln/>
        </p:spPr>
        <p:txBody>
          <a:bodyPr wrap="none" lIns="0" tIns="0" rIns="0" bIns="0" rtlCol="0" anchor="t"/>
          <a:lstStyle/>
          <a:p>
            <a:pPr marL="0" indent="0" algn="l">
              <a:lnSpc>
                <a:spcPts val="2900"/>
              </a:lnSpc>
              <a:buNone/>
            </a:pPr>
            <a:r>
              <a:rPr lang="en-US" sz="2300" dirty="0">
                <a:solidFill>
                  <a:srgbClr val="EDEDE8"/>
                </a:solidFill>
                <a:latin typeface="Tomorrow Semi Bold" pitchFamily="34" charset="0"/>
                <a:ea typeface="Tomorrow Semi Bold" pitchFamily="34" charset="-122"/>
                <a:cs typeface="Tomorrow Semi Bold" pitchFamily="34" charset="-120"/>
              </a:rPr>
              <a:t>Resistance and New Voices</a:t>
            </a:r>
            <a:endParaRPr lang="en-US" sz="2300" dirty="0"/>
          </a:p>
        </p:txBody>
      </p:sp>
      <p:sp>
        <p:nvSpPr>
          <p:cNvPr id="3" name="Text 1"/>
          <p:cNvSpPr/>
          <p:nvPr/>
        </p:nvSpPr>
        <p:spPr>
          <a:xfrm>
            <a:off x="413504" y="931426"/>
            <a:ext cx="13803392" cy="378143"/>
          </a:xfrm>
          <a:prstGeom prst="rect">
            <a:avLst/>
          </a:prstGeom>
          <a:noFill/>
          <a:ln/>
        </p:spPr>
        <p:txBody>
          <a:bodyPr wrap="square" lIns="0" tIns="0" rIns="0" bIns="0" rtlCol="0" anchor="t"/>
          <a:lstStyle/>
          <a:p>
            <a:pPr marL="0" indent="0" algn="l">
              <a:lnSpc>
                <a:spcPts val="1450"/>
              </a:lnSpc>
              <a:buNone/>
            </a:pPr>
            <a:r>
              <a:rPr lang="en-US" sz="900" dirty="0">
                <a:solidFill>
                  <a:srgbClr val="C9C9C0"/>
                </a:solidFill>
                <a:latin typeface="Tomorrow" pitchFamily="34" charset="0"/>
                <a:ea typeface="Tomorrow" pitchFamily="34" charset="-122"/>
                <a:cs typeface="Tomorrow" pitchFamily="34" charset="-120"/>
              </a:rPr>
              <a:t>Despite overwhelming elite control, resistance movements emerged across Latin America. In Brazil, the holy city of Canudos resisted the republic until the army annihilated it in 1897, an event that inspired Euclides da Cunha's famous work </a:t>
            </a:r>
            <a:r>
              <a:rPr lang="en-US" sz="900" i="1" dirty="0">
                <a:solidFill>
                  <a:srgbClr val="C9C9C0"/>
                </a:solidFill>
                <a:latin typeface="Tomorrow" pitchFamily="34" charset="0"/>
                <a:ea typeface="Tomorrow" pitchFamily="34" charset="-122"/>
                <a:cs typeface="Tomorrow" pitchFamily="34" charset="-120"/>
              </a:rPr>
              <a:t>The Backlands</a:t>
            </a:r>
            <a:r>
              <a:rPr lang="en-US" sz="900" dirty="0">
                <a:solidFill>
                  <a:srgbClr val="C9C9C0"/>
                </a:solidFill>
                <a:latin typeface="Tomorrow" pitchFamily="34" charset="0"/>
                <a:ea typeface="Tomorrow" pitchFamily="34" charset="-122"/>
                <a:cs typeface="Tomorrow" pitchFamily="34" charset="-120"/>
              </a:rPr>
              <a:t>—exploring the tension between "civilization" and "barbarism."</a:t>
            </a:r>
            <a:endParaRPr lang="en-US" sz="900" dirty="0"/>
          </a:p>
        </p:txBody>
      </p:sp>
      <p:sp>
        <p:nvSpPr>
          <p:cNvPr id="4" name="Text 2"/>
          <p:cNvSpPr/>
          <p:nvPr/>
        </p:nvSpPr>
        <p:spPr>
          <a:xfrm>
            <a:off x="413504" y="1442442"/>
            <a:ext cx="13803392" cy="378143"/>
          </a:xfrm>
          <a:prstGeom prst="rect">
            <a:avLst/>
          </a:prstGeom>
          <a:noFill/>
          <a:ln/>
        </p:spPr>
        <p:txBody>
          <a:bodyPr wrap="square" lIns="0" tIns="0" rIns="0" bIns="0" rtlCol="0" anchor="t"/>
          <a:lstStyle/>
          <a:p>
            <a:pPr marL="0" indent="0" algn="l">
              <a:lnSpc>
                <a:spcPts val="1450"/>
              </a:lnSpc>
              <a:buNone/>
            </a:pPr>
            <a:r>
              <a:rPr lang="en-US" sz="900" dirty="0">
                <a:solidFill>
                  <a:srgbClr val="C9C9C0"/>
                </a:solidFill>
                <a:latin typeface="Tomorrow" pitchFamily="34" charset="0"/>
                <a:ea typeface="Tomorrow" pitchFamily="34" charset="-122"/>
                <a:cs typeface="Tomorrow" pitchFamily="34" charset="-120"/>
              </a:rPr>
              <a:t>New ideas, including feminism, emerged where outside influence was strongest. Pioneering feminists like Paulina Luisi in Uruguay and Bertha Lutz in Brazil led early women's rights movements, inspired by U.S. and European suffragists but adapting these ideas to Latin American contexts.</a:t>
            </a:r>
            <a:endParaRPr lang="en-US" sz="900" dirty="0"/>
          </a:p>
        </p:txBody>
      </p:sp>
      <p:pic>
        <p:nvPicPr>
          <p:cNvPr id="5" name="Image 0" descr="preencoded.png"/>
          <p:cNvPicPr>
            <a:picLocks noChangeAspect="1"/>
          </p:cNvPicPr>
          <p:nvPr/>
        </p:nvPicPr>
        <p:blipFill>
          <a:blip r:embed="rId3"/>
          <a:stretch>
            <a:fillRect/>
          </a:stretch>
        </p:blipFill>
        <p:spPr>
          <a:xfrm>
            <a:off x="413504" y="1953458"/>
            <a:ext cx="2954298" cy="1825823"/>
          </a:xfrm>
          <a:prstGeom prst="rect">
            <a:avLst/>
          </a:prstGeom>
        </p:spPr>
      </p:pic>
      <p:sp>
        <p:nvSpPr>
          <p:cNvPr id="6" name="Text 3"/>
          <p:cNvSpPr/>
          <p:nvPr/>
        </p:nvSpPr>
        <p:spPr>
          <a:xfrm>
            <a:off x="3515439" y="1953458"/>
            <a:ext cx="1526381" cy="184666"/>
          </a:xfrm>
          <a:prstGeom prst="rect">
            <a:avLst/>
          </a:prstGeom>
          <a:noFill/>
          <a:ln/>
        </p:spPr>
        <p:txBody>
          <a:bodyPr wrap="none" lIns="0" tIns="0" rIns="0" bIns="0" rtlCol="0" anchor="t"/>
          <a:lstStyle/>
          <a:p>
            <a:pPr marL="0" indent="0" algn="l">
              <a:lnSpc>
                <a:spcPts val="1450"/>
              </a:lnSpc>
              <a:buNone/>
            </a:pPr>
            <a:r>
              <a:rPr lang="en-US" sz="1150" dirty="0">
                <a:solidFill>
                  <a:srgbClr val="C9C9C0"/>
                </a:solidFill>
                <a:latin typeface="Tomorrow Semi Bold" pitchFamily="34" charset="0"/>
                <a:ea typeface="Tomorrow Semi Bold" pitchFamily="34" charset="-122"/>
                <a:cs typeface="Tomorrow Semi Bold" pitchFamily="34" charset="-120"/>
              </a:rPr>
              <a:t>Canudos Resistance</a:t>
            </a:r>
            <a:endParaRPr lang="en-US" sz="1150" dirty="0"/>
          </a:p>
        </p:txBody>
      </p:sp>
      <p:sp>
        <p:nvSpPr>
          <p:cNvPr id="7" name="Text 4"/>
          <p:cNvSpPr/>
          <p:nvPr/>
        </p:nvSpPr>
        <p:spPr>
          <a:xfrm>
            <a:off x="3515439" y="2208967"/>
            <a:ext cx="10701457" cy="189071"/>
          </a:xfrm>
          <a:prstGeom prst="rect">
            <a:avLst/>
          </a:prstGeom>
          <a:noFill/>
          <a:ln/>
        </p:spPr>
        <p:txBody>
          <a:bodyPr wrap="none" lIns="0" tIns="0" rIns="0" bIns="0" rtlCol="0" anchor="t"/>
          <a:lstStyle/>
          <a:p>
            <a:pPr marL="0" indent="0" algn="l">
              <a:lnSpc>
                <a:spcPts val="1450"/>
              </a:lnSpc>
              <a:buNone/>
            </a:pPr>
            <a:r>
              <a:rPr lang="en-US" sz="900" dirty="0">
                <a:solidFill>
                  <a:srgbClr val="C9C9C0"/>
                </a:solidFill>
                <a:latin typeface="Tomorrow" pitchFamily="34" charset="0"/>
                <a:ea typeface="Tomorrow" pitchFamily="34" charset="-122"/>
                <a:cs typeface="Tomorrow" pitchFamily="34" charset="-120"/>
              </a:rPr>
              <a:t>Rural religious community that resisted government forces until its destruction in 1897, symbolizing the conflict between traditional ways of life and modernization.</a:t>
            </a:r>
            <a:endParaRPr lang="en-US" sz="900" dirty="0"/>
          </a:p>
        </p:txBody>
      </p:sp>
      <p:pic>
        <p:nvPicPr>
          <p:cNvPr id="8" name="Image 1" descr="preencoded.png"/>
          <p:cNvPicPr>
            <a:picLocks noChangeAspect="1"/>
          </p:cNvPicPr>
          <p:nvPr/>
        </p:nvPicPr>
        <p:blipFill>
          <a:blip r:embed="rId4"/>
          <a:stretch>
            <a:fillRect/>
          </a:stretch>
        </p:blipFill>
        <p:spPr>
          <a:xfrm>
            <a:off x="413504" y="4015621"/>
            <a:ext cx="2954298" cy="1825823"/>
          </a:xfrm>
          <a:prstGeom prst="rect">
            <a:avLst/>
          </a:prstGeom>
        </p:spPr>
      </p:pic>
      <p:sp>
        <p:nvSpPr>
          <p:cNvPr id="9" name="Text 5"/>
          <p:cNvSpPr/>
          <p:nvPr/>
        </p:nvSpPr>
        <p:spPr>
          <a:xfrm>
            <a:off x="3515439" y="4015621"/>
            <a:ext cx="1574721" cy="184666"/>
          </a:xfrm>
          <a:prstGeom prst="rect">
            <a:avLst/>
          </a:prstGeom>
          <a:noFill/>
          <a:ln/>
        </p:spPr>
        <p:txBody>
          <a:bodyPr wrap="none" lIns="0" tIns="0" rIns="0" bIns="0" rtlCol="0" anchor="t"/>
          <a:lstStyle/>
          <a:p>
            <a:pPr marL="0" indent="0" algn="l">
              <a:lnSpc>
                <a:spcPts val="1450"/>
              </a:lnSpc>
              <a:buNone/>
            </a:pPr>
            <a:r>
              <a:rPr lang="en-US" sz="1150" dirty="0">
                <a:solidFill>
                  <a:srgbClr val="C9C9C0"/>
                </a:solidFill>
                <a:latin typeface="Tomorrow Semi Bold" pitchFamily="34" charset="0"/>
                <a:ea typeface="Tomorrow Semi Bold" pitchFamily="34" charset="-122"/>
                <a:cs typeface="Tomorrow Semi Bold" pitchFamily="34" charset="-120"/>
              </a:rPr>
              <a:t>Feminist Movements</a:t>
            </a:r>
            <a:endParaRPr lang="en-US" sz="1150" dirty="0"/>
          </a:p>
        </p:txBody>
      </p:sp>
      <p:sp>
        <p:nvSpPr>
          <p:cNvPr id="10" name="Text 6"/>
          <p:cNvSpPr/>
          <p:nvPr/>
        </p:nvSpPr>
        <p:spPr>
          <a:xfrm>
            <a:off x="3515439" y="4271129"/>
            <a:ext cx="10701457" cy="189071"/>
          </a:xfrm>
          <a:prstGeom prst="rect">
            <a:avLst/>
          </a:prstGeom>
          <a:noFill/>
          <a:ln/>
        </p:spPr>
        <p:txBody>
          <a:bodyPr wrap="none" lIns="0" tIns="0" rIns="0" bIns="0" rtlCol="0" anchor="t"/>
          <a:lstStyle/>
          <a:p>
            <a:pPr marL="0" indent="0" algn="l">
              <a:lnSpc>
                <a:spcPts val="1450"/>
              </a:lnSpc>
              <a:buNone/>
            </a:pPr>
            <a:r>
              <a:rPr lang="en-US" sz="900" dirty="0">
                <a:solidFill>
                  <a:srgbClr val="C9C9C0"/>
                </a:solidFill>
                <a:latin typeface="Tomorrow" pitchFamily="34" charset="0"/>
                <a:ea typeface="Tomorrow" pitchFamily="34" charset="-122"/>
                <a:cs typeface="Tomorrow" pitchFamily="34" charset="-120"/>
              </a:rPr>
              <a:t>Early feminist leaders like Bertha Lutz organized for women's suffrage and education rights, adapting international feminist ideas to Latin American contexts.</a:t>
            </a:r>
            <a:endParaRPr lang="en-US" sz="900" dirty="0"/>
          </a:p>
        </p:txBody>
      </p:sp>
      <p:pic>
        <p:nvPicPr>
          <p:cNvPr id="11" name="Image 2" descr="preencoded.png"/>
          <p:cNvPicPr>
            <a:picLocks noChangeAspect="1"/>
          </p:cNvPicPr>
          <p:nvPr/>
        </p:nvPicPr>
        <p:blipFill>
          <a:blip r:embed="rId5"/>
          <a:stretch>
            <a:fillRect/>
          </a:stretch>
        </p:blipFill>
        <p:spPr>
          <a:xfrm>
            <a:off x="413504" y="6077783"/>
            <a:ext cx="2954298" cy="1825823"/>
          </a:xfrm>
          <a:prstGeom prst="rect">
            <a:avLst/>
          </a:prstGeom>
        </p:spPr>
      </p:pic>
      <p:sp>
        <p:nvSpPr>
          <p:cNvPr id="12" name="Text 7"/>
          <p:cNvSpPr/>
          <p:nvPr/>
        </p:nvSpPr>
        <p:spPr>
          <a:xfrm>
            <a:off x="3515439" y="6077783"/>
            <a:ext cx="1725811" cy="184666"/>
          </a:xfrm>
          <a:prstGeom prst="rect">
            <a:avLst/>
          </a:prstGeom>
          <a:noFill/>
          <a:ln/>
        </p:spPr>
        <p:txBody>
          <a:bodyPr wrap="none" lIns="0" tIns="0" rIns="0" bIns="0" rtlCol="0" anchor="t"/>
          <a:lstStyle/>
          <a:p>
            <a:pPr marL="0" indent="0" algn="l">
              <a:lnSpc>
                <a:spcPts val="1450"/>
              </a:lnSpc>
              <a:buNone/>
            </a:pPr>
            <a:r>
              <a:rPr lang="en-US" sz="1150" dirty="0">
                <a:solidFill>
                  <a:srgbClr val="C9C9C0"/>
                </a:solidFill>
                <a:latin typeface="Tomorrow Semi Bold" pitchFamily="34" charset="0"/>
                <a:ea typeface="Tomorrow Semi Bold" pitchFamily="34" charset="-122"/>
                <a:cs typeface="Tomorrow Semi Bold" pitchFamily="34" charset="-120"/>
              </a:rPr>
              <a:t>Indigenous Resistance</a:t>
            </a:r>
            <a:endParaRPr lang="en-US" sz="1150" dirty="0"/>
          </a:p>
        </p:txBody>
      </p:sp>
      <p:sp>
        <p:nvSpPr>
          <p:cNvPr id="13" name="Text 8"/>
          <p:cNvSpPr/>
          <p:nvPr/>
        </p:nvSpPr>
        <p:spPr>
          <a:xfrm>
            <a:off x="3515439" y="6333292"/>
            <a:ext cx="10701457" cy="189071"/>
          </a:xfrm>
          <a:prstGeom prst="rect">
            <a:avLst/>
          </a:prstGeom>
          <a:noFill/>
          <a:ln/>
        </p:spPr>
        <p:txBody>
          <a:bodyPr wrap="none" lIns="0" tIns="0" rIns="0" bIns="0" rtlCol="0" anchor="t"/>
          <a:lstStyle/>
          <a:p>
            <a:pPr marL="0" indent="0" algn="l">
              <a:lnSpc>
                <a:spcPts val="1450"/>
              </a:lnSpc>
              <a:buNone/>
            </a:pPr>
            <a:r>
              <a:rPr lang="en-US" sz="900" dirty="0">
                <a:solidFill>
                  <a:srgbClr val="C9C9C0"/>
                </a:solidFill>
                <a:latin typeface="Tomorrow" pitchFamily="34" charset="0"/>
                <a:ea typeface="Tomorrow" pitchFamily="34" charset="-122"/>
                <a:cs typeface="Tomorrow" pitchFamily="34" charset="-120"/>
              </a:rPr>
              <a:t>Throughout the region, indigenous communities organized to protect their lands and cultures from encroachment by expanding export economies.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41628" y="651986"/>
            <a:ext cx="7731085" cy="572929"/>
          </a:xfrm>
          <a:prstGeom prst="rect">
            <a:avLst/>
          </a:prstGeom>
          <a:noFill/>
          <a:ln/>
        </p:spPr>
        <p:txBody>
          <a:bodyPr wrap="none" lIns="0" tIns="0" rIns="0" bIns="0" rtlCol="0" anchor="t"/>
          <a:lstStyle/>
          <a:p>
            <a:pPr marL="0" indent="0" algn="l">
              <a:lnSpc>
                <a:spcPts val="4500"/>
              </a:lnSpc>
              <a:buNone/>
            </a:pPr>
            <a:r>
              <a:rPr lang="en-US" sz="3850" dirty="0">
                <a:solidFill>
                  <a:srgbClr val="EDEDE8"/>
                </a:solidFill>
                <a:latin typeface="Tomorrow Semi Bold" pitchFamily="34" charset="0"/>
                <a:ea typeface="Tomorrow Semi Bold" pitchFamily="34" charset="-122"/>
                <a:cs typeface="Tomorrow Semi Bold" pitchFamily="34" charset="-120"/>
              </a:rPr>
              <a:t>U.S. Hegemony and the 1898 War</a:t>
            </a:r>
            <a:endParaRPr lang="en-US" sz="3850" dirty="0"/>
          </a:p>
        </p:txBody>
      </p:sp>
      <p:sp>
        <p:nvSpPr>
          <p:cNvPr id="3" name="Text 1"/>
          <p:cNvSpPr/>
          <p:nvPr/>
        </p:nvSpPr>
        <p:spPr>
          <a:xfrm>
            <a:off x="641628" y="1334810"/>
            <a:ext cx="13347144" cy="586740"/>
          </a:xfrm>
          <a:prstGeom prst="rect">
            <a:avLst/>
          </a:prstGeom>
          <a:noFill/>
          <a:ln/>
        </p:spPr>
        <p:txBody>
          <a:bodyPr wrap="square" lIns="0" tIns="0" rIns="0" bIns="0" rtlCol="0" anchor="t"/>
          <a:lstStyle/>
          <a:p>
            <a:pPr marL="0" indent="0" algn="l">
              <a:lnSpc>
                <a:spcPts val="2300"/>
              </a:lnSpc>
              <a:buNone/>
            </a:pPr>
            <a:r>
              <a:rPr lang="en-US" sz="1750" dirty="0">
                <a:solidFill>
                  <a:srgbClr val="C9C9C0"/>
                </a:solidFill>
                <a:latin typeface="Tomorrow" pitchFamily="34" charset="0"/>
                <a:ea typeface="Tomorrow" pitchFamily="34" charset="-122"/>
                <a:cs typeface="Tomorrow" pitchFamily="34" charset="-120"/>
              </a:rPr>
              <a:t>U.S. power gradually overtook Britain's influence in Latin America, beginning dramatically with the Spanish-American War of 1898. This conflict resulted in the United States seizing Cuba, Puerto Rico, and the Philippines, establishing its imperial presence in the region.</a:t>
            </a:r>
            <a:endParaRPr lang="en-US" sz="1750" dirty="0"/>
          </a:p>
        </p:txBody>
      </p:sp>
      <p:sp>
        <p:nvSpPr>
          <p:cNvPr id="4" name="Text 2"/>
          <p:cNvSpPr/>
          <p:nvPr/>
        </p:nvSpPr>
        <p:spPr>
          <a:xfrm>
            <a:off x="641628" y="2357385"/>
            <a:ext cx="13347144" cy="586740"/>
          </a:xfrm>
          <a:prstGeom prst="rect">
            <a:avLst/>
          </a:prstGeom>
          <a:noFill/>
          <a:ln/>
        </p:spPr>
        <p:txBody>
          <a:bodyPr wrap="square" lIns="0" tIns="0" rIns="0" bIns="0" rtlCol="0" anchor="t"/>
          <a:lstStyle/>
          <a:p>
            <a:pPr marL="0" indent="0" algn="l">
              <a:lnSpc>
                <a:spcPts val="2300"/>
              </a:lnSpc>
              <a:buNone/>
            </a:pPr>
            <a:r>
              <a:rPr lang="en-US" sz="1750" dirty="0">
                <a:solidFill>
                  <a:srgbClr val="C9C9C0"/>
                </a:solidFill>
                <a:latin typeface="Tomorrow" pitchFamily="34" charset="0"/>
                <a:ea typeface="Tomorrow" pitchFamily="34" charset="-122"/>
                <a:cs typeface="Tomorrow" pitchFamily="34" charset="-120"/>
              </a:rPr>
              <a:t>The Platt Amendment effectively made Cuba a U.S. protectorate, while Roosevelt's Corollary to the Monroe Doctrine provided justification for repeated U.S. military interventions across the Caribbean and Central America. These policies established U.S. hegemony that would last throughout the 20th century.</a:t>
            </a:r>
            <a:endParaRPr lang="en-US" sz="1750" dirty="0"/>
          </a:p>
        </p:txBody>
      </p:sp>
      <p:pic>
        <p:nvPicPr>
          <p:cNvPr id="5" name="Image 0" descr="preencoded.png"/>
          <p:cNvPicPr>
            <a:picLocks noChangeAspect="1"/>
          </p:cNvPicPr>
          <p:nvPr/>
        </p:nvPicPr>
        <p:blipFill>
          <a:blip r:embed="rId3"/>
          <a:stretch>
            <a:fillRect/>
          </a:stretch>
        </p:blipFill>
        <p:spPr>
          <a:xfrm>
            <a:off x="641628" y="3563197"/>
            <a:ext cx="916662" cy="1100018"/>
          </a:xfrm>
          <a:prstGeom prst="rect">
            <a:avLst/>
          </a:prstGeom>
        </p:spPr>
      </p:pic>
      <p:sp>
        <p:nvSpPr>
          <p:cNvPr id="6" name="Text 3"/>
          <p:cNvSpPr/>
          <p:nvPr/>
        </p:nvSpPr>
        <p:spPr>
          <a:xfrm>
            <a:off x="1833205" y="3746434"/>
            <a:ext cx="3516154" cy="286464"/>
          </a:xfrm>
          <a:prstGeom prst="rect">
            <a:avLst/>
          </a:prstGeom>
          <a:noFill/>
          <a:ln/>
        </p:spPr>
        <p:txBody>
          <a:bodyPr wrap="none" lIns="0" tIns="0" rIns="0" bIns="0" rtlCol="0" anchor="t"/>
          <a:lstStyle/>
          <a:p>
            <a:pPr marL="0" indent="0" algn="l">
              <a:lnSpc>
                <a:spcPts val="2250"/>
              </a:lnSpc>
              <a:buNone/>
            </a:pPr>
            <a:r>
              <a:rPr lang="en-US" sz="1800" dirty="0">
                <a:solidFill>
                  <a:srgbClr val="C9C9C0"/>
                </a:solidFill>
                <a:latin typeface="Tomorrow Semi Bold" pitchFamily="34" charset="0"/>
                <a:ea typeface="Tomorrow Semi Bold" pitchFamily="34" charset="-122"/>
                <a:cs typeface="Tomorrow Semi Bold" pitchFamily="34" charset="-120"/>
              </a:rPr>
              <a:t>Spanish-American War (1898)</a:t>
            </a:r>
            <a:endParaRPr lang="en-US" sz="1800" dirty="0"/>
          </a:p>
        </p:txBody>
      </p:sp>
      <p:sp>
        <p:nvSpPr>
          <p:cNvPr id="7" name="Text 4"/>
          <p:cNvSpPr/>
          <p:nvPr/>
        </p:nvSpPr>
        <p:spPr>
          <a:xfrm>
            <a:off x="1833205" y="4142793"/>
            <a:ext cx="12155567" cy="293370"/>
          </a:xfrm>
          <a:prstGeom prst="rect">
            <a:avLst/>
          </a:prstGeom>
          <a:noFill/>
          <a:ln/>
        </p:spPr>
        <p:txBody>
          <a:bodyPr wrap="none" lIns="0" tIns="0" rIns="0" bIns="0" rtlCol="0" anchor="t"/>
          <a:lstStyle/>
          <a:p>
            <a:pPr marL="0" indent="0" algn="l">
              <a:lnSpc>
                <a:spcPts val="2300"/>
              </a:lnSpc>
              <a:buNone/>
            </a:pPr>
            <a:r>
              <a:rPr lang="en-US" sz="1400" dirty="0">
                <a:solidFill>
                  <a:srgbClr val="C9C9C0"/>
                </a:solidFill>
                <a:latin typeface="Tomorrow" pitchFamily="34" charset="0"/>
                <a:ea typeface="Tomorrow" pitchFamily="34" charset="-122"/>
                <a:cs typeface="Tomorrow" pitchFamily="34" charset="-120"/>
              </a:rPr>
              <a:t>U.S. defeated Spain and seized Cuba, Puerto Rico, and the Philippines</a:t>
            </a:r>
            <a:endParaRPr lang="en-US" sz="1400" dirty="0"/>
          </a:p>
        </p:txBody>
      </p:sp>
      <p:pic>
        <p:nvPicPr>
          <p:cNvPr id="8" name="Image 1" descr="preencoded.png"/>
          <p:cNvPicPr>
            <a:picLocks noChangeAspect="1"/>
          </p:cNvPicPr>
          <p:nvPr/>
        </p:nvPicPr>
        <p:blipFill>
          <a:blip r:embed="rId4"/>
          <a:stretch>
            <a:fillRect/>
          </a:stretch>
        </p:blipFill>
        <p:spPr>
          <a:xfrm>
            <a:off x="641628" y="4663215"/>
            <a:ext cx="916662" cy="1100018"/>
          </a:xfrm>
          <a:prstGeom prst="rect">
            <a:avLst/>
          </a:prstGeom>
        </p:spPr>
      </p:pic>
      <p:sp>
        <p:nvSpPr>
          <p:cNvPr id="9" name="Text 5"/>
          <p:cNvSpPr/>
          <p:nvPr/>
        </p:nvSpPr>
        <p:spPr>
          <a:xfrm>
            <a:off x="1833205" y="4846453"/>
            <a:ext cx="2799159" cy="286464"/>
          </a:xfrm>
          <a:prstGeom prst="rect">
            <a:avLst/>
          </a:prstGeom>
          <a:noFill/>
          <a:ln/>
        </p:spPr>
        <p:txBody>
          <a:bodyPr wrap="none" lIns="0" tIns="0" rIns="0" bIns="0" rtlCol="0" anchor="t"/>
          <a:lstStyle/>
          <a:p>
            <a:pPr marL="0" indent="0" algn="l">
              <a:lnSpc>
                <a:spcPts val="2250"/>
              </a:lnSpc>
              <a:buNone/>
            </a:pPr>
            <a:r>
              <a:rPr lang="en-US" sz="1800" dirty="0">
                <a:solidFill>
                  <a:srgbClr val="C9C9C0"/>
                </a:solidFill>
                <a:latin typeface="Tomorrow Semi Bold" pitchFamily="34" charset="0"/>
                <a:ea typeface="Tomorrow Semi Bold" pitchFamily="34" charset="-122"/>
                <a:cs typeface="Tomorrow Semi Bold" pitchFamily="34" charset="-120"/>
              </a:rPr>
              <a:t>Platt Amendment (1901)</a:t>
            </a:r>
            <a:endParaRPr lang="en-US" sz="1800" dirty="0"/>
          </a:p>
        </p:txBody>
      </p:sp>
      <p:sp>
        <p:nvSpPr>
          <p:cNvPr id="10" name="Text 6"/>
          <p:cNvSpPr/>
          <p:nvPr/>
        </p:nvSpPr>
        <p:spPr>
          <a:xfrm>
            <a:off x="1833205" y="5242812"/>
            <a:ext cx="12155567" cy="293370"/>
          </a:xfrm>
          <a:prstGeom prst="rect">
            <a:avLst/>
          </a:prstGeom>
          <a:noFill/>
          <a:ln/>
        </p:spPr>
        <p:txBody>
          <a:bodyPr wrap="none" lIns="0" tIns="0" rIns="0" bIns="0" rtlCol="0" anchor="t"/>
          <a:lstStyle/>
          <a:p>
            <a:pPr marL="0" indent="0" algn="l">
              <a:lnSpc>
                <a:spcPts val="2300"/>
              </a:lnSpc>
              <a:buNone/>
            </a:pPr>
            <a:r>
              <a:rPr lang="en-US" sz="1400" dirty="0">
                <a:solidFill>
                  <a:srgbClr val="C9C9C0"/>
                </a:solidFill>
                <a:latin typeface="Tomorrow" pitchFamily="34" charset="0"/>
                <a:ea typeface="Tomorrow" pitchFamily="34" charset="-122"/>
                <a:cs typeface="Tomorrow" pitchFamily="34" charset="-120"/>
              </a:rPr>
              <a:t>Limited Cuban sovereignty and gave U.S. right to intervene militarily</a:t>
            </a:r>
            <a:endParaRPr lang="en-US" sz="1400" dirty="0"/>
          </a:p>
        </p:txBody>
      </p:sp>
      <p:pic>
        <p:nvPicPr>
          <p:cNvPr id="11" name="Image 2" descr="preencoded.png"/>
          <p:cNvPicPr>
            <a:picLocks noChangeAspect="1"/>
          </p:cNvPicPr>
          <p:nvPr/>
        </p:nvPicPr>
        <p:blipFill>
          <a:blip r:embed="rId5"/>
          <a:stretch>
            <a:fillRect/>
          </a:stretch>
        </p:blipFill>
        <p:spPr>
          <a:xfrm>
            <a:off x="641628" y="5763234"/>
            <a:ext cx="916662" cy="1100018"/>
          </a:xfrm>
          <a:prstGeom prst="rect">
            <a:avLst/>
          </a:prstGeom>
        </p:spPr>
      </p:pic>
      <p:sp>
        <p:nvSpPr>
          <p:cNvPr id="12" name="Text 7"/>
          <p:cNvSpPr/>
          <p:nvPr/>
        </p:nvSpPr>
        <p:spPr>
          <a:xfrm>
            <a:off x="1833205" y="5946471"/>
            <a:ext cx="3076813" cy="286464"/>
          </a:xfrm>
          <a:prstGeom prst="rect">
            <a:avLst/>
          </a:prstGeom>
          <a:noFill/>
          <a:ln/>
        </p:spPr>
        <p:txBody>
          <a:bodyPr wrap="none" lIns="0" tIns="0" rIns="0" bIns="0" rtlCol="0" anchor="t"/>
          <a:lstStyle/>
          <a:p>
            <a:pPr marL="0" indent="0" algn="l">
              <a:lnSpc>
                <a:spcPts val="2250"/>
              </a:lnSpc>
              <a:buNone/>
            </a:pPr>
            <a:r>
              <a:rPr lang="en-US" sz="1800" dirty="0">
                <a:solidFill>
                  <a:srgbClr val="C9C9C0"/>
                </a:solidFill>
                <a:latin typeface="Tomorrow Semi Bold" pitchFamily="34" charset="0"/>
                <a:ea typeface="Tomorrow Semi Bold" pitchFamily="34" charset="-122"/>
                <a:cs typeface="Tomorrow Semi Bold" pitchFamily="34" charset="-120"/>
              </a:rPr>
              <a:t>Roosevelt Corollary (1904)</a:t>
            </a:r>
            <a:endParaRPr lang="en-US" sz="1800" dirty="0"/>
          </a:p>
        </p:txBody>
      </p:sp>
      <p:sp>
        <p:nvSpPr>
          <p:cNvPr id="13" name="Text 8"/>
          <p:cNvSpPr/>
          <p:nvPr/>
        </p:nvSpPr>
        <p:spPr>
          <a:xfrm>
            <a:off x="1833205" y="6342830"/>
            <a:ext cx="12155567" cy="293370"/>
          </a:xfrm>
          <a:prstGeom prst="rect">
            <a:avLst/>
          </a:prstGeom>
          <a:noFill/>
          <a:ln/>
        </p:spPr>
        <p:txBody>
          <a:bodyPr wrap="none" lIns="0" tIns="0" rIns="0" bIns="0" rtlCol="0" anchor="t"/>
          <a:lstStyle/>
          <a:p>
            <a:pPr marL="0" indent="0" algn="l">
              <a:lnSpc>
                <a:spcPts val="2300"/>
              </a:lnSpc>
              <a:buNone/>
            </a:pPr>
            <a:r>
              <a:rPr lang="en-US" sz="1400" dirty="0">
                <a:solidFill>
                  <a:srgbClr val="C9C9C0"/>
                </a:solidFill>
                <a:latin typeface="Tomorrow" pitchFamily="34" charset="0"/>
                <a:ea typeface="Tomorrow" pitchFamily="34" charset="-122"/>
                <a:cs typeface="Tomorrow" pitchFamily="34" charset="-120"/>
              </a:rPr>
              <a:t>Claimed U.S. right to exercise "international police power" in Latin America</a:t>
            </a:r>
            <a:endParaRPr lang="en-US" sz="1400" dirty="0"/>
          </a:p>
        </p:txBody>
      </p:sp>
      <p:pic>
        <p:nvPicPr>
          <p:cNvPr id="14" name="Image 3" descr="preencoded.png"/>
          <p:cNvPicPr>
            <a:picLocks noChangeAspect="1"/>
          </p:cNvPicPr>
          <p:nvPr/>
        </p:nvPicPr>
        <p:blipFill>
          <a:blip r:embed="rId6"/>
          <a:stretch>
            <a:fillRect/>
          </a:stretch>
        </p:blipFill>
        <p:spPr>
          <a:xfrm>
            <a:off x="641628" y="6863252"/>
            <a:ext cx="916662" cy="1100018"/>
          </a:xfrm>
          <a:prstGeom prst="rect">
            <a:avLst/>
          </a:prstGeom>
        </p:spPr>
      </p:pic>
      <p:sp>
        <p:nvSpPr>
          <p:cNvPr id="15" name="Text 9"/>
          <p:cNvSpPr/>
          <p:nvPr/>
        </p:nvSpPr>
        <p:spPr>
          <a:xfrm>
            <a:off x="1833205" y="7046489"/>
            <a:ext cx="2526744" cy="286464"/>
          </a:xfrm>
          <a:prstGeom prst="rect">
            <a:avLst/>
          </a:prstGeom>
          <a:noFill/>
          <a:ln/>
        </p:spPr>
        <p:txBody>
          <a:bodyPr wrap="none" lIns="0" tIns="0" rIns="0" bIns="0" rtlCol="0" anchor="t"/>
          <a:lstStyle/>
          <a:p>
            <a:pPr marL="0" indent="0" algn="l">
              <a:lnSpc>
                <a:spcPts val="2250"/>
              </a:lnSpc>
              <a:buNone/>
            </a:pPr>
            <a:r>
              <a:rPr lang="en-US" sz="1800" dirty="0">
                <a:solidFill>
                  <a:srgbClr val="C9C9C0"/>
                </a:solidFill>
                <a:latin typeface="Tomorrow Semi Bold" pitchFamily="34" charset="0"/>
                <a:ea typeface="Tomorrow Semi Bold" pitchFamily="34" charset="-122"/>
                <a:cs typeface="Tomorrow Semi Bold" pitchFamily="34" charset="-120"/>
              </a:rPr>
              <a:t>Military Interventions</a:t>
            </a:r>
            <a:endParaRPr lang="en-US" sz="1800" dirty="0"/>
          </a:p>
        </p:txBody>
      </p:sp>
      <p:sp>
        <p:nvSpPr>
          <p:cNvPr id="16" name="Text 10"/>
          <p:cNvSpPr/>
          <p:nvPr/>
        </p:nvSpPr>
        <p:spPr>
          <a:xfrm>
            <a:off x="1833205" y="7442849"/>
            <a:ext cx="12155567" cy="293370"/>
          </a:xfrm>
          <a:prstGeom prst="rect">
            <a:avLst/>
          </a:prstGeom>
          <a:noFill/>
          <a:ln/>
        </p:spPr>
        <p:txBody>
          <a:bodyPr wrap="none" lIns="0" tIns="0" rIns="0" bIns="0" rtlCol="0" anchor="t"/>
          <a:lstStyle/>
          <a:p>
            <a:pPr marL="0" indent="0" algn="l">
              <a:lnSpc>
                <a:spcPts val="2300"/>
              </a:lnSpc>
              <a:buNone/>
            </a:pPr>
            <a:r>
              <a:rPr lang="en-US" sz="1400" dirty="0">
                <a:solidFill>
                  <a:srgbClr val="C9C9C0"/>
                </a:solidFill>
                <a:latin typeface="Tomorrow" pitchFamily="34" charset="0"/>
                <a:ea typeface="Tomorrow" pitchFamily="34" charset="-122"/>
                <a:cs typeface="Tomorrow" pitchFamily="34" charset="-120"/>
              </a:rPr>
              <a:t>U.S. forces occupied numerous countries including Nicaragua, Haiti, and Dominican Republic</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80085" y="534352"/>
            <a:ext cx="10449520" cy="607219"/>
          </a:xfrm>
          <a:prstGeom prst="rect">
            <a:avLst/>
          </a:prstGeom>
          <a:noFill/>
          <a:ln/>
        </p:spPr>
        <p:txBody>
          <a:bodyPr wrap="none" lIns="0" tIns="0" rIns="0" bIns="0" rtlCol="0" anchor="t"/>
          <a:lstStyle/>
          <a:p>
            <a:pPr marL="0" indent="0" algn="l">
              <a:lnSpc>
                <a:spcPts val="4750"/>
              </a:lnSpc>
              <a:buNone/>
            </a:pPr>
            <a:r>
              <a:rPr lang="en-US" sz="3800" dirty="0">
                <a:solidFill>
                  <a:srgbClr val="EDEDE8"/>
                </a:solidFill>
                <a:latin typeface="Tomorrow Semi Bold" pitchFamily="34" charset="0"/>
                <a:ea typeface="Tomorrow Semi Bold" pitchFamily="34" charset="-122"/>
                <a:cs typeface="Tomorrow Semi Bold" pitchFamily="34" charset="-120"/>
              </a:rPr>
              <a:t>Cultural Dependence and the End of an Era</a:t>
            </a:r>
            <a:endParaRPr lang="en-US" sz="3800" dirty="0"/>
          </a:p>
        </p:txBody>
      </p:sp>
      <p:sp>
        <p:nvSpPr>
          <p:cNvPr id="3" name="Text 1"/>
          <p:cNvSpPr/>
          <p:nvPr/>
        </p:nvSpPr>
        <p:spPr>
          <a:xfrm>
            <a:off x="680085" y="1530191"/>
            <a:ext cx="13270230" cy="932617"/>
          </a:xfrm>
          <a:prstGeom prst="rect">
            <a:avLst/>
          </a:prstGeom>
          <a:noFill/>
          <a:ln/>
        </p:spPr>
        <p:txBody>
          <a:bodyPr wrap="square" lIns="0" tIns="0" rIns="0" bIns="0" rtlCol="0" anchor="t"/>
          <a:lstStyle/>
          <a:p>
            <a:pPr marL="0" indent="0" algn="l">
              <a:lnSpc>
                <a:spcPts val="2400"/>
              </a:lnSpc>
              <a:buNone/>
            </a:pPr>
            <a:r>
              <a:rPr lang="en-US" sz="1750" dirty="0">
                <a:solidFill>
                  <a:srgbClr val="C9C9C0"/>
                </a:solidFill>
                <a:latin typeface="Tomorrow" pitchFamily="34" charset="0"/>
                <a:ea typeface="Tomorrow" pitchFamily="34" charset="-122"/>
                <a:cs typeface="Tomorrow" pitchFamily="34" charset="-120"/>
              </a:rPr>
              <a:t>Neocolonialism wasn't just economic—it profoundly shaped Latin American culture and identity. Cities adopted European fashion, architecture, and entertainment, while U.S. cinema dominated screens. By 1920, an astonishing 95% of movies shown in Latin America came from Hollywood, spreading American cultural influence.</a:t>
            </a:r>
            <a:endParaRPr lang="en-US" sz="1750" dirty="0"/>
          </a:p>
        </p:txBody>
      </p:sp>
      <p:sp>
        <p:nvSpPr>
          <p:cNvPr id="4" name="Text 2"/>
          <p:cNvSpPr/>
          <p:nvPr/>
        </p:nvSpPr>
        <p:spPr>
          <a:xfrm>
            <a:off x="680085" y="2681407"/>
            <a:ext cx="13270230" cy="1243489"/>
          </a:xfrm>
          <a:prstGeom prst="rect">
            <a:avLst/>
          </a:prstGeom>
          <a:noFill/>
          <a:ln/>
        </p:spPr>
        <p:txBody>
          <a:bodyPr wrap="square" lIns="0" tIns="0" rIns="0" bIns="0" rtlCol="0" anchor="t"/>
          <a:lstStyle/>
          <a:p>
            <a:pPr marL="0" indent="0" algn="l">
              <a:lnSpc>
                <a:spcPts val="2400"/>
              </a:lnSpc>
              <a:buNone/>
            </a:pPr>
            <a:r>
              <a:rPr lang="en-US" sz="1750" dirty="0">
                <a:solidFill>
                  <a:srgbClr val="C9C9C0"/>
                </a:solidFill>
                <a:latin typeface="Tomorrow" pitchFamily="34" charset="0"/>
                <a:ea typeface="Tomorrow" pitchFamily="34" charset="-122"/>
                <a:cs typeface="Tomorrow" pitchFamily="34" charset="-120"/>
              </a:rPr>
              <a:t>Writers like Rubén Darío, José Martí, and José Enrique Rodó warned against uncritical acceptance of foreign influence, especially from the United States. However, the entire neocolonial system collapsed with the Great Depression in 1929, as demand for exports plummeted and capital flows stopped. This economic catastrophe shattered the legitimacy of oligarchies and dictatorships, setting the stage for nationalist movements to rise across the region.</a:t>
            </a:r>
            <a:endParaRPr lang="en-US" sz="1750" dirty="0"/>
          </a:p>
        </p:txBody>
      </p:sp>
      <p:sp>
        <p:nvSpPr>
          <p:cNvPr id="5" name="Shape 3"/>
          <p:cNvSpPr/>
          <p:nvPr/>
        </p:nvSpPr>
        <p:spPr>
          <a:xfrm>
            <a:off x="680085" y="4143494"/>
            <a:ext cx="2211586" cy="1119664"/>
          </a:xfrm>
          <a:prstGeom prst="roundRect">
            <a:avLst>
              <a:gd name="adj" fmla="val 2603"/>
            </a:avLst>
          </a:prstGeom>
          <a:solidFill>
            <a:srgbClr val="3C3C3A"/>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1649254" y="4532590"/>
            <a:ext cx="273248" cy="341471"/>
          </a:xfrm>
          <a:prstGeom prst="rect">
            <a:avLst/>
          </a:prstGeom>
        </p:spPr>
      </p:pic>
      <p:sp>
        <p:nvSpPr>
          <p:cNvPr id="7" name="Text 4"/>
          <p:cNvSpPr/>
          <p:nvPr/>
        </p:nvSpPr>
        <p:spPr>
          <a:xfrm>
            <a:off x="3085981" y="4337804"/>
            <a:ext cx="2428994" cy="303609"/>
          </a:xfrm>
          <a:prstGeom prst="rect">
            <a:avLst/>
          </a:prstGeom>
          <a:noFill/>
          <a:ln/>
        </p:spPr>
        <p:txBody>
          <a:bodyPr wrap="none" lIns="0" tIns="0" rIns="0" bIns="0" rtlCol="0" anchor="t"/>
          <a:lstStyle/>
          <a:p>
            <a:pPr marL="0" indent="0" algn="l">
              <a:lnSpc>
                <a:spcPts val="2350"/>
              </a:lnSpc>
              <a:buNone/>
            </a:pPr>
            <a:r>
              <a:rPr lang="en-US" sz="1900" dirty="0">
                <a:solidFill>
                  <a:srgbClr val="C9C9C0"/>
                </a:solidFill>
                <a:latin typeface="Tomorrow Semi Bold" pitchFamily="34" charset="0"/>
                <a:ea typeface="Tomorrow Semi Bold" pitchFamily="34" charset="-122"/>
                <a:cs typeface="Tomorrow Semi Bold" pitchFamily="34" charset="-120"/>
              </a:rPr>
              <a:t>Economic Collapse</a:t>
            </a:r>
            <a:endParaRPr lang="en-US" sz="1900" dirty="0"/>
          </a:p>
        </p:txBody>
      </p:sp>
      <p:sp>
        <p:nvSpPr>
          <p:cNvPr id="8" name="Text 5"/>
          <p:cNvSpPr/>
          <p:nvPr/>
        </p:nvSpPr>
        <p:spPr>
          <a:xfrm>
            <a:off x="3085981" y="4757976"/>
            <a:ext cx="4413409" cy="310872"/>
          </a:xfrm>
          <a:prstGeom prst="rect">
            <a:avLst/>
          </a:prstGeom>
          <a:noFill/>
          <a:ln/>
        </p:spPr>
        <p:txBody>
          <a:bodyPr wrap="none" lIns="0" tIns="0" rIns="0" bIns="0" rtlCol="0" anchor="t"/>
          <a:lstStyle/>
          <a:p>
            <a:pPr marL="0" indent="0" algn="l">
              <a:lnSpc>
                <a:spcPts val="2400"/>
              </a:lnSpc>
              <a:buNone/>
            </a:pPr>
            <a:r>
              <a:rPr lang="en-US" sz="1500" dirty="0">
                <a:solidFill>
                  <a:srgbClr val="C9C9C0"/>
                </a:solidFill>
                <a:latin typeface="Tomorrow" pitchFamily="34" charset="0"/>
                <a:ea typeface="Tomorrow" pitchFamily="34" charset="-122"/>
                <a:cs typeface="Tomorrow" pitchFamily="34" charset="-120"/>
              </a:rPr>
              <a:t>Great Depression devastated export economies</a:t>
            </a:r>
            <a:endParaRPr lang="en-US" sz="1500" dirty="0"/>
          </a:p>
        </p:txBody>
      </p:sp>
      <p:sp>
        <p:nvSpPr>
          <p:cNvPr id="9" name="Shape 6"/>
          <p:cNvSpPr/>
          <p:nvPr/>
        </p:nvSpPr>
        <p:spPr>
          <a:xfrm>
            <a:off x="2988826" y="5253633"/>
            <a:ext cx="10864334" cy="11430"/>
          </a:xfrm>
          <a:prstGeom prst="roundRect">
            <a:avLst>
              <a:gd name="adj" fmla="val 255022"/>
            </a:avLst>
          </a:prstGeom>
          <a:solidFill>
            <a:srgbClr val="555553"/>
          </a:solidFill>
          <a:ln/>
        </p:spPr>
        <p:txBody>
          <a:bodyPr/>
          <a:lstStyle/>
          <a:p>
            <a:endParaRPr lang="en-US"/>
          </a:p>
        </p:txBody>
      </p:sp>
      <p:sp>
        <p:nvSpPr>
          <p:cNvPr id="10" name="Shape 7"/>
          <p:cNvSpPr/>
          <p:nvPr/>
        </p:nvSpPr>
        <p:spPr>
          <a:xfrm>
            <a:off x="680085" y="5360313"/>
            <a:ext cx="4423291" cy="1119664"/>
          </a:xfrm>
          <a:prstGeom prst="roundRect">
            <a:avLst>
              <a:gd name="adj" fmla="val 2603"/>
            </a:avLst>
          </a:prstGeom>
          <a:solidFill>
            <a:srgbClr val="3C3C3A"/>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2755106" y="5749409"/>
            <a:ext cx="273248" cy="341471"/>
          </a:xfrm>
          <a:prstGeom prst="rect">
            <a:avLst/>
          </a:prstGeom>
        </p:spPr>
      </p:pic>
      <p:sp>
        <p:nvSpPr>
          <p:cNvPr id="12" name="Text 8"/>
          <p:cNvSpPr/>
          <p:nvPr/>
        </p:nvSpPr>
        <p:spPr>
          <a:xfrm>
            <a:off x="5297686" y="5554623"/>
            <a:ext cx="2428994" cy="303609"/>
          </a:xfrm>
          <a:prstGeom prst="rect">
            <a:avLst/>
          </a:prstGeom>
          <a:noFill/>
          <a:ln/>
        </p:spPr>
        <p:txBody>
          <a:bodyPr wrap="none" lIns="0" tIns="0" rIns="0" bIns="0" rtlCol="0" anchor="t"/>
          <a:lstStyle/>
          <a:p>
            <a:pPr marL="0" indent="0" algn="l">
              <a:lnSpc>
                <a:spcPts val="2350"/>
              </a:lnSpc>
              <a:buNone/>
            </a:pPr>
            <a:r>
              <a:rPr lang="en-US" sz="1900" dirty="0">
                <a:solidFill>
                  <a:srgbClr val="C9C9C0"/>
                </a:solidFill>
                <a:latin typeface="Tomorrow Semi Bold" pitchFamily="34" charset="0"/>
                <a:ea typeface="Tomorrow Semi Bold" pitchFamily="34" charset="-122"/>
                <a:cs typeface="Tomorrow Semi Bold" pitchFamily="34" charset="-120"/>
              </a:rPr>
              <a:t>Political Upheaval</a:t>
            </a:r>
            <a:endParaRPr lang="en-US" sz="1900" dirty="0"/>
          </a:p>
        </p:txBody>
      </p:sp>
      <p:sp>
        <p:nvSpPr>
          <p:cNvPr id="13" name="Text 9"/>
          <p:cNvSpPr/>
          <p:nvPr/>
        </p:nvSpPr>
        <p:spPr>
          <a:xfrm>
            <a:off x="5297686" y="5974794"/>
            <a:ext cx="4082772" cy="310872"/>
          </a:xfrm>
          <a:prstGeom prst="rect">
            <a:avLst/>
          </a:prstGeom>
          <a:noFill/>
          <a:ln/>
        </p:spPr>
        <p:txBody>
          <a:bodyPr wrap="none" lIns="0" tIns="0" rIns="0" bIns="0" rtlCol="0" anchor="t"/>
          <a:lstStyle/>
          <a:p>
            <a:pPr marL="0" indent="0" algn="l">
              <a:lnSpc>
                <a:spcPts val="2400"/>
              </a:lnSpc>
              <a:buNone/>
            </a:pPr>
            <a:r>
              <a:rPr lang="en-US" sz="1500" dirty="0">
                <a:solidFill>
                  <a:srgbClr val="C9C9C0"/>
                </a:solidFill>
                <a:latin typeface="Tomorrow" pitchFamily="34" charset="0"/>
                <a:ea typeface="Tomorrow" pitchFamily="34" charset="-122"/>
                <a:cs typeface="Tomorrow" pitchFamily="34" charset="-120"/>
              </a:rPr>
              <a:t>Oligarchies and dictatorships lost legitimacy</a:t>
            </a:r>
            <a:endParaRPr lang="en-US" sz="1500" dirty="0"/>
          </a:p>
        </p:txBody>
      </p:sp>
      <p:sp>
        <p:nvSpPr>
          <p:cNvPr id="14" name="Shape 10"/>
          <p:cNvSpPr/>
          <p:nvPr/>
        </p:nvSpPr>
        <p:spPr>
          <a:xfrm>
            <a:off x="5200531" y="6470452"/>
            <a:ext cx="8652629" cy="11430"/>
          </a:xfrm>
          <a:prstGeom prst="roundRect">
            <a:avLst>
              <a:gd name="adj" fmla="val 255022"/>
            </a:avLst>
          </a:prstGeom>
          <a:solidFill>
            <a:srgbClr val="555553"/>
          </a:solidFill>
          <a:ln/>
        </p:spPr>
        <p:txBody>
          <a:bodyPr/>
          <a:lstStyle/>
          <a:p>
            <a:endParaRPr lang="en-US"/>
          </a:p>
        </p:txBody>
      </p:sp>
      <p:sp>
        <p:nvSpPr>
          <p:cNvPr id="15" name="Shape 11"/>
          <p:cNvSpPr/>
          <p:nvPr/>
        </p:nvSpPr>
        <p:spPr>
          <a:xfrm>
            <a:off x="680085" y="6577132"/>
            <a:ext cx="6635115" cy="1119664"/>
          </a:xfrm>
          <a:prstGeom prst="roundRect">
            <a:avLst>
              <a:gd name="adj" fmla="val 2603"/>
            </a:avLst>
          </a:prstGeom>
          <a:solidFill>
            <a:srgbClr val="3C3C3A"/>
          </a:solidFill>
          <a:ln/>
        </p:spPr>
        <p:txBody>
          <a:bodyPr/>
          <a:lstStyle/>
          <a:p>
            <a:endParaRPr lang="en-US"/>
          </a:p>
        </p:txBody>
      </p:sp>
      <p:pic>
        <p:nvPicPr>
          <p:cNvPr id="16" name="Image 2" descr="preencoded.png"/>
          <p:cNvPicPr>
            <a:picLocks noChangeAspect="1"/>
          </p:cNvPicPr>
          <p:nvPr/>
        </p:nvPicPr>
        <p:blipFill>
          <a:blip r:embed="rId5"/>
          <a:stretch>
            <a:fillRect/>
          </a:stretch>
        </p:blipFill>
        <p:spPr>
          <a:xfrm>
            <a:off x="3860959" y="6966228"/>
            <a:ext cx="273248" cy="341471"/>
          </a:xfrm>
          <a:prstGeom prst="rect">
            <a:avLst/>
          </a:prstGeom>
        </p:spPr>
      </p:pic>
      <p:sp>
        <p:nvSpPr>
          <p:cNvPr id="17" name="Text 12"/>
          <p:cNvSpPr/>
          <p:nvPr/>
        </p:nvSpPr>
        <p:spPr>
          <a:xfrm>
            <a:off x="7509510" y="6771442"/>
            <a:ext cx="2847737" cy="303609"/>
          </a:xfrm>
          <a:prstGeom prst="rect">
            <a:avLst/>
          </a:prstGeom>
          <a:noFill/>
          <a:ln/>
        </p:spPr>
        <p:txBody>
          <a:bodyPr wrap="none" lIns="0" tIns="0" rIns="0" bIns="0" rtlCol="0" anchor="t"/>
          <a:lstStyle/>
          <a:p>
            <a:pPr marL="0" indent="0" algn="l">
              <a:lnSpc>
                <a:spcPts val="2350"/>
              </a:lnSpc>
              <a:buNone/>
            </a:pPr>
            <a:r>
              <a:rPr lang="en-US" sz="1900" dirty="0">
                <a:solidFill>
                  <a:srgbClr val="C9C9C0"/>
                </a:solidFill>
                <a:latin typeface="Tomorrow Semi Bold" pitchFamily="34" charset="0"/>
                <a:ea typeface="Tomorrow Semi Bold" pitchFamily="34" charset="-122"/>
                <a:cs typeface="Tomorrow Semi Bold" pitchFamily="34" charset="-120"/>
              </a:rPr>
              <a:t>Nationalist Movements</a:t>
            </a:r>
            <a:endParaRPr lang="en-US" sz="1900" dirty="0"/>
          </a:p>
        </p:txBody>
      </p:sp>
      <p:sp>
        <p:nvSpPr>
          <p:cNvPr id="18" name="Text 13"/>
          <p:cNvSpPr/>
          <p:nvPr/>
        </p:nvSpPr>
        <p:spPr>
          <a:xfrm>
            <a:off x="7509510" y="7191613"/>
            <a:ext cx="4338638" cy="310872"/>
          </a:xfrm>
          <a:prstGeom prst="rect">
            <a:avLst/>
          </a:prstGeom>
          <a:noFill/>
          <a:ln/>
        </p:spPr>
        <p:txBody>
          <a:bodyPr wrap="none" lIns="0" tIns="0" rIns="0" bIns="0" rtlCol="0" anchor="t"/>
          <a:lstStyle/>
          <a:p>
            <a:pPr marL="0" indent="0" algn="l">
              <a:lnSpc>
                <a:spcPts val="2400"/>
              </a:lnSpc>
              <a:buNone/>
            </a:pPr>
            <a:r>
              <a:rPr lang="en-US" sz="1500" dirty="0">
                <a:solidFill>
                  <a:srgbClr val="C9C9C0"/>
                </a:solidFill>
                <a:latin typeface="Tomorrow" pitchFamily="34" charset="0"/>
                <a:ea typeface="Tomorrow" pitchFamily="34" charset="-122"/>
                <a:cs typeface="Tomorrow" pitchFamily="34" charset="-120"/>
              </a:rPr>
              <a:t>New political forces emerged across the region</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3231</TotalTime>
  <Words>1504</Words>
  <Application>Microsoft Office PowerPoint</Application>
  <PresentationFormat>Personalizado</PresentationFormat>
  <Paragraphs>105</Paragraphs>
  <Slides>10</Slides>
  <Notes>10</Notes>
  <HiddenSlides>1</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10</vt:i4>
      </vt:variant>
    </vt:vector>
  </HeadingPairs>
  <TitlesOfParts>
    <vt:vector size="14" baseType="lpstr">
      <vt:lpstr>Arial</vt:lpstr>
      <vt:lpstr>Tomorrow Semi Bold</vt:lpstr>
      <vt:lpstr>Tomorrow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Claudio Robelo</cp:lastModifiedBy>
  <cp:revision>4</cp:revision>
  <dcterms:created xsi:type="dcterms:W3CDTF">2025-05-10T01:22:10Z</dcterms:created>
  <dcterms:modified xsi:type="dcterms:W3CDTF">2025-05-13T18:39:39Z</dcterms:modified>
</cp:coreProperties>
</file>