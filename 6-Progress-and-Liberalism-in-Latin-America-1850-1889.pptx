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Tomorrow" panose="020B0604020202020204" charset="0"/>
      <p:regular r:id="rId13"/>
    </p:embeddedFont>
    <p:embeddedFont>
      <p:font typeface="Tomorrow Semi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102" y="6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700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F5DBA9FE-DF7E-D2FA-5570-CB736822780B}"/>
              </a:ext>
            </a:extLst>
          </p:cNvPr>
          <p:cNvSpPr/>
          <p:nvPr userDrawn="1"/>
        </p:nvSpPr>
        <p:spPr>
          <a:xfrm>
            <a:off x="0" y="0"/>
            <a:ext cx="14630400" cy="8229600"/>
          </a:xfrm>
          <a:prstGeom prst="rect">
            <a:avLst/>
          </a:prstGeom>
          <a:solidFill>
            <a:srgbClr val="1D1D1B"/>
          </a:solidFill>
          <a:ln/>
        </p:spPr>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1873" y="737354"/>
            <a:ext cx="7740253" cy="1253252"/>
          </a:xfrm>
          <a:prstGeom prst="rect">
            <a:avLst/>
          </a:prstGeom>
          <a:noFill/>
          <a:ln/>
        </p:spPr>
        <p:txBody>
          <a:bodyPr wrap="square" lIns="0" tIns="0" rIns="0" bIns="0" rtlCol="0" anchor="t"/>
          <a:lstStyle/>
          <a:p>
            <a:pPr marL="0" indent="0" algn="l">
              <a:lnSpc>
                <a:spcPts val="4900"/>
              </a:lnSpc>
              <a:buNone/>
            </a:pPr>
            <a:r>
              <a:rPr lang="en-US" sz="3900" dirty="0">
                <a:solidFill>
                  <a:srgbClr val="EDEDE8"/>
                </a:solidFill>
                <a:latin typeface="Tomorrow Semi Bold" pitchFamily="34" charset="0"/>
                <a:ea typeface="Tomorrow Semi Bold" pitchFamily="34" charset="-122"/>
                <a:cs typeface="Tomorrow Semi Bold" pitchFamily="34" charset="-120"/>
              </a:rPr>
              <a:t>Progress and Liberalism in Latin America (1850-1889)</a:t>
            </a:r>
            <a:endParaRPr lang="en-US" sz="3900" dirty="0"/>
          </a:p>
        </p:txBody>
      </p:sp>
      <p:sp>
        <p:nvSpPr>
          <p:cNvPr id="4" name="Text 1"/>
          <p:cNvSpPr/>
          <p:nvPr/>
        </p:nvSpPr>
        <p:spPr>
          <a:xfrm>
            <a:off x="701873" y="2291358"/>
            <a:ext cx="7740253" cy="1283970"/>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The mid-19th century marked a pivotal era in Latin American history, as liberal ideologies resurged against conservative dominance. This period, spanning from 1850 to 1889, witnessed transformative changes across the region as nations embraced the concept of "Progress" with a capital P.</a:t>
            </a:r>
            <a:endParaRPr lang="en-US" sz="1550" dirty="0"/>
          </a:p>
        </p:txBody>
      </p:sp>
      <p:sp>
        <p:nvSpPr>
          <p:cNvPr id="5" name="Text 2"/>
          <p:cNvSpPr/>
          <p:nvPr/>
        </p:nvSpPr>
        <p:spPr>
          <a:xfrm>
            <a:off x="701873" y="3800951"/>
            <a:ext cx="7740253" cy="1604963"/>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Fueled by the Industrial Revolution in Europe and the United States, Latin American liberals championed technological modernization, export economies, and secular governance. However, this liberal resurgence contained contradictions, particularly in its treatment of women, indigenous peoples, and racial minorities.</a:t>
            </a:r>
            <a:endParaRPr lang="en-US" sz="1550" dirty="0"/>
          </a:p>
        </p:txBody>
      </p:sp>
      <p:sp>
        <p:nvSpPr>
          <p:cNvPr id="6" name="Text 3"/>
          <p:cNvSpPr/>
          <p:nvPr/>
        </p:nvSpPr>
        <p:spPr>
          <a:xfrm>
            <a:off x="701873" y="5631537"/>
            <a:ext cx="7740253" cy="1283970"/>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This presentation explores how liberalism reshaped Latin American societies through transportation revolutions, anti-clerical reforms, nationalist movements, and scientific ideologies—revealing both the triumphs and limitations of the liberal project.</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79264"/>
            <a:ext cx="6740843"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The Liberal Resurgence</a:t>
            </a:r>
            <a:endParaRPr lang="en-US" sz="4450" dirty="0"/>
          </a:p>
        </p:txBody>
      </p:sp>
      <p:sp>
        <p:nvSpPr>
          <p:cNvPr id="3" name="Text 1"/>
          <p:cNvSpPr/>
          <p:nvPr/>
        </p:nvSpPr>
        <p:spPr>
          <a:xfrm>
            <a:off x="793790" y="2055019"/>
            <a:ext cx="3631168"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Conservative Dominance</a:t>
            </a:r>
            <a:endParaRPr lang="en-US" sz="2200" dirty="0"/>
          </a:p>
        </p:txBody>
      </p:sp>
      <p:sp>
        <p:nvSpPr>
          <p:cNvPr id="4" name="Text 2"/>
          <p:cNvSpPr/>
          <p:nvPr/>
        </p:nvSpPr>
        <p:spPr>
          <a:xfrm>
            <a:off x="793790" y="2636163"/>
            <a:ext cx="3978116" cy="290322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By 1850, conservatism dominated Latin America, promising order and tradition after decades of post-independence instability. Conservative regimes established patronage systems that primarily benefited elites and maintained close ties with the Church.</a:t>
            </a:r>
            <a:endParaRPr lang="en-US" sz="1750" dirty="0"/>
          </a:p>
        </p:txBody>
      </p:sp>
      <p:sp>
        <p:nvSpPr>
          <p:cNvPr id="5" name="Text 3"/>
          <p:cNvSpPr/>
          <p:nvPr/>
        </p:nvSpPr>
        <p:spPr>
          <a:xfrm>
            <a:off x="5332928" y="20550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Liberal Frustrations</a:t>
            </a:r>
            <a:endParaRPr lang="en-US" sz="2200" dirty="0"/>
          </a:p>
        </p:txBody>
      </p:sp>
      <p:sp>
        <p:nvSpPr>
          <p:cNvPr id="6" name="Text 4"/>
          <p:cNvSpPr/>
          <p:nvPr/>
        </p:nvSpPr>
        <p:spPr>
          <a:xfrm>
            <a:off x="5332928" y="2636163"/>
            <a:ext cx="3978116" cy="290322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Liberalism resurged in the mid-19th century, fueled by frustrations with the unequal distribution of benefits under conservative patronage. Those excluded from power increasingly embraced liberal ideals of progress, secularism, and economic modernization.</a:t>
            </a:r>
            <a:endParaRPr lang="en-US" sz="1750" dirty="0"/>
          </a:p>
        </p:txBody>
      </p:sp>
      <p:sp>
        <p:nvSpPr>
          <p:cNvPr id="7" name="Text 5"/>
          <p:cNvSpPr/>
          <p:nvPr/>
        </p:nvSpPr>
        <p:spPr>
          <a:xfrm>
            <a:off x="9872067" y="20550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Industrial Catalyst</a:t>
            </a:r>
            <a:endParaRPr lang="en-US" sz="2200" dirty="0"/>
          </a:p>
        </p:txBody>
      </p:sp>
      <p:sp>
        <p:nvSpPr>
          <p:cNvPr id="8" name="Text 6"/>
          <p:cNvSpPr/>
          <p:nvPr/>
        </p:nvSpPr>
        <p:spPr>
          <a:xfrm>
            <a:off x="9872067" y="2636163"/>
            <a:ext cx="3978116" cy="326612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Industrial Revolution provided new markets, capital investments, and demand for Latin American exports like coffee, sugar, and hides. This economic shift strengthened liberal arguments that modernization was the path to prosperity and national development.</a:t>
            </a:r>
            <a:endParaRPr lang="en-US" sz="1750" dirty="0"/>
          </a:p>
        </p:txBody>
      </p:sp>
      <p:sp>
        <p:nvSpPr>
          <p:cNvPr id="9" name="Text 7"/>
          <p:cNvSpPr/>
          <p:nvPr/>
        </p:nvSpPr>
        <p:spPr>
          <a:xfrm>
            <a:off x="793790" y="6361509"/>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concept of "Progress" became hegemonic during this period, invoking technological modernization as an inevitable destiny. Liberals positioned themselves as forward-thinking modernizers against what they characterized as backward-looking conservatives, creating a powerful political narrative that would reshape the region.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3062" y="791527"/>
            <a:ext cx="12878872" cy="609838"/>
          </a:xfrm>
          <a:prstGeom prst="rect">
            <a:avLst/>
          </a:prstGeom>
          <a:noFill/>
          <a:ln/>
        </p:spPr>
        <p:txBody>
          <a:bodyPr wrap="none" lIns="0" tIns="0" rIns="0" bIns="0" rtlCol="0" anchor="t"/>
          <a:lstStyle/>
          <a:p>
            <a:pPr marL="0" indent="0" algn="l">
              <a:lnSpc>
                <a:spcPts val="4800"/>
              </a:lnSpc>
              <a:buNone/>
            </a:pPr>
            <a:r>
              <a:rPr lang="en-US" sz="3800" dirty="0">
                <a:solidFill>
                  <a:srgbClr val="EDEDE8"/>
                </a:solidFill>
                <a:latin typeface="Tomorrow Semi Bold" pitchFamily="34" charset="0"/>
                <a:ea typeface="Tomorrow Semi Bold" pitchFamily="34" charset="-122"/>
                <a:cs typeface="Tomorrow Semi Bold" pitchFamily="34" charset="-120"/>
              </a:rPr>
              <a:t>The Transportation and Communications Revolution</a:t>
            </a:r>
            <a:endParaRPr lang="en-US" sz="3800" dirty="0"/>
          </a:p>
        </p:txBody>
      </p:sp>
      <p:sp>
        <p:nvSpPr>
          <p:cNvPr id="3" name="Shape 1"/>
          <p:cNvSpPr/>
          <p:nvPr/>
        </p:nvSpPr>
        <p:spPr>
          <a:xfrm>
            <a:off x="7303770" y="1791652"/>
            <a:ext cx="22860" cy="4490204"/>
          </a:xfrm>
          <a:prstGeom prst="roundRect">
            <a:avLst>
              <a:gd name="adj" fmla="val 128062"/>
            </a:avLst>
          </a:prstGeom>
          <a:solidFill>
            <a:srgbClr val="555553"/>
          </a:solidFill>
          <a:ln/>
        </p:spPr>
        <p:txBody>
          <a:bodyPr/>
          <a:lstStyle/>
          <a:p>
            <a:endParaRPr lang="en-US"/>
          </a:p>
        </p:txBody>
      </p:sp>
      <p:sp>
        <p:nvSpPr>
          <p:cNvPr id="4" name="Shape 2"/>
          <p:cNvSpPr/>
          <p:nvPr/>
        </p:nvSpPr>
        <p:spPr>
          <a:xfrm>
            <a:off x="6533078" y="1999774"/>
            <a:ext cx="585430" cy="22860"/>
          </a:xfrm>
          <a:prstGeom prst="roundRect">
            <a:avLst>
              <a:gd name="adj" fmla="val 128062"/>
            </a:avLst>
          </a:prstGeom>
          <a:solidFill>
            <a:srgbClr val="555553"/>
          </a:solidFill>
          <a:ln/>
        </p:spPr>
        <p:txBody>
          <a:bodyPr/>
          <a:lstStyle/>
          <a:p>
            <a:endParaRPr lang="en-US"/>
          </a:p>
        </p:txBody>
      </p:sp>
      <p:sp>
        <p:nvSpPr>
          <p:cNvPr id="5" name="Shape 3"/>
          <p:cNvSpPr/>
          <p:nvPr/>
        </p:nvSpPr>
        <p:spPr>
          <a:xfrm>
            <a:off x="7095649" y="1791652"/>
            <a:ext cx="439103" cy="439102"/>
          </a:xfrm>
          <a:prstGeom prst="roundRect">
            <a:avLst>
              <a:gd name="adj" fmla="val 6667"/>
            </a:avLst>
          </a:prstGeom>
          <a:solidFill>
            <a:srgbClr val="3C3C3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168872" y="1828264"/>
            <a:ext cx="292656" cy="365879"/>
          </a:xfrm>
          <a:prstGeom prst="rect">
            <a:avLst/>
          </a:prstGeom>
        </p:spPr>
      </p:pic>
      <p:sp>
        <p:nvSpPr>
          <p:cNvPr id="7" name="Text 4"/>
          <p:cNvSpPr/>
          <p:nvPr/>
        </p:nvSpPr>
        <p:spPr>
          <a:xfrm>
            <a:off x="3900011" y="1858685"/>
            <a:ext cx="2439472" cy="304919"/>
          </a:xfrm>
          <a:prstGeom prst="rect">
            <a:avLst/>
          </a:prstGeom>
          <a:noFill/>
          <a:ln/>
        </p:spPr>
        <p:txBody>
          <a:bodyPr wrap="none" lIns="0" tIns="0" rIns="0" bIns="0" rtlCol="0" anchor="t"/>
          <a:lstStyle/>
          <a:p>
            <a:pPr marL="0" indent="0" algn="r">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Steamships</a:t>
            </a:r>
            <a:endParaRPr lang="en-US" sz="1900" dirty="0"/>
          </a:p>
        </p:txBody>
      </p:sp>
      <p:sp>
        <p:nvSpPr>
          <p:cNvPr id="8" name="Text 5"/>
          <p:cNvSpPr/>
          <p:nvPr/>
        </p:nvSpPr>
        <p:spPr>
          <a:xfrm>
            <a:off x="683062" y="2280642"/>
            <a:ext cx="5656421" cy="1560909"/>
          </a:xfrm>
          <a:prstGeom prst="rect">
            <a:avLst/>
          </a:prstGeom>
          <a:noFill/>
          <a:ln/>
        </p:spPr>
        <p:txBody>
          <a:bodyPr wrap="square" lIns="0" tIns="0" rIns="0" bIns="0" rtlCol="0" anchor="t"/>
          <a:lstStyle/>
          <a:p>
            <a:pPr marL="0" indent="0" algn="r">
              <a:lnSpc>
                <a:spcPts val="2450"/>
              </a:lnSpc>
              <a:buNone/>
            </a:pPr>
            <a:r>
              <a:rPr lang="en-US" sz="1500" dirty="0">
                <a:solidFill>
                  <a:srgbClr val="C9C9C0"/>
                </a:solidFill>
                <a:latin typeface="Tomorrow" pitchFamily="34" charset="0"/>
                <a:ea typeface="Tomorrow" pitchFamily="34" charset="-122"/>
                <a:cs typeface="Tomorrow" pitchFamily="34" charset="-120"/>
              </a:rPr>
              <a:t>Steamships revolutionized maritime trade by replacing wind-dependent sailing vessels. This reduced travel time between Latin America and European markets, enabling more reliable and frequent commercial exchanges.</a:t>
            </a:r>
            <a:endParaRPr lang="en-US" sz="1500" dirty="0"/>
          </a:p>
        </p:txBody>
      </p:sp>
      <p:sp>
        <p:nvSpPr>
          <p:cNvPr id="9" name="Shape 6"/>
          <p:cNvSpPr/>
          <p:nvPr/>
        </p:nvSpPr>
        <p:spPr>
          <a:xfrm>
            <a:off x="7511891" y="3170634"/>
            <a:ext cx="585430" cy="22860"/>
          </a:xfrm>
          <a:prstGeom prst="roundRect">
            <a:avLst>
              <a:gd name="adj" fmla="val 128062"/>
            </a:avLst>
          </a:prstGeom>
          <a:solidFill>
            <a:srgbClr val="555553"/>
          </a:solidFill>
          <a:ln/>
        </p:spPr>
        <p:txBody>
          <a:bodyPr/>
          <a:lstStyle/>
          <a:p>
            <a:endParaRPr lang="en-US"/>
          </a:p>
        </p:txBody>
      </p:sp>
      <p:sp>
        <p:nvSpPr>
          <p:cNvPr id="10" name="Shape 7"/>
          <p:cNvSpPr/>
          <p:nvPr/>
        </p:nvSpPr>
        <p:spPr>
          <a:xfrm>
            <a:off x="7095649" y="2962513"/>
            <a:ext cx="439103" cy="439102"/>
          </a:xfrm>
          <a:prstGeom prst="roundRect">
            <a:avLst>
              <a:gd name="adj" fmla="val 6667"/>
            </a:avLst>
          </a:prstGeom>
          <a:solidFill>
            <a:srgbClr val="3C3C3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168872" y="2999125"/>
            <a:ext cx="292656" cy="365879"/>
          </a:xfrm>
          <a:prstGeom prst="rect">
            <a:avLst/>
          </a:prstGeom>
        </p:spPr>
      </p:pic>
      <p:sp>
        <p:nvSpPr>
          <p:cNvPr id="12" name="Text 8"/>
          <p:cNvSpPr/>
          <p:nvPr/>
        </p:nvSpPr>
        <p:spPr>
          <a:xfrm>
            <a:off x="8290917" y="3029545"/>
            <a:ext cx="2439472" cy="304919"/>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Railroads</a:t>
            </a:r>
            <a:endParaRPr lang="en-US" sz="1900" dirty="0"/>
          </a:p>
        </p:txBody>
      </p:sp>
      <p:sp>
        <p:nvSpPr>
          <p:cNvPr id="13" name="Text 9"/>
          <p:cNvSpPr/>
          <p:nvPr/>
        </p:nvSpPr>
        <p:spPr>
          <a:xfrm>
            <a:off x="8290917" y="3451503"/>
            <a:ext cx="5656421" cy="1560909"/>
          </a:xfrm>
          <a:prstGeom prst="rect">
            <a:avLst/>
          </a:prstGeom>
          <a:noFill/>
          <a:ln/>
        </p:spPr>
        <p:txBody>
          <a:bodyPr wrap="squar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Railway networks opened interior lands for export agriculture, connecting previously isolated regions to global markets. Foreign investors, particularly British companies, funded extensive rail projects that transformed economic geography.</a:t>
            </a:r>
            <a:endParaRPr lang="en-US" sz="1500" dirty="0"/>
          </a:p>
        </p:txBody>
      </p:sp>
      <p:sp>
        <p:nvSpPr>
          <p:cNvPr id="14" name="Shape 10"/>
          <p:cNvSpPr/>
          <p:nvPr/>
        </p:nvSpPr>
        <p:spPr>
          <a:xfrm>
            <a:off x="6533078" y="4439960"/>
            <a:ext cx="585430" cy="22860"/>
          </a:xfrm>
          <a:prstGeom prst="roundRect">
            <a:avLst>
              <a:gd name="adj" fmla="val 128062"/>
            </a:avLst>
          </a:prstGeom>
          <a:solidFill>
            <a:srgbClr val="555553"/>
          </a:solidFill>
          <a:ln/>
        </p:spPr>
        <p:txBody>
          <a:bodyPr/>
          <a:lstStyle/>
          <a:p>
            <a:endParaRPr lang="en-US"/>
          </a:p>
        </p:txBody>
      </p:sp>
      <p:sp>
        <p:nvSpPr>
          <p:cNvPr id="15" name="Shape 11"/>
          <p:cNvSpPr/>
          <p:nvPr/>
        </p:nvSpPr>
        <p:spPr>
          <a:xfrm>
            <a:off x="7095649" y="4231838"/>
            <a:ext cx="439103" cy="439102"/>
          </a:xfrm>
          <a:prstGeom prst="roundRect">
            <a:avLst>
              <a:gd name="adj" fmla="val 6667"/>
            </a:avLst>
          </a:prstGeom>
          <a:solidFill>
            <a:srgbClr val="3C3C3A"/>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7168872" y="4268450"/>
            <a:ext cx="292656" cy="365879"/>
          </a:xfrm>
          <a:prstGeom prst="rect">
            <a:avLst/>
          </a:prstGeom>
        </p:spPr>
      </p:pic>
      <p:sp>
        <p:nvSpPr>
          <p:cNvPr id="17" name="Text 12"/>
          <p:cNvSpPr/>
          <p:nvPr/>
        </p:nvSpPr>
        <p:spPr>
          <a:xfrm>
            <a:off x="3900011" y="4298871"/>
            <a:ext cx="2439472" cy="304919"/>
          </a:xfrm>
          <a:prstGeom prst="rect">
            <a:avLst/>
          </a:prstGeom>
          <a:noFill/>
          <a:ln/>
        </p:spPr>
        <p:txBody>
          <a:bodyPr wrap="none" lIns="0" tIns="0" rIns="0" bIns="0" rtlCol="0" anchor="t"/>
          <a:lstStyle/>
          <a:p>
            <a:pPr marL="0" indent="0" algn="r">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Telegraph</a:t>
            </a:r>
            <a:endParaRPr lang="en-US" sz="1900" dirty="0"/>
          </a:p>
        </p:txBody>
      </p:sp>
      <p:sp>
        <p:nvSpPr>
          <p:cNvPr id="18" name="Text 13"/>
          <p:cNvSpPr/>
          <p:nvPr/>
        </p:nvSpPr>
        <p:spPr>
          <a:xfrm>
            <a:off x="683062" y="4720828"/>
            <a:ext cx="5656421" cy="1560909"/>
          </a:xfrm>
          <a:prstGeom prst="rect">
            <a:avLst/>
          </a:prstGeom>
          <a:noFill/>
          <a:ln/>
        </p:spPr>
        <p:txBody>
          <a:bodyPr wrap="square" lIns="0" tIns="0" rIns="0" bIns="0" rtlCol="0" anchor="t"/>
          <a:lstStyle/>
          <a:p>
            <a:pPr marL="0" indent="0" algn="r">
              <a:lnSpc>
                <a:spcPts val="2450"/>
              </a:lnSpc>
              <a:buNone/>
            </a:pPr>
            <a:r>
              <a:rPr lang="en-US" sz="1500" dirty="0">
                <a:solidFill>
                  <a:srgbClr val="C9C9C0"/>
                </a:solidFill>
                <a:latin typeface="Tomorrow" pitchFamily="34" charset="0"/>
                <a:ea typeface="Tomorrow" pitchFamily="34" charset="-122"/>
                <a:cs typeface="Tomorrow" pitchFamily="34" charset="-120"/>
              </a:rPr>
              <a:t>Telegraph lines connected Latin America to Europe, with Brazil being linked by 1874. This allowed for real-time market information and diplomatic correspondence, tightening Latin America's integration into global systems.</a:t>
            </a:r>
            <a:endParaRPr lang="en-US" sz="1500" dirty="0"/>
          </a:p>
        </p:txBody>
      </p:sp>
      <p:sp>
        <p:nvSpPr>
          <p:cNvPr id="19" name="Text 14"/>
          <p:cNvSpPr/>
          <p:nvPr/>
        </p:nvSpPr>
        <p:spPr>
          <a:xfrm>
            <a:off x="683062" y="6501408"/>
            <a:ext cx="13264277" cy="936546"/>
          </a:xfrm>
          <a:prstGeom prst="rect">
            <a:avLst/>
          </a:prstGeom>
          <a:noFill/>
          <a:ln/>
        </p:spPr>
        <p:txBody>
          <a:bodyPr wrap="squar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These technological innovations became powerful symbols of modernity and progress, allowing liberal parties to position themselves as champions of the future. However, the export-oriented infrastructure left inland areas increasingly dependent on volatile global markets, creating new vulnerabilities even as it generated wealth.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6271" y="654725"/>
            <a:ext cx="7828836" cy="576977"/>
          </a:xfrm>
          <a:prstGeom prst="rect">
            <a:avLst/>
          </a:prstGeom>
          <a:noFill/>
          <a:ln/>
        </p:spPr>
        <p:txBody>
          <a:bodyPr wrap="none" lIns="0" tIns="0" rIns="0" bIns="0" rtlCol="0" anchor="t"/>
          <a:lstStyle/>
          <a:p>
            <a:pPr marL="0" indent="0" algn="l">
              <a:lnSpc>
                <a:spcPts val="4500"/>
              </a:lnSpc>
              <a:buNone/>
            </a:pPr>
            <a:r>
              <a:rPr lang="en-US" sz="3600" dirty="0">
                <a:solidFill>
                  <a:srgbClr val="EDEDE8"/>
                </a:solidFill>
                <a:latin typeface="Tomorrow Semi Bold" pitchFamily="34" charset="0"/>
                <a:ea typeface="Tomorrow Semi Bold" pitchFamily="34" charset="-122"/>
                <a:cs typeface="Tomorrow Semi Bold" pitchFamily="34" charset="-120"/>
              </a:rPr>
              <a:t>Anti-Clerical Liberalism in Mexico</a:t>
            </a:r>
            <a:endParaRPr lang="en-US" sz="3600" dirty="0"/>
          </a:p>
        </p:txBody>
      </p:sp>
      <p:pic>
        <p:nvPicPr>
          <p:cNvPr id="3" name="Image 0" descr="preencoded.png"/>
          <p:cNvPicPr>
            <a:picLocks noChangeAspect="1"/>
          </p:cNvPicPr>
          <p:nvPr/>
        </p:nvPicPr>
        <p:blipFill>
          <a:blip r:embed="rId3"/>
          <a:stretch>
            <a:fillRect/>
          </a:stretch>
        </p:blipFill>
        <p:spPr>
          <a:xfrm>
            <a:off x="2880360" y="1600914"/>
            <a:ext cx="2200632" cy="1063704"/>
          </a:xfrm>
          <a:prstGeom prst="rect">
            <a:avLst/>
          </a:prstGeom>
        </p:spPr>
      </p:pic>
      <p:pic>
        <p:nvPicPr>
          <p:cNvPr id="4" name="Image 1" descr="preencoded.png"/>
          <p:cNvPicPr>
            <a:picLocks noChangeAspect="1"/>
          </p:cNvPicPr>
          <p:nvPr/>
        </p:nvPicPr>
        <p:blipFill>
          <a:blip r:embed="rId4"/>
          <a:stretch>
            <a:fillRect/>
          </a:stretch>
        </p:blipFill>
        <p:spPr>
          <a:xfrm>
            <a:off x="3850838" y="2102287"/>
            <a:ext cx="259675" cy="324564"/>
          </a:xfrm>
          <a:prstGeom prst="rect">
            <a:avLst/>
          </a:prstGeom>
        </p:spPr>
      </p:pic>
      <p:sp>
        <p:nvSpPr>
          <p:cNvPr id="5" name="Text 1"/>
          <p:cNvSpPr/>
          <p:nvPr/>
        </p:nvSpPr>
        <p:spPr>
          <a:xfrm>
            <a:off x="5265539" y="1785461"/>
            <a:ext cx="2308146" cy="288488"/>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Juárez Law (1855)</a:t>
            </a:r>
            <a:endParaRPr lang="en-US" sz="1800" dirty="0"/>
          </a:p>
        </p:txBody>
      </p:sp>
      <p:sp>
        <p:nvSpPr>
          <p:cNvPr id="6" name="Text 2"/>
          <p:cNvSpPr/>
          <p:nvPr/>
        </p:nvSpPr>
        <p:spPr>
          <a:xfrm>
            <a:off x="5265539" y="2184678"/>
            <a:ext cx="3692843" cy="295394"/>
          </a:xfrm>
          <a:prstGeom prst="rect">
            <a:avLst/>
          </a:prstGeom>
          <a:noFill/>
          <a:ln/>
        </p:spPr>
        <p:txBody>
          <a:bodyPr wrap="non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Attacked military and ecclesiastical fueros</a:t>
            </a:r>
            <a:endParaRPr lang="en-US" sz="1450" dirty="0"/>
          </a:p>
        </p:txBody>
      </p:sp>
      <p:sp>
        <p:nvSpPr>
          <p:cNvPr id="7" name="Shape 3"/>
          <p:cNvSpPr/>
          <p:nvPr/>
        </p:nvSpPr>
        <p:spPr>
          <a:xfrm>
            <a:off x="5127069" y="2678073"/>
            <a:ext cx="8810982" cy="11430"/>
          </a:xfrm>
          <a:prstGeom prst="roundRect">
            <a:avLst>
              <a:gd name="adj" fmla="val 242337"/>
            </a:avLst>
          </a:prstGeom>
          <a:solidFill>
            <a:srgbClr val="555553"/>
          </a:solidFill>
          <a:ln/>
        </p:spPr>
        <p:txBody>
          <a:bodyPr/>
          <a:lstStyle/>
          <a:p>
            <a:endParaRPr lang="en-US"/>
          </a:p>
        </p:txBody>
      </p:sp>
      <p:pic>
        <p:nvPicPr>
          <p:cNvPr id="8" name="Image 2" descr="preencoded.png"/>
          <p:cNvPicPr>
            <a:picLocks noChangeAspect="1"/>
          </p:cNvPicPr>
          <p:nvPr/>
        </p:nvPicPr>
        <p:blipFill>
          <a:blip r:embed="rId5"/>
          <a:stretch>
            <a:fillRect/>
          </a:stretch>
        </p:blipFill>
        <p:spPr>
          <a:xfrm>
            <a:off x="1779984" y="2710696"/>
            <a:ext cx="4401383" cy="1063704"/>
          </a:xfrm>
          <a:prstGeom prst="rect">
            <a:avLst/>
          </a:prstGeom>
        </p:spPr>
      </p:pic>
      <p:pic>
        <p:nvPicPr>
          <p:cNvPr id="9" name="Image 3" descr="preencoded.png"/>
          <p:cNvPicPr>
            <a:picLocks noChangeAspect="1"/>
          </p:cNvPicPr>
          <p:nvPr/>
        </p:nvPicPr>
        <p:blipFill>
          <a:blip r:embed="rId6"/>
          <a:stretch>
            <a:fillRect/>
          </a:stretch>
        </p:blipFill>
        <p:spPr>
          <a:xfrm>
            <a:off x="3850719" y="3080266"/>
            <a:ext cx="259675" cy="324564"/>
          </a:xfrm>
          <a:prstGeom prst="rect">
            <a:avLst/>
          </a:prstGeom>
        </p:spPr>
      </p:pic>
      <p:sp>
        <p:nvSpPr>
          <p:cNvPr id="10" name="Text 4"/>
          <p:cNvSpPr/>
          <p:nvPr/>
        </p:nvSpPr>
        <p:spPr>
          <a:xfrm>
            <a:off x="6365915" y="2895243"/>
            <a:ext cx="2308146" cy="288488"/>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Lerdo Law (1856)</a:t>
            </a:r>
            <a:endParaRPr lang="en-US" sz="1800" dirty="0"/>
          </a:p>
        </p:txBody>
      </p:sp>
      <p:sp>
        <p:nvSpPr>
          <p:cNvPr id="11" name="Text 5"/>
          <p:cNvSpPr/>
          <p:nvPr/>
        </p:nvSpPr>
        <p:spPr>
          <a:xfrm>
            <a:off x="6365915" y="3294459"/>
            <a:ext cx="3853458" cy="295394"/>
          </a:xfrm>
          <a:prstGeom prst="rect">
            <a:avLst/>
          </a:prstGeom>
          <a:noFill/>
          <a:ln/>
        </p:spPr>
        <p:txBody>
          <a:bodyPr wrap="non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Forced sale of Church and Indigenous lands</a:t>
            </a:r>
            <a:endParaRPr lang="en-US" sz="1450" dirty="0"/>
          </a:p>
        </p:txBody>
      </p:sp>
      <p:sp>
        <p:nvSpPr>
          <p:cNvPr id="12" name="Shape 6"/>
          <p:cNvSpPr/>
          <p:nvPr/>
        </p:nvSpPr>
        <p:spPr>
          <a:xfrm>
            <a:off x="6227445" y="3787854"/>
            <a:ext cx="7710607" cy="11430"/>
          </a:xfrm>
          <a:prstGeom prst="roundRect">
            <a:avLst>
              <a:gd name="adj" fmla="val 242337"/>
            </a:avLst>
          </a:prstGeom>
          <a:solidFill>
            <a:srgbClr val="555553"/>
          </a:solidFill>
          <a:ln/>
        </p:spPr>
        <p:txBody>
          <a:bodyPr/>
          <a:lstStyle/>
          <a:p>
            <a:endParaRPr lang="en-US"/>
          </a:p>
        </p:txBody>
      </p:sp>
      <p:pic>
        <p:nvPicPr>
          <p:cNvPr id="13" name="Image 4" descr="preencoded.png"/>
          <p:cNvPicPr>
            <a:picLocks noChangeAspect="1"/>
          </p:cNvPicPr>
          <p:nvPr/>
        </p:nvPicPr>
        <p:blipFill>
          <a:blip r:embed="rId7"/>
          <a:stretch>
            <a:fillRect/>
          </a:stretch>
        </p:blipFill>
        <p:spPr>
          <a:xfrm>
            <a:off x="679609" y="3820478"/>
            <a:ext cx="6602135" cy="1063704"/>
          </a:xfrm>
          <a:prstGeom prst="rect">
            <a:avLst/>
          </a:prstGeom>
        </p:spPr>
      </p:pic>
      <p:pic>
        <p:nvPicPr>
          <p:cNvPr id="14" name="Image 5" descr="preencoded.png"/>
          <p:cNvPicPr>
            <a:picLocks noChangeAspect="1"/>
          </p:cNvPicPr>
          <p:nvPr/>
        </p:nvPicPr>
        <p:blipFill>
          <a:blip r:embed="rId8"/>
          <a:stretch>
            <a:fillRect/>
          </a:stretch>
        </p:blipFill>
        <p:spPr>
          <a:xfrm>
            <a:off x="3850838" y="4190048"/>
            <a:ext cx="259675" cy="324564"/>
          </a:xfrm>
          <a:prstGeom prst="rect">
            <a:avLst/>
          </a:prstGeom>
        </p:spPr>
      </p:pic>
      <p:sp>
        <p:nvSpPr>
          <p:cNvPr id="15" name="Text 7"/>
          <p:cNvSpPr/>
          <p:nvPr/>
        </p:nvSpPr>
        <p:spPr>
          <a:xfrm>
            <a:off x="7466290" y="4005024"/>
            <a:ext cx="2308146" cy="288488"/>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Church Power</a:t>
            </a:r>
            <a:endParaRPr lang="en-US" sz="1800" dirty="0"/>
          </a:p>
        </p:txBody>
      </p:sp>
      <p:sp>
        <p:nvSpPr>
          <p:cNvPr id="16" name="Text 8"/>
          <p:cNvSpPr/>
          <p:nvPr/>
        </p:nvSpPr>
        <p:spPr>
          <a:xfrm>
            <a:off x="7466290" y="4404241"/>
            <a:ext cx="3167063" cy="295394"/>
          </a:xfrm>
          <a:prstGeom prst="rect">
            <a:avLst/>
          </a:prstGeom>
          <a:noFill/>
          <a:ln/>
        </p:spPr>
        <p:txBody>
          <a:bodyPr wrap="non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Land ownership, banking, and tithes</a:t>
            </a:r>
            <a:endParaRPr lang="en-US" sz="1450" dirty="0"/>
          </a:p>
        </p:txBody>
      </p:sp>
      <p:sp>
        <p:nvSpPr>
          <p:cNvPr id="17" name="Text 9"/>
          <p:cNvSpPr/>
          <p:nvPr/>
        </p:nvSpPr>
        <p:spPr>
          <a:xfrm>
            <a:off x="646271" y="5091827"/>
            <a:ext cx="13337858" cy="590788"/>
          </a:xfrm>
          <a:prstGeom prst="rect">
            <a:avLst/>
          </a:prstGeom>
          <a:noFill/>
          <a:ln/>
        </p:spPr>
        <p:txBody>
          <a:bodyPr wrap="squar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Nowhere was the Church more powerful than in Mexico, where it owned vast tracts of land, acted as the primary banking institution, and collected mandatory tithes from the population. Mexican liberals viewed this ecclesiastical power as a direct affront to Progress and national development.</a:t>
            </a:r>
            <a:endParaRPr lang="en-US" sz="1450" dirty="0"/>
          </a:p>
        </p:txBody>
      </p:sp>
      <p:sp>
        <p:nvSpPr>
          <p:cNvPr id="18" name="Text 10"/>
          <p:cNvSpPr/>
          <p:nvPr/>
        </p:nvSpPr>
        <p:spPr>
          <a:xfrm>
            <a:off x="646271" y="5890260"/>
            <a:ext cx="13337858" cy="886182"/>
          </a:xfrm>
          <a:prstGeom prst="rect">
            <a:avLst/>
          </a:prstGeom>
          <a:noFill/>
          <a:ln/>
        </p:spPr>
        <p:txBody>
          <a:bodyPr wrap="squar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The liberal Reform Laws directly challenged traditional Church privileges. The Juárez Law attacked the </a:t>
            </a:r>
            <a:r>
              <a:rPr lang="en-US" sz="1450" i="1" dirty="0">
                <a:solidFill>
                  <a:srgbClr val="C9C9C0"/>
                </a:solidFill>
                <a:latin typeface="Tomorrow" pitchFamily="34" charset="0"/>
                <a:ea typeface="Tomorrow" pitchFamily="34" charset="-122"/>
                <a:cs typeface="Tomorrow" pitchFamily="34" charset="-120"/>
              </a:rPr>
              <a:t>fueros</a:t>
            </a:r>
            <a:r>
              <a:rPr lang="en-US" sz="1450" dirty="0">
                <a:solidFill>
                  <a:srgbClr val="C9C9C0"/>
                </a:solidFill>
                <a:latin typeface="Tomorrow" pitchFamily="34" charset="0"/>
                <a:ea typeface="Tomorrow" pitchFamily="34" charset="-122"/>
                <a:cs typeface="Tomorrow" pitchFamily="34" charset="-120"/>
              </a:rPr>
              <a:t> (legal privileges) that allowed clergy and military to be tried in special courts rather than civil ones. The Lerdo Law forced the sale of Church properties and, controversially, Indigenous communal lands as well.</a:t>
            </a:r>
            <a:endParaRPr lang="en-US" sz="1450" dirty="0"/>
          </a:p>
        </p:txBody>
      </p:sp>
      <p:sp>
        <p:nvSpPr>
          <p:cNvPr id="19" name="Text 11"/>
          <p:cNvSpPr/>
          <p:nvPr/>
        </p:nvSpPr>
        <p:spPr>
          <a:xfrm>
            <a:off x="646271" y="6984087"/>
            <a:ext cx="13337858" cy="590788"/>
          </a:xfrm>
          <a:prstGeom prst="rect">
            <a:avLst/>
          </a:prstGeom>
          <a:noFill/>
          <a:ln/>
        </p:spPr>
        <p:txBody>
          <a:bodyPr wrap="squar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These anti-clerical measures drew sharp battle lines between liberals and conservatives, setting the stage for a bitter civil war that would reshape Mexican society and politics for generations.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3179" y="883563"/>
            <a:ext cx="12131397" cy="601028"/>
          </a:xfrm>
          <a:prstGeom prst="rect">
            <a:avLst/>
          </a:prstGeom>
          <a:noFill/>
          <a:ln/>
        </p:spPr>
        <p:txBody>
          <a:bodyPr wrap="none" lIns="0" tIns="0" rIns="0" bIns="0" rtlCol="0" anchor="t"/>
          <a:lstStyle/>
          <a:p>
            <a:pPr marL="0" indent="0" algn="l">
              <a:lnSpc>
                <a:spcPts val="4700"/>
              </a:lnSpc>
              <a:buNone/>
            </a:pPr>
            <a:r>
              <a:rPr lang="en-US" sz="3750" dirty="0">
                <a:solidFill>
                  <a:srgbClr val="EDEDE8"/>
                </a:solidFill>
                <a:latin typeface="Tomorrow Semi Bold" pitchFamily="34" charset="0"/>
                <a:ea typeface="Tomorrow Semi Bold" pitchFamily="34" charset="-122"/>
                <a:cs typeface="Tomorrow Semi Bold" pitchFamily="34" charset="-120"/>
              </a:rPr>
              <a:t>Civil War, Intervention, and Nationalism in Mexico</a:t>
            </a:r>
            <a:endParaRPr lang="en-US" sz="3750" dirty="0"/>
          </a:p>
        </p:txBody>
      </p:sp>
      <p:pic>
        <p:nvPicPr>
          <p:cNvPr id="3" name="Image 0" descr="preencoded.png"/>
          <p:cNvPicPr>
            <a:picLocks noChangeAspect="1"/>
          </p:cNvPicPr>
          <p:nvPr/>
        </p:nvPicPr>
        <p:blipFill>
          <a:blip r:embed="rId3"/>
          <a:stretch>
            <a:fillRect/>
          </a:stretch>
        </p:blipFill>
        <p:spPr>
          <a:xfrm>
            <a:off x="673179" y="1869281"/>
            <a:ext cx="3321010" cy="769382"/>
          </a:xfrm>
          <a:prstGeom prst="rect">
            <a:avLst/>
          </a:prstGeom>
        </p:spPr>
      </p:pic>
      <p:sp>
        <p:nvSpPr>
          <p:cNvPr id="4" name="Text 1"/>
          <p:cNvSpPr/>
          <p:nvPr/>
        </p:nvSpPr>
        <p:spPr>
          <a:xfrm>
            <a:off x="865465" y="2927152"/>
            <a:ext cx="2404229" cy="300395"/>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Civil War (1858-61)</a:t>
            </a:r>
            <a:endParaRPr lang="en-US" sz="1850" dirty="0"/>
          </a:p>
        </p:txBody>
      </p:sp>
      <p:sp>
        <p:nvSpPr>
          <p:cNvPr id="5" name="Text 2"/>
          <p:cNvSpPr/>
          <p:nvPr/>
        </p:nvSpPr>
        <p:spPr>
          <a:xfrm>
            <a:off x="865465" y="3342918"/>
            <a:ext cx="2936438" cy="1231106"/>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Liberals under Benito Juárez battled conservatives in the Reform War, establishing liberal control of the government.</a:t>
            </a:r>
            <a:endParaRPr lang="en-US" sz="1500" dirty="0"/>
          </a:p>
        </p:txBody>
      </p:sp>
      <p:pic>
        <p:nvPicPr>
          <p:cNvPr id="6" name="Image 1" descr="preencoded.png"/>
          <p:cNvPicPr>
            <a:picLocks noChangeAspect="1"/>
          </p:cNvPicPr>
          <p:nvPr/>
        </p:nvPicPr>
        <p:blipFill>
          <a:blip r:embed="rId4"/>
          <a:stretch>
            <a:fillRect/>
          </a:stretch>
        </p:blipFill>
        <p:spPr>
          <a:xfrm>
            <a:off x="3994190" y="1869281"/>
            <a:ext cx="3321010" cy="769382"/>
          </a:xfrm>
          <a:prstGeom prst="rect">
            <a:avLst/>
          </a:prstGeom>
        </p:spPr>
      </p:pic>
      <p:sp>
        <p:nvSpPr>
          <p:cNvPr id="7" name="Text 3"/>
          <p:cNvSpPr/>
          <p:nvPr/>
        </p:nvSpPr>
        <p:spPr>
          <a:xfrm>
            <a:off x="4186476" y="2927152"/>
            <a:ext cx="2936438" cy="600789"/>
          </a:xfrm>
          <a:prstGeom prst="rect">
            <a:avLst/>
          </a:prstGeom>
          <a:noFill/>
          <a:ln/>
        </p:spPr>
        <p:txBody>
          <a:bodyPr wrap="squar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French Intervention (1862-67)</a:t>
            </a:r>
            <a:endParaRPr lang="en-US" sz="1850" dirty="0"/>
          </a:p>
        </p:txBody>
      </p:sp>
      <p:sp>
        <p:nvSpPr>
          <p:cNvPr id="8" name="Text 4"/>
          <p:cNvSpPr/>
          <p:nvPr/>
        </p:nvSpPr>
        <p:spPr>
          <a:xfrm>
            <a:off x="4186476" y="3643313"/>
            <a:ext cx="2936438" cy="1538883"/>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Napoleon III invaded Mexico and installed Maximilian of Habsburg as emperor, supported by Mexican conservatives.</a:t>
            </a:r>
            <a:endParaRPr lang="en-US" sz="1500" dirty="0"/>
          </a:p>
        </p:txBody>
      </p:sp>
      <p:pic>
        <p:nvPicPr>
          <p:cNvPr id="9" name="Image 2" descr="preencoded.png"/>
          <p:cNvPicPr>
            <a:picLocks noChangeAspect="1"/>
          </p:cNvPicPr>
          <p:nvPr/>
        </p:nvPicPr>
        <p:blipFill>
          <a:blip r:embed="rId5"/>
          <a:stretch>
            <a:fillRect/>
          </a:stretch>
        </p:blipFill>
        <p:spPr>
          <a:xfrm>
            <a:off x="7315200" y="1869281"/>
            <a:ext cx="3321010" cy="769382"/>
          </a:xfrm>
          <a:prstGeom prst="rect">
            <a:avLst/>
          </a:prstGeom>
        </p:spPr>
      </p:pic>
      <p:sp>
        <p:nvSpPr>
          <p:cNvPr id="10" name="Text 5"/>
          <p:cNvSpPr/>
          <p:nvPr/>
        </p:nvSpPr>
        <p:spPr>
          <a:xfrm>
            <a:off x="7507486" y="2927152"/>
            <a:ext cx="2725341" cy="300395"/>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Nationalist Resistance</a:t>
            </a:r>
            <a:endParaRPr lang="en-US" sz="1850" dirty="0"/>
          </a:p>
        </p:txBody>
      </p:sp>
      <p:sp>
        <p:nvSpPr>
          <p:cNvPr id="11" name="Text 6"/>
          <p:cNvSpPr/>
          <p:nvPr/>
        </p:nvSpPr>
        <p:spPr>
          <a:xfrm>
            <a:off x="7507486" y="3342918"/>
            <a:ext cx="2936438" cy="1231106"/>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Juárez led the nationalist resistance; with U.S. support after their Civil War, French forces withdrew.</a:t>
            </a:r>
            <a:endParaRPr lang="en-US" sz="1500" dirty="0"/>
          </a:p>
        </p:txBody>
      </p:sp>
      <p:pic>
        <p:nvPicPr>
          <p:cNvPr id="12" name="Image 3" descr="preencoded.png"/>
          <p:cNvPicPr>
            <a:picLocks noChangeAspect="1"/>
          </p:cNvPicPr>
          <p:nvPr/>
        </p:nvPicPr>
        <p:blipFill>
          <a:blip r:embed="rId6"/>
          <a:stretch>
            <a:fillRect/>
          </a:stretch>
        </p:blipFill>
        <p:spPr>
          <a:xfrm>
            <a:off x="10636210" y="1869281"/>
            <a:ext cx="3321010" cy="769382"/>
          </a:xfrm>
          <a:prstGeom prst="rect">
            <a:avLst/>
          </a:prstGeom>
        </p:spPr>
      </p:pic>
      <p:sp>
        <p:nvSpPr>
          <p:cNvPr id="13" name="Text 7"/>
          <p:cNvSpPr/>
          <p:nvPr/>
        </p:nvSpPr>
        <p:spPr>
          <a:xfrm>
            <a:off x="10828496" y="2927152"/>
            <a:ext cx="2716173" cy="300395"/>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Conservative Collapse</a:t>
            </a:r>
            <a:endParaRPr lang="en-US" sz="1850" dirty="0"/>
          </a:p>
        </p:txBody>
      </p:sp>
      <p:sp>
        <p:nvSpPr>
          <p:cNvPr id="14" name="Text 8"/>
          <p:cNvSpPr/>
          <p:nvPr/>
        </p:nvSpPr>
        <p:spPr>
          <a:xfrm>
            <a:off x="10828496" y="3342918"/>
            <a:ext cx="2936438" cy="1231106"/>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Maximilian's execution in 1867 discredited conservatives, cementing liberal dominance in Mexico.</a:t>
            </a:r>
            <a:endParaRPr lang="en-US" sz="1500" dirty="0"/>
          </a:p>
        </p:txBody>
      </p:sp>
      <p:sp>
        <p:nvSpPr>
          <p:cNvPr id="15" name="Text 9"/>
          <p:cNvSpPr/>
          <p:nvPr/>
        </p:nvSpPr>
        <p:spPr>
          <a:xfrm>
            <a:off x="673179" y="5590818"/>
            <a:ext cx="13284041" cy="923330"/>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Benito Juárez exemplified the powerful synthesis of liberalism and nationalism that emerged during this period. An indigenous Zapotec who rose to become president, Juárez became a potent symbol of republican virtue and national sovereignty. His victory against European intervention demonstrated that Latin American nations could successfully defend their independence.</a:t>
            </a:r>
            <a:endParaRPr lang="en-US" sz="1500" dirty="0"/>
          </a:p>
        </p:txBody>
      </p:sp>
      <p:sp>
        <p:nvSpPr>
          <p:cNvPr id="16" name="Text 10"/>
          <p:cNvSpPr/>
          <p:nvPr/>
        </p:nvSpPr>
        <p:spPr>
          <a:xfrm>
            <a:off x="673179" y="6730484"/>
            <a:ext cx="13284041" cy="615553"/>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The fall of Maximilian's empire in 1867 represented a watershed moment that permanently altered Mexico's political landscape, discrediting conservatism and foreign intervention while elevating liberal nationalism as the dominant political ideology.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0329" y="741283"/>
            <a:ext cx="9477256" cy="651986"/>
          </a:xfrm>
          <a:prstGeom prst="rect">
            <a:avLst/>
          </a:prstGeom>
          <a:noFill/>
          <a:ln/>
        </p:spPr>
        <p:txBody>
          <a:bodyPr wrap="none" lIns="0" tIns="0" rIns="0" bIns="0" rtlCol="0" anchor="t"/>
          <a:lstStyle/>
          <a:p>
            <a:pPr marL="0" indent="0" algn="l">
              <a:lnSpc>
                <a:spcPts val="5100"/>
              </a:lnSpc>
              <a:buNone/>
            </a:pPr>
            <a:r>
              <a:rPr lang="en-US" sz="4100" dirty="0">
                <a:solidFill>
                  <a:srgbClr val="EDEDE8"/>
                </a:solidFill>
                <a:latin typeface="Tomorrow Semi Bold" pitchFamily="34" charset="0"/>
                <a:ea typeface="Tomorrow Semi Bold" pitchFamily="34" charset="-122"/>
                <a:cs typeface="Tomorrow Semi Bold" pitchFamily="34" charset="-120"/>
              </a:rPr>
              <a:t>Liberal Trends Across Latin America</a:t>
            </a:r>
            <a:endParaRPr lang="en-US" sz="4100" dirty="0"/>
          </a:p>
        </p:txBody>
      </p:sp>
      <p:sp>
        <p:nvSpPr>
          <p:cNvPr id="3" name="Shape 1"/>
          <p:cNvSpPr/>
          <p:nvPr/>
        </p:nvSpPr>
        <p:spPr>
          <a:xfrm>
            <a:off x="730329" y="1810583"/>
            <a:ext cx="4250888" cy="3205282"/>
          </a:xfrm>
          <a:prstGeom prst="roundRect">
            <a:avLst>
              <a:gd name="adj" fmla="val 977"/>
            </a:avLst>
          </a:prstGeom>
          <a:solidFill>
            <a:srgbClr val="3C3C3A"/>
          </a:solidFill>
          <a:ln/>
        </p:spPr>
        <p:txBody>
          <a:bodyPr/>
          <a:lstStyle/>
          <a:p>
            <a:endParaRPr lang="en-US"/>
          </a:p>
        </p:txBody>
      </p:sp>
      <p:sp>
        <p:nvSpPr>
          <p:cNvPr id="4" name="Text 2"/>
          <p:cNvSpPr/>
          <p:nvPr/>
        </p:nvSpPr>
        <p:spPr>
          <a:xfrm>
            <a:off x="938927" y="2019181"/>
            <a:ext cx="2608302" cy="325993"/>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Colombia</a:t>
            </a:r>
            <a:endParaRPr lang="en-US" sz="2050" dirty="0"/>
          </a:p>
        </p:txBody>
      </p:sp>
      <p:sp>
        <p:nvSpPr>
          <p:cNvPr id="5" name="Text 3"/>
          <p:cNvSpPr/>
          <p:nvPr/>
        </p:nvSpPr>
        <p:spPr>
          <a:xfrm>
            <a:off x="938927" y="2470309"/>
            <a:ext cx="3833693" cy="2336959"/>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Liberal resurgence under President Tomás Cipriano de Mosquera implemented anticlerical reforms and expelled the Jesuit order. These measures mirrored Mexican reforms but encountered fierce resistance from conservative regions.</a:t>
            </a:r>
            <a:endParaRPr lang="en-US" sz="1600" dirty="0"/>
          </a:p>
        </p:txBody>
      </p:sp>
      <p:sp>
        <p:nvSpPr>
          <p:cNvPr id="6" name="Shape 4"/>
          <p:cNvSpPr/>
          <p:nvPr/>
        </p:nvSpPr>
        <p:spPr>
          <a:xfrm>
            <a:off x="5189815" y="1810583"/>
            <a:ext cx="4250888" cy="3205282"/>
          </a:xfrm>
          <a:prstGeom prst="roundRect">
            <a:avLst>
              <a:gd name="adj" fmla="val 977"/>
            </a:avLst>
          </a:prstGeom>
          <a:solidFill>
            <a:srgbClr val="3C3C3A"/>
          </a:solidFill>
          <a:ln/>
        </p:spPr>
        <p:txBody>
          <a:bodyPr/>
          <a:lstStyle/>
          <a:p>
            <a:endParaRPr lang="en-US"/>
          </a:p>
        </p:txBody>
      </p:sp>
      <p:sp>
        <p:nvSpPr>
          <p:cNvPr id="7" name="Text 5"/>
          <p:cNvSpPr/>
          <p:nvPr/>
        </p:nvSpPr>
        <p:spPr>
          <a:xfrm>
            <a:off x="5398413" y="2019181"/>
            <a:ext cx="2608302" cy="325993"/>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Chile</a:t>
            </a:r>
            <a:endParaRPr lang="en-US" sz="2050" dirty="0"/>
          </a:p>
        </p:txBody>
      </p:sp>
      <p:sp>
        <p:nvSpPr>
          <p:cNvPr id="8" name="Text 6"/>
          <p:cNvSpPr/>
          <p:nvPr/>
        </p:nvSpPr>
        <p:spPr>
          <a:xfrm>
            <a:off x="5398413" y="2470309"/>
            <a:ext cx="3833693" cy="2336959"/>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After decades of conservative stability, Chile experienced a liberal shift under President Manuel Montt. Chilean liberals promoted modernization through railroad construction, expanded education, and gradual secularization of institutions.</a:t>
            </a:r>
            <a:endParaRPr lang="en-US" sz="1600" dirty="0"/>
          </a:p>
        </p:txBody>
      </p:sp>
      <p:sp>
        <p:nvSpPr>
          <p:cNvPr id="9" name="Shape 7"/>
          <p:cNvSpPr/>
          <p:nvPr/>
        </p:nvSpPr>
        <p:spPr>
          <a:xfrm>
            <a:off x="9649301" y="1810583"/>
            <a:ext cx="4250888" cy="3205282"/>
          </a:xfrm>
          <a:prstGeom prst="roundRect">
            <a:avLst>
              <a:gd name="adj" fmla="val 977"/>
            </a:avLst>
          </a:prstGeom>
          <a:solidFill>
            <a:srgbClr val="3C3C3A"/>
          </a:solidFill>
          <a:ln/>
        </p:spPr>
        <p:txBody>
          <a:bodyPr/>
          <a:lstStyle/>
          <a:p>
            <a:endParaRPr lang="en-US"/>
          </a:p>
        </p:txBody>
      </p:sp>
      <p:sp>
        <p:nvSpPr>
          <p:cNvPr id="10" name="Text 8"/>
          <p:cNvSpPr/>
          <p:nvPr/>
        </p:nvSpPr>
        <p:spPr>
          <a:xfrm>
            <a:off x="9857899" y="2019181"/>
            <a:ext cx="2608302" cy="325993"/>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Central America</a:t>
            </a:r>
            <a:endParaRPr lang="en-US" sz="2050" dirty="0"/>
          </a:p>
        </p:txBody>
      </p:sp>
      <p:sp>
        <p:nvSpPr>
          <p:cNvPr id="11" name="Text 9"/>
          <p:cNvSpPr/>
          <p:nvPr/>
        </p:nvSpPr>
        <p:spPr>
          <a:xfrm>
            <a:off x="9857899" y="2470309"/>
            <a:ext cx="3833693" cy="2336959"/>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Liberalism spread throughout Central America after 1850, with the notable exception of Nicaragua. There, the U.S. mercenary William Walker's failed presidency and attempt to reintroduce slavery discredited liberals for decades.</a:t>
            </a:r>
            <a:endParaRPr lang="en-US" sz="1600" dirty="0"/>
          </a:p>
        </p:txBody>
      </p:sp>
      <p:sp>
        <p:nvSpPr>
          <p:cNvPr id="12" name="Text 10"/>
          <p:cNvSpPr/>
          <p:nvPr/>
        </p:nvSpPr>
        <p:spPr>
          <a:xfrm>
            <a:off x="730329" y="5250537"/>
            <a:ext cx="13169741" cy="1001554"/>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While liberalism spread across Latin America, it took different forms depending on local conditions and leadership. In some regions, liberal reforms were implemented gradually and pragmatically, while in others they triggered violent conflict with conservative forces, particularly the Church and landed elites.</a:t>
            </a:r>
            <a:endParaRPr lang="en-US" sz="1600" dirty="0"/>
          </a:p>
        </p:txBody>
      </p:sp>
      <p:sp>
        <p:nvSpPr>
          <p:cNvPr id="13" name="Text 11"/>
          <p:cNvSpPr/>
          <p:nvPr/>
        </p:nvSpPr>
        <p:spPr>
          <a:xfrm>
            <a:off x="730329" y="6486763"/>
            <a:ext cx="13169741" cy="1001554"/>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The case of William Walker in Nicaragua demonstrated how liberal rhetoric could be co-opted to justify foreign intervention and exploitation. His brief, disastrous presidency—which included attempts to reintroduce slavery—tainted Nicaraguan liberalism and highlighted the complexities of ideological conflicts in the region.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2459" y="489109"/>
            <a:ext cx="8594169" cy="555784"/>
          </a:xfrm>
          <a:prstGeom prst="rect">
            <a:avLst/>
          </a:prstGeom>
          <a:noFill/>
          <a:ln/>
        </p:spPr>
        <p:txBody>
          <a:bodyPr wrap="none" lIns="0" tIns="0" rIns="0" bIns="0" rtlCol="0" anchor="t"/>
          <a:lstStyle/>
          <a:p>
            <a:pPr marL="0" indent="0" algn="l">
              <a:lnSpc>
                <a:spcPts val="4350"/>
              </a:lnSpc>
              <a:buNone/>
            </a:pPr>
            <a:r>
              <a:rPr lang="en-US" sz="3500" dirty="0">
                <a:solidFill>
                  <a:srgbClr val="EDEDE8"/>
                </a:solidFill>
                <a:latin typeface="Tomorrow Semi Bold" pitchFamily="34" charset="0"/>
                <a:ea typeface="Tomorrow Semi Bold" pitchFamily="34" charset="-122"/>
                <a:cs typeface="Tomorrow Semi Bold" pitchFamily="34" charset="-120"/>
              </a:rPr>
              <a:t>Limits of Liberalism: Women and Race</a:t>
            </a:r>
            <a:endParaRPr lang="en-US" sz="3500" dirty="0"/>
          </a:p>
        </p:txBody>
      </p:sp>
      <p:sp>
        <p:nvSpPr>
          <p:cNvPr id="3" name="Text 1"/>
          <p:cNvSpPr/>
          <p:nvPr/>
        </p:nvSpPr>
        <p:spPr>
          <a:xfrm>
            <a:off x="2253496" y="1672590"/>
            <a:ext cx="2452568" cy="277773"/>
          </a:xfrm>
          <a:prstGeom prst="rect">
            <a:avLst/>
          </a:prstGeom>
          <a:noFill/>
          <a:ln/>
        </p:spPr>
        <p:txBody>
          <a:bodyPr wrap="none" lIns="0" tIns="0" rIns="0" bIns="0" rtlCol="0" anchor="t"/>
          <a:lstStyle/>
          <a:p>
            <a:pPr marL="0" indent="0" algn="r">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Limited Opportunities</a:t>
            </a:r>
            <a:endParaRPr lang="en-US" sz="1750" dirty="0"/>
          </a:p>
        </p:txBody>
      </p:sp>
      <p:sp>
        <p:nvSpPr>
          <p:cNvPr id="4" name="Text 2"/>
          <p:cNvSpPr/>
          <p:nvPr/>
        </p:nvSpPr>
        <p:spPr>
          <a:xfrm>
            <a:off x="622459" y="2057043"/>
            <a:ext cx="4083606" cy="1422797"/>
          </a:xfrm>
          <a:prstGeom prst="rect">
            <a:avLst/>
          </a:prstGeom>
          <a:noFill/>
          <a:ln/>
        </p:spPr>
        <p:txBody>
          <a:bodyPr wrap="square" lIns="0" tIns="0" rIns="0" bIns="0" rtlCol="0" anchor="t"/>
          <a:lstStyle/>
          <a:p>
            <a:pPr marL="0" indent="0" algn="r">
              <a:lnSpc>
                <a:spcPts val="2200"/>
              </a:lnSpc>
              <a:buNone/>
            </a:pPr>
            <a:r>
              <a:rPr lang="en-US" sz="1400" dirty="0">
                <a:solidFill>
                  <a:srgbClr val="C9C9C0"/>
                </a:solidFill>
                <a:latin typeface="Tomorrow" pitchFamily="34" charset="0"/>
                <a:ea typeface="Tomorrow" pitchFamily="34" charset="-122"/>
                <a:cs typeface="Tomorrow" pitchFamily="34" charset="-120"/>
              </a:rPr>
              <a:t>Progress had restricted benefits for women who faced minimal educational opportunities, domestic expectations, and few public roles despite liberal rhetoric of universal advancement.</a:t>
            </a:r>
            <a:endParaRPr lang="en-US" sz="1400" dirty="0"/>
          </a:p>
        </p:txBody>
      </p:sp>
      <p:pic>
        <p:nvPicPr>
          <p:cNvPr id="5" name="Image 0" descr="preencoded.png"/>
          <p:cNvPicPr>
            <a:picLocks noChangeAspect="1"/>
          </p:cNvPicPr>
          <p:nvPr/>
        </p:nvPicPr>
        <p:blipFill>
          <a:blip r:embed="rId3"/>
          <a:stretch>
            <a:fillRect/>
          </a:stretch>
        </p:blipFill>
        <p:spPr>
          <a:xfrm>
            <a:off x="4972764" y="1400532"/>
            <a:ext cx="4684871" cy="4684871"/>
          </a:xfrm>
          <a:prstGeom prst="rect">
            <a:avLst/>
          </a:prstGeom>
        </p:spPr>
      </p:pic>
      <p:pic>
        <p:nvPicPr>
          <p:cNvPr id="6" name="Image 1" descr="preencoded.png"/>
          <p:cNvPicPr>
            <a:picLocks noChangeAspect="1"/>
          </p:cNvPicPr>
          <p:nvPr/>
        </p:nvPicPr>
        <p:blipFill>
          <a:blip r:embed="rId4"/>
          <a:stretch>
            <a:fillRect/>
          </a:stretch>
        </p:blipFill>
        <p:spPr>
          <a:xfrm>
            <a:off x="6022538" y="2417088"/>
            <a:ext cx="266105" cy="332661"/>
          </a:xfrm>
          <a:prstGeom prst="rect">
            <a:avLst/>
          </a:prstGeom>
        </p:spPr>
      </p:pic>
      <p:sp>
        <p:nvSpPr>
          <p:cNvPr id="7" name="Text 3"/>
          <p:cNvSpPr/>
          <p:nvPr/>
        </p:nvSpPr>
        <p:spPr>
          <a:xfrm>
            <a:off x="9924336" y="1814870"/>
            <a:ext cx="2223373" cy="277773"/>
          </a:xfrm>
          <a:prstGeom prst="rect">
            <a:avLst/>
          </a:prstGeom>
          <a:noFill/>
          <a:ln/>
        </p:spPr>
        <p:txBody>
          <a:bodyPr wrap="none" lIns="0" tIns="0" rIns="0" bIns="0" rtlCol="0" anchor="t"/>
          <a:lstStyle/>
          <a:p>
            <a:pPr marL="0" indent="0" algn="l">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Literary Exceptions</a:t>
            </a:r>
            <a:endParaRPr lang="en-US" sz="1750" dirty="0"/>
          </a:p>
        </p:txBody>
      </p:sp>
      <p:sp>
        <p:nvSpPr>
          <p:cNvPr id="8" name="Text 4"/>
          <p:cNvSpPr/>
          <p:nvPr/>
        </p:nvSpPr>
        <p:spPr>
          <a:xfrm>
            <a:off x="9924336" y="2199323"/>
            <a:ext cx="4083606" cy="1138238"/>
          </a:xfrm>
          <a:prstGeom prst="rect">
            <a:avLst/>
          </a:prstGeom>
          <a:noFill/>
          <a:ln/>
        </p:spPr>
        <p:txBody>
          <a:bodyPr wrap="squar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Female writers like Juana Manuela Gorriti, Clorinda Matto de Turner, and Gertrudis Gómez de Avellaneda created significant literary works despite societal constraints.</a:t>
            </a:r>
            <a:endParaRPr lang="en-US" sz="1400" dirty="0"/>
          </a:p>
        </p:txBody>
      </p:sp>
      <p:pic>
        <p:nvPicPr>
          <p:cNvPr id="9" name="Image 2" descr="preencoded.png"/>
          <p:cNvPicPr>
            <a:picLocks noChangeAspect="1"/>
          </p:cNvPicPr>
          <p:nvPr/>
        </p:nvPicPr>
        <p:blipFill>
          <a:blip r:embed="rId5"/>
          <a:stretch>
            <a:fillRect/>
          </a:stretch>
        </p:blipFill>
        <p:spPr>
          <a:xfrm>
            <a:off x="4972764" y="1400532"/>
            <a:ext cx="4684871" cy="4684871"/>
          </a:xfrm>
          <a:prstGeom prst="rect">
            <a:avLst/>
          </a:prstGeom>
        </p:spPr>
      </p:pic>
      <p:pic>
        <p:nvPicPr>
          <p:cNvPr id="10" name="Image 3" descr="preencoded.png"/>
          <p:cNvPicPr>
            <a:picLocks noChangeAspect="1"/>
          </p:cNvPicPr>
          <p:nvPr/>
        </p:nvPicPr>
        <p:blipFill>
          <a:blip r:embed="rId6"/>
          <a:stretch>
            <a:fillRect/>
          </a:stretch>
        </p:blipFill>
        <p:spPr>
          <a:xfrm>
            <a:off x="8341519" y="2417088"/>
            <a:ext cx="266105" cy="332661"/>
          </a:xfrm>
          <a:prstGeom prst="rect">
            <a:avLst/>
          </a:prstGeom>
        </p:spPr>
      </p:pic>
      <p:sp>
        <p:nvSpPr>
          <p:cNvPr id="11" name="Text 5"/>
          <p:cNvSpPr/>
          <p:nvPr/>
        </p:nvSpPr>
        <p:spPr>
          <a:xfrm>
            <a:off x="9924336" y="4290655"/>
            <a:ext cx="2223373" cy="277773"/>
          </a:xfrm>
          <a:prstGeom prst="rect">
            <a:avLst/>
          </a:prstGeom>
          <a:noFill/>
          <a:ln/>
        </p:spPr>
        <p:txBody>
          <a:bodyPr wrap="none" lIns="0" tIns="0" rIns="0" bIns="0" rtlCol="0" anchor="t"/>
          <a:lstStyle/>
          <a:p>
            <a:pPr marL="0" indent="0" algn="l">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Social Critique</a:t>
            </a:r>
            <a:endParaRPr lang="en-US" sz="1750" dirty="0"/>
          </a:p>
        </p:txBody>
      </p:sp>
      <p:sp>
        <p:nvSpPr>
          <p:cNvPr id="12" name="Text 6"/>
          <p:cNvSpPr/>
          <p:nvPr/>
        </p:nvSpPr>
        <p:spPr>
          <a:xfrm>
            <a:off x="9924336" y="4675108"/>
            <a:ext cx="4083606" cy="1138238"/>
          </a:xfrm>
          <a:prstGeom prst="rect">
            <a:avLst/>
          </a:prstGeom>
          <a:noFill/>
          <a:ln/>
        </p:spPr>
        <p:txBody>
          <a:bodyPr wrap="squar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Their writing boldly tackled controversial issues including slavery, patriarchy, and Indigenous rights, often challenging the liberal establishment's blind spots.</a:t>
            </a:r>
            <a:endParaRPr lang="en-US" sz="1400" dirty="0"/>
          </a:p>
        </p:txBody>
      </p:sp>
      <p:pic>
        <p:nvPicPr>
          <p:cNvPr id="13" name="Image 4" descr="preencoded.png"/>
          <p:cNvPicPr>
            <a:picLocks noChangeAspect="1"/>
          </p:cNvPicPr>
          <p:nvPr/>
        </p:nvPicPr>
        <p:blipFill>
          <a:blip r:embed="rId7"/>
          <a:stretch>
            <a:fillRect/>
          </a:stretch>
        </p:blipFill>
        <p:spPr>
          <a:xfrm>
            <a:off x="4972764" y="1400532"/>
            <a:ext cx="4684871" cy="4684871"/>
          </a:xfrm>
          <a:prstGeom prst="rect">
            <a:avLst/>
          </a:prstGeom>
        </p:spPr>
      </p:pic>
      <p:pic>
        <p:nvPicPr>
          <p:cNvPr id="14" name="Image 5" descr="preencoded.png"/>
          <p:cNvPicPr>
            <a:picLocks noChangeAspect="1"/>
          </p:cNvPicPr>
          <p:nvPr/>
        </p:nvPicPr>
        <p:blipFill>
          <a:blip r:embed="rId8"/>
          <a:stretch>
            <a:fillRect/>
          </a:stretch>
        </p:blipFill>
        <p:spPr>
          <a:xfrm>
            <a:off x="8341519" y="4736068"/>
            <a:ext cx="266105" cy="332661"/>
          </a:xfrm>
          <a:prstGeom prst="rect">
            <a:avLst/>
          </a:prstGeom>
        </p:spPr>
      </p:pic>
      <p:sp>
        <p:nvSpPr>
          <p:cNvPr id="15" name="Text 7"/>
          <p:cNvSpPr/>
          <p:nvPr/>
        </p:nvSpPr>
        <p:spPr>
          <a:xfrm>
            <a:off x="2482691" y="4290655"/>
            <a:ext cx="2223373" cy="277773"/>
          </a:xfrm>
          <a:prstGeom prst="rect">
            <a:avLst/>
          </a:prstGeom>
          <a:noFill/>
          <a:ln/>
        </p:spPr>
        <p:txBody>
          <a:bodyPr wrap="none" lIns="0" tIns="0" rIns="0" bIns="0" rtlCol="0" anchor="t"/>
          <a:lstStyle/>
          <a:p>
            <a:pPr marL="0" indent="0" algn="r">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Racial Exclusion</a:t>
            </a:r>
            <a:endParaRPr lang="en-US" sz="1750" dirty="0"/>
          </a:p>
        </p:txBody>
      </p:sp>
      <p:sp>
        <p:nvSpPr>
          <p:cNvPr id="16" name="Text 8"/>
          <p:cNvSpPr/>
          <p:nvPr/>
        </p:nvSpPr>
        <p:spPr>
          <a:xfrm>
            <a:off x="622459" y="4675108"/>
            <a:ext cx="4083606" cy="1138238"/>
          </a:xfrm>
          <a:prstGeom prst="rect">
            <a:avLst/>
          </a:prstGeom>
          <a:noFill/>
          <a:ln/>
        </p:spPr>
        <p:txBody>
          <a:bodyPr wrap="square" lIns="0" tIns="0" rIns="0" bIns="0" rtlCol="0" anchor="t"/>
          <a:lstStyle/>
          <a:p>
            <a:pPr marL="0" indent="0" algn="r">
              <a:lnSpc>
                <a:spcPts val="2200"/>
              </a:lnSpc>
              <a:buNone/>
            </a:pPr>
            <a:r>
              <a:rPr lang="en-US" sz="1400" dirty="0">
                <a:solidFill>
                  <a:srgbClr val="C9C9C0"/>
                </a:solidFill>
                <a:latin typeface="Tomorrow" pitchFamily="34" charset="0"/>
                <a:ea typeface="Tomorrow" pitchFamily="34" charset="-122"/>
                <a:cs typeface="Tomorrow" pitchFamily="34" charset="-120"/>
              </a:rPr>
              <a:t>Despite promises of universal progress, liberalism frequently excluded racial minorities from its vision, maintaining hierarchies that benefited white and mestizo elites.</a:t>
            </a:r>
            <a:endParaRPr lang="en-US" sz="1400" dirty="0"/>
          </a:p>
        </p:txBody>
      </p:sp>
      <p:pic>
        <p:nvPicPr>
          <p:cNvPr id="17" name="Image 6" descr="preencoded.png"/>
          <p:cNvPicPr>
            <a:picLocks noChangeAspect="1"/>
          </p:cNvPicPr>
          <p:nvPr/>
        </p:nvPicPr>
        <p:blipFill>
          <a:blip r:embed="rId9"/>
          <a:stretch>
            <a:fillRect/>
          </a:stretch>
        </p:blipFill>
        <p:spPr>
          <a:xfrm>
            <a:off x="4972764" y="1400532"/>
            <a:ext cx="4684871" cy="4684871"/>
          </a:xfrm>
          <a:prstGeom prst="rect">
            <a:avLst/>
          </a:prstGeom>
        </p:spPr>
      </p:pic>
      <p:pic>
        <p:nvPicPr>
          <p:cNvPr id="18" name="Image 7" descr="preencoded.png"/>
          <p:cNvPicPr>
            <a:picLocks noChangeAspect="1"/>
          </p:cNvPicPr>
          <p:nvPr/>
        </p:nvPicPr>
        <p:blipFill>
          <a:blip r:embed="rId10"/>
          <a:stretch>
            <a:fillRect/>
          </a:stretch>
        </p:blipFill>
        <p:spPr>
          <a:xfrm>
            <a:off x="6022538" y="4736068"/>
            <a:ext cx="266105" cy="332661"/>
          </a:xfrm>
          <a:prstGeom prst="rect">
            <a:avLst/>
          </a:prstGeom>
        </p:spPr>
      </p:pic>
      <p:sp>
        <p:nvSpPr>
          <p:cNvPr id="19" name="Text 9"/>
          <p:cNvSpPr/>
          <p:nvPr/>
        </p:nvSpPr>
        <p:spPr>
          <a:xfrm>
            <a:off x="622459" y="6285428"/>
            <a:ext cx="13385483" cy="853678"/>
          </a:xfrm>
          <a:prstGeom prst="rect">
            <a:avLst/>
          </a:prstGeom>
          <a:noFill/>
          <a:ln/>
        </p:spPr>
        <p:txBody>
          <a:bodyPr wrap="squar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The contradictions within liberal ideology became particularly evident in its treatment of women and racial minorities. While espousing universal principles of freedom and progress, liberal governments and thinkers often reinforced traditional gender roles and racial hierarchies that limited opportunities for large segments of society.</a:t>
            </a:r>
            <a:endParaRPr lang="en-US" sz="1400" dirty="0"/>
          </a:p>
        </p:txBody>
      </p:sp>
      <p:sp>
        <p:nvSpPr>
          <p:cNvPr id="20" name="Text 10"/>
          <p:cNvSpPr/>
          <p:nvPr/>
        </p:nvSpPr>
        <p:spPr>
          <a:xfrm>
            <a:off x="622459" y="7339132"/>
            <a:ext cx="13385483" cy="853678"/>
          </a:xfrm>
          <a:prstGeom prst="rect">
            <a:avLst/>
          </a:prstGeom>
          <a:noFill/>
          <a:ln/>
        </p:spPr>
        <p:txBody>
          <a:bodyPr wrap="squar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Female writers of this period played a crucial role in exposing these contradictions. Through their novels, essays, and poetry, figures like Gorriti and Matto de Turner challenged not only conservative traditions but also the limitations of liberal reforms that failed to address fundamental inequalities based on gender and race.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72227" y="582811"/>
            <a:ext cx="7151370" cy="600313"/>
          </a:xfrm>
          <a:prstGeom prst="rect">
            <a:avLst/>
          </a:prstGeom>
          <a:noFill/>
          <a:ln/>
        </p:spPr>
        <p:txBody>
          <a:bodyPr wrap="none" lIns="0" tIns="0" rIns="0" bIns="0" rtlCol="0" anchor="t"/>
          <a:lstStyle/>
          <a:p>
            <a:pPr marL="0" indent="0" algn="l">
              <a:lnSpc>
                <a:spcPts val="4700"/>
              </a:lnSpc>
              <a:buNone/>
            </a:pPr>
            <a:r>
              <a:rPr lang="en-US" sz="3750" dirty="0">
                <a:solidFill>
                  <a:srgbClr val="EDEDE8"/>
                </a:solidFill>
                <a:latin typeface="Tomorrow Semi Bold" pitchFamily="34" charset="0"/>
                <a:ea typeface="Tomorrow Semi Bold" pitchFamily="34" charset="-122"/>
                <a:cs typeface="Tomorrow Semi Bold" pitchFamily="34" charset="-120"/>
              </a:rPr>
              <a:t>Argentine Models of Progress</a:t>
            </a:r>
            <a:endParaRPr lang="en-US" sz="3750" dirty="0"/>
          </a:p>
        </p:txBody>
      </p:sp>
      <p:sp>
        <p:nvSpPr>
          <p:cNvPr id="3" name="Shape 1"/>
          <p:cNvSpPr/>
          <p:nvPr/>
        </p:nvSpPr>
        <p:spPr>
          <a:xfrm>
            <a:off x="672227" y="1567220"/>
            <a:ext cx="432197" cy="432197"/>
          </a:xfrm>
          <a:prstGeom prst="roundRect">
            <a:avLst>
              <a:gd name="adj" fmla="val 6667"/>
            </a:avLst>
          </a:prstGeom>
          <a:solidFill>
            <a:srgbClr val="3C3C3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44260" y="1603236"/>
            <a:ext cx="288131" cy="360164"/>
          </a:xfrm>
          <a:prstGeom prst="rect">
            <a:avLst/>
          </a:prstGeom>
        </p:spPr>
      </p:pic>
      <p:sp>
        <p:nvSpPr>
          <p:cNvPr id="5" name="Text 2"/>
          <p:cNvSpPr/>
          <p:nvPr/>
        </p:nvSpPr>
        <p:spPr>
          <a:xfrm>
            <a:off x="1296472" y="1633180"/>
            <a:ext cx="2401133" cy="300157"/>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Liberal Visionaries</a:t>
            </a:r>
            <a:endParaRPr lang="en-US" sz="1850" dirty="0"/>
          </a:p>
        </p:txBody>
      </p:sp>
      <p:sp>
        <p:nvSpPr>
          <p:cNvPr id="6" name="Text 3"/>
          <p:cNvSpPr/>
          <p:nvPr/>
        </p:nvSpPr>
        <p:spPr>
          <a:xfrm>
            <a:off x="1296472" y="2048589"/>
            <a:ext cx="5898713" cy="1228725"/>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Intellectuals like Juan Bautista Alberdi, Bartolomé Mitre, and Domingo Faustino Sarmiento developed comprehensive visions of Argentine modernization based on European models and liberal principles.</a:t>
            </a:r>
            <a:endParaRPr lang="en-US" sz="1500" dirty="0"/>
          </a:p>
        </p:txBody>
      </p:sp>
      <p:sp>
        <p:nvSpPr>
          <p:cNvPr id="7" name="Shape 4"/>
          <p:cNvSpPr/>
          <p:nvPr/>
        </p:nvSpPr>
        <p:spPr>
          <a:xfrm>
            <a:off x="7435215" y="1567220"/>
            <a:ext cx="432197" cy="432197"/>
          </a:xfrm>
          <a:prstGeom prst="roundRect">
            <a:avLst>
              <a:gd name="adj" fmla="val 6667"/>
            </a:avLst>
          </a:prstGeom>
          <a:solidFill>
            <a:srgbClr val="3C3C3A"/>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7507248" y="1603236"/>
            <a:ext cx="288131" cy="360164"/>
          </a:xfrm>
          <a:prstGeom prst="rect">
            <a:avLst/>
          </a:prstGeom>
        </p:spPr>
      </p:pic>
      <p:sp>
        <p:nvSpPr>
          <p:cNvPr id="9" name="Text 5"/>
          <p:cNvSpPr/>
          <p:nvPr/>
        </p:nvSpPr>
        <p:spPr>
          <a:xfrm>
            <a:off x="8059460" y="1633180"/>
            <a:ext cx="2769037" cy="300157"/>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European Immigration</a:t>
            </a:r>
            <a:endParaRPr lang="en-US" sz="1850" dirty="0"/>
          </a:p>
        </p:txBody>
      </p:sp>
      <p:sp>
        <p:nvSpPr>
          <p:cNvPr id="10" name="Text 6"/>
          <p:cNvSpPr/>
          <p:nvPr/>
        </p:nvSpPr>
        <p:spPr>
          <a:xfrm>
            <a:off x="8059460" y="2048589"/>
            <a:ext cx="5898713" cy="1228725"/>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Following Alberdi's slogan "Gobernar es poblar" ("To govern is to populate"), Argentina actively encouraged European immigration, transforming the country's demographic makeup and cultural orientation.</a:t>
            </a:r>
            <a:endParaRPr lang="en-US" sz="1500" dirty="0"/>
          </a:p>
        </p:txBody>
      </p:sp>
      <p:sp>
        <p:nvSpPr>
          <p:cNvPr id="11" name="Shape 7"/>
          <p:cNvSpPr/>
          <p:nvPr/>
        </p:nvSpPr>
        <p:spPr>
          <a:xfrm>
            <a:off x="672227" y="3661410"/>
            <a:ext cx="432197" cy="432197"/>
          </a:xfrm>
          <a:prstGeom prst="roundRect">
            <a:avLst>
              <a:gd name="adj" fmla="val 6667"/>
            </a:avLst>
          </a:prstGeom>
          <a:solidFill>
            <a:srgbClr val="3C3C3A"/>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744260" y="3697426"/>
            <a:ext cx="288131" cy="360164"/>
          </a:xfrm>
          <a:prstGeom prst="rect">
            <a:avLst/>
          </a:prstGeom>
        </p:spPr>
      </p:pic>
      <p:sp>
        <p:nvSpPr>
          <p:cNvPr id="13" name="Text 8"/>
          <p:cNvSpPr/>
          <p:nvPr/>
        </p:nvSpPr>
        <p:spPr>
          <a:xfrm>
            <a:off x="1296472" y="3727371"/>
            <a:ext cx="2793087" cy="300157"/>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Educational Expansion</a:t>
            </a:r>
            <a:endParaRPr lang="en-US" sz="1850" dirty="0"/>
          </a:p>
        </p:txBody>
      </p:sp>
      <p:sp>
        <p:nvSpPr>
          <p:cNvPr id="14" name="Text 9"/>
          <p:cNvSpPr/>
          <p:nvPr/>
        </p:nvSpPr>
        <p:spPr>
          <a:xfrm>
            <a:off x="1296472" y="4142780"/>
            <a:ext cx="5898713" cy="1228725"/>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Sarmiento, as president from 1868 to 1874, dramatically expanded public education, importing U.S. teaching models and establishing normal schools to train a new generation of educators.</a:t>
            </a:r>
            <a:endParaRPr lang="en-US" sz="1500" dirty="0"/>
          </a:p>
        </p:txBody>
      </p:sp>
      <p:sp>
        <p:nvSpPr>
          <p:cNvPr id="15" name="Shape 10"/>
          <p:cNvSpPr/>
          <p:nvPr/>
        </p:nvSpPr>
        <p:spPr>
          <a:xfrm>
            <a:off x="7435215" y="3661410"/>
            <a:ext cx="432197" cy="432197"/>
          </a:xfrm>
          <a:prstGeom prst="roundRect">
            <a:avLst>
              <a:gd name="adj" fmla="val 6667"/>
            </a:avLst>
          </a:prstGeom>
          <a:solidFill>
            <a:srgbClr val="3C3C3A"/>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7507248" y="3697426"/>
            <a:ext cx="288131" cy="360164"/>
          </a:xfrm>
          <a:prstGeom prst="rect">
            <a:avLst/>
          </a:prstGeom>
        </p:spPr>
      </p:pic>
      <p:sp>
        <p:nvSpPr>
          <p:cNvPr id="17" name="Text 11"/>
          <p:cNvSpPr/>
          <p:nvPr/>
        </p:nvSpPr>
        <p:spPr>
          <a:xfrm>
            <a:off x="8059460" y="3727371"/>
            <a:ext cx="2681168" cy="300157"/>
          </a:xfrm>
          <a:prstGeom prst="rect">
            <a:avLst/>
          </a:prstGeom>
          <a:noFill/>
          <a:ln/>
        </p:spPr>
        <p:txBody>
          <a:bodyPr wrap="none" lIns="0" tIns="0" rIns="0" bIns="0" rtlCol="0" anchor="t"/>
          <a:lstStyle/>
          <a:p>
            <a:pPr marL="0" indent="0" algn="l">
              <a:lnSpc>
                <a:spcPts val="2350"/>
              </a:lnSpc>
              <a:buNone/>
            </a:pPr>
            <a:r>
              <a:rPr lang="en-US" sz="1850" dirty="0">
                <a:solidFill>
                  <a:srgbClr val="C9C9C0"/>
                </a:solidFill>
                <a:latin typeface="Tomorrow Semi Bold" pitchFamily="34" charset="0"/>
                <a:ea typeface="Tomorrow Semi Bold" pitchFamily="34" charset="-122"/>
                <a:cs typeface="Tomorrow Semi Bold" pitchFamily="34" charset="-120"/>
              </a:rPr>
              <a:t>Urban Transformation</a:t>
            </a:r>
            <a:endParaRPr lang="en-US" sz="1850" dirty="0"/>
          </a:p>
        </p:txBody>
      </p:sp>
      <p:sp>
        <p:nvSpPr>
          <p:cNvPr id="18" name="Text 12"/>
          <p:cNvSpPr/>
          <p:nvPr/>
        </p:nvSpPr>
        <p:spPr>
          <a:xfrm>
            <a:off x="8059460" y="4142780"/>
            <a:ext cx="5898713" cy="1228725"/>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Buenos Aires underwent rapid development to resemble European capitals like Milan and Paris rather than other Latin American cities, reflecting Argentina's aspirations to European standards of modernity.</a:t>
            </a:r>
            <a:endParaRPr lang="en-US" sz="1500" dirty="0"/>
          </a:p>
        </p:txBody>
      </p:sp>
      <p:sp>
        <p:nvSpPr>
          <p:cNvPr id="19" name="Text 13"/>
          <p:cNvSpPr/>
          <p:nvPr/>
        </p:nvSpPr>
        <p:spPr>
          <a:xfrm>
            <a:off x="672227" y="5587603"/>
            <a:ext cx="13285946" cy="921544"/>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Argentina represented perhaps the most ambitious application of liberal modernization theories in Latin America. Its leaders explicitly modeled their development strategies on European and North American examples, pursuing a transformation that extended beyond economics to encompass demographics, education, and urban design.</a:t>
            </a:r>
            <a:endParaRPr lang="en-US" sz="1500" dirty="0"/>
          </a:p>
        </p:txBody>
      </p:sp>
      <p:sp>
        <p:nvSpPr>
          <p:cNvPr id="20" name="Text 14"/>
          <p:cNvSpPr/>
          <p:nvPr/>
        </p:nvSpPr>
        <p:spPr>
          <a:xfrm>
            <a:off x="672227" y="6725245"/>
            <a:ext cx="13285946" cy="921544"/>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The visible results of these policies—European-style boulevards, grand public buildings, expanded educational institutions—created a powerful image of progress that reinforced liberal claims about the path to national development. However, these transformations primarily benefited urban centers and certain social classes, creating new forms of inequality.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16863" y="485775"/>
            <a:ext cx="8982670" cy="550783"/>
          </a:xfrm>
          <a:prstGeom prst="rect">
            <a:avLst/>
          </a:prstGeom>
          <a:noFill/>
          <a:ln/>
        </p:spPr>
        <p:txBody>
          <a:bodyPr wrap="none" lIns="0" tIns="0" rIns="0" bIns="0" rtlCol="0" anchor="t"/>
          <a:lstStyle/>
          <a:p>
            <a:pPr marL="0" indent="0" algn="l">
              <a:lnSpc>
                <a:spcPts val="4300"/>
              </a:lnSpc>
              <a:buNone/>
            </a:pPr>
            <a:r>
              <a:rPr lang="en-US" sz="3450" dirty="0">
                <a:solidFill>
                  <a:srgbClr val="EDEDE8"/>
                </a:solidFill>
                <a:latin typeface="Tomorrow Semi Bold" pitchFamily="34" charset="0"/>
                <a:ea typeface="Tomorrow Semi Bold" pitchFamily="34" charset="-122"/>
                <a:cs typeface="Tomorrow Semi Bold" pitchFamily="34" charset="-120"/>
              </a:rPr>
              <a:t>Scientific Racism and Racial Hierarchies</a:t>
            </a:r>
            <a:endParaRPr lang="en-US" sz="3450" dirty="0"/>
          </a:p>
        </p:txBody>
      </p:sp>
      <p:sp>
        <p:nvSpPr>
          <p:cNvPr id="3" name="Shape 1"/>
          <p:cNvSpPr/>
          <p:nvPr/>
        </p:nvSpPr>
        <p:spPr>
          <a:xfrm>
            <a:off x="616863" y="1388983"/>
            <a:ext cx="2232660" cy="1015484"/>
          </a:xfrm>
          <a:prstGeom prst="roundRect">
            <a:avLst>
              <a:gd name="adj" fmla="val 2604"/>
            </a:avLst>
          </a:prstGeom>
          <a:solidFill>
            <a:srgbClr val="3C3C3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609249" y="1741765"/>
            <a:ext cx="247769" cy="309801"/>
          </a:xfrm>
          <a:prstGeom prst="rect">
            <a:avLst/>
          </a:prstGeom>
        </p:spPr>
      </p:pic>
      <p:sp>
        <p:nvSpPr>
          <p:cNvPr id="5" name="Text 2"/>
          <p:cNvSpPr/>
          <p:nvPr/>
        </p:nvSpPr>
        <p:spPr>
          <a:xfrm>
            <a:off x="3025735" y="1565196"/>
            <a:ext cx="2203252" cy="275392"/>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European Theories</a:t>
            </a:r>
            <a:endParaRPr lang="en-US" sz="1700" dirty="0"/>
          </a:p>
        </p:txBody>
      </p:sp>
      <p:sp>
        <p:nvSpPr>
          <p:cNvPr id="6" name="Text 3"/>
          <p:cNvSpPr/>
          <p:nvPr/>
        </p:nvSpPr>
        <p:spPr>
          <a:xfrm>
            <a:off x="3025735" y="1946315"/>
            <a:ext cx="3307913" cy="281940"/>
          </a:xfrm>
          <a:prstGeom prst="rect">
            <a:avLst/>
          </a:prstGeom>
          <a:noFill/>
          <a:ln/>
        </p:spPr>
        <p:txBody>
          <a:bodyPr wrap="non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Scientific racism imported from Europe</a:t>
            </a:r>
            <a:endParaRPr lang="en-US" sz="1350" dirty="0"/>
          </a:p>
        </p:txBody>
      </p:sp>
      <p:sp>
        <p:nvSpPr>
          <p:cNvPr id="7" name="Shape 4"/>
          <p:cNvSpPr/>
          <p:nvPr/>
        </p:nvSpPr>
        <p:spPr>
          <a:xfrm>
            <a:off x="2937629" y="2394942"/>
            <a:ext cx="10987802" cy="11430"/>
          </a:xfrm>
          <a:prstGeom prst="roundRect">
            <a:avLst>
              <a:gd name="adj" fmla="val 231322"/>
            </a:avLst>
          </a:prstGeom>
          <a:solidFill>
            <a:srgbClr val="555553"/>
          </a:solidFill>
          <a:ln/>
        </p:spPr>
        <p:txBody>
          <a:bodyPr/>
          <a:lstStyle/>
          <a:p>
            <a:endParaRPr lang="en-US"/>
          </a:p>
        </p:txBody>
      </p:sp>
      <p:sp>
        <p:nvSpPr>
          <p:cNvPr id="8" name="Shape 5"/>
          <p:cNvSpPr/>
          <p:nvPr/>
        </p:nvSpPr>
        <p:spPr>
          <a:xfrm>
            <a:off x="616863" y="2492573"/>
            <a:ext cx="4465439" cy="1015484"/>
          </a:xfrm>
          <a:prstGeom prst="roundRect">
            <a:avLst>
              <a:gd name="adj" fmla="val 2604"/>
            </a:avLst>
          </a:prstGeom>
          <a:solidFill>
            <a:srgbClr val="3C3C3A"/>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2725698" y="2845356"/>
            <a:ext cx="247769" cy="309801"/>
          </a:xfrm>
          <a:prstGeom prst="rect">
            <a:avLst/>
          </a:prstGeom>
        </p:spPr>
      </p:pic>
      <p:sp>
        <p:nvSpPr>
          <p:cNvPr id="10" name="Text 6"/>
          <p:cNvSpPr/>
          <p:nvPr/>
        </p:nvSpPr>
        <p:spPr>
          <a:xfrm>
            <a:off x="5258514" y="2668786"/>
            <a:ext cx="2203252" cy="275392"/>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Elite Adoption</a:t>
            </a:r>
            <a:endParaRPr lang="en-US" sz="1700" dirty="0"/>
          </a:p>
        </p:txBody>
      </p:sp>
      <p:sp>
        <p:nvSpPr>
          <p:cNvPr id="11" name="Text 7"/>
          <p:cNvSpPr/>
          <p:nvPr/>
        </p:nvSpPr>
        <p:spPr>
          <a:xfrm>
            <a:off x="5258514" y="3049905"/>
            <a:ext cx="2725698" cy="281940"/>
          </a:xfrm>
          <a:prstGeom prst="rect">
            <a:avLst/>
          </a:prstGeom>
          <a:noFill/>
          <a:ln/>
        </p:spPr>
        <p:txBody>
          <a:bodyPr wrap="non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Embraced by liberal intellectuals</a:t>
            </a:r>
            <a:endParaRPr lang="en-US" sz="1350" dirty="0"/>
          </a:p>
        </p:txBody>
      </p:sp>
      <p:sp>
        <p:nvSpPr>
          <p:cNvPr id="12" name="Shape 8"/>
          <p:cNvSpPr/>
          <p:nvPr/>
        </p:nvSpPr>
        <p:spPr>
          <a:xfrm>
            <a:off x="5170408" y="3498533"/>
            <a:ext cx="8755023" cy="11430"/>
          </a:xfrm>
          <a:prstGeom prst="roundRect">
            <a:avLst>
              <a:gd name="adj" fmla="val 231322"/>
            </a:avLst>
          </a:prstGeom>
          <a:solidFill>
            <a:srgbClr val="555553"/>
          </a:solidFill>
          <a:ln/>
        </p:spPr>
        <p:txBody>
          <a:bodyPr/>
          <a:lstStyle/>
          <a:p>
            <a:endParaRPr lang="en-US"/>
          </a:p>
        </p:txBody>
      </p:sp>
      <p:sp>
        <p:nvSpPr>
          <p:cNvPr id="13" name="Shape 9"/>
          <p:cNvSpPr/>
          <p:nvPr/>
        </p:nvSpPr>
        <p:spPr>
          <a:xfrm>
            <a:off x="616863" y="3596164"/>
            <a:ext cx="6698337" cy="1015484"/>
          </a:xfrm>
          <a:prstGeom prst="roundRect">
            <a:avLst>
              <a:gd name="adj" fmla="val 2604"/>
            </a:avLst>
          </a:prstGeom>
          <a:solidFill>
            <a:srgbClr val="3C3C3A"/>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3842147" y="3948946"/>
            <a:ext cx="247769" cy="309801"/>
          </a:xfrm>
          <a:prstGeom prst="rect">
            <a:avLst/>
          </a:prstGeom>
        </p:spPr>
      </p:pic>
      <p:sp>
        <p:nvSpPr>
          <p:cNvPr id="15" name="Text 10"/>
          <p:cNvSpPr/>
          <p:nvPr/>
        </p:nvSpPr>
        <p:spPr>
          <a:xfrm>
            <a:off x="7491413" y="3772376"/>
            <a:ext cx="2203252" cy="275392"/>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Racial Hierarchies</a:t>
            </a:r>
            <a:endParaRPr lang="en-US" sz="1700" dirty="0"/>
          </a:p>
        </p:txBody>
      </p:sp>
      <p:sp>
        <p:nvSpPr>
          <p:cNvPr id="16" name="Text 11"/>
          <p:cNvSpPr/>
          <p:nvPr/>
        </p:nvSpPr>
        <p:spPr>
          <a:xfrm>
            <a:off x="7491413" y="4153495"/>
            <a:ext cx="3070503" cy="281940"/>
          </a:xfrm>
          <a:prstGeom prst="rect">
            <a:avLst/>
          </a:prstGeom>
          <a:noFill/>
          <a:ln/>
        </p:spPr>
        <p:txBody>
          <a:bodyPr wrap="non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Race mixing viewed as degenerative</a:t>
            </a:r>
            <a:endParaRPr lang="en-US" sz="1350" dirty="0"/>
          </a:p>
        </p:txBody>
      </p:sp>
      <p:sp>
        <p:nvSpPr>
          <p:cNvPr id="17" name="Text 12"/>
          <p:cNvSpPr/>
          <p:nvPr/>
        </p:nvSpPr>
        <p:spPr>
          <a:xfrm>
            <a:off x="616863" y="4809887"/>
            <a:ext cx="13396674" cy="845820"/>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In a profound contradiction, many of the same liberal thinkers who championed progress and modernization also embraced scientific racism, viewing racial diversity as an obstacle to national development. These theories, imported from Europe, classified humanity into a hierarchy with Europeans at the top and indigenous and African peoples at the bottom.</a:t>
            </a:r>
            <a:endParaRPr lang="en-US" sz="1350" dirty="0"/>
          </a:p>
        </p:txBody>
      </p:sp>
      <p:sp>
        <p:nvSpPr>
          <p:cNvPr id="18" name="Text 13"/>
          <p:cNvSpPr/>
          <p:nvPr/>
        </p:nvSpPr>
        <p:spPr>
          <a:xfrm>
            <a:off x="616863" y="5853946"/>
            <a:ext cx="13396674" cy="845820"/>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Domingo Sarmiento, while promoting universal education, simultaneously described gauchos (mixed-race rural workers) as barbaric and expendable in his influential work </a:t>
            </a:r>
            <a:r>
              <a:rPr lang="en-US" sz="1350" i="1" dirty="0">
                <a:solidFill>
                  <a:srgbClr val="C9C9C0"/>
                </a:solidFill>
                <a:latin typeface="Tomorrow" pitchFamily="34" charset="0"/>
                <a:ea typeface="Tomorrow" pitchFamily="34" charset="-122"/>
                <a:cs typeface="Tomorrow" pitchFamily="34" charset="-120"/>
              </a:rPr>
              <a:t>Facundo: Civilization and Barbarism</a:t>
            </a:r>
            <a:r>
              <a:rPr lang="en-US" sz="1350" dirty="0">
                <a:solidFill>
                  <a:srgbClr val="C9C9C0"/>
                </a:solidFill>
                <a:latin typeface="Tomorrow" pitchFamily="34" charset="0"/>
                <a:ea typeface="Tomorrow" pitchFamily="34" charset="-122"/>
                <a:cs typeface="Tomorrow" pitchFamily="34" charset="-120"/>
              </a:rPr>
              <a:t>. This work established a powerful dichotomy between European-style "civilization" and American "barbarism" that would influence generations of Latin American thinkers.</a:t>
            </a:r>
            <a:endParaRPr lang="en-US" sz="1350" dirty="0"/>
          </a:p>
        </p:txBody>
      </p:sp>
      <p:sp>
        <p:nvSpPr>
          <p:cNvPr id="19" name="Text 14"/>
          <p:cNvSpPr/>
          <p:nvPr/>
        </p:nvSpPr>
        <p:spPr>
          <a:xfrm>
            <a:off x="616863" y="6898005"/>
            <a:ext cx="13396674" cy="845820"/>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This embrace of scientific racism represents what scholars have called the "darker side of liberalism"—the way liberal ideologies paradoxically advanced elitist and racist ideologies even as they promoted modernity, education, and technological advancement. These racial theories provided intellectual justification for policies that marginalized indigenous and Afro-Latin American populations.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5" name="Image 2" descr="preencoded.png"/>
          <p:cNvPicPr>
            <a:picLocks noChangeAspect="1"/>
          </p:cNvPicPr>
          <p:nvPr/>
        </p:nvPicPr>
        <p:blipFill>
          <a:blip r:embed="rId3"/>
          <a:stretch>
            <a:fillRect/>
          </a:stretch>
        </p:blipFill>
        <p:spPr>
          <a:xfrm>
            <a:off x="8726257" y="4453426"/>
            <a:ext cx="3632336" cy="3632336"/>
          </a:xfrm>
          <a:prstGeom prst="rect">
            <a:avLst/>
          </a:prstGeom>
        </p:spPr>
      </p:pic>
      <p:sp>
        <p:nvSpPr>
          <p:cNvPr id="2" name="Text 0"/>
          <p:cNvSpPr/>
          <p:nvPr/>
        </p:nvSpPr>
        <p:spPr>
          <a:xfrm>
            <a:off x="521970" y="410051"/>
            <a:ext cx="8311277" cy="466130"/>
          </a:xfrm>
          <a:prstGeom prst="rect">
            <a:avLst/>
          </a:prstGeom>
          <a:noFill/>
          <a:ln/>
        </p:spPr>
        <p:txBody>
          <a:bodyPr wrap="none" lIns="0" tIns="0" rIns="0" bIns="0" rtlCol="0" anchor="t"/>
          <a:lstStyle/>
          <a:p>
            <a:pPr marL="0" indent="0" algn="l">
              <a:lnSpc>
                <a:spcPts val="3650"/>
              </a:lnSpc>
              <a:buNone/>
            </a:pPr>
            <a:r>
              <a:rPr lang="en-US" sz="4100" dirty="0">
                <a:solidFill>
                  <a:srgbClr val="EDEDE8"/>
                </a:solidFill>
                <a:latin typeface="Tomorrow Semi Bold" pitchFamily="34" charset="0"/>
                <a:ea typeface="Tomorrow Semi Bold" pitchFamily="34" charset="-122"/>
                <a:cs typeface="Tomorrow Semi Bold" pitchFamily="34" charset="-120"/>
              </a:rPr>
              <a:t>Liberalism in Brazil and the Fall of Monarchy</a:t>
            </a:r>
            <a:endParaRPr lang="en-US" sz="4100" dirty="0"/>
          </a:p>
        </p:txBody>
      </p:sp>
      <p:pic>
        <p:nvPicPr>
          <p:cNvPr id="3" name="Image 0" descr="preencoded.png"/>
          <p:cNvPicPr>
            <a:picLocks noChangeAspect="1"/>
          </p:cNvPicPr>
          <p:nvPr/>
        </p:nvPicPr>
        <p:blipFill>
          <a:blip r:embed="rId4"/>
          <a:stretch>
            <a:fillRect/>
          </a:stretch>
        </p:blipFill>
        <p:spPr>
          <a:xfrm>
            <a:off x="8726355" y="965026"/>
            <a:ext cx="3632238" cy="3632238"/>
          </a:xfrm>
          <a:prstGeom prst="rect">
            <a:avLst/>
          </a:prstGeom>
        </p:spPr>
      </p:pic>
      <p:sp>
        <p:nvSpPr>
          <p:cNvPr id="6" name="Text 1"/>
          <p:cNvSpPr/>
          <p:nvPr/>
        </p:nvSpPr>
        <p:spPr>
          <a:xfrm>
            <a:off x="521970" y="1127939"/>
            <a:ext cx="6382264" cy="6216432"/>
          </a:xfrm>
          <a:prstGeom prst="rect">
            <a:avLst/>
          </a:prstGeom>
          <a:noFill/>
          <a:ln/>
        </p:spPr>
        <p:txBody>
          <a:bodyPr wrap="square" lIns="0" tIns="0" rIns="0" bIns="0" rtlCol="0" anchor="t"/>
          <a:lstStyle/>
          <a:p>
            <a:pPr marL="0" indent="0" algn="just">
              <a:buNone/>
            </a:pPr>
            <a:r>
              <a:rPr lang="en-US" sz="1600" dirty="0">
                <a:solidFill>
                  <a:srgbClr val="C9C9C0"/>
                </a:solidFill>
                <a:latin typeface="Tomorrow" pitchFamily="34" charset="0"/>
                <a:ea typeface="Tomorrow" pitchFamily="34" charset="-122"/>
                <a:cs typeface="Tomorrow" pitchFamily="34" charset="-120"/>
              </a:rPr>
              <a:t>Brazil presented a unique case in Latin America as a stable constitutional monarchy where Emperor Pedro II, himself a philosophical liberal, gradually implemented progressive reforms. However, Brazil's continued reliance on slavery presented a fundamental contradiction with liberal principles of individual freedom and progress. </a:t>
            </a:r>
          </a:p>
          <a:p>
            <a:pPr marL="0" indent="0" algn="just">
              <a:buNone/>
            </a:pPr>
            <a:endParaRPr lang="en-US" sz="1600" dirty="0">
              <a:solidFill>
                <a:srgbClr val="C9C9C0"/>
              </a:solidFill>
              <a:latin typeface="Tomorrow" pitchFamily="34" charset="0"/>
              <a:ea typeface="Tomorrow" pitchFamily="34" charset="-122"/>
              <a:cs typeface="Tomorrow" pitchFamily="34" charset="-120"/>
            </a:endParaRPr>
          </a:p>
          <a:p>
            <a:pPr algn="just"/>
            <a:r>
              <a:rPr lang="en-US" sz="1600" dirty="0">
                <a:solidFill>
                  <a:srgbClr val="C9C9C0"/>
                </a:solidFill>
                <a:latin typeface="Tomorrow" pitchFamily="34" charset="0"/>
                <a:ea typeface="Tomorrow" pitchFamily="34" charset="-122"/>
                <a:cs typeface="Tomorrow" pitchFamily="34" charset="-120"/>
              </a:rPr>
              <a:t>The catastrophic Triple Alliance War (1865-70) against Paraguay catalyzed profound changes in Brazilian society. The conflict fueled abolitionist sentiments as Black soldiers fought for the empire, while also triggering republican activism among military officers exposed to different political systems. The gradual abolition of slavery through the "Free Birth" law (1871) and finally the "Golden Law" (1888) undermined the economic and social foundations of the monarchy.</a:t>
            </a:r>
          </a:p>
          <a:p>
            <a:pPr algn="just"/>
            <a:endParaRPr lang="en-US" sz="1600" dirty="0">
              <a:solidFill>
                <a:srgbClr val="C9C9C0"/>
              </a:solidFill>
              <a:latin typeface="Tomorrow" pitchFamily="34" charset="0"/>
            </a:endParaRPr>
          </a:p>
          <a:p>
            <a:pPr algn="just"/>
            <a:r>
              <a:rPr lang="en-US" sz="1600" dirty="0">
                <a:solidFill>
                  <a:srgbClr val="C9C9C0"/>
                </a:solidFill>
                <a:latin typeface="Tomorrow" pitchFamily="34" charset="0"/>
                <a:ea typeface="Tomorrow" pitchFamily="34" charset="-122"/>
                <a:cs typeface="Tomorrow" pitchFamily="34" charset="-120"/>
              </a:rPr>
              <a:t>When the Brazilian Republic was declared in 1889, Emperor Pedro II stepped down peacefully rather than resist with force. This relatively bloodless transition marked the final triumph of liberalism as a political ideology across Latin America, though its implementation would continue to reflect contradictions regarding gender, race, and class inclusion for decades to come.</a:t>
            </a:r>
            <a:endParaRPr lang="en-US" sz="1600" dirty="0"/>
          </a:p>
          <a:p>
            <a:pPr algn="just"/>
            <a:endParaRPr lang="en-US" sz="1600" dirty="0"/>
          </a:p>
          <a:p>
            <a:pPr marL="0" indent="0" algn="just">
              <a:buNone/>
            </a:pPr>
            <a:endParaRPr lang="en-US" sz="1600" dirty="0"/>
          </a:p>
        </p:txBody>
      </p:sp>
      <p:sp>
        <p:nvSpPr>
          <p:cNvPr id="7" name="Text 2"/>
          <p:cNvSpPr/>
          <p:nvPr/>
        </p:nvSpPr>
        <p:spPr>
          <a:xfrm>
            <a:off x="521970" y="6628567"/>
            <a:ext cx="13586460" cy="715804"/>
          </a:xfrm>
          <a:prstGeom prst="rect">
            <a:avLst/>
          </a:prstGeom>
          <a:noFill/>
          <a:ln/>
        </p:spPr>
        <p:txBody>
          <a:bodyPr wrap="square" lIns="0" tIns="0" rIns="0" bIns="0" rtlCol="0" anchor="t"/>
          <a:lstStyle/>
          <a:p>
            <a:pPr marL="0" indent="0" algn="l">
              <a:lnSpc>
                <a:spcPts val="1850"/>
              </a:lnSpc>
              <a:buNone/>
            </a:pPr>
            <a:endParaRPr lang="en-US" sz="1150" dirty="0"/>
          </a:p>
        </p:txBody>
      </p:sp>
      <p:sp>
        <p:nvSpPr>
          <p:cNvPr id="8" name="Text 3"/>
          <p:cNvSpPr/>
          <p:nvPr/>
        </p:nvSpPr>
        <p:spPr>
          <a:xfrm>
            <a:off x="521970" y="7512129"/>
            <a:ext cx="13586460" cy="477202"/>
          </a:xfrm>
          <a:prstGeom prst="rect">
            <a:avLst/>
          </a:prstGeom>
          <a:noFill/>
          <a:ln/>
        </p:spPr>
        <p:txBody>
          <a:bodyPr wrap="square" lIns="0" tIns="0" rIns="0" bIns="0" rtlCol="0" anchor="t"/>
          <a:lstStyle/>
          <a:p>
            <a:pPr marL="0" indent="0" algn="l">
              <a:lnSpc>
                <a:spcPts val="1850"/>
              </a:lnSpc>
              <a:buNone/>
            </a:pP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TotalTime>
  <Words>1851</Words>
  <Application>Microsoft Office PowerPoint</Application>
  <PresentationFormat>Personalizado</PresentationFormat>
  <Paragraphs>98</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Tomorrow Semi Bold</vt:lpstr>
      <vt:lpstr>Arial</vt:lpstr>
      <vt:lpstr>Tomorrow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Claudio Robelo</cp:lastModifiedBy>
  <cp:revision>4</cp:revision>
  <dcterms:created xsi:type="dcterms:W3CDTF">2025-05-10T01:09:58Z</dcterms:created>
  <dcterms:modified xsi:type="dcterms:W3CDTF">2025-05-10T23:23:41Z</dcterms:modified>
</cp:coreProperties>
</file>