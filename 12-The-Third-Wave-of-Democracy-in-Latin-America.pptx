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Tomorrow" panose="020B0604020202020204" charset="0"/>
      <p:regular r:id="rId12"/>
    </p:embeddedFont>
    <p:embeddedFont>
      <p:font typeface="Tomorrow Semi Bold" panose="020B0604020202020204" charset="0"/>
      <p:regular r:id="rId13"/>
    </p:embeddedFont>
  </p:embeddedFontLst>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8" d="100"/>
          <a:sy n="58" d="100"/>
        </p:scale>
        <p:origin x="73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3460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1737884D-0BEF-506D-C847-7F10D47BFDA6}"/>
              </a:ext>
            </a:extLst>
          </p:cNvPr>
          <p:cNvSpPr/>
          <p:nvPr userDrawn="1"/>
        </p:nvSpPr>
        <p:spPr>
          <a:xfrm>
            <a:off x="0" y="0"/>
            <a:ext cx="14630400" cy="8229600"/>
          </a:xfrm>
          <a:prstGeom prst="rect">
            <a:avLst/>
          </a:prstGeom>
          <a:solidFill>
            <a:srgbClr val="1D1D1B"/>
          </a:solidFill>
          <a:ln/>
        </p:spPr>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9.xml"/><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6512940" y="1646515"/>
            <a:ext cx="7556421" cy="1240155"/>
          </a:xfrm>
          <a:prstGeom prst="rect">
            <a:avLst/>
          </a:prstGeom>
          <a:noFill/>
          <a:ln/>
        </p:spPr>
        <p:txBody>
          <a:bodyPr wrap="square" lIns="0" tIns="0" rIns="0" bIns="0" rtlCol="0" anchor="t"/>
          <a:lstStyle/>
          <a:p>
            <a:pPr marL="0" indent="0" algn="l">
              <a:lnSpc>
                <a:spcPts val="4850"/>
              </a:lnSpc>
              <a:buNone/>
            </a:pPr>
            <a:r>
              <a:rPr lang="en-US" sz="3900" dirty="0">
                <a:solidFill>
                  <a:srgbClr val="EDEDE8"/>
                </a:solidFill>
                <a:latin typeface="Tomorrow Semi Bold" pitchFamily="34" charset="0"/>
                <a:ea typeface="Tomorrow Semi Bold" pitchFamily="34" charset="-122"/>
                <a:cs typeface="Tomorrow Semi Bold" pitchFamily="34" charset="-120"/>
              </a:rPr>
              <a:t>The Health of Democracy in Latin America</a:t>
            </a:r>
            <a:endParaRPr lang="en-US" sz="3900" dirty="0"/>
          </a:p>
        </p:txBody>
      </p:sp>
      <p:sp>
        <p:nvSpPr>
          <p:cNvPr id="4" name="Text 1"/>
          <p:cNvSpPr/>
          <p:nvPr/>
        </p:nvSpPr>
        <p:spPr>
          <a:xfrm>
            <a:off x="6512940" y="3184327"/>
            <a:ext cx="7556421" cy="1587698"/>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Samuel Huntington's concept of democratization "waves" provides the framework for understanding one of the most remarkable political transformations in modern history. Latin America's experience during the Third Wave of democratization (1974-1990s) represents the most comprehensive regional shift from authoritarian rule to democratic governance ever witnessed.</a:t>
            </a:r>
            <a:endParaRPr lang="en-US" sz="1550" dirty="0"/>
          </a:p>
        </p:txBody>
      </p:sp>
      <p:sp>
        <p:nvSpPr>
          <p:cNvPr id="5" name="Text 2"/>
          <p:cNvSpPr/>
          <p:nvPr/>
        </p:nvSpPr>
        <p:spPr>
          <a:xfrm>
            <a:off x="6512940" y="4995267"/>
            <a:ext cx="7556421" cy="1587698"/>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This transformation began in Southern Europe but found its most dramatic expression across Latin America, where nearly an entire continent embraced democratic institutions within two decades. Unlike previous waves that proved fragile and reversible, the Third Wave created lasting change that continues to shape the region today.</a:t>
            </a:r>
            <a:endParaRPr lang="en-US" sz="1550" dirty="0"/>
          </a:p>
        </p:txBody>
      </p:sp>
      <p:pic>
        <p:nvPicPr>
          <p:cNvPr id="7" name="Imagen 6">
            <a:extLst>
              <a:ext uri="{FF2B5EF4-FFF2-40B4-BE49-F238E27FC236}">
                <a16:creationId xmlns:a16="http://schemas.microsoft.com/office/drawing/2014/main" id="{F8D455D5-F883-F3B6-0FA3-1C9AF6BF33D3}"/>
              </a:ext>
            </a:extLst>
          </p:cNvPr>
          <p:cNvPicPr>
            <a:picLocks noChangeAspect="1"/>
          </p:cNvPicPr>
          <p:nvPr/>
        </p:nvPicPr>
        <p:blipFill>
          <a:blip r:embed="rId3"/>
          <a:srcRect l="9777" r="11022"/>
          <a:stretch>
            <a:fillRect/>
          </a:stretch>
        </p:blipFill>
        <p:spPr>
          <a:xfrm>
            <a:off x="149629" y="374895"/>
            <a:ext cx="5902036" cy="74798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98220"/>
            <a:ext cx="9141381" cy="620078"/>
          </a:xfrm>
          <a:prstGeom prst="rect">
            <a:avLst/>
          </a:prstGeom>
          <a:noFill/>
          <a:ln/>
        </p:spPr>
        <p:txBody>
          <a:bodyPr wrap="none" lIns="0" tIns="0" rIns="0" bIns="0" rtlCol="0" anchor="t"/>
          <a:lstStyle/>
          <a:p>
            <a:pPr marL="0" indent="0" algn="l">
              <a:lnSpc>
                <a:spcPts val="4850"/>
              </a:lnSpc>
              <a:buNone/>
            </a:pPr>
            <a:r>
              <a:rPr lang="en-US" sz="3900" dirty="0">
                <a:solidFill>
                  <a:srgbClr val="EDEDE8"/>
                </a:solidFill>
                <a:latin typeface="Tomorrow Semi Bold" pitchFamily="34" charset="0"/>
                <a:ea typeface="Tomorrow Semi Bold" pitchFamily="34" charset="-122"/>
                <a:cs typeface="Tomorrow Semi Bold" pitchFamily="34" charset="-120"/>
              </a:rPr>
              <a:t>The Three Waves of Democratization</a:t>
            </a:r>
            <a:endParaRPr lang="en-US" sz="3900" dirty="0"/>
          </a:p>
        </p:txBody>
      </p:sp>
      <p:sp>
        <p:nvSpPr>
          <p:cNvPr id="3" name="Shape 1"/>
          <p:cNvSpPr/>
          <p:nvPr/>
        </p:nvSpPr>
        <p:spPr>
          <a:xfrm>
            <a:off x="7303770" y="2015133"/>
            <a:ext cx="22860" cy="4357926"/>
          </a:xfrm>
          <a:prstGeom prst="roundRect">
            <a:avLst>
              <a:gd name="adj" fmla="val 130232"/>
            </a:avLst>
          </a:prstGeom>
          <a:solidFill>
            <a:srgbClr val="555553"/>
          </a:solidFill>
          <a:ln/>
        </p:spPr>
        <p:txBody>
          <a:bodyPr/>
          <a:lstStyle/>
          <a:p>
            <a:endParaRPr lang="es-AR"/>
          </a:p>
        </p:txBody>
      </p:sp>
      <p:sp>
        <p:nvSpPr>
          <p:cNvPr id="4" name="Shape 2"/>
          <p:cNvSpPr/>
          <p:nvPr/>
        </p:nvSpPr>
        <p:spPr>
          <a:xfrm>
            <a:off x="6519505" y="2226945"/>
            <a:ext cx="595313" cy="22860"/>
          </a:xfrm>
          <a:prstGeom prst="roundRect">
            <a:avLst>
              <a:gd name="adj" fmla="val 130232"/>
            </a:avLst>
          </a:prstGeom>
          <a:solidFill>
            <a:srgbClr val="555553"/>
          </a:solidFill>
          <a:ln/>
        </p:spPr>
        <p:txBody>
          <a:bodyPr/>
          <a:lstStyle/>
          <a:p>
            <a:endParaRPr lang="es-AR"/>
          </a:p>
        </p:txBody>
      </p:sp>
      <p:sp>
        <p:nvSpPr>
          <p:cNvPr id="5" name="Shape 3"/>
          <p:cNvSpPr/>
          <p:nvPr/>
        </p:nvSpPr>
        <p:spPr>
          <a:xfrm>
            <a:off x="7091958" y="2015133"/>
            <a:ext cx="446484" cy="446484"/>
          </a:xfrm>
          <a:prstGeom prst="roundRect">
            <a:avLst>
              <a:gd name="adj" fmla="val 6668"/>
            </a:avLst>
          </a:prstGeom>
          <a:solidFill>
            <a:srgbClr val="3C3C3A"/>
          </a:solidFill>
          <a:ln/>
        </p:spPr>
        <p:txBody>
          <a:bodyPr/>
          <a:lstStyle/>
          <a:p>
            <a:endParaRPr lang="es-AR"/>
          </a:p>
        </p:txBody>
      </p:sp>
      <p:sp>
        <p:nvSpPr>
          <p:cNvPr id="6" name="Text 4"/>
          <p:cNvSpPr/>
          <p:nvPr/>
        </p:nvSpPr>
        <p:spPr>
          <a:xfrm>
            <a:off x="7166372" y="2052340"/>
            <a:ext cx="297656" cy="372070"/>
          </a:xfrm>
          <a:prstGeom prst="rect">
            <a:avLst/>
          </a:prstGeom>
          <a:noFill/>
          <a:ln/>
        </p:spPr>
        <p:txBody>
          <a:bodyPr wrap="none" lIns="0" tIns="0" rIns="0" bIns="0" rtlCol="0" anchor="t"/>
          <a:lstStyle/>
          <a:p>
            <a:pPr marL="0" indent="0" algn="ctr">
              <a:lnSpc>
                <a:spcPts val="2300"/>
              </a:lnSpc>
              <a:buNone/>
            </a:pPr>
            <a:r>
              <a:rPr lang="en-US" sz="2300" dirty="0">
                <a:solidFill>
                  <a:srgbClr val="C9C9C0"/>
                </a:solidFill>
                <a:latin typeface="Tomorrow Semi Bold" pitchFamily="34" charset="0"/>
                <a:ea typeface="Tomorrow Semi Bold" pitchFamily="34" charset="-122"/>
                <a:cs typeface="Tomorrow Semi Bold" pitchFamily="34" charset="-120"/>
              </a:rPr>
              <a:t>1</a:t>
            </a:r>
            <a:endParaRPr lang="en-US" sz="2300" dirty="0"/>
          </a:p>
        </p:txBody>
      </p:sp>
      <p:sp>
        <p:nvSpPr>
          <p:cNvPr id="7" name="Text 5"/>
          <p:cNvSpPr/>
          <p:nvPr/>
        </p:nvSpPr>
        <p:spPr>
          <a:xfrm>
            <a:off x="3397925" y="2083356"/>
            <a:ext cx="2925008" cy="310158"/>
          </a:xfrm>
          <a:prstGeom prst="rect">
            <a:avLst/>
          </a:prstGeom>
          <a:noFill/>
          <a:ln/>
        </p:spPr>
        <p:txBody>
          <a:bodyPr wrap="none" lIns="0" tIns="0" rIns="0" bIns="0" rtlCol="0" anchor="t"/>
          <a:lstStyle/>
          <a:p>
            <a:pPr marL="0" indent="0" algn="r">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First Wave (1828-1926)</a:t>
            </a:r>
            <a:endParaRPr lang="en-US" sz="1950" dirty="0"/>
          </a:p>
        </p:txBody>
      </p:sp>
      <p:sp>
        <p:nvSpPr>
          <p:cNvPr id="8" name="Text 6"/>
          <p:cNvSpPr/>
          <p:nvPr/>
        </p:nvSpPr>
        <p:spPr>
          <a:xfrm>
            <a:off x="793790" y="2512576"/>
            <a:ext cx="5529143" cy="1270159"/>
          </a:xfrm>
          <a:prstGeom prst="rect">
            <a:avLst/>
          </a:prstGeom>
          <a:noFill/>
          <a:ln/>
        </p:spPr>
        <p:txBody>
          <a:bodyPr wrap="square" lIns="0" tIns="0" rIns="0" bIns="0" rtlCol="0" anchor="t"/>
          <a:lstStyle/>
          <a:p>
            <a:pPr marL="0" indent="0" algn="r">
              <a:lnSpc>
                <a:spcPts val="2500"/>
              </a:lnSpc>
              <a:buNone/>
            </a:pPr>
            <a:r>
              <a:rPr lang="en-US" sz="1550" dirty="0">
                <a:solidFill>
                  <a:srgbClr val="C9C9C0"/>
                </a:solidFill>
                <a:latin typeface="Tomorrow" pitchFamily="34" charset="0"/>
                <a:ea typeface="Tomorrow" pitchFamily="34" charset="-122"/>
                <a:cs typeface="Tomorrow" pitchFamily="34" charset="-120"/>
              </a:rPr>
              <a:t>Elite-dominated experiments in Argentina, Chile, Uruguay, and Costa Rica. These early democratic forms were fragile and exclusive, restricted to narrow segments of society and vulnerable to economic and political pressures.</a:t>
            </a:r>
            <a:endParaRPr lang="en-US" sz="1550" dirty="0"/>
          </a:p>
        </p:txBody>
      </p:sp>
      <p:sp>
        <p:nvSpPr>
          <p:cNvPr id="9" name="Shape 7"/>
          <p:cNvSpPr/>
          <p:nvPr/>
        </p:nvSpPr>
        <p:spPr>
          <a:xfrm>
            <a:off x="7515582" y="3417570"/>
            <a:ext cx="595313" cy="22860"/>
          </a:xfrm>
          <a:prstGeom prst="roundRect">
            <a:avLst>
              <a:gd name="adj" fmla="val 130232"/>
            </a:avLst>
          </a:prstGeom>
          <a:solidFill>
            <a:srgbClr val="555553"/>
          </a:solidFill>
          <a:ln/>
        </p:spPr>
        <p:txBody>
          <a:bodyPr/>
          <a:lstStyle/>
          <a:p>
            <a:endParaRPr lang="es-AR"/>
          </a:p>
        </p:txBody>
      </p:sp>
      <p:sp>
        <p:nvSpPr>
          <p:cNvPr id="10" name="Shape 8"/>
          <p:cNvSpPr/>
          <p:nvPr/>
        </p:nvSpPr>
        <p:spPr>
          <a:xfrm>
            <a:off x="7091958" y="3205758"/>
            <a:ext cx="446484" cy="446484"/>
          </a:xfrm>
          <a:prstGeom prst="roundRect">
            <a:avLst>
              <a:gd name="adj" fmla="val 6668"/>
            </a:avLst>
          </a:prstGeom>
          <a:solidFill>
            <a:srgbClr val="3C3C3A"/>
          </a:solidFill>
          <a:ln/>
        </p:spPr>
        <p:txBody>
          <a:bodyPr/>
          <a:lstStyle/>
          <a:p>
            <a:endParaRPr lang="es-AR"/>
          </a:p>
        </p:txBody>
      </p:sp>
      <p:sp>
        <p:nvSpPr>
          <p:cNvPr id="11" name="Text 9"/>
          <p:cNvSpPr/>
          <p:nvPr/>
        </p:nvSpPr>
        <p:spPr>
          <a:xfrm>
            <a:off x="7166372" y="3242965"/>
            <a:ext cx="297656" cy="372070"/>
          </a:xfrm>
          <a:prstGeom prst="rect">
            <a:avLst/>
          </a:prstGeom>
          <a:noFill/>
          <a:ln/>
        </p:spPr>
        <p:txBody>
          <a:bodyPr wrap="none" lIns="0" tIns="0" rIns="0" bIns="0" rtlCol="0" anchor="t"/>
          <a:lstStyle/>
          <a:p>
            <a:pPr marL="0" indent="0" algn="ctr">
              <a:lnSpc>
                <a:spcPts val="2300"/>
              </a:lnSpc>
              <a:buNone/>
            </a:pPr>
            <a:r>
              <a:rPr lang="en-US" sz="2300" dirty="0">
                <a:solidFill>
                  <a:srgbClr val="C9C9C0"/>
                </a:solidFill>
                <a:latin typeface="Tomorrow Semi Bold" pitchFamily="34" charset="0"/>
                <a:ea typeface="Tomorrow Semi Bold" pitchFamily="34" charset="-122"/>
                <a:cs typeface="Tomorrow Semi Bold" pitchFamily="34" charset="-120"/>
              </a:rPr>
              <a:t>2</a:t>
            </a:r>
            <a:endParaRPr lang="en-US" sz="2300" dirty="0"/>
          </a:p>
        </p:txBody>
      </p:sp>
      <p:sp>
        <p:nvSpPr>
          <p:cNvPr id="12" name="Text 10"/>
          <p:cNvSpPr/>
          <p:nvPr/>
        </p:nvSpPr>
        <p:spPr>
          <a:xfrm>
            <a:off x="8307467" y="3273981"/>
            <a:ext cx="3313152" cy="310158"/>
          </a:xfrm>
          <a:prstGeom prst="rect">
            <a:avLst/>
          </a:prstGeom>
          <a:noFill/>
          <a:ln/>
        </p:spPr>
        <p:txBody>
          <a:bodyPr wrap="none" lIns="0" tIns="0" rIns="0" bIns="0" rtlCol="0" anchor="t"/>
          <a:lstStyle/>
          <a:p>
            <a:pPr marL="0" indent="0" algn="l">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Second Wave (1943-1962)</a:t>
            </a:r>
            <a:endParaRPr lang="en-US" sz="1950" dirty="0"/>
          </a:p>
        </p:txBody>
      </p:sp>
      <p:sp>
        <p:nvSpPr>
          <p:cNvPr id="13" name="Text 11"/>
          <p:cNvSpPr/>
          <p:nvPr/>
        </p:nvSpPr>
        <p:spPr>
          <a:xfrm>
            <a:off x="8307467" y="3703201"/>
            <a:ext cx="5529143" cy="127015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Post-World War II democratic openings created hope for sustained democratization. However, by the late 1960s and 1970s, military coups established bureaucratic-authoritarian regimes across the Southern Cone.</a:t>
            </a:r>
            <a:endParaRPr lang="en-US" sz="1550" dirty="0"/>
          </a:p>
        </p:txBody>
      </p:sp>
      <p:sp>
        <p:nvSpPr>
          <p:cNvPr id="14" name="Shape 12"/>
          <p:cNvSpPr/>
          <p:nvPr/>
        </p:nvSpPr>
        <p:spPr>
          <a:xfrm>
            <a:off x="6519505" y="4499729"/>
            <a:ext cx="595313" cy="22860"/>
          </a:xfrm>
          <a:prstGeom prst="roundRect">
            <a:avLst>
              <a:gd name="adj" fmla="val 130232"/>
            </a:avLst>
          </a:prstGeom>
          <a:solidFill>
            <a:srgbClr val="555553"/>
          </a:solidFill>
          <a:ln/>
        </p:spPr>
        <p:txBody>
          <a:bodyPr/>
          <a:lstStyle/>
          <a:p>
            <a:endParaRPr lang="es-AR"/>
          </a:p>
        </p:txBody>
      </p:sp>
      <p:sp>
        <p:nvSpPr>
          <p:cNvPr id="15" name="Shape 13"/>
          <p:cNvSpPr/>
          <p:nvPr/>
        </p:nvSpPr>
        <p:spPr>
          <a:xfrm>
            <a:off x="7091958" y="4287917"/>
            <a:ext cx="446484" cy="446484"/>
          </a:xfrm>
          <a:prstGeom prst="roundRect">
            <a:avLst>
              <a:gd name="adj" fmla="val 6668"/>
            </a:avLst>
          </a:prstGeom>
          <a:solidFill>
            <a:srgbClr val="3C3C3A"/>
          </a:solidFill>
          <a:ln/>
        </p:spPr>
        <p:txBody>
          <a:bodyPr/>
          <a:lstStyle/>
          <a:p>
            <a:endParaRPr lang="es-AR"/>
          </a:p>
        </p:txBody>
      </p:sp>
      <p:sp>
        <p:nvSpPr>
          <p:cNvPr id="16" name="Text 14"/>
          <p:cNvSpPr/>
          <p:nvPr/>
        </p:nvSpPr>
        <p:spPr>
          <a:xfrm>
            <a:off x="7166372" y="4325124"/>
            <a:ext cx="297656" cy="372070"/>
          </a:xfrm>
          <a:prstGeom prst="rect">
            <a:avLst/>
          </a:prstGeom>
          <a:noFill/>
          <a:ln/>
        </p:spPr>
        <p:txBody>
          <a:bodyPr wrap="none" lIns="0" tIns="0" rIns="0" bIns="0" rtlCol="0" anchor="t"/>
          <a:lstStyle/>
          <a:p>
            <a:pPr marL="0" indent="0" algn="ctr">
              <a:lnSpc>
                <a:spcPts val="2300"/>
              </a:lnSpc>
              <a:buNone/>
            </a:pPr>
            <a:r>
              <a:rPr lang="en-US" sz="2300" dirty="0">
                <a:solidFill>
                  <a:srgbClr val="C9C9C0"/>
                </a:solidFill>
                <a:latin typeface="Tomorrow Semi Bold" pitchFamily="34" charset="0"/>
                <a:ea typeface="Tomorrow Semi Bold" pitchFamily="34" charset="-122"/>
                <a:cs typeface="Tomorrow Semi Bold" pitchFamily="34" charset="-120"/>
              </a:rPr>
              <a:t>3</a:t>
            </a:r>
            <a:endParaRPr lang="en-US" sz="2300" dirty="0"/>
          </a:p>
        </p:txBody>
      </p:sp>
      <p:sp>
        <p:nvSpPr>
          <p:cNvPr id="17" name="Text 15"/>
          <p:cNvSpPr/>
          <p:nvPr/>
        </p:nvSpPr>
        <p:spPr>
          <a:xfrm>
            <a:off x="3339346" y="4356140"/>
            <a:ext cx="2983587" cy="310158"/>
          </a:xfrm>
          <a:prstGeom prst="rect">
            <a:avLst/>
          </a:prstGeom>
          <a:noFill/>
          <a:ln/>
        </p:spPr>
        <p:txBody>
          <a:bodyPr wrap="none" lIns="0" tIns="0" rIns="0" bIns="0" rtlCol="0" anchor="t"/>
          <a:lstStyle/>
          <a:p>
            <a:pPr marL="0" indent="0" algn="r">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Third Wave (1978-1992)</a:t>
            </a:r>
            <a:endParaRPr lang="en-US" sz="1950" dirty="0"/>
          </a:p>
        </p:txBody>
      </p:sp>
      <p:sp>
        <p:nvSpPr>
          <p:cNvPr id="18" name="Text 16"/>
          <p:cNvSpPr/>
          <p:nvPr/>
        </p:nvSpPr>
        <p:spPr>
          <a:xfrm>
            <a:off x="793790" y="4785360"/>
            <a:ext cx="5529143" cy="1587698"/>
          </a:xfrm>
          <a:prstGeom prst="rect">
            <a:avLst/>
          </a:prstGeom>
          <a:noFill/>
          <a:ln/>
        </p:spPr>
        <p:txBody>
          <a:bodyPr wrap="square" lIns="0" tIns="0" rIns="0" bIns="0" rtlCol="0" anchor="t"/>
          <a:lstStyle/>
          <a:p>
            <a:pPr marL="0" indent="0" algn="r">
              <a:lnSpc>
                <a:spcPts val="2500"/>
              </a:lnSpc>
              <a:buNone/>
            </a:pPr>
            <a:r>
              <a:rPr lang="en-US" sz="1550" dirty="0">
                <a:solidFill>
                  <a:srgbClr val="C9C9C0"/>
                </a:solidFill>
                <a:latin typeface="Tomorrow" pitchFamily="34" charset="0"/>
                <a:ea typeface="Tomorrow" pitchFamily="34" charset="-122"/>
                <a:cs typeface="Tomorrow" pitchFamily="34" charset="-120"/>
              </a:rPr>
              <a:t>The collapse of military rule began in the Southern Cone and extended through Central America. By 1990, almost all of Latin America had democratic or semi-democratic governments, with only Cuba remaining fully authoritarian.</a:t>
            </a:r>
            <a:endParaRPr lang="en-US" sz="1550" dirty="0"/>
          </a:p>
        </p:txBody>
      </p:sp>
      <p:sp>
        <p:nvSpPr>
          <p:cNvPr id="19" name="Text 17"/>
          <p:cNvSpPr/>
          <p:nvPr/>
        </p:nvSpPr>
        <p:spPr>
          <a:xfrm>
            <a:off x="793790" y="6596301"/>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This Third Wave was unprecedented in its scope, duration, and resilience. For the first time in history, Latin America became predominantly democratic, producing a generation that grew up with regular voting as the norm.</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846534"/>
            <a:ext cx="11357015" cy="620078"/>
          </a:xfrm>
          <a:prstGeom prst="rect">
            <a:avLst/>
          </a:prstGeom>
          <a:noFill/>
          <a:ln/>
        </p:spPr>
        <p:txBody>
          <a:bodyPr wrap="none" lIns="0" tIns="0" rIns="0" bIns="0" rtlCol="0" anchor="t"/>
          <a:lstStyle/>
          <a:p>
            <a:pPr marL="0" indent="0" algn="l">
              <a:lnSpc>
                <a:spcPts val="4850"/>
              </a:lnSpc>
              <a:buNone/>
            </a:pPr>
            <a:r>
              <a:rPr lang="en-US" sz="3900" dirty="0">
                <a:solidFill>
                  <a:srgbClr val="EDEDE8"/>
                </a:solidFill>
                <a:latin typeface="Tomorrow Semi Bold" pitchFamily="34" charset="0"/>
                <a:ea typeface="Tomorrow Semi Bold" pitchFamily="34" charset="-122"/>
                <a:cs typeface="Tomorrow Semi Bold" pitchFamily="34" charset="-120"/>
              </a:rPr>
              <a:t>Testing Democratic Theories in Latin America</a:t>
            </a:r>
            <a:endParaRPr lang="en-US" sz="3900" dirty="0"/>
          </a:p>
        </p:txBody>
      </p:sp>
      <p:sp>
        <p:nvSpPr>
          <p:cNvPr id="3" name="Text 1"/>
          <p:cNvSpPr/>
          <p:nvPr/>
        </p:nvSpPr>
        <p:spPr>
          <a:xfrm>
            <a:off x="793790" y="1863447"/>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Classical theories of democratization, built primarily from European experiences, face significant challenges when applied to Latin America's democratic transitions and survival.</a:t>
            </a:r>
            <a:endParaRPr lang="en-US" sz="1550" dirty="0"/>
          </a:p>
        </p:txBody>
      </p:sp>
      <p:sp>
        <p:nvSpPr>
          <p:cNvPr id="4" name="Shape 2"/>
          <p:cNvSpPr/>
          <p:nvPr/>
        </p:nvSpPr>
        <p:spPr>
          <a:xfrm>
            <a:off x="793790" y="2721769"/>
            <a:ext cx="4215289" cy="3802856"/>
          </a:xfrm>
          <a:prstGeom prst="roundRect">
            <a:avLst>
              <a:gd name="adj" fmla="val 783"/>
            </a:avLst>
          </a:prstGeom>
          <a:solidFill>
            <a:srgbClr val="3C3C3A"/>
          </a:solidFill>
          <a:ln/>
        </p:spPr>
        <p:txBody>
          <a:bodyPr/>
          <a:lstStyle/>
          <a:p>
            <a:endParaRPr lang="es-AR"/>
          </a:p>
        </p:txBody>
      </p:sp>
      <p:sp>
        <p:nvSpPr>
          <p:cNvPr id="5" name="Text 3"/>
          <p:cNvSpPr/>
          <p:nvPr/>
        </p:nvSpPr>
        <p:spPr>
          <a:xfrm>
            <a:off x="992148" y="2920127"/>
            <a:ext cx="2758678" cy="310158"/>
          </a:xfrm>
          <a:prstGeom prst="rect">
            <a:avLst/>
          </a:prstGeom>
          <a:noFill/>
          <a:ln/>
        </p:spPr>
        <p:txBody>
          <a:bodyPr wrap="none" lIns="0" tIns="0" rIns="0" bIns="0" rtlCol="0" anchor="t"/>
          <a:lstStyle/>
          <a:p>
            <a:pPr marL="0" indent="0" algn="l">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Modernization Theory</a:t>
            </a:r>
            <a:endParaRPr lang="en-US" sz="1950" dirty="0"/>
          </a:p>
        </p:txBody>
      </p:sp>
      <p:sp>
        <p:nvSpPr>
          <p:cNvPr id="6" name="Text 4"/>
          <p:cNvSpPr/>
          <p:nvPr/>
        </p:nvSpPr>
        <p:spPr>
          <a:xfrm>
            <a:off x="992148" y="3349347"/>
            <a:ext cx="3818573" cy="1270159"/>
          </a:xfrm>
          <a:prstGeom prst="rect">
            <a:avLst/>
          </a:prstGeom>
          <a:noFill/>
          <a:ln/>
        </p:spPr>
        <p:txBody>
          <a:bodyPr wrap="square" lIns="0" tIns="0" rIns="0" bIns="0" rtlCol="0" anchor="t"/>
          <a:lstStyle/>
          <a:p>
            <a:pPr marL="0" indent="0" algn="l">
              <a:lnSpc>
                <a:spcPts val="2500"/>
              </a:lnSpc>
              <a:buNone/>
            </a:pPr>
            <a:r>
              <a:rPr lang="en-US" sz="1550" b="1" dirty="0">
                <a:solidFill>
                  <a:srgbClr val="C9C9C0"/>
                </a:solidFill>
                <a:latin typeface="Tomorrow" pitchFamily="34" charset="0"/>
                <a:ea typeface="Tomorrow" pitchFamily="34" charset="-122"/>
                <a:cs typeface="Tomorrow" pitchFamily="34" charset="-120"/>
              </a:rPr>
              <a:t>Prediction:</a:t>
            </a:r>
            <a:r>
              <a:rPr lang="en-US" sz="1550" dirty="0">
                <a:solidFill>
                  <a:srgbClr val="C9C9C0"/>
                </a:solidFill>
                <a:latin typeface="Tomorrow" pitchFamily="34" charset="0"/>
                <a:ea typeface="Tomorrow" pitchFamily="34" charset="-122"/>
                <a:cs typeface="Tomorrow" pitchFamily="34" charset="-120"/>
              </a:rPr>
              <a:t> Economic development fosters democracy through education, middle class growth, and complex economies.</a:t>
            </a:r>
            <a:endParaRPr lang="en-US" sz="1550" dirty="0"/>
          </a:p>
        </p:txBody>
      </p:sp>
      <p:sp>
        <p:nvSpPr>
          <p:cNvPr id="7" name="Text 5"/>
          <p:cNvSpPr/>
          <p:nvPr/>
        </p:nvSpPr>
        <p:spPr>
          <a:xfrm>
            <a:off x="992148" y="4738568"/>
            <a:ext cx="3818573" cy="1587698"/>
          </a:xfrm>
          <a:prstGeom prst="rect">
            <a:avLst/>
          </a:prstGeom>
          <a:noFill/>
          <a:ln/>
        </p:spPr>
        <p:txBody>
          <a:bodyPr wrap="square" lIns="0" tIns="0" rIns="0" bIns="0" rtlCol="0" anchor="t"/>
          <a:lstStyle/>
          <a:p>
            <a:pPr marL="0" indent="0" algn="l">
              <a:lnSpc>
                <a:spcPts val="2500"/>
              </a:lnSpc>
              <a:buNone/>
            </a:pPr>
            <a:r>
              <a:rPr lang="en-US" sz="1550" b="1" dirty="0">
                <a:solidFill>
                  <a:srgbClr val="C9C9C0"/>
                </a:solidFill>
                <a:latin typeface="Tomorrow" pitchFamily="34" charset="0"/>
                <a:ea typeface="Tomorrow" pitchFamily="34" charset="-122"/>
                <a:cs typeface="Tomorrow" pitchFamily="34" charset="-120"/>
              </a:rPr>
              <a:t>Latin American Reality:</a:t>
            </a:r>
            <a:r>
              <a:rPr lang="en-US" sz="1550" dirty="0">
                <a:solidFill>
                  <a:srgbClr val="C9C9C0"/>
                </a:solidFill>
                <a:latin typeface="Tomorrow" pitchFamily="34" charset="0"/>
                <a:ea typeface="Tomorrow" pitchFamily="34" charset="-122"/>
                <a:cs typeface="Tomorrow" pitchFamily="34" charset="-120"/>
              </a:rPr>
              <a:t> The most developed societies (Argentina, Chile, Uruguay) suffered military breakdowns in the 1960s-70s, while poorer democracies like Costa Rica endured.</a:t>
            </a:r>
            <a:endParaRPr lang="en-US" sz="1550" dirty="0"/>
          </a:p>
        </p:txBody>
      </p:sp>
      <p:sp>
        <p:nvSpPr>
          <p:cNvPr id="8" name="Shape 6"/>
          <p:cNvSpPr/>
          <p:nvPr/>
        </p:nvSpPr>
        <p:spPr>
          <a:xfrm>
            <a:off x="5207437" y="2721769"/>
            <a:ext cx="4215408" cy="3802856"/>
          </a:xfrm>
          <a:prstGeom prst="roundRect">
            <a:avLst>
              <a:gd name="adj" fmla="val 783"/>
            </a:avLst>
          </a:prstGeom>
          <a:solidFill>
            <a:srgbClr val="3C3C3A"/>
          </a:solidFill>
          <a:ln/>
        </p:spPr>
        <p:txBody>
          <a:bodyPr/>
          <a:lstStyle/>
          <a:p>
            <a:endParaRPr lang="es-AR"/>
          </a:p>
        </p:txBody>
      </p:sp>
      <p:sp>
        <p:nvSpPr>
          <p:cNvPr id="9" name="Text 7"/>
          <p:cNvSpPr/>
          <p:nvPr/>
        </p:nvSpPr>
        <p:spPr>
          <a:xfrm>
            <a:off x="5405795" y="2920127"/>
            <a:ext cx="2732842" cy="310158"/>
          </a:xfrm>
          <a:prstGeom prst="rect">
            <a:avLst/>
          </a:prstGeom>
          <a:noFill/>
          <a:ln/>
        </p:spPr>
        <p:txBody>
          <a:bodyPr wrap="none" lIns="0" tIns="0" rIns="0" bIns="0" rtlCol="0" anchor="t"/>
          <a:lstStyle/>
          <a:p>
            <a:pPr marL="0" indent="0" algn="l">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Class-Based Theories</a:t>
            </a:r>
            <a:endParaRPr lang="en-US" sz="1950" dirty="0"/>
          </a:p>
        </p:txBody>
      </p:sp>
      <p:sp>
        <p:nvSpPr>
          <p:cNvPr id="10" name="Text 8"/>
          <p:cNvSpPr/>
          <p:nvPr/>
        </p:nvSpPr>
        <p:spPr>
          <a:xfrm>
            <a:off x="5405795" y="3349347"/>
            <a:ext cx="3818692" cy="952619"/>
          </a:xfrm>
          <a:prstGeom prst="rect">
            <a:avLst/>
          </a:prstGeom>
          <a:noFill/>
          <a:ln/>
        </p:spPr>
        <p:txBody>
          <a:bodyPr wrap="square" lIns="0" tIns="0" rIns="0" bIns="0" rtlCol="0" anchor="t"/>
          <a:lstStyle/>
          <a:p>
            <a:pPr marL="0" indent="0" algn="l">
              <a:lnSpc>
                <a:spcPts val="2500"/>
              </a:lnSpc>
              <a:buNone/>
            </a:pPr>
            <a:r>
              <a:rPr lang="en-US" sz="1550" b="1" dirty="0">
                <a:solidFill>
                  <a:srgbClr val="C9C9C0"/>
                </a:solidFill>
                <a:latin typeface="Tomorrow" pitchFamily="34" charset="0"/>
                <a:ea typeface="Tomorrow" pitchFamily="34" charset="-122"/>
                <a:cs typeface="Tomorrow" pitchFamily="34" charset="-120"/>
              </a:rPr>
              <a:t>Prediction:</a:t>
            </a:r>
            <a:r>
              <a:rPr lang="en-US" sz="1550" dirty="0">
                <a:solidFill>
                  <a:srgbClr val="C9C9C0"/>
                </a:solidFill>
                <a:latin typeface="Tomorrow" pitchFamily="34" charset="0"/>
                <a:ea typeface="Tomorrow" pitchFamily="34" charset="-122"/>
                <a:cs typeface="Tomorrow" pitchFamily="34" charset="-120"/>
              </a:rPr>
              <a:t> Democracy requires strong working and middle classes with weakened landed elites.</a:t>
            </a:r>
            <a:endParaRPr lang="en-US" sz="1550" dirty="0"/>
          </a:p>
        </p:txBody>
      </p:sp>
      <p:sp>
        <p:nvSpPr>
          <p:cNvPr id="11" name="Text 9"/>
          <p:cNvSpPr/>
          <p:nvPr/>
        </p:nvSpPr>
        <p:spPr>
          <a:xfrm>
            <a:off x="5405795" y="4421029"/>
            <a:ext cx="3818692" cy="1587698"/>
          </a:xfrm>
          <a:prstGeom prst="rect">
            <a:avLst/>
          </a:prstGeom>
          <a:noFill/>
          <a:ln/>
        </p:spPr>
        <p:txBody>
          <a:bodyPr wrap="square" lIns="0" tIns="0" rIns="0" bIns="0" rtlCol="0" anchor="t"/>
          <a:lstStyle/>
          <a:p>
            <a:pPr marL="0" indent="0" algn="l">
              <a:lnSpc>
                <a:spcPts val="2500"/>
              </a:lnSpc>
              <a:buNone/>
            </a:pPr>
            <a:r>
              <a:rPr lang="en-US" sz="1550" b="1" dirty="0">
                <a:solidFill>
                  <a:srgbClr val="C9C9C0"/>
                </a:solidFill>
                <a:latin typeface="Tomorrow" pitchFamily="34" charset="0"/>
                <a:ea typeface="Tomorrow" pitchFamily="34" charset="-122"/>
                <a:cs typeface="Tomorrow" pitchFamily="34" charset="-120"/>
              </a:rPr>
              <a:t>Latin American Reality:</a:t>
            </a:r>
            <a:r>
              <a:rPr lang="en-US" sz="1550" dirty="0">
                <a:solidFill>
                  <a:srgbClr val="C9C9C0"/>
                </a:solidFill>
                <a:latin typeface="Tomorrow" pitchFamily="34" charset="0"/>
                <a:ea typeface="Tomorrow" pitchFamily="34" charset="-122"/>
                <a:cs typeface="Tomorrow" pitchFamily="34" charset="-120"/>
              </a:rPr>
              <a:t> Authoritarian coalitions often included both elites and middle class segments, while democracy survived in unexpected contexts.</a:t>
            </a:r>
            <a:endParaRPr lang="en-US" sz="1550" dirty="0"/>
          </a:p>
        </p:txBody>
      </p:sp>
      <p:sp>
        <p:nvSpPr>
          <p:cNvPr id="12" name="Shape 10"/>
          <p:cNvSpPr/>
          <p:nvPr/>
        </p:nvSpPr>
        <p:spPr>
          <a:xfrm>
            <a:off x="9621203" y="2721769"/>
            <a:ext cx="4215289" cy="3802856"/>
          </a:xfrm>
          <a:prstGeom prst="roundRect">
            <a:avLst>
              <a:gd name="adj" fmla="val 783"/>
            </a:avLst>
          </a:prstGeom>
          <a:solidFill>
            <a:srgbClr val="3C3C3A"/>
          </a:solidFill>
          <a:ln/>
        </p:spPr>
        <p:txBody>
          <a:bodyPr/>
          <a:lstStyle/>
          <a:p>
            <a:endParaRPr lang="es-AR"/>
          </a:p>
        </p:txBody>
      </p:sp>
      <p:sp>
        <p:nvSpPr>
          <p:cNvPr id="13" name="Text 11"/>
          <p:cNvSpPr/>
          <p:nvPr/>
        </p:nvSpPr>
        <p:spPr>
          <a:xfrm>
            <a:off x="9819561" y="2920127"/>
            <a:ext cx="2977158" cy="310158"/>
          </a:xfrm>
          <a:prstGeom prst="rect">
            <a:avLst/>
          </a:prstGeom>
          <a:noFill/>
          <a:ln/>
        </p:spPr>
        <p:txBody>
          <a:bodyPr wrap="none" lIns="0" tIns="0" rIns="0" bIns="0" rtlCol="0" anchor="t"/>
          <a:lstStyle/>
          <a:p>
            <a:pPr marL="0" indent="0" algn="l">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Economic Performance</a:t>
            </a:r>
            <a:endParaRPr lang="en-US" sz="1950" dirty="0"/>
          </a:p>
        </p:txBody>
      </p:sp>
      <p:sp>
        <p:nvSpPr>
          <p:cNvPr id="14" name="Text 12"/>
          <p:cNvSpPr/>
          <p:nvPr/>
        </p:nvSpPr>
        <p:spPr>
          <a:xfrm>
            <a:off x="9819561" y="3349347"/>
            <a:ext cx="3818573" cy="635079"/>
          </a:xfrm>
          <a:prstGeom prst="rect">
            <a:avLst/>
          </a:prstGeom>
          <a:noFill/>
          <a:ln/>
        </p:spPr>
        <p:txBody>
          <a:bodyPr wrap="square" lIns="0" tIns="0" rIns="0" bIns="0" rtlCol="0" anchor="t"/>
          <a:lstStyle/>
          <a:p>
            <a:pPr marL="0" indent="0" algn="l">
              <a:lnSpc>
                <a:spcPts val="2500"/>
              </a:lnSpc>
              <a:buNone/>
            </a:pPr>
            <a:r>
              <a:rPr lang="en-US" sz="1550" b="1" dirty="0">
                <a:solidFill>
                  <a:srgbClr val="C9C9C0"/>
                </a:solidFill>
                <a:latin typeface="Tomorrow" pitchFamily="34" charset="0"/>
                <a:ea typeface="Tomorrow" pitchFamily="34" charset="-122"/>
                <a:cs typeface="Tomorrow" pitchFamily="34" charset="-120"/>
              </a:rPr>
              <a:t>Prediction:</a:t>
            </a:r>
            <a:r>
              <a:rPr lang="en-US" sz="1550" dirty="0">
                <a:solidFill>
                  <a:srgbClr val="C9C9C0"/>
                </a:solidFill>
                <a:latin typeface="Tomorrow" pitchFamily="34" charset="0"/>
                <a:ea typeface="Tomorrow" pitchFamily="34" charset="-122"/>
                <a:cs typeface="Tomorrow" pitchFamily="34" charset="-120"/>
              </a:rPr>
              <a:t> Deep economic crises should cause democratic breakdowns.</a:t>
            </a:r>
            <a:endParaRPr lang="en-US" sz="1550" dirty="0"/>
          </a:p>
        </p:txBody>
      </p:sp>
      <p:sp>
        <p:nvSpPr>
          <p:cNvPr id="15" name="Text 13"/>
          <p:cNvSpPr/>
          <p:nvPr/>
        </p:nvSpPr>
        <p:spPr>
          <a:xfrm>
            <a:off x="9819561" y="4103489"/>
            <a:ext cx="3818573" cy="1270159"/>
          </a:xfrm>
          <a:prstGeom prst="rect">
            <a:avLst/>
          </a:prstGeom>
          <a:noFill/>
          <a:ln/>
        </p:spPr>
        <p:txBody>
          <a:bodyPr wrap="square" lIns="0" tIns="0" rIns="0" bIns="0" rtlCol="0" anchor="t"/>
          <a:lstStyle/>
          <a:p>
            <a:pPr marL="0" indent="0" algn="l">
              <a:lnSpc>
                <a:spcPts val="2500"/>
              </a:lnSpc>
              <a:buNone/>
            </a:pPr>
            <a:r>
              <a:rPr lang="en-US" sz="1550" b="1" dirty="0">
                <a:solidFill>
                  <a:srgbClr val="C9C9C0"/>
                </a:solidFill>
                <a:latin typeface="Tomorrow" pitchFamily="34" charset="0"/>
                <a:ea typeface="Tomorrow" pitchFamily="34" charset="-122"/>
                <a:cs typeface="Tomorrow" pitchFamily="34" charset="-120"/>
              </a:rPr>
              <a:t>Latin American Reality:</a:t>
            </a:r>
            <a:r>
              <a:rPr lang="en-US" sz="1550" dirty="0">
                <a:solidFill>
                  <a:srgbClr val="C9C9C0"/>
                </a:solidFill>
                <a:latin typeface="Tomorrow" pitchFamily="34" charset="0"/>
                <a:ea typeface="Tomorrow" pitchFamily="34" charset="-122"/>
                <a:cs typeface="Tomorrow" pitchFamily="34" charset="-120"/>
              </a:rPr>
              <a:t> The 1980s "lost decade" of debt crisis and hyperinflation did not lead to democratic collapse.</a:t>
            </a:r>
            <a:endParaRPr lang="en-US" sz="1550" dirty="0"/>
          </a:p>
        </p:txBody>
      </p:sp>
      <p:sp>
        <p:nvSpPr>
          <p:cNvPr id="16" name="Text 14"/>
          <p:cNvSpPr/>
          <p:nvPr/>
        </p:nvSpPr>
        <p:spPr>
          <a:xfrm>
            <a:off x="793790" y="6747867"/>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These traditional explanations cannot account for democracy's survival and spread in Latin America after 1978. Instead, regional dynamics, elite choices, and international context emerge as key drivers of democratization.</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76526" y="641033"/>
            <a:ext cx="9588579" cy="606743"/>
          </a:xfrm>
          <a:prstGeom prst="rect">
            <a:avLst/>
          </a:prstGeom>
          <a:noFill/>
          <a:ln/>
        </p:spPr>
        <p:txBody>
          <a:bodyPr wrap="none" lIns="0" tIns="0" rIns="0" bIns="0" rtlCol="0" anchor="t"/>
          <a:lstStyle/>
          <a:p>
            <a:pPr marL="0" indent="0" algn="l">
              <a:lnSpc>
                <a:spcPts val="4750"/>
              </a:lnSpc>
              <a:buNone/>
            </a:pPr>
            <a:r>
              <a:rPr lang="en-US" sz="3800" dirty="0">
                <a:solidFill>
                  <a:srgbClr val="EDEDE8"/>
                </a:solidFill>
                <a:latin typeface="Tomorrow Semi Bold" pitchFamily="34" charset="0"/>
                <a:ea typeface="Tomorrow Semi Bold" pitchFamily="34" charset="-122"/>
                <a:cs typeface="Tomorrow Semi Bold" pitchFamily="34" charset="-120"/>
              </a:rPr>
              <a:t>The Persistence of Democratic Paradox</a:t>
            </a:r>
            <a:endParaRPr lang="en-US" sz="3800" dirty="0"/>
          </a:p>
        </p:txBody>
      </p:sp>
      <p:sp>
        <p:nvSpPr>
          <p:cNvPr id="3" name="Text 1"/>
          <p:cNvSpPr/>
          <p:nvPr/>
        </p:nvSpPr>
        <p:spPr>
          <a:xfrm>
            <a:off x="776526" y="1733074"/>
            <a:ext cx="5310545" cy="363974"/>
          </a:xfrm>
          <a:prstGeom prst="rect">
            <a:avLst/>
          </a:prstGeom>
          <a:noFill/>
          <a:ln/>
        </p:spPr>
        <p:txBody>
          <a:bodyPr wrap="none" lIns="0" tIns="0" rIns="0" bIns="0" rtlCol="0" anchor="t"/>
          <a:lstStyle/>
          <a:p>
            <a:pPr marL="0" indent="0" algn="l">
              <a:lnSpc>
                <a:spcPts val="2850"/>
              </a:lnSpc>
              <a:buNone/>
            </a:pPr>
            <a:r>
              <a:rPr lang="en-US" sz="2250" dirty="0">
                <a:solidFill>
                  <a:srgbClr val="EDEDE8"/>
                </a:solidFill>
                <a:latin typeface="Tomorrow Semi Bold" pitchFamily="34" charset="0"/>
                <a:ea typeface="Tomorrow Semi Bold" pitchFamily="34" charset="-122"/>
                <a:cs typeface="Tomorrow Semi Bold" pitchFamily="34" charset="-120"/>
              </a:rPr>
              <a:t>Frances Hagopian's Central Paradox</a:t>
            </a:r>
            <a:endParaRPr lang="en-US" sz="2250" dirty="0"/>
          </a:p>
        </p:txBody>
      </p:sp>
      <p:sp>
        <p:nvSpPr>
          <p:cNvPr id="4" name="Text 2"/>
          <p:cNvSpPr/>
          <p:nvPr/>
        </p:nvSpPr>
        <p:spPr>
          <a:xfrm>
            <a:off x="776526" y="2291120"/>
            <a:ext cx="7656909" cy="931902"/>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Hagopian's 2005 analysis reveals a striking contradiction at the heart of Latin American democracy: remarkable institutional durability coupled with persistent citizen disaffection.</a:t>
            </a:r>
            <a:endParaRPr lang="en-US" sz="1500" dirty="0"/>
          </a:p>
        </p:txBody>
      </p:sp>
      <p:sp>
        <p:nvSpPr>
          <p:cNvPr id="5" name="Text 3"/>
          <p:cNvSpPr/>
          <p:nvPr/>
        </p:nvSpPr>
        <p:spPr>
          <a:xfrm>
            <a:off x="776526" y="3417094"/>
            <a:ext cx="2426970" cy="303252"/>
          </a:xfrm>
          <a:prstGeom prst="rect">
            <a:avLst/>
          </a:prstGeom>
          <a:noFill/>
          <a:ln/>
        </p:spPr>
        <p:txBody>
          <a:bodyPr wrap="none" lIns="0" tIns="0" rIns="0" bIns="0" rtlCol="0" anchor="t"/>
          <a:lstStyle/>
          <a:p>
            <a:pPr marL="0" indent="0" algn="l">
              <a:lnSpc>
                <a:spcPts val="2350"/>
              </a:lnSpc>
              <a:buNone/>
            </a:pPr>
            <a:r>
              <a:rPr lang="en-US" sz="1900" dirty="0">
                <a:solidFill>
                  <a:srgbClr val="EDEDE8"/>
                </a:solidFill>
                <a:latin typeface="Tomorrow Semi Bold" pitchFamily="34" charset="0"/>
                <a:ea typeface="Tomorrow Semi Bold" pitchFamily="34" charset="-122"/>
                <a:cs typeface="Tomorrow Semi Bold" pitchFamily="34" charset="-120"/>
              </a:rPr>
              <a:t>Durability Evidence</a:t>
            </a:r>
            <a:endParaRPr lang="en-US" sz="1900" dirty="0"/>
          </a:p>
        </p:txBody>
      </p:sp>
      <p:sp>
        <p:nvSpPr>
          <p:cNvPr id="6" name="Text 4"/>
          <p:cNvSpPr/>
          <p:nvPr/>
        </p:nvSpPr>
        <p:spPr>
          <a:xfrm>
            <a:off x="776526" y="3914418"/>
            <a:ext cx="7656909" cy="310634"/>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C9C9C0"/>
                </a:solidFill>
                <a:latin typeface="Tomorrow" pitchFamily="34" charset="0"/>
                <a:ea typeface="Tomorrow" pitchFamily="34" charset="-122"/>
                <a:cs typeface="Tomorrow" pitchFamily="34" charset="-120"/>
              </a:rPr>
              <a:t>Militaries have retreated to barracks</a:t>
            </a:r>
            <a:endParaRPr lang="en-US" sz="1500" dirty="0"/>
          </a:p>
        </p:txBody>
      </p:sp>
      <p:sp>
        <p:nvSpPr>
          <p:cNvPr id="7" name="Text 5"/>
          <p:cNvSpPr/>
          <p:nvPr/>
        </p:nvSpPr>
        <p:spPr>
          <a:xfrm>
            <a:off x="776526" y="4292918"/>
            <a:ext cx="7656909" cy="310634"/>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C9C9C0"/>
                </a:solidFill>
                <a:latin typeface="Tomorrow" pitchFamily="34" charset="0"/>
                <a:ea typeface="Tomorrow" pitchFamily="34" charset="-122"/>
                <a:cs typeface="Tomorrow" pitchFamily="34" charset="-120"/>
              </a:rPr>
              <a:t>Civilian elites remain committed to elections</a:t>
            </a:r>
            <a:endParaRPr lang="en-US" sz="1500" dirty="0"/>
          </a:p>
        </p:txBody>
      </p:sp>
      <p:sp>
        <p:nvSpPr>
          <p:cNvPr id="8" name="Text 6"/>
          <p:cNvSpPr/>
          <p:nvPr/>
        </p:nvSpPr>
        <p:spPr>
          <a:xfrm>
            <a:off x="776526" y="4671417"/>
            <a:ext cx="7656909" cy="310634"/>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C9C9C0"/>
                </a:solidFill>
                <a:latin typeface="Tomorrow" pitchFamily="34" charset="0"/>
                <a:ea typeface="Tomorrow" pitchFamily="34" charset="-122"/>
                <a:cs typeface="Tomorrow" pitchFamily="34" charset="-120"/>
              </a:rPr>
              <a:t>Only Peru's 1992 autogolpe represents clear reversal</a:t>
            </a:r>
            <a:endParaRPr lang="en-US" sz="1500" dirty="0"/>
          </a:p>
        </p:txBody>
      </p:sp>
      <p:sp>
        <p:nvSpPr>
          <p:cNvPr id="9" name="Text 7"/>
          <p:cNvSpPr/>
          <p:nvPr/>
        </p:nvSpPr>
        <p:spPr>
          <a:xfrm>
            <a:off x="776526" y="5049917"/>
            <a:ext cx="7656909" cy="310634"/>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C9C9C0"/>
                </a:solidFill>
                <a:latin typeface="Tomorrow" pitchFamily="34" charset="0"/>
                <a:ea typeface="Tomorrow" pitchFamily="34" charset="-122"/>
                <a:cs typeface="Tomorrow" pitchFamily="34" charset="-120"/>
              </a:rPr>
              <a:t>Democratic institutions have survived massive crises</a:t>
            </a:r>
            <a:endParaRPr lang="en-US" sz="1500" dirty="0"/>
          </a:p>
        </p:txBody>
      </p:sp>
      <p:sp>
        <p:nvSpPr>
          <p:cNvPr id="10" name="Text 8"/>
          <p:cNvSpPr/>
          <p:nvPr/>
        </p:nvSpPr>
        <p:spPr>
          <a:xfrm>
            <a:off x="776526" y="5554623"/>
            <a:ext cx="2792730" cy="303252"/>
          </a:xfrm>
          <a:prstGeom prst="rect">
            <a:avLst/>
          </a:prstGeom>
          <a:noFill/>
          <a:ln/>
        </p:spPr>
        <p:txBody>
          <a:bodyPr wrap="none" lIns="0" tIns="0" rIns="0" bIns="0" rtlCol="0" anchor="t"/>
          <a:lstStyle/>
          <a:p>
            <a:pPr marL="0" indent="0" algn="l">
              <a:lnSpc>
                <a:spcPts val="2350"/>
              </a:lnSpc>
              <a:buNone/>
            </a:pPr>
            <a:r>
              <a:rPr lang="en-US" sz="1900" dirty="0">
                <a:solidFill>
                  <a:srgbClr val="EDEDE8"/>
                </a:solidFill>
                <a:latin typeface="Tomorrow Semi Bold" pitchFamily="34" charset="0"/>
                <a:ea typeface="Tomorrow Semi Bold" pitchFamily="34" charset="-122"/>
                <a:cs typeface="Tomorrow Semi Bold" pitchFamily="34" charset="-120"/>
              </a:rPr>
              <a:t>Disaffection Indicators</a:t>
            </a:r>
            <a:endParaRPr lang="en-US" sz="1900" dirty="0"/>
          </a:p>
        </p:txBody>
      </p:sp>
      <p:sp>
        <p:nvSpPr>
          <p:cNvPr id="11" name="Text 9"/>
          <p:cNvSpPr/>
          <p:nvPr/>
        </p:nvSpPr>
        <p:spPr>
          <a:xfrm>
            <a:off x="776526" y="6051947"/>
            <a:ext cx="7656909" cy="310634"/>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C9C9C0"/>
                </a:solidFill>
                <a:latin typeface="Tomorrow" pitchFamily="34" charset="0"/>
                <a:ea typeface="Tomorrow" pitchFamily="34" charset="-122"/>
                <a:cs typeface="Tomorrow" pitchFamily="34" charset="-120"/>
              </a:rPr>
              <a:t>Only 50% said democracy always preferable (2003)</a:t>
            </a:r>
            <a:endParaRPr lang="en-US" sz="1500" dirty="0"/>
          </a:p>
        </p:txBody>
      </p:sp>
      <p:sp>
        <p:nvSpPr>
          <p:cNvPr id="12" name="Text 10"/>
          <p:cNvSpPr/>
          <p:nvPr/>
        </p:nvSpPr>
        <p:spPr>
          <a:xfrm>
            <a:off x="776526" y="6430447"/>
            <a:ext cx="7656909" cy="310634"/>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C9C9C0"/>
                </a:solidFill>
                <a:latin typeface="Tomorrow" pitchFamily="34" charset="0"/>
                <a:ea typeface="Tomorrow" pitchFamily="34" charset="-122"/>
                <a:cs typeface="Tomorrow" pitchFamily="34" charset="-120"/>
              </a:rPr>
              <a:t>Many would accept authoritarianism for economic solutions</a:t>
            </a:r>
            <a:endParaRPr lang="en-US" sz="1500" dirty="0"/>
          </a:p>
        </p:txBody>
      </p:sp>
      <p:sp>
        <p:nvSpPr>
          <p:cNvPr id="13" name="Text 11"/>
          <p:cNvSpPr/>
          <p:nvPr/>
        </p:nvSpPr>
        <p:spPr>
          <a:xfrm>
            <a:off x="776526" y="6808946"/>
            <a:ext cx="7656909" cy="310634"/>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C9C9C0"/>
                </a:solidFill>
                <a:latin typeface="Tomorrow" pitchFamily="34" charset="0"/>
                <a:ea typeface="Tomorrow" pitchFamily="34" charset="-122"/>
                <a:cs typeface="Tomorrow" pitchFamily="34" charset="-120"/>
              </a:rPr>
              <a:t>Rise of "doubting democrats" across the region</a:t>
            </a:r>
            <a:endParaRPr lang="en-US" sz="1500" dirty="0"/>
          </a:p>
        </p:txBody>
      </p:sp>
      <p:sp>
        <p:nvSpPr>
          <p:cNvPr id="15" name="Shape 12"/>
          <p:cNvSpPr/>
          <p:nvPr/>
        </p:nvSpPr>
        <p:spPr>
          <a:xfrm>
            <a:off x="8914686" y="6062323"/>
            <a:ext cx="4946690" cy="1756767"/>
          </a:xfrm>
          <a:prstGeom prst="roundRect">
            <a:avLst>
              <a:gd name="adj" fmla="val 1658"/>
            </a:avLst>
          </a:prstGeom>
          <a:solidFill>
            <a:srgbClr val="272725"/>
          </a:solidFill>
          <a:ln/>
        </p:spPr>
        <p:txBody>
          <a:bodyPr/>
          <a:lstStyle/>
          <a:p>
            <a:endParaRPr lang="es-AR"/>
          </a:p>
        </p:txBody>
      </p:sp>
      <p:pic>
        <p:nvPicPr>
          <p:cNvPr id="16" name="Image 1" descr="preencoded.png"/>
          <p:cNvPicPr>
            <a:picLocks noChangeAspect="1"/>
          </p:cNvPicPr>
          <p:nvPr/>
        </p:nvPicPr>
        <p:blipFill>
          <a:blip r:embed="rId3"/>
          <a:stretch>
            <a:fillRect/>
          </a:stretch>
        </p:blipFill>
        <p:spPr>
          <a:xfrm>
            <a:off x="9108758" y="6363551"/>
            <a:ext cx="242649" cy="194072"/>
          </a:xfrm>
          <a:prstGeom prst="rect">
            <a:avLst/>
          </a:prstGeom>
        </p:spPr>
      </p:pic>
      <p:sp>
        <p:nvSpPr>
          <p:cNvPr id="17" name="Text 13"/>
          <p:cNvSpPr/>
          <p:nvPr/>
        </p:nvSpPr>
        <p:spPr>
          <a:xfrm>
            <a:off x="9545479" y="6304853"/>
            <a:ext cx="4121825" cy="1242536"/>
          </a:xfrm>
          <a:prstGeom prst="rect">
            <a:avLst/>
          </a:prstGeom>
          <a:noFill/>
          <a:ln/>
        </p:spPr>
        <p:txBody>
          <a:bodyPr wrap="square" lIns="0" tIns="0" rIns="0" bIns="0" rtlCol="0" anchor="t"/>
          <a:lstStyle/>
          <a:p>
            <a:pPr marL="0" indent="0" algn="l">
              <a:lnSpc>
                <a:spcPts val="2400"/>
              </a:lnSpc>
              <a:buNone/>
            </a:pPr>
            <a:r>
              <a:rPr lang="en-US" sz="1500" dirty="0">
                <a:solidFill>
                  <a:srgbClr val="FFFFFF"/>
                </a:solidFill>
                <a:latin typeface="Tomorrow" pitchFamily="34" charset="0"/>
                <a:ea typeface="Tomorrow" pitchFamily="34" charset="-122"/>
                <a:cs typeface="Tomorrow" pitchFamily="34" charset="-120"/>
              </a:rPr>
              <a:t>The conditions that foster transitions are not the same as those that consolidate healthy democracy. This creates the risk of formal survival but substantive hollowing out.</a:t>
            </a:r>
            <a:endParaRPr lang="en-US" sz="1500" dirty="0"/>
          </a:p>
        </p:txBody>
      </p:sp>
      <p:pic>
        <p:nvPicPr>
          <p:cNvPr id="2050" name="Picture 2" descr="La elección boliviana del 20">
            <a:extLst>
              <a:ext uri="{FF2B5EF4-FFF2-40B4-BE49-F238E27FC236}">
                <a16:creationId xmlns:a16="http://schemas.microsoft.com/office/drawing/2014/main" id="{D5D5C2C6-77C8-4359-CA7A-08296C3AA2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62390" y="1543786"/>
            <a:ext cx="6243779" cy="41565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596314"/>
            <a:ext cx="9530834" cy="620078"/>
          </a:xfrm>
          <a:prstGeom prst="rect">
            <a:avLst/>
          </a:prstGeom>
          <a:noFill/>
          <a:ln/>
        </p:spPr>
        <p:txBody>
          <a:bodyPr wrap="none" lIns="0" tIns="0" rIns="0" bIns="0" rtlCol="0" anchor="t"/>
          <a:lstStyle/>
          <a:p>
            <a:pPr marL="0" indent="0" algn="l">
              <a:lnSpc>
                <a:spcPts val="4850"/>
              </a:lnSpc>
              <a:buNone/>
            </a:pPr>
            <a:r>
              <a:rPr lang="en-US" sz="3900" dirty="0">
                <a:solidFill>
                  <a:srgbClr val="EDEDE8"/>
                </a:solidFill>
                <a:latin typeface="Tomorrow Semi Bold" pitchFamily="34" charset="0"/>
                <a:ea typeface="Tomorrow Semi Bold" pitchFamily="34" charset="-122"/>
                <a:cs typeface="Tomorrow Semi Bold" pitchFamily="34" charset="-120"/>
              </a:rPr>
              <a:t>Forces Behind Democratic Transitions</a:t>
            </a:r>
            <a:endParaRPr lang="en-US" sz="3900" dirty="0"/>
          </a:p>
        </p:txBody>
      </p:sp>
      <p:sp>
        <p:nvSpPr>
          <p:cNvPr id="3" name="Text 1"/>
          <p:cNvSpPr/>
          <p:nvPr/>
        </p:nvSpPr>
        <p:spPr>
          <a:xfrm>
            <a:off x="793790" y="1613227"/>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If modernization and economic growth cannot explain the Third Wave, what factors drove Latin America's democratic transitions?</a:t>
            </a:r>
            <a:endParaRPr lang="en-US" sz="1550" dirty="0"/>
          </a:p>
        </p:txBody>
      </p:sp>
      <p:pic>
        <p:nvPicPr>
          <p:cNvPr id="4" name="Image 0" descr="preencoded.png"/>
          <p:cNvPicPr>
            <a:picLocks noChangeAspect="1"/>
          </p:cNvPicPr>
          <p:nvPr/>
        </p:nvPicPr>
        <p:blipFill>
          <a:blip r:embed="rId3"/>
          <a:stretch>
            <a:fillRect/>
          </a:stretch>
        </p:blipFill>
        <p:spPr>
          <a:xfrm>
            <a:off x="793790" y="2719268"/>
            <a:ext cx="496133" cy="496133"/>
          </a:xfrm>
          <a:prstGeom prst="rect">
            <a:avLst/>
          </a:prstGeom>
        </p:spPr>
      </p:pic>
      <p:sp>
        <p:nvSpPr>
          <p:cNvPr id="5" name="Text 2"/>
          <p:cNvSpPr/>
          <p:nvPr/>
        </p:nvSpPr>
        <p:spPr>
          <a:xfrm>
            <a:off x="1537930" y="2837021"/>
            <a:ext cx="2724626" cy="310158"/>
          </a:xfrm>
          <a:prstGeom prst="rect">
            <a:avLst/>
          </a:prstGeom>
          <a:noFill/>
          <a:ln/>
        </p:spPr>
        <p:txBody>
          <a:bodyPr wrap="none" lIns="0" tIns="0" rIns="0" bIns="0" rtlCol="0" anchor="t"/>
          <a:lstStyle/>
          <a:p>
            <a:pPr marL="0" indent="0" algn="l">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International Support</a:t>
            </a:r>
            <a:endParaRPr lang="en-US" sz="1950" dirty="0"/>
          </a:p>
        </p:txBody>
      </p:sp>
      <p:sp>
        <p:nvSpPr>
          <p:cNvPr id="6" name="Text 3"/>
          <p:cNvSpPr/>
          <p:nvPr/>
        </p:nvSpPr>
        <p:spPr>
          <a:xfrm>
            <a:off x="1537930" y="3266242"/>
            <a:ext cx="5653207" cy="1587698"/>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U.S. foreign policy shifted toward democracy promotion, particularly in Central America. The OAS and Mercosur conditioned membership on democratic rule, while international condemnation deterred coups in Guatemala (1993) and Paraguay (1996).</a:t>
            </a:r>
            <a:endParaRPr lang="en-US" sz="1550" dirty="0"/>
          </a:p>
        </p:txBody>
      </p:sp>
      <p:pic>
        <p:nvPicPr>
          <p:cNvPr id="7" name="Image 1" descr="preencoded.png"/>
          <p:cNvPicPr>
            <a:picLocks noChangeAspect="1"/>
          </p:cNvPicPr>
          <p:nvPr/>
        </p:nvPicPr>
        <p:blipFill>
          <a:blip r:embed="rId4"/>
          <a:stretch>
            <a:fillRect/>
          </a:stretch>
        </p:blipFill>
        <p:spPr>
          <a:xfrm>
            <a:off x="7439144" y="2719268"/>
            <a:ext cx="496133" cy="496133"/>
          </a:xfrm>
          <a:prstGeom prst="rect">
            <a:avLst/>
          </a:prstGeom>
        </p:spPr>
      </p:pic>
      <p:sp>
        <p:nvSpPr>
          <p:cNvPr id="8" name="Text 4"/>
          <p:cNvSpPr/>
          <p:nvPr/>
        </p:nvSpPr>
        <p:spPr>
          <a:xfrm>
            <a:off x="8183285" y="283702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Value Changes</a:t>
            </a:r>
            <a:endParaRPr lang="en-US" sz="1950" dirty="0"/>
          </a:p>
        </p:txBody>
      </p:sp>
      <p:sp>
        <p:nvSpPr>
          <p:cNvPr id="9" name="Text 5"/>
          <p:cNvSpPr/>
          <p:nvPr/>
        </p:nvSpPr>
        <p:spPr>
          <a:xfrm>
            <a:off x="8183285" y="3266242"/>
            <a:ext cx="5653326" cy="1587698"/>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Catholic Church reforms through Vatican II and liberation theology emphasized human rights and democracy. The Latin American left, radicalized in the 1960s, learned through exile and repression to embrace elections as the only viable path forward.</a:t>
            </a:r>
            <a:endParaRPr lang="en-US" sz="1550" dirty="0"/>
          </a:p>
        </p:txBody>
      </p:sp>
      <p:pic>
        <p:nvPicPr>
          <p:cNvPr id="10" name="Image 2" descr="preencoded.png"/>
          <p:cNvPicPr>
            <a:picLocks noChangeAspect="1"/>
          </p:cNvPicPr>
          <p:nvPr/>
        </p:nvPicPr>
        <p:blipFill>
          <a:blip r:embed="rId5"/>
          <a:stretch>
            <a:fillRect/>
          </a:stretch>
        </p:blipFill>
        <p:spPr>
          <a:xfrm>
            <a:off x="793790" y="5250775"/>
            <a:ext cx="496133" cy="496133"/>
          </a:xfrm>
          <a:prstGeom prst="rect">
            <a:avLst/>
          </a:prstGeom>
        </p:spPr>
      </p:pic>
      <p:sp>
        <p:nvSpPr>
          <p:cNvPr id="11" name="Text 6"/>
          <p:cNvSpPr/>
          <p:nvPr/>
        </p:nvSpPr>
        <p:spPr>
          <a:xfrm>
            <a:off x="1537930" y="5368528"/>
            <a:ext cx="2496741" cy="310158"/>
          </a:xfrm>
          <a:prstGeom prst="rect">
            <a:avLst/>
          </a:prstGeom>
          <a:noFill/>
          <a:ln/>
        </p:spPr>
        <p:txBody>
          <a:bodyPr wrap="none" lIns="0" tIns="0" rIns="0" bIns="0" rtlCol="0" anchor="t"/>
          <a:lstStyle/>
          <a:p>
            <a:pPr marL="0" indent="0" algn="l">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End of Communism</a:t>
            </a:r>
            <a:endParaRPr lang="en-US" sz="1950" dirty="0"/>
          </a:p>
        </p:txBody>
      </p:sp>
      <p:sp>
        <p:nvSpPr>
          <p:cNvPr id="12" name="Text 7"/>
          <p:cNvSpPr/>
          <p:nvPr/>
        </p:nvSpPr>
        <p:spPr>
          <a:xfrm>
            <a:off x="1537930" y="5797748"/>
            <a:ext cx="5653207" cy="127015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The collapse of the Soviet bloc diminished fears of "communist takeovers" and reduced ideological polarization, creating space for democratic competition without existential stakes.</a:t>
            </a:r>
            <a:endParaRPr lang="en-US" sz="1550" dirty="0"/>
          </a:p>
        </p:txBody>
      </p:sp>
      <p:pic>
        <p:nvPicPr>
          <p:cNvPr id="13" name="Image 3" descr="preencoded.png"/>
          <p:cNvPicPr>
            <a:picLocks noChangeAspect="1"/>
          </p:cNvPicPr>
          <p:nvPr/>
        </p:nvPicPr>
        <p:blipFill>
          <a:blip r:embed="rId6"/>
          <a:stretch>
            <a:fillRect/>
          </a:stretch>
        </p:blipFill>
        <p:spPr>
          <a:xfrm>
            <a:off x="7439144" y="5250775"/>
            <a:ext cx="496133" cy="496133"/>
          </a:xfrm>
          <a:prstGeom prst="rect">
            <a:avLst/>
          </a:prstGeom>
        </p:spPr>
      </p:pic>
      <p:sp>
        <p:nvSpPr>
          <p:cNvPr id="14" name="Text 8"/>
          <p:cNvSpPr/>
          <p:nvPr/>
        </p:nvSpPr>
        <p:spPr>
          <a:xfrm>
            <a:off x="8183285" y="536852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Elite Strategies</a:t>
            </a:r>
            <a:endParaRPr lang="en-US" sz="1950" dirty="0"/>
          </a:p>
        </p:txBody>
      </p:sp>
      <p:sp>
        <p:nvSpPr>
          <p:cNvPr id="15" name="Text 9"/>
          <p:cNvSpPr/>
          <p:nvPr/>
        </p:nvSpPr>
        <p:spPr>
          <a:xfrm>
            <a:off x="8183285" y="5797748"/>
            <a:ext cx="5653326" cy="127015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Institutional innovations like Mexico's Federal Electoral Institute, Chile's binomial electoral law promoting coalitions, and Brazil's constitutional provisions balancing executive power and governability.</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6173391" y="473393"/>
            <a:ext cx="5758339" cy="536615"/>
          </a:xfrm>
          <a:prstGeom prst="rect">
            <a:avLst/>
          </a:prstGeom>
          <a:noFill/>
          <a:ln/>
        </p:spPr>
        <p:txBody>
          <a:bodyPr wrap="none" lIns="0" tIns="0" rIns="0" bIns="0" rtlCol="0" anchor="t"/>
          <a:lstStyle/>
          <a:p>
            <a:pPr marL="0" indent="0" algn="l">
              <a:lnSpc>
                <a:spcPts val="4200"/>
              </a:lnSpc>
              <a:buNone/>
            </a:pPr>
            <a:r>
              <a:rPr lang="en-US" sz="3350" dirty="0">
                <a:solidFill>
                  <a:srgbClr val="EDEDE8"/>
                </a:solidFill>
                <a:latin typeface="Tomorrow Semi Bold" pitchFamily="34" charset="0"/>
                <a:ea typeface="Tomorrow Semi Bold" pitchFamily="34" charset="-122"/>
                <a:cs typeface="Tomorrow Semi Bold" pitchFamily="34" charset="-120"/>
              </a:rPr>
              <a:t>The Participation Dilemma</a:t>
            </a:r>
            <a:endParaRPr lang="en-US" sz="3350" dirty="0"/>
          </a:p>
        </p:txBody>
      </p:sp>
      <p:sp>
        <p:nvSpPr>
          <p:cNvPr id="4" name="Text 1"/>
          <p:cNvSpPr/>
          <p:nvPr/>
        </p:nvSpPr>
        <p:spPr>
          <a:xfrm>
            <a:off x="6173391" y="1267539"/>
            <a:ext cx="7770019" cy="549593"/>
          </a:xfrm>
          <a:prstGeom prst="rect">
            <a:avLst/>
          </a:prstGeom>
          <a:noFill/>
          <a:ln/>
        </p:spPr>
        <p:txBody>
          <a:bodyPr wrap="square" lIns="0" tIns="0" rIns="0" bIns="0" rtlCol="0" anchor="t"/>
          <a:lstStyle/>
          <a:p>
            <a:pPr marL="0" indent="0" algn="l">
              <a:lnSpc>
                <a:spcPts val="2150"/>
              </a:lnSpc>
              <a:buNone/>
            </a:pPr>
            <a:r>
              <a:rPr lang="en-US" sz="1350" dirty="0">
                <a:solidFill>
                  <a:srgbClr val="C9C9C0"/>
                </a:solidFill>
                <a:latin typeface="Tomorrow" pitchFamily="34" charset="0"/>
                <a:ea typeface="Tomorrow" pitchFamily="34" charset="-122"/>
                <a:cs typeface="Tomorrow" pitchFamily="34" charset="-120"/>
              </a:rPr>
              <a:t>Despite regime stability, citizen skepticism has grown, creating a fundamental tension about the appropriate level of democratic participation.</a:t>
            </a:r>
            <a:endParaRPr lang="en-US" sz="1350" dirty="0"/>
          </a:p>
        </p:txBody>
      </p:sp>
      <p:pic>
        <p:nvPicPr>
          <p:cNvPr id="5" name="Image 1" descr="preencoded.png"/>
          <p:cNvPicPr>
            <a:picLocks noChangeAspect="1"/>
          </p:cNvPicPr>
          <p:nvPr/>
        </p:nvPicPr>
        <p:blipFill>
          <a:blip r:embed="rId3"/>
          <a:stretch>
            <a:fillRect/>
          </a:stretch>
        </p:blipFill>
        <p:spPr>
          <a:xfrm>
            <a:off x="6173391" y="2010251"/>
            <a:ext cx="858679" cy="1539002"/>
          </a:xfrm>
          <a:prstGeom prst="rect">
            <a:avLst/>
          </a:prstGeom>
        </p:spPr>
      </p:pic>
      <p:sp>
        <p:nvSpPr>
          <p:cNvPr id="6" name="Text 2"/>
          <p:cNvSpPr/>
          <p:nvPr/>
        </p:nvSpPr>
        <p:spPr>
          <a:xfrm>
            <a:off x="7203758" y="2181939"/>
            <a:ext cx="2146935" cy="268248"/>
          </a:xfrm>
          <a:prstGeom prst="rect">
            <a:avLst/>
          </a:prstGeom>
          <a:noFill/>
          <a:ln/>
        </p:spPr>
        <p:txBody>
          <a:bodyPr wrap="none" lIns="0" tIns="0" rIns="0" bIns="0" rtlCol="0" anchor="t"/>
          <a:lstStyle/>
          <a:p>
            <a:pPr marL="0" indent="0" algn="l">
              <a:lnSpc>
                <a:spcPts val="2100"/>
              </a:lnSpc>
              <a:buNone/>
            </a:pPr>
            <a:r>
              <a:rPr lang="en-US" sz="1650" dirty="0">
                <a:solidFill>
                  <a:srgbClr val="C9C9C0"/>
                </a:solidFill>
                <a:latin typeface="Tomorrow Semi Bold" pitchFamily="34" charset="0"/>
                <a:ea typeface="Tomorrow Semi Bold" pitchFamily="34" charset="-122"/>
                <a:cs typeface="Tomorrow Semi Bold" pitchFamily="34" charset="-120"/>
              </a:rPr>
              <a:t>Rising Disaffection</a:t>
            </a:r>
            <a:endParaRPr lang="en-US" sz="1650" dirty="0"/>
          </a:p>
        </p:txBody>
      </p:sp>
      <p:sp>
        <p:nvSpPr>
          <p:cNvPr id="7" name="Text 3"/>
          <p:cNvSpPr/>
          <p:nvPr/>
        </p:nvSpPr>
        <p:spPr>
          <a:xfrm>
            <a:off x="7203758" y="2553176"/>
            <a:ext cx="6739652" cy="824389"/>
          </a:xfrm>
          <a:prstGeom prst="rect">
            <a:avLst/>
          </a:prstGeom>
          <a:noFill/>
          <a:ln/>
        </p:spPr>
        <p:txBody>
          <a:bodyPr wrap="square" lIns="0" tIns="0" rIns="0" bIns="0" rtlCol="0" anchor="t"/>
          <a:lstStyle/>
          <a:p>
            <a:pPr marL="0" indent="0" algn="l">
              <a:lnSpc>
                <a:spcPts val="2150"/>
              </a:lnSpc>
              <a:buNone/>
            </a:pPr>
            <a:r>
              <a:rPr lang="en-US" sz="1350" dirty="0">
                <a:solidFill>
                  <a:srgbClr val="C9C9C0"/>
                </a:solidFill>
                <a:latin typeface="Tomorrow" pitchFamily="34" charset="0"/>
                <a:ea typeface="Tomorrow" pitchFamily="34" charset="-122"/>
                <a:cs typeface="Tomorrow" pitchFamily="34" charset="-120"/>
              </a:rPr>
              <a:t>Indicators include rising abstention, electoral volatility, outsider candidates, and protests that toppled presidents in Ecuador (2000), Argentina (2001), and Bolivia (2003).</a:t>
            </a:r>
            <a:endParaRPr lang="en-US" sz="1350" dirty="0"/>
          </a:p>
        </p:txBody>
      </p:sp>
      <p:pic>
        <p:nvPicPr>
          <p:cNvPr id="8" name="Image 2" descr="preencoded.png"/>
          <p:cNvPicPr>
            <a:picLocks noChangeAspect="1"/>
          </p:cNvPicPr>
          <p:nvPr/>
        </p:nvPicPr>
        <p:blipFill>
          <a:blip r:embed="rId4"/>
          <a:stretch>
            <a:fillRect/>
          </a:stretch>
        </p:blipFill>
        <p:spPr>
          <a:xfrm>
            <a:off x="6173391" y="3549253"/>
            <a:ext cx="858679" cy="1539002"/>
          </a:xfrm>
          <a:prstGeom prst="rect">
            <a:avLst/>
          </a:prstGeom>
        </p:spPr>
      </p:pic>
      <p:sp>
        <p:nvSpPr>
          <p:cNvPr id="9" name="Text 4"/>
          <p:cNvSpPr/>
          <p:nvPr/>
        </p:nvSpPr>
        <p:spPr>
          <a:xfrm>
            <a:off x="7203758" y="3720941"/>
            <a:ext cx="2653427" cy="268248"/>
          </a:xfrm>
          <a:prstGeom prst="rect">
            <a:avLst/>
          </a:prstGeom>
          <a:noFill/>
          <a:ln/>
        </p:spPr>
        <p:txBody>
          <a:bodyPr wrap="none" lIns="0" tIns="0" rIns="0" bIns="0" rtlCol="0" anchor="t"/>
          <a:lstStyle/>
          <a:p>
            <a:pPr marL="0" indent="0" algn="l">
              <a:lnSpc>
                <a:spcPts val="2100"/>
              </a:lnSpc>
              <a:buNone/>
            </a:pPr>
            <a:r>
              <a:rPr lang="en-US" sz="1650" dirty="0">
                <a:solidFill>
                  <a:srgbClr val="C9C9C0"/>
                </a:solidFill>
                <a:latin typeface="Tomorrow Semi Bold" pitchFamily="34" charset="0"/>
                <a:ea typeface="Tomorrow Semi Bold" pitchFamily="34" charset="-122"/>
                <a:cs typeface="Tomorrow Semi Bold" pitchFamily="34" charset="-120"/>
              </a:rPr>
              <a:t>The Participation Debate</a:t>
            </a:r>
            <a:endParaRPr lang="en-US" sz="1650" dirty="0"/>
          </a:p>
        </p:txBody>
      </p:sp>
      <p:sp>
        <p:nvSpPr>
          <p:cNvPr id="10" name="Text 5"/>
          <p:cNvSpPr/>
          <p:nvPr/>
        </p:nvSpPr>
        <p:spPr>
          <a:xfrm>
            <a:off x="7203758" y="4092178"/>
            <a:ext cx="6739652" cy="824389"/>
          </a:xfrm>
          <a:prstGeom prst="rect">
            <a:avLst/>
          </a:prstGeom>
          <a:noFill/>
          <a:ln/>
        </p:spPr>
        <p:txBody>
          <a:bodyPr wrap="square" lIns="0" tIns="0" rIns="0" bIns="0" rtlCol="0" anchor="t"/>
          <a:lstStyle/>
          <a:p>
            <a:pPr marL="0" indent="0" algn="l">
              <a:lnSpc>
                <a:spcPts val="2150"/>
              </a:lnSpc>
              <a:buNone/>
            </a:pPr>
            <a:r>
              <a:rPr lang="en-US" sz="1350" dirty="0">
                <a:solidFill>
                  <a:srgbClr val="C9C9C0"/>
                </a:solidFill>
                <a:latin typeface="Tomorrow" pitchFamily="34" charset="0"/>
                <a:ea typeface="Tomorrow" pitchFamily="34" charset="-122"/>
                <a:cs typeface="Tomorrow" pitchFamily="34" charset="-120"/>
              </a:rPr>
              <a:t>High participation may deepen democracy but risks populism and destabilizing protests. Low participation preserves stability but leaves elites unchecked and citizens alienated.</a:t>
            </a:r>
            <a:endParaRPr lang="en-US" sz="1350" dirty="0"/>
          </a:p>
        </p:txBody>
      </p:sp>
      <p:pic>
        <p:nvPicPr>
          <p:cNvPr id="11" name="Image 3" descr="preencoded.png"/>
          <p:cNvPicPr>
            <a:picLocks noChangeAspect="1"/>
          </p:cNvPicPr>
          <p:nvPr/>
        </p:nvPicPr>
        <p:blipFill>
          <a:blip r:embed="rId5"/>
          <a:stretch>
            <a:fillRect/>
          </a:stretch>
        </p:blipFill>
        <p:spPr>
          <a:xfrm>
            <a:off x="6173391" y="5088255"/>
            <a:ext cx="858679" cy="1539002"/>
          </a:xfrm>
          <a:prstGeom prst="rect">
            <a:avLst/>
          </a:prstGeom>
        </p:spPr>
      </p:pic>
      <p:sp>
        <p:nvSpPr>
          <p:cNvPr id="12" name="Text 6"/>
          <p:cNvSpPr/>
          <p:nvPr/>
        </p:nvSpPr>
        <p:spPr>
          <a:xfrm>
            <a:off x="7203758" y="5259943"/>
            <a:ext cx="2333982" cy="268248"/>
          </a:xfrm>
          <a:prstGeom prst="rect">
            <a:avLst/>
          </a:prstGeom>
          <a:noFill/>
          <a:ln/>
        </p:spPr>
        <p:txBody>
          <a:bodyPr wrap="none" lIns="0" tIns="0" rIns="0" bIns="0" rtlCol="0" anchor="t"/>
          <a:lstStyle/>
          <a:p>
            <a:pPr marL="0" indent="0" algn="l">
              <a:lnSpc>
                <a:spcPts val="2100"/>
              </a:lnSpc>
              <a:buNone/>
            </a:pPr>
            <a:r>
              <a:rPr lang="en-US" sz="1650" dirty="0">
                <a:solidFill>
                  <a:srgbClr val="C9C9C0"/>
                </a:solidFill>
                <a:latin typeface="Tomorrow Semi Bold" pitchFamily="34" charset="0"/>
                <a:ea typeface="Tomorrow Semi Bold" pitchFamily="34" charset="-122"/>
                <a:cs typeface="Tomorrow Semi Bold" pitchFamily="34" charset="-120"/>
              </a:rPr>
              <a:t>Party Systems Matter</a:t>
            </a:r>
            <a:endParaRPr lang="en-US" sz="1650" dirty="0"/>
          </a:p>
        </p:txBody>
      </p:sp>
      <p:sp>
        <p:nvSpPr>
          <p:cNvPr id="13" name="Text 7"/>
          <p:cNvSpPr/>
          <p:nvPr/>
        </p:nvSpPr>
        <p:spPr>
          <a:xfrm>
            <a:off x="7203758" y="5631180"/>
            <a:ext cx="6739652" cy="824389"/>
          </a:xfrm>
          <a:prstGeom prst="rect">
            <a:avLst/>
          </a:prstGeom>
          <a:noFill/>
          <a:ln/>
        </p:spPr>
        <p:txBody>
          <a:bodyPr wrap="square" lIns="0" tIns="0" rIns="0" bIns="0" rtlCol="0" anchor="t"/>
          <a:lstStyle/>
          <a:p>
            <a:pPr marL="0" indent="0" algn="l">
              <a:lnSpc>
                <a:spcPts val="2150"/>
              </a:lnSpc>
              <a:buNone/>
            </a:pPr>
            <a:r>
              <a:rPr lang="en-US" sz="1350" dirty="0">
                <a:solidFill>
                  <a:srgbClr val="C9C9C0"/>
                </a:solidFill>
                <a:latin typeface="Tomorrow" pitchFamily="34" charset="0"/>
                <a:ea typeface="Tomorrow" pitchFamily="34" charset="-122"/>
                <a:cs typeface="Tomorrow" pitchFamily="34" charset="-120"/>
              </a:rPr>
              <a:t>When parties are strong and representative (Chile), they mediate demands and sustain trust. When weak or fragmented (Venezuela, Ecuador), anti-system leaders emerge.</a:t>
            </a:r>
            <a:endParaRPr lang="en-US" sz="1350" dirty="0"/>
          </a:p>
        </p:txBody>
      </p:sp>
      <p:sp>
        <p:nvSpPr>
          <p:cNvPr id="14" name="Text 8"/>
          <p:cNvSpPr/>
          <p:nvPr/>
        </p:nvSpPr>
        <p:spPr>
          <a:xfrm>
            <a:off x="6430923" y="7013496"/>
            <a:ext cx="7512487" cy="549593"/>
          </a:xfrm>
          <a:prstGeom prst="rect">
            <a:avLst/>
          </a:prstGeom>
          <a:noFill/>
          <a:ln/>
        </p:spPr>
        <p:txBody>
          <a:bodyPr wrap="square" lIns="0" tIns="0" rIns="0" bIns="0" rtlCol="0" anchor="t"/>
          <a:lstStyle/>
          <a:p>
            <a:pPr marL="0" indent="0" algn="l">
              <a:lnSpc>
                <a:spcPts val="2150"/>
              </a:lnSpc>
              <a:buNone/>
            </a:pPr>
            <a:r>
              <a:rPr lang="en-US" sz="1350" dirty="0">
                <a:solidFill>
                  <a:srgbClr val="C9C9C0"/>
                </a:solidFill>
                <a:latin typeface="Tomorrow" pitchFamily="34" charset="0"/>
                <a:ea typeface="Tomorrow" pitchFamily="34" charset="-122"/>
                <a:cs typeface="Tomorrow" pitchFamily="34" charset="-120"/>
              </a:rPr>
              <a:t>"Democracy cannot thrive without parties and institutions capable of channeling participation." - Frances Hagopian</a:t>
            </a:r>
            <a:endParaRPr lang="en-US" sz="1350" dirty="0"/>
          </a:p>
        </p:txBody>
      </p:sp>
      <p:sp>
        <p:nvSpPr>
          <p:cNvPr id="15" name="Shape 9"/>
          <p:cNvSpPr/>
          <p:nvPr/>
        </p:nvSpPr>
        <p:spPr>
          <a:xfrm>
            <a:off x="6173391" y="6820376"/>
            <a:ext cx="22860" cy="935831"/>
          </a:xfrm>
          <a:prstGeom prst="rect">
            <a:avLst/>
          </a:prstGeom>
          <a:solidFill>
            <a:srgbClr val="E1E1DF"/>
          </a:solidFill>
          <a:ln/>
        </p:spPr>
        <p:txBody>
          <a:bodyPr/>
          <a:lstStyle/>
          <a:p>
            <a:endParaRPr lang="es-AR"/>
          </a:p>
        </p:txBody>
      </p:sp>
      <p:pic>
        <p:nvPicPr>
          <p:cNvPr id="3074" name="Picture 2">
            <a:extLst>
              <a:ext uri="{FF2B5EF4-FFF2-40B4-BE49-F238E27FC236}">
                <a16:creationId xmlns:a16="http://schemas.microsoft.com/office/drawing/2014/main" id="{6501963B-A85C-BFAF-05DF-8854DE96E6D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574" t="467" r="14747" b="-467"/>
          <a:stretch>
            <a:fillRect/>
          </a:stretch>
        </p:blipFill>
        <p:spPr bwMode="auto">
          <a:xfrm>
            <a:off x="31747" y="304800"/>
            <a:ext cx="5906972" cy="762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89942" y="569578"/>
            <a:ext cx="4882872" cy="382786"/>
          </a:xfrm>
          <a:prstGeom prst="rect">
            <a:avLst/>
          </a:prstGeom>
          <a:noFill/>
          <a:ln/>
        </p:spPr>
        <p:txBody>
          <a:bodyPr wrap="none" lIns="0" tIns="0" rIns="0" bIns="0" rtlCol="0" anchor="t"/>
          <a:lstStyle/>
          <a:p>
            <a:pPr marL="0" indent="0" algn="l">
              <a:lnSpc>
                <a:spcPts val="3000"/>
              </a:lnSpc>
              <a:buNone/>
            </a:pPr>
            <a:r>
              <a:rPr lang="en-US" sz="3900" dirty="0">
                <a:solidFill>
                  <a:srgbClr val="EDEDE8"/>
                </a:solidFill>
                <a:latin typeface="Tomorrow Semi Bold" pitchFamily="34" charset="0"/>
                <a:ea typeface="Tomorrow Semi Bold" pitchFamily="34" charset="-122"/>
                <a:cs typeface="Tomorrow Semi Bold" pitchFamily="34" charset="-120"/>
              </a:rPr>
              <a:t>The Low-Level Equilibrium Trap</a:t>
            </a:r>
            <a:endParaRPr lang="en-US" sz="3900" dirty="0"/>
          </a:p>
        </p:txBody>
      </p:sp>
      <p:sp>
        <p:nvSpPr>
          <p:cNvPr id="3" name="Text 1"/>
          <p:cNvSpPr/>
          <p:nvPr/>
        </p:nvSpPr>
        <p:spPr>
          <a:xfrm>
            <a:off x="489942" y="1250012"/>
            <a:ext cx="2799517" cy="229552"/>
          </a:xfrm>
          <a:prstGeom prst="rect">
            <a:avLst/>
          </a:prstGeom>
          <a:noFill/>
          <a:ln/>
        </p:spPr>
        <p:txBody>
          <a:bodyPr wrap="none" lIns="0" tIns="0" rIns="0" bIns="0" rtlCol="0" anchor="t"/>
          <a:lstStyle/>
          <a:p>
            <a:pPr marL="0" indent="0" algn="l">
              <a:lnSpc>
                <a:spcPts val="1800"/>
              </a:lnSpc>
              <a:buNone/>
            </a:pPr>
            <a:r>
              <a:rPr lang="en-US" sz="1950" dirty="0">
                <a:solidFill>
                  <a:srgbClr val="EDEDE8"/>
                </a:solidFill>
                <a:latin typeface="Tomorrow Semi Bold" pitchFamily="34" charset="0"/>
                <a:ea typeface="Tomorrow Semi Bold" pitchFamily="34" charset="-122"/>
                <a:cs typeface="Tomorrow Semi Bold" pitchFamily="34" charset="-120"/>
              </a:rPr>
              <a:t>Expectations vs. Performance</a:t>
            </a:r>
            <a:endParaRPr lang="en-US" sz="1950" dirty="0"/>
          </a:p>
        </p:txBody>
      </p:sp>
      <p:sp>
        <p:nvSpPr>
          <p:cNvPr id="4" name="Text 2"/>
          <p:cNvSpPr/>
          <p:nvPr/>
        </p:nvSpPr>
        <p:spPr>
          <a:xfrm>
            <a:off x="489942" y="1601961"/>
            <a:ext cx="6675834" cy="587931"/>
          </a:xfrm>
          <a:prstGeom prst="rect">
            <a:avLst/>
          </a:prstGeom>
          <a:noFill/>
          <a:ln/>
        </p:spPr>
        <p:txBody>
          <a:bodyPr wrap="square" lIns="0" tIns="0" rIns="0" bIns="0" rtlCol="0" anchor="t"/>
          <a:lstStyle/>
          <a:p>
            <a:pPr>
              <a:lnSpc>
                <a:spcPts val="2500"/>
              </a:lnSpc>
            </a:pPr>
            <a:r>
              <a:rPr lang="en-US" sz="1550" dirty="0">
                <a:solidFill>
                  <a:srgbClr val="C9C9C0"/>
                </a:solidFill>
                <a:latin typeface="Tomorrow" pitchFamily="34" charset="0"/>
              </a:rPr>
              <a:t>A critical mismatch exists between citizen expectations and government performance. With expanded suffrage bringing previously excluded groups into the democratic process, citizens expect more from democracy: jobs, safety, transparency, and responsive governance.</a:t>
            </a:r>
          </a:p>
        </p:txBody>
      </p:sp>
      <p:sp>
        <p:nvSpPr>
          <p:cNvPr id="5" name="Text 3"/>
          <p:cNvSpPr/>
          <p:nvPr/>
        </p:nvSpPr>
        <p:spPr>
          <a:xfrm>
            <a:off x="489942" y="3362893"/>
            <a:ext cx="6675834" cy="391954"/>
          </a:xfrm>
          <a:prstGeom prst="rect">
            <a:avLst/>
          </a:prstGeom>
          <a:noFill/>
          <a:ln/>
        </p:spPr>
        <p:txBody>
          <a:bodyPr wrap="square" lIns="0" tIns="0" rIns="0" bIns="0" rtlCol="0" anchor="t"/>
          <a:lstStyle/>
          <a:p>
            <a:pPr>
              <a:lnSpc>
                <a:spcPts val="2500"/>
              </a:lnSpc>
            </a:pPr>
            <a:r>
              <a:rPr lang="en-US" sz="1550" dirty="0">
                <a:solidFill>
                  <a:srgbClr val="C9C9C0"/>
                </a:solidFill>
                <a:latin typeface="Tomorrow" pitchFamily="34" charset="0"/>
              </a:rPr>
              <a:t>Yet governments consistently underdeliver, creating what Hagopian identifies as an "uneasy low equilibrium" rather than democratic collapse.</a:t>
            </a:r>
          </a:p>
        </p:txBody>
      </p:sp>
      <p:sp>
        <p:nvSpPr>
          <p:cNvPr id="8" name="Shape 4"/>
          <p:cNvSpPr/>
          <p:nvPr/>
        </p:nvSpPr>
        <p:spPr>
          <a:xfrm>
            <a:off x="548221" y="4633826"/>
            <a:ext cx="244912" cy="244912"/>
          </a:xfrm>
          <a:prstGeom prst="roundRect">
            <a:avLst>
              <a:gd name="adj" fmla="val 7503"/>
            </a:avLst>
          </a:prstGeom>
          <a:solidFill>
            <a:srgbClr val="3C3C3A"/>
          </a:solidFill>
          <a:ln/>
        </p:spPr>
        <p:txBody>
          <a:bodyPr/>
          <a:lstStyle/>
          <a:p>
            <a:endParaRPr lang="es-AR"/>
          </a:p>
        </p:txBody>
      </p:sp>
      <p:pic>
        <p:nvPicPr>
          <p:cNvPr id="9" name="Image 2" descr="preencoded.png"/>
          <p:cNvPicPr>
            <a:picLocks noChangeAspect="1"/>
          </p:cNvPicPr>
          <p:nvPr/>
        </p:nvPicPr>
        <p:blipFill>
          <a:blip r:embed="rId3"/>
          <a:stretch>
            <a:fillRect/>
          </a:stretch>
        </p:blipFill>
        <p:spPr>
          <a:xfrm>
            <a:off x="594061" y="4660556"/>
            <a:ext cx="153114" cy="191333"/>
          </a:xfrm>
          <a:prstGeom prst="rect">
            <a:avLst/>
          </a:prstGeom>
        </p:spPr>
      </p:pic>
      <p:sp>
        <p:nvSpPr>
          <p:cNvPr id="10" name="Text 5"/>
          <p:cNvSpPr/>
          <p:nvPr/>
        </p:nvSpPr>
        <p:spPr>
          <a:xfrm>
            <a:off x="915529" y="4660616"/>
            <a:ext cx="1531144" cy="191333"/>
          </a:xfrm>
          <a:prstGeom prst="rect">
            <a:avLst/>
          </a:prstGeom>
          <a:noFill/>
          <a:ln/>
        </p:spPr>
        <p:txBody>
          <a:bodyPr wrap="none" lIns="0" tIns="0" rIns="0" bIns="0" rtlCol="0" anchor="t"/>
          <a:lstStyle/>
          <a:p>
            <a:pPr marL="0" indent="0" algn="l">
              <a:lnSpc>
                <a:spcPts val="1500"/>
              </a:lnSpc>
              <a:buNone/>
            </a:pPr>
            <a:r>
              <a:rPr lang="en-US" sz="1950" dirty="0">
                <a:solidFill>
                  <a:srgbClr val="C9C9C0"/>
                </a:solidFill>
                <a:latin typeface="Tomorrow Semi Bold" pitchFamily="34" charset="0"/>
                <a:ea typeface="Tomorrow Semi Bold" pitchFamily="34" charset="-122"/>
                <a:cs typeface="Tomorrow Semi Bold" pitchFamily="34" charset="-120"/>
              </a:rPr>
              <a:t>Poor Performance</a:t>
            </a:r>
            <a:endParaRPr lang="en-US" sz="1950" dirty="0"/>
          </a:p>
        </p:txBody>
      </p:sp>
      <p:sp>
        <p:nvSpPr>
          <p:cNvPr id="11" name="Text 6"/>
          <p:cNvSpPr/>
          <p:nvPr/>
        </p:nvSpPr>
        <p:spPr>
          <a:xfrm>
            <a:off x="915529" y="4974345"/>
            <a:ext cx="6308527" cy="195977"/>
          </a:xfrm>
          <a:prstGeom prst="rect">
            <a:avLst/>
          </a:prstGeom>
          <a:noFill/>
          <a:ln/>
        </p:spPr>
        <p:txBody>
          <a:bodyPr wrap="none" lIns="0" tIns="0" rIns="0" bIns="0" rtlCol="0" anchor="t"/>
          <a:lstStyle/>
          <a:p>
            <a:pPr marL="0" indent="0" algn="l">
              <a:lnSpc>
                <a:spcPts val="1500"/>
              </a:lnSpc>
              <a:buNone/>
            </a:pPr>
            <a:r>
              <a:rPr lang="en-US" sz="1550" dirty="0">
                <a:solidFill>
                  <a:srgbClr val="C9C9C0"/>
                </a:solidFill>
                <a:latin typeface="Tomorrow" pitchFamily="34" charset="0"/>
                <a:ea typeface="Tomorrow" pitchFamily="34" charset="-122"/>
                <a:cs typeface="Tomorrow" pitchFamily="34" charset="-120"/>
              </a:rPr>
              <a:t>Governments fail to deliver expected services and security</a:t>
            </a:r>
            <a:endParaRPr lang="en-US" sz="1550" dirty="0"/>
          </a:p>
        </p:txBody>
      </p:sp>
      <p:sp>
        <p:nvSpPr>
          <p:cNvPr id="14" name="Shape 7"/>
          <p:cNvSpPr/>
          <p:nvPr/>
        </p:nvSpPr>
        <p:spPr>
          <a:xfrm>
            <a:off x="548221" y="5561072"/>
            <a:ext cx="244912" cy="244912"/>
          </a:xfrm>
          <a:prstGeom prst="roundRect">
            <a:avLst>
              <a:gd name="adj" fmla="val 7503"/>
            </a:avLst>
          </a:prstGeom>
          <a:solidFill>
            <a:srgbClr val="3C3C3A"/>
          </a:solidFill>
          <a:ln/>
        </p:spPr>
        <p:txBody>
          <a:bodyPr/>
          <a:lstStyle/>
          <a:p>
            <a:endParaRPr lang="es-AR"/>
          </a:p>
        </p:txBody>
      </p:sp>
      <p:pic>
        <p:nvPicPr>
          <p:cNvPr id="15" name="Image 5" descr="preencoded.png"/>
          <p:cNvPicPr>
            <a:picLocks noChangeAspect="1"/>
          </p:cNvPicPr>
          <p:nvPr/>
        </p:nvPicPr>
        <p:blipFill>
          <a:blip r:embed="rId4"/>
          <a:stretch>
            <a:fillRect/>
          </a:stretch>
        </p:blipFill>
        <p:spPr>
          <a:xfrm>
            <a:off x="594061" y="5587801"/>
            <a:ext cx="153114" cy="191333"/>
          </a:xfrm>
          <a:prstGeom prst="rect">
            <a:avLst/>
          </a:prstGeom>
        </p:spPr>
      </p:pic>
      <p:sp>
        <p:nvSpPr>
          <p:cNvPr id="16" name="Text 8"/>
          <p:cNvSpPr/>
          <p:nvPr/>
        </p:nvSpPr>
        <p:spPr>
          <a:xfrm>
            <a:off x="915529" y="5587861"/>
            <a:ext cx="1723906" cy="191333"/>
          </a:xfrm>
          <a:prstGeom prst="rect">
            <a:avLst/>
          </a:prstGeom>
          <a:noFill/>
          <a:ln/>
        </p:spPr>
        <p:txBody>
          <a:bodyPr wrap="none" lIns="0" tIns="0" rIns="0" bIns="0" rtlCol="0" anchor="t"/>
          <a:lstStyle/>
          <a:p>
            <a:pPr marL="0" indent="0" algn="l">
              <a:lnSpc>
                <a:spcPts val="1500"/>
              </a:lnSpc>
              <a:buNone/>
            </a:pPr>
            <a:r>
              <a:rPr lang="en-US" sz="1950" dirty="0">
                <a:solidFill>
                  <a:srgbClr val="C9C9C0"/>
                </a:solidFill>
                <a:latin typeface="Tomorrow Semi Bold" pitchFamily="34" charset="0"/>
                <a:ea typeface="Tomorrow Semi Bold" pitchFamily="34" charset="-122"/>
                <a:cs typeface="Tomorrow Semi Bold" pitchFamily="34" charset="-120"/>
              </a:rPr>
              <a:t>Lowered Expectations</a:t>
            </a:r>
            <a:endParaRPr lang="en-US" sz="1950" dirty="0"/>
          </a:p>
        </p:txBody>
      </p:sp>
      <p:sp>
        <p:nvSpPr>
          <p:cNvPr id="17" name="Text 9"/>
          <p:cNvSpPr/>
          <p:nvPr/>
        </p:nvSpPr>
        <p:spPr>
          <a:xfrm>
            <a:off x="915529" y="5901590"/>
            <a:ext cx="6308527" cy="195977"/>
          </a:xfrm>
          <a:prstGeom prst="rect">
            <a:avLst/>
          </a:prstGeom>
          <a:noFill/>
          <a:ln/>
        </p:spPr>
        <p:txBody>
          <a:bodyPr wrap="none" lIns="0" tIns="0" rIns="0" bIns="0" rtlCol="0" anchor="t"/>
          <a:lstStyle/>
          <a:p>
            <a:pPr marL="0" indent="0" algn="l">
              <a:lnSpc>
                <a:spcPts val="1500"/>
              </a:lnSpc>
              <a:buNone/>
            </a:pPr>
            <a:r>
              <a:rPr lang="en-US" sz="1550" dirty="0">
                <a:solidFill>
                  <a:srgbClr val="C9C9C0"/>
                </a:solidFill>
                <a:latin typeface="Tomorrow" pitchFamily="34" charset="0"/>
                <a:ea typeface="Tomorrow" pitchFamily="34" charset="-122"/>
                <a:cs typeface="Tomorrow" pitchFamily="34" charset="-120"/>
              </a:rPr>
              <a:t>Citizens adjust downward their demands on democracy</a:t>
            </a:r>
            <a:endParaRPr lang="en-US" sz="1550" dirty="0"/>
          </a:p>
        </p:txBody>
      </p:sp>
      <p:sp>
        <p:nvSpPr>
          <p:cNvPr id="20" name="Shape 10"/>
          <p:cNvSpPr/>
          <p:nvPr/>
        </p:nvSpPr>
        <p:spPr>
          <a:xfrm>
            <a:off x="548221" y="6471064"/>
            <a:ext cx="244912" cy="244912"/>
          </a:xfrm>
          <a:prstGeom prst="roundRect">
            <a:avLst>
              <a:gd name="adj" fmla="val 7503"/>
            </a:avLst>
          </a:prstGeom>
          <a:solidFill>
            <a:srgbClr val="3C3C3A"/>
          </a:solidFill>
          <a:ln/>
        </p:spPr>
        <p:txBody>
          <a:bodyPr/>
          <a:lstStyle/>
          <a:p>
            <a:endParaRPr lang="es-AR"/>
          </a:p>
        </p:txBody>
      </p:sp>
      <p:pic>
        <p:nvPicPr>
          <p:cNvPr id="21" name="Image 8" descr="preencoded.png"/>
          <p:cNvPicPr>
            <a:picLocks noChangeAspect="1"/>
          </p:cNvPicPr>
          <p:nvPr/>
        </p:nvPicPr>
        <p:blipFill>
          <a:blip r:embed="rId5"/>
          <a:stretch>
            <a:fillRect/>
          </a:stretch>
        </p:blipFill>
        <p:spPr>
          <a:xfrm>
            <a:off x="594061" y="6497793"/>
            <a:ext cx="153114" cy="191333"/>
          </a:xfrm>
          <a:prstGeom prst="rect">
            <a:avLst/>
          </a:prstGeom>
        </p:spPr>
      </p:pic>
      <p:sp>
        <p:nvSpPr>
          <p:cNvPr id="22" name="Text 11"/>
          <p:cNvSpPr/>
          <p:nvPr/>
        </p:nvSpPr>
        <p:spPr>
          <a:xfrm>
            <a:off x="915529" y="6497853"/>
            <a:ext cx="1531144" cy="191333"/>
          </a:xfrm>
          <a:prstGeom prst="rect">
            <a:avLst/>
          </a:prstGeom>
          <a:noFill/>
          <a:ln/>
        </p:spPr>
        <p:txBody>
          <a:bodyPr wrap="none" lIns="0" tIns="0" rIns="0" bIns="0" rtlCol="0" anchor="t"/>
          <a:lstStyle/>
          <a:p>
            <a:pPr marL="0" indent="0" algn="l">
              <a:lnSpc>
                <a:spcPts val="1500"/>
              </a:lnSpc>
              <a:buNone/>
            </a:pPr>
            <a:r>
              <a:rPr lang="en-US" sz="1950" dirty="0">
                <a:solidFill>
                  <a:srgbClr val="C9C9C0"/>
                </a:solidFill>
                <a:latin typeface="Tomorrow Semi Bold" pitchFamily="34" charset="0"/>
                <a:ea typeface="Tomorrow Semi Bold" pitchFamily="34" charset="-122"/>
                <a:cs typeface="Tomorrow Semi Bold" pitchFamily="34" charset="-120"/>
              </a:rPr>
              <a:t>Shallow Survival</a:t>
            </a:r>
            <a:endParaRPr lang="en-US" sz="1950" dirty="0"/>
          </a:p>
        </p:txBody>
      </p:sp>
      <p:sp>
        <p:nvSpPr>
          <p:cNvPr id="23" name="Text 12"/>
          <p:cNvSpPr/>
          <p:nvPr/>
        </p:nvSpPr>
        <p:spPr>
          <a:xfrm>
            <a:off x="915529" y="6811582"/>
            <a:ext cx="6308527" cy="195977"/>
          </a:xfrm>
          <a:prstGeom prst="rect">
            <a:avLst/>
          </a:prstGeom>
          <a:noFill/>
          <a:ln/>
        </p:spPr>
        <p:txBody>
          <a:bodyPr wrap="none" lIns="0" tIns="0" rIns="0" bIns="0" rtlCol="0" anchor="t"/>
          <a:lstStyle/>
          <a:p>
            <a:pPr marL="0" indent="0" algn="l">
              <a:lnSpc>
                <a:spcPts val="1500"/>
              </a:lnSpc>
              <a:buNone/>
            </a:pPr>
            <a:r>
              <a:rPr lang="en-US" sz="1550" dirty="0">
                <a:solidFill>
                  <a:srgbClr val="C9C9C0"/>
                </a:solidFill>
                <a:latin typeface="Tomorrow" pitchFamily="34" charset="0"/>
                <a:ea typeface="Tomorrow" pitchFamily="34" charset="-122"/>
                <a:cs typeface="Tomorrow" pitchFamily="34" charset="-120"/>
              </a:rPr>
              <a:t>Democracy persists but remains weak and hollow</a:t>
            </a:r>
            <a:endParaRPr lang="en-US" sz="1550" dirty="0"/>
          </a:p>
        </p:txBody>
      </p:sp>
      <p:sp>
        <p:nvSpPr>
          <p:cNvPr id="24" name="Text 13"/>
          <p:cNvSpPr/>
          <p:nvPr/>
        </p:nvSpPr>
        <p:spPr>
          <a:xfrm>
            <a:off x="551582" y="7253859"/>
            <a:ext cx="13650516" cy="195977"/>
          </a:xfrm>
          <a:prstGeom prst="rect">
            <a:avLst/>
          </a:prstGeom>
          <a:noFill/>
          <a:ln/>
        </p:spPr>
        <p:txBody>
          <a:bodyPr wrap="square" lIns="0" tIns="0" rIns="0" bIns="0" rtlCol="0" anchor="t"/>
          <a:lstStyle/>
          <a:p>
            <a:pPr>
              <a:lnSpc>
                <a:spcPts val="2500"/>
              </a:lnSpc>
            </a:pPr>
            <a:r>
              <a:rPr lang="en-US" sz="1550" dirty="0">
                <a:solidFill>
                  <a:srgbClr val="C9C9C0"/>
                </a:solidFill>
                <a:latin typeface="Tomorrow" pitchFamily="34" charset="0"/>
              </a:rPr>
              <a:t>This equilibrium allows democracy to persist in poor, unequal societies, but at the cost of citizen disillusionment and weak democratic legitimacy. The system survives but fails to thrive.</a:t>
            </a:r>
          </a:p>
        </p:txBody>
      </p:sp>
      <p:pic>
        <p:nvPicPr>
          <p:cNvPr id="4098" name="Picture 2" descr="Peruvians demand dissolution of Congress">
            <a:extLst>
              <a:ext uri="{FF2B5EF4-FFF2-40B4-BE49-F238E27FC236}">
                <a16:creationId xmlns:a16="http://schemas.microsoft.com/office/drawing/2014/main" id="{4AAF5FA6-24E5-B9BB-7B8F-8F23643D6FE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06346" y="1479564"/>
            <a:ext cx="6954922" cy="46250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49379" y="547160"/>
            <a:ext cx="7870031" cy="585430"/>
          </a:xfrm>
          <a:prstGeom prst="rect">
            <a:avLst/>
          </a:prstGeom>
          <a:noFill/>
          <a:ln/>
        </p:spPr>
        <p:txBody>
          <a:bodyPr wrap="none" lIns="0" tIns="0" rIns="0" bIns="0" rtlCol="0" anchor="t"/>
          <a:lstStyle/>
          <a:p>
            <a:pPr marL="0" indent="0" algn="l">
              <a:lnSpc>
                <a:spcPts val="4600"/>
              </a:lnSpc>
              <a:buNone/>
            </a:pPr>
            <a:r>
              <a:rPr lang="en-US" sz="3650" dirty="0">
                <a:solidFill>
                  <a:srgbClr val="EDEDE8"/>
                </a:solidFill>
                <a:latin typeface="Tomorrow Semi Bold" pitchFamily="34" charset="0"/>
                <a:ea typeface="Tomorrow Semi Bold" pitchFamily="34" charset="-122"/>
                <a:cs typeface="Tomorrow Semi Bold" pitchFamily="34" charset="-120"/>
              </a:rPr>
              <a:t>Challenges to Democratic Governance</a:t>
            </a:r>
            <a:endParaRPr lang="en-US" sz="3650" dirty="0"/>
          </a:p>
        </p:txBody>
      </p:sp>
      <p:sp>
        <p:nvSpPr>
          <p:cNvPr id="3" name="Shape 1"/>
          <p:cNvSpPr/>
          <p:nvPr/>
        </p:nvSpPr>
        <p:spPr>
          <a:xfrm>
            <a:off x="749379" y="1523905"/>
            <a:ext cx="4252317" cy="3327797"/>
          </a:xfrm>
          <a:prstGeom prst="roundRect">
            <a:avLst>
              <a:gd name="adj" fmla="val 845"/>
            </a:avLst>
          </a:prstGeom>
          <a:solidFill>
            <a:srgbClr val="3C3C3A"/>
          </a:solidFill>
          <a:ln/>
        </p:spPr>
        <p:txBody>
          <a:bodyPr/>
          <a:lstStyle/>
          <a:p>
            <a:endParaRPr lang="es-AR"/>
          </a:p>
        </p:txBody>
      </p:sp>
      <p:sp>
        <p:nvSpPr>
          <p:cNvPr id="4" name="Shape 2"/>
          <p:cNvSpPr/>
          <p:nvPr/>
        </p:nvSpPr>
        <p:spPr>
          <a:xfrm>
            <a:off x="936665" y="1711191"/>
            <a:ext cx="562094" cy="562094"/>
          </a:xfrm>
          <a:prstGeom prst="roundRect">
            <a:avLst>
              <a:gd name="adj" fmla="val 16266115"/>
            </a:avLst>
          </a:prstGeom>
          <a:solidFill>
            <a:srgbClr val="E1E1DF"/>
          </a:solidFill>
          <a:ln/>
        </p:spPr>
        <p:txBody>
          <a:bodyPr/>
          <a:lstStyle/>
          <a:p>
            <a:endParaRPr lang="es-AR"/>
          </a:p>
        </p:txBody>
      </p:sp>
      <p:pic>
        <p:nvPicPr>
          <p:cNvPr id="5" name="Image 0" descr="preencoded.png"/>
          <p:cNvPicPr>
            <a:picLocks noChangeAspect="1"/>
          </p:cNvPicPr>
          <p:nvPr/>
        </p:nvPicPr>
        <p:blipFill>
          <a:blip r:embed="rId3"/>
          <a:stretch>
            <a:fillRect/>
          </a:stretch>
        </p:blipFill>
        <p:spPr>
          <a:xfrm>
            <a:off x="1091208" y="1834182"/>
            <a:ext cx="252889" cy="316111"/>
          </a:xfrm>
          <a:prstGeom prst="rect">
            <a:avLst/>
          </a:prstGeom>
        </p:spPr>
      </p:pic>
      <p:sp>
        <p:nvSpPr>
          <p:cNvPr id="6" name="Text 3"/>
          <p:cNvSpPr/>
          <p:nvPr/>
        </p:nvSpPr>
        <p:spPr>
          <a:xfrm>
            <a:off x="936665" y="2460570"/>
            <a:ext cx="2342078" cy="292656"/>
          </a:xfrm>
          <a:prstGeom prst="rect">
            <a:avLst/>
          </a:prstGeom>
          <a:noFill/>
          <a:ln/>
        </p:spPr>
        <p:txBody>
          <a:bodyPr wrap="none" lIns="0" tIns="0" rIns="0" bIns="0" rtlCol="0" anchor="t"/>
          <a:lstStyle/>
          <a:p>
            <a:pPr marL="0" indent="0" algn="l">
              <a:lnSpc>
                <a:spcPts val="2300"/>
              </a:lnSpc>
              <a:buNone/>
            </a:pPr>
            <a:r>
              <a:rPr lang="en-US" sz="1800" dirty="0">
                <a:solidFill>
                  <a:srgbClr val="C9C9C0"/>
                </a:solidFill>
                <a:latin typeface="Tomorrow Semi Bold" pitchFamily="34" charset="0"/>
                <a:ea typeface="Tomorrow Semi Bold" pitchFamily="34" charset="-122"/>
                <a:cs typeface="Tomorrow Semi Bold" pitchFamily="34" charset="-120"/>
              </a:rPr>
              <a:t>Economic Security</a:t>
            </a:r>
            <a:endParaRPr lang="en-US" sz="1800" dirty="0"/>
          </a:p>
        </p:txBody>
      </p:sp>
      <p:sp>
        <p:nvSpPr>
          <p:cNvPr id="7" name="Text 4"/>
          <p:cNvSpPr/>
          <p:nvPr/>
        </p:nvSpPr>
        <p:spPr>
          <a:xfrm>
            <a:off x="936665" y="2865621"/>
            <a:ext cx="3877747" cy="1798796"/>
          </a:xfrm>
          <a:prstGeom prst="rect">
            <a:avLst/>
          </a:prstGeom>
          <a:noFill/>
          <a:ln/>
        </p:spPr>
        <p:txBody>
          <a:bodyPr wrap="square" lIns="0" tIns="0" rIns="0" bIns="0" rtlCol="0" anchor="t"/>
          <a:lstStyle/>
          <a:p>
            <a:pPr marL="0" indent="0" algn="l">
              <a:lnSpc>
                <a:spcPts val="2350"/>
              </a:lnSpc>
              <a:buNone/>
            </a:pPr>
            <a:r>
              <a:rPr lang="en-US" sz="1450" dirty="0">
                <a:solidFill>
                  <a:srgbClr val="C9C9C0"/>
                </a:solidFill>
                <a:latin typeface="Tomorrow" pitchFamily="34" charset="0"/>
                <a:ea typeface="Tomorrow" pitchFamily="34" charset="-122"/>
                <a:cs typeface="Tomorrow" pitchFamily="34" charset="-120"/>
              </a:rPr>
              <a:t>Persistent unemployment, poverty, and recurrent economic crises erode citizen confidence in democratic governance. Argentina's 2001 collapse exemplifies how economic failure undermines democratic legitimacy despite institutional survival.</a:t>
            </a:r>
            <a:endParaRPr lang="en-US" sz="1450" dirty="0"/>
          </a:p>
        </p:txBody>
      </p:sp>
      <p:sp>
        <p:nvSpPr>
          <p:cNvPr id="8" name="Shape 5"/>
          <p:cNvSpPr/>
          <p:nvPr/>
        </p:nvSpPr>
        <p:spPr>
          <a:xfrm>
            <a:off x="5188982" y="1523905"/>
            <a:ext cx="4252317" cy="3327797"/>
          </a:xfrm>
          <a:prstGeom prst="roundRect">
            <a:avLst>
              <a:gd name="adj" fmla="val 845"/>
            </a:avLst>
          </a:prstGeom>
          <a:solidFill>
            <a:srgbClr val="3C3C3A"/>
          </a:solidFill>
          <a:ln/>
        </p:spPr>
        <p:txBody>
          <a:bodyPr/>
          <a:lstStyle/>
          <a:p>
            <a:endParaRPr lang="es-AR"/>
          </a:p>
        </p:txBody>
      </p:sp>
      <p:sp>
        <p:nvSpPr>
          <p:cNvPr id="9" name="Shape 6"/>
          <p:cNvSpPr/>
          <p:nvPr/>
        </p:nvSpPr>
        <p:spPr>
          <a:xfrm>
            <a:off x="5376267" y="1711191"/>
            <a:ext cx="562094" cy="562094"/>
          </a:xfrm>
          <a:prstGeom prst="roundRect">
            <a:avLst>
              <a:gd name="adj" fmla="val 16266115"/>
            </a:avLst>
          </a:prstGeom>
          <a:solidFill>
            <a:srgbClr val="E1E1DF"/>
          </a:solidFill>
          <a:ln/>
        </p:spPr>
        <p:txBody>
          <a:bodyPr/>
          <a:lstStyle/>
          <a:p>
            <a:endParaRPr lang="es-AR"/>
          </a:p>
        </p:txBody>
      </p:sp>
      <p:pic>
        <p:nvPicPr>
          <p:cNvPr id="10" name="Image 1" descr="preencoded.png"/>
          <p:cNvPicPr>
            <a:picLocks noChangeAspect="1"/>
          </p:cNvPicPr>
          <p:nvPr/>
        </p:nvPicPr>
        <p:blipFill>
          <a:blip r:embed="rId4"/>
          <a:stretch>
            <a:fillRect/>
          </a:stretch>
        </p:blipFill>
        <p:spPr>
          <a:xfrm>
            <a:off x="5530810" y="1834182"/>
            <a:ext cx="252889" cy="316111"/>
          </a:xfrm>
          <a:prstGeom prst="rect">
            <a:avLst/>
          </a:prstGeom>
        </p:spPr>
      </p:pic>
      <p:sp>
        <p:nvSpPr>
          <p:cNvPr id="11" name="Text 7"/>
          <p:cNvSpPr/>
          <p:nvPr/>
        </p:nvSpPr>
        <p:spPr>
          <a:xfrm>
            <a:off x="5376267" y="2460570"/>
            <a:ext cx="2342078" cy="292656"/>
          </a:xfrm>
          <a:prstGeom prst="rect">
            <a:avLst/>
          </a:prstGeom>
          <a:noFill/>
          <a:ln/>
        </p:spPr>
        <p:txBody>
          <a:bodyPr wrap="none" lIns="0" tIns="0" rIns="0" bIns="0" rtlCol="0" anchor="t"/>
          <a:lstStyle/>
          <a:p>
            <a:pPr marL="0" indent="0" algn="l">
              <a:lnSpc>
                <a:spcPts val="2300"/>
              </a:lnSpc>
              <a:buNone/>
            </a:pPr>
            <a:r>
              <a:rPr lang="en-US" sz="1800" dirty="0">
                <a:solidFill>
                  <a:srgbClr val="C9C9C0"/>
                </a:solidFill>
                <a:latin typeface="Tomorrow Semi Bold" pitchFamily="34" charset="0"/>
                <a:ea typeface="Tomorrow Semi Bold" pitchFamily="34" charset="-122"/>
                <a:cs typeface="Tomorrow Semi Bold" pitchFamily="34" charset="-120"/>
              </a:rPr>
              <a:t>Public Security</a:t>
            </a:r>
            <a:endParaRPr lang="en-US" sz="1800" dirty="0"/>
          </a:p>
        </p:txBody>
      </p:sp>
      <p:sp>
        <p:nvSpPr>
          <p:cNvPr id="12" name="Text 8"/>
          <p:cNvSpPr/>
          <p:nvPr/>
        </p:nvSpPr>
        <p:spPr>
          <a:xfrm>
            <a:off x="5376267" y="2865621"/>
            <a:ext cx="3877747" cy="1798796"/>
          </a:xfrm>
          <a:prstGeom prst="rect">
            <a:avLst/>
          </a:prstGeom>
          <a:noFill/>
          <a:ln/>
        </p:spPr>
        <p:txBody>
          <a:bodyPr wrap="square" lIns="0" tIns="0" rIns="0" bIns="0" rtlCol="0" anchor="t"/>
          <a:lstStyle/>
          <a:p>
            <a:pPr marL="0" indent="0" algn="l">
              <a:lnSpc>
                <a:spcPts val="2350"/>
              </a:lnSpc>
              <a:buNone/>
            </a:pPr>
            <a:r>
              <a:rPr lang="en-US" sz="1450" dirty="0">
                <a:solidFill>
                  <a:srgbClr val="C9C9C0"/>
                </a:solidFill>
                <a:latin typeface="Tomorrow" pitchFamily="34" charset="0"/>
                <a:ea typeface="Tomorrow" pitchFamily="34" charset="-122"/>
                <a:cs typeface="Tomorrow" pitchFamily="34" charset="-120"/>
              </a:rPr>
              <a:t>High crime rates and weak state enforcement capabilities create daily insecurity for citizens. When governments cannot provide basic safety, democratic institutions lose credibility and citizens may support authoritarian alternatives.</a:t>
            </a:r>
            <a:endParaRPr lang="en-US" sz="1450" dirty="0"/>
          </a:p>
        </p:txBody>
      </p:sp>
      <p:sp>
        <p:nvSpPr>
          <p:cNvPr id="13" name="Shape 9"/>
          <p:cNvSpPr/>
          <p:nvPr/>
        </p:nvSpPr>
        <p:spPr>
          <a:xfrm>
            <a:off x="9628584" y="1523905"/>
            <a:ext cx="4252317" cy="3327797"/>
          </a:xfrm>
          <a:prstGeom prst="roundRect">
            <a:avLst>
              <a:gd name="adj" fmla="val 845"/>
            </a:avLst>
          </a:prstGeom>
          <a:solidFill>
            <a:srgbClr val="3C3C3A"/>
          </a:solidFill>
          <a:ln/>
        </p:spPr>
        <p:txBody>
          <a:bodyPr/>
          <a:lstStyle/>
          <a:p>
            <a:endParaRPr lang="es-AR"/>
          </a:p>
        </p:txBody>
      </p:sp>
      <p:sp>
        <p:nvSpPr>
          <p:cNvPr id="14" name="Shape 10"/>
          <p:cNvSpPr/>
          <p:nvPr/>
        </p:nvSpPr>
        <p:spPr>
          <a:xfrm>
            <a:off x="9815870" y="1711191"/>
            <a:ext cx="562094" cy="562094"/>
          </a:xfrm>
          <a:prstGeom prst="roundRect">
            <a:avLst>
              <a:gd name="adj" fmla="val 16266115"/>
            </a:avLst>
          </a:prstGeom>
          <a:solidFill>
            <a:srgbClr val="E1E1DF"/>
          </a:solidFill>
          <a:ln/>
        </p:spPr>
        <p:txBody>
          <a:bodyPr/>
          <a:lstStyle/>
          <a:p>
            <a:endParaRPr lang="es-AR"/>
          </a:p>
        </p:txBody>
      </p:sp>
      <p:pic>
        <p:nvPicPr>
          <p:cNvPr id="15" name="Image 2" descr="preencoded.png"/>
          <p:cNvPicPr>
            <a:picLocks noChangeAspect="1"/>
          </p:cNvPicPr>
          <p:nvPr/>
        </p:nvPicPr>
        <p:blipFill>
          <a:blip r:embed="rId5"/>
          <a:stretch>
            <a:fillRect/>
          </a:stretch>
        </p:blipFill>
        <p:spPr>
          <a:xfrm>
            <a:off x="9970413" y="1834182"/>
            <a:ext cx="252889" cy="316111"/>
          </a:xfrm>
          <a:prstGeom prst="rect">
            <a:avLst/>
          </a:prstGeom>
        </p:spPr>
      </p:pic>
      <p:sp>
        <p:nvSpPr>
          <p:cNvPr id="16" name="Text 11"/>
          <p:cNvSpPr/>
          <p:nvPr/>
        </p:nvSpPr>
        <p:spPr>
          <a:xfrm>
            <a:off x="9815870" y="2460570"/>
            <a:ext cx="2342078" cy="292656"/>
          </a:xfrm>
          <a:prstGeom prst="rect">
            <a:avLst/>
          </a:prstGeom>
          <a:noFill/>
          <a:ln/>
        </p:spPr>
        <p:txBody>
          <a:bodyPr wrap="none" lIns="0" tIns="0" rIns="0" bIns="0" rtlCol="0" anchor="t"/>
          <a:lstStyle/>
          <a:p>
            <a:pPr marL="0" indent="0" algn="l">
              <a:lnSpc>
                <a:spcPts val="2300"/>
              </a:lnSpc>
              <a:buNone/>
            </a:pPr>
            <a:r>
              <a:rPr lang="en-US" sz="1800" dirty="0">
                <a:solidFill>
                  <a:srgbClr val="C9C9C0"/>
                </a:solidFill>
                <a:latin typeface="Tomorrow Semi Bold" pitchFamily="34" charset="0"/>
                <a:ea typeface="Tomorrow Semi Bold" pitchFamily="34" charset="-122"/>
                <a:cs typeface="Tomorrow Semi Bold" pitchFamily="34" charset="-120"/>
              </a:rPr>
              <a:t>Corruption</a:t>
            </a:r>
            <a:endParaRPr lang="en-US" sz="1800" dirty="0"/>
          </a:p>
        </p:txBody>
      </p:sp>
      <p:sp>
        <p:nvSpPr>
          <p:cNvPr id="17" name="Text 12"/>
          <p:cNvSpPr/>
          <p:nvPr/>
        </p:nvSpPr>
        <p:spPr>
          <a:xfrm>
            <a:off x="9815870" y="2865621"/>
            <a:ext cx="3877747" cy="1798796"/>
          </a:xfrm>
          <a:prstGeom prst="rect">
            <a:avLst/>
          </a:prstGeom>
          <a:noFill/>
          <a:ln/>
        </p:spPr>
        <p:txBody>
          <a:bodyPr wrap="square" lIns="0" tIns="0" rIns="0" bIns="0" rtlCol="0" anchor="t"/>
          <a:lstStyle/>
          <a:p>
            <a:pPr marL="0" indent="0" algn="l">
              <a:lnSpc>
                <a:spcPts val="2350"/>
              </a:lnSpc>
              <a:buNone/>
            </a:pPr>
            <a:r>
              <a:rPr lang="en-US" sz="1450" dirty="0">
                <a:solidFill>
                  <a:srgbClr val="C9C9C0"/>
                </a:solidFill>
                <a:latin typeface="Tomorrow" pitchFamily="34" charset="0"/>
                <a:ea typeface="Tomorrow" pitchFamily="34" charset="-122"/>
                <a:cs typeface="Tomorrow" pitchFamily="34" charset="-120"/>
              </a:rPr>
              <a:t>Scandals, whether real or perceived, make citizens doubt the integrity of democratic institutions. Corruption undermines the fundamental democratic promise of accountable governance and equal treatment under law.</a:t>
            </a:r>
            <a:endParaRPr lang="en-US" sz="1450" dirty="0"/>
          </a:p>
        </p:txBody>
      </p:sp>
      <p:sp>
        <p:nvSpPr>
          <p:cNvPr id="18" name="Text 13"/>
          <p:cNvSpPr/>
          <p:nvPr/>
        </p:nvSpPr>
        <p:spPr>
          <a:xfrm>
            <a:off x="749379" y="5162193"/>
            <a:ext cx="13131641" cy="599599"/>
          </a:xfrm>
          <a:prstGeom prst="rect">
            <a:avLst/>
          </a:prstGeom>
          <a:noFill/>
          <a:ln/>
        </p:spPr>
        <p:txBody>
          <a:bodyPr wrap="square" lIns="0" tIns="0" rIns="0" bIns="0" rtlCol="0" anchor="t"/>
          <a:lstStyle/>
          <a:p>
            <a:pPr marL="0" indent="0" algn="l">
              <a:lnSpc>
                <a:spcPts val="2350"/>
              </a:lnSpc>
              <a:buNone/>
            </a:pPr>
            <a:r>
              <a:rPr lang="en-US" sz="1450" dirty="0">
                <a:solidFill>
                  <a:srgbClr val="C9C9C0"/>
                </a:solidFill>
                <a:latin typeface="Tomorrow" pitchFamily="34" charset="0"/>
                <a:ea typeface="Tomorrow" pitchFamily="34" charset="-122"/>
                <a:cs typeface="Tomorrow" pitchFamily="34" charset="-120"/>
              </a:rPr>
              <a:t>These three domains consistently undermine democratic quality across Latin America, creating a regional pattern of "democracy without quality" that persists from Hagopian's 2005 analysis to the present day.</a:t>
            </a:r>
            <a:endParaRPr lang="en-US" sz="1450" dirty="0"/>
          </a:p>
        </p:txBody>
      </p:sp>
      <p:sp>
        <p:nvSpPr>
          <p:cNvPr id="19" name="Shape 14"/>
          <p:cNvSpPr/>
          <p:nvPr/>
        </p:nvSpPr>
        <p:spPr>
          <a:xfrm>
            <a:off x="749379" y="5972532"/>
            <a:ext cx="421481" cy="421481"/>
          </a:xfrm>
          <a:prstGeom prst="roundRect">
            <a:avLst>
              <a:gd name="adj" fmla="val 6668"/>
            </a:avLst>
          </a:prstGeom>
          <a:solidFill>
            <a:srgbClr val="3C3C3A"/>
          </a:solidFill>
          <a:ln/>
        </p:spPr>
        <p:txBody>
          <a:bodyPr/>
          <a:lstStyle/>
          <a:p>
            <a:endParaRPr lang="es-AR"/>
          </a:p>
        </p:txBody>
      </p:sp>
      <p:sp>
        <p:nvSpPr>
          <p:cNvPr id="20" name="Text 15"/>
          <p:cNvSpPr/>
          <p:nvPr/>
        </p:nvSpPr>
        <p:spPr>
          <a:xfrm>
            <a:off x="1358146" y="6036826"/>
            <a:ext cx="3925729" cy="292656"/>
          </a:xfrm>
          <a:prstGeom prst="rect">
            <a:avLst/>
          </a:prstGeom>
          <a:noFill/>
          <a:ln/>
        </p:spPr>
        <p:txBody>
          <a:bodyPr wrap="none" lIns="0" tIns="0" rIns="0" bIns="0" rtlCol="0" anchor="t"/>
          <a:lstStyle/>
          <a:p>
            <a:pPr marL="0" indent="0" algn="l">
              <a:lnSpc>
                <a:spcPts val="2300"/>
              </a:lnSpc>
              <a:buNone/>
            </a:pPr>
            <a:r>
              <a:rPr lang="en-US" sz="1800" dirty="0">
                <a:solidFill>
                  <a:srgbClr val="C9C9C0"/>
                </a:solidFill>
                <a:latin typeface="Tomorrow Semi Bold" pitchFamily="34" charset="0"/>
                <a:ea typeface="Tomorrow Semi Bold" pitchFamily="34" charset="-122"/>
                <a:cs typeface="Tomorrow Semi Bold" pitchFamily="34" charset="-120"/>
              </a:rPr>
              <a:t>Risks of Heightened Participation</a:t>
            </a:r>
            <a:endParaRPr lang="en-US" sz="1800" dirty="0"/>
          </a:p>
        </p:txBody>
      </p:sp>
      <p:sp>
        <p:nvSpPr>
          <p:cNvPr id="21" name="Text 16"/>
          <p:cNvSpPr/>
          <p:nvPr/>
        </p:nvSpPr>
        <p:spPr>
          <a:xfrm>
            <a:off x="1358146" y="6441877"/>
            <a:ext cx="12522875" cy="299799"/>
          </a:xfrm>
          <a:prstGeom prst="rect">
            <a:avLst/>
          </a:prstGeom>
          <a:noFill/>
          <a:ln/>
        </p:spPr>
        <p:txBody>
          <a:bodyPr wrap="none" lIns="0" tIns="0" rIns="0" bIns="0" rtlCol="0" anchor="t"/>
          <a:lstStyle/>
          <a:p>
            <a:pPr marL="0" indent="0" algn="l">
              <a:lnSpc>
                <a:spcPts val="2350"/>
              </a:lnSpc>
              <a:buNone/>
            </a:pPr>
            <a:r>
              <a:rPr lang="en-US" sz="1450" b="1" dirty="0">
                <a:solidFill>
                  <a:srgbClr val="C9C9C0"/>
                </a:solidFill>
                <a:latin typeface="Tomorrow" pitchFamily="34" charset="0"/>
                <a:ea typeface="Tomorrow" pitchFamily="34" charset="-122"/>
                <a:cs typeface="Tomorrow" pitchFamily="34" charset="-120"/>
              </a:rPr>
              <a:t>Populist channel:</a:t>
            </a:r>
            <a:r>
              <a:rPr lang="en-US" sz="1450" dirty="0">
                <a:solidFill>
                  <a:srgbClr val="C9C9C0"/>
                </a:solidFill>
                <a:latin typeface="Tomorrow" pitchFamily="34" charset="0"/>
                <a:ea typeface="Tomorrow" pitchFamily="34" charset="-122"/>
                <a:cs typeface="Tomorrow" pitchFamily="34" charset="-120"/>
              </a:rPr>
              <a:t> Charismatic leaders bypass institutions, claiming to embody "the people" (Fujimori, Chávez)</a:t>
            </a:r>
            <a:endParaRPr lang="en-US" sz="1450" dirty="0"/>
          </a:p>
        </p:txBody>
      </p:sp>
      <p:sp>
        <p:nvSpPr>
          <p:cNvPr id="22" name="Text 17"/>
          <p:cNvSpPr/>
          <p:nvPr/>
        </p:nvSpPr>
        <p:spPr>
          <a:xfrm>
            <a:off x="1358146" y="6854071"/>
            <a:ext cx="12522875" cy="299799"/>
          </a:xfrm>
          <a:prstGeom prst="rect">
            <a:avLst/>
          </a:prstGeom>
          <a:noFill/>
          <a:ln/>
        </p:spPr>
        <p:txBody>
          <a:bodyPr wrap="none" lIns="0" tIns="0" rIns="0" bIns="0" rtlCol="0" anchor="t"/>
          <a:lstStyle/>
          <a:p>
            <a:pPr marL="0" indent="0" algn="l">
              <a:lnSpc>
                <a:spcPts val="2350"/>
              </a:lnSpc>
              <a:buNone/>
            </a:pPr>
            <a:r>
              <a:rPr lang="en-US" sz="1450" b="1" dirty="0">
                <a:solidFill>
                  <a:srgbClr val="C9C9C0"/>
                </a:solidFill>
                <a:latin typeface="Tomorrow" pitchFamily="34" charset="0"/>
                <a:ea typeface="Tomorrow" pitchFamily="34" charset="-122"/>
                <a:cs typeface="Tomorrow" pitchFamily="34" charset="-120"/>
              </a:rPr>
              <a:t>Fiscal channel:</a:t>
            </a:r>
            <a:r>
              <a:rPr lang="en-US" sz="1450" dirty="0">
                <a:solidFill>
                  <a:srgbClr val="C9C9C0"/>
                </a:solidFill>
                <a:latin typeface="Tomorrow" pitchFamily="34" charset="0"/>
                <a:ea typeface="Tomorrow" pitchFamily="34" charset="-122"/>
                <a:cs typeface="Tomorrow" pitchFamily="34" charset="-120"/>
              </a:rPr>
              <a:t> Popular demands for redistribution exceed state capacity, creating unsustainable debt</a:t>
            </a:r>
            <a:endParaRPr lang="en-US" sz="1450" dirty="0"/>
          </a:p>
        </p:txBody>
      </p:sp>
      <p:sp>
        <p:nvSpPr>
          <p:cNvPr id="23" name="Text 18"/>
          <p:cNvSpPr/>
          <p:nvPr/>
        </p:nvSpPr>
        <p:spPr>
          <a:xfrm>
            <a:off x="1358146" y="7266265"/>
            <a:ext cx="12522875" cy="299799"/>
          </a:xfrm>
          <a:prstGeom prst="rect">
            <a:avLst/>
          </a:prstGeom>
          <a:noFill/>
          <a:ln/>
        </p:spPr>
        <p:txBody>
          <a:bodyPr wrap="none" lIns="0" tIns="0" rIns="0" bIns="0" rtlCol="0" anchor="t"/>
          <a:lstStyle/>
          <a:p>
            <a:pPr marL="0" indent="0" algn="l">
              <a:lnSpc>
                <a:spcPts val="2350"/>
              </a:lnSpc>
              <a:buNone/>
            </a:pPr>
            <a:r>
              <a:rPr lang="en-US" sz="1450" b="1" dirty="0">
                <a:solidFill>
                  <a:srgbClr val="C9C9C0"/>
                </a:solidFill>
                <a:latin typeface="Tomorrow" pitchFamily="34" charset="0"/>
                <a:ea typeface="Tomorrow" pitchFamily="34" charset="-122"/>
                <a:cs typeface="Tomorrow" pitchFamily="34" charset="-120"/>
              </a:rPr>
              <a:t>Extra-institutional channel:</a:t>
            </a:r>
            <a:r>
              <a:rPr lang="en-US" sz="1450" dirty="0">
                <a:solidFill>
                  <a:srgbClr val="C9C9C0"/>
                </a:solidFill>
                <a:latin typeface="Tomorrow" pitchFamily="34" charset="0"/>
                <a:ea typeface="Tomorrow" pitchFamily="34" charset="-122"/>
                <a:cs typeface="Tomorrow" pitchFamily="34" charset="-120"/>
              </a:rPr>
              <a:t> Protests, assemblies, or vigilante justice replace institutional mediation</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02112" y="624364"/>
            <a:ext cx="9027200" cy="548521"/>
          </a:xfrm>
          <a:prstGeom prst="rect">
            <a:avLst/>
          </a:prstGeom>
          <a:noFill/>
          <a:ln/>
        </p:spPr>
        <p:txBody>
          <a:bodyPr wrap="none" lIns="0" tIns="0" rIns="0" bIns="0" rtlCol="0" anchor="t"/>
          <a:lstStyle/>
          <a:p>
            <a:pPr marL="0" indent="0" algn="l">
              <a:lnSpc>
                <a:spcPts val="4300"/>
              </a:lnSpc>
              <a:buNone/>
            </a:pPr>
            <a:r>
              <a:rPr lang="en-US" sz="3450" dirty="0">
                <a:solidFill>
                  <a:srgbClr val="EDEDE8"/>
                </a:solidFill>
                <a:latin typeface="Tomorrow Semi Bold" pitchFamily="34" charset="0"/>
                <a:ea typeface="Tomorrow Semi Bold" pitchFamily="34" charset="-122"/>
                <a:cs typeface="Tomorrow Semi Bold" pitchFamily="34" charset="-120"/>
              </a:rPr>
              <a:t>The Future of Latin American Democracy</a:t>
            </a:r>
            <a:endParaRPr lang="en-US" sz="3450" dirty="0"/>
          </a:p>
        </p:txBody>
      </p:sp>
      <p:sp>
        <p:nvSpPr>
          <p:cNvPr id="3" name="Text 1"/>
          <p:cNvSpPr/>
          <p:nvPr/>
        </p:nvSpPr>
        <p:spPr>
          <a:xfrm>
            <a:off x="702112" y="1440756"/>
            <a:ext cx="13226177" cy="561499"/>
          </a:xfrm>
          <a:prstGeom prst="rect">
            <a:avLst/>
          </a:prstGeom>
          <a:noFill/>
          <a:ln/>
        </p:spPr>
        <p:txBody>
          <a:bodyPr wrap="square" lIns="0" tIns="0" rIns="0" bIns="0" rtlCol="0" anchor="t"/>
          <a:lstStyle/>
          <a:p>
            <a:pPr marL="0" indent="0" algn="l">
              <a:lnSpc>
                <a:spcPts val="2200"/>
              </a:lnSpc>
              <a:buNone/>
            </a:pPr>
            <a:r>
              <a:rPr lang="en-US" sz="1550" dirty="0">
                <a:solidFill>
                  <a:srgbClr val="C9C9C0"/>
                </a:solidFill>
                <a:latin typeface="Tomorrow" pitchFamily="34" charset="0"/>
                <a:ea typeface="Tomorrow" pitchFamily="34" charset="-122"/>
                <a:cs typeface="Tomorrow" pitchFamily="34" charset="-120"/>
              </a:rPr>
              <a:t>Hagopian's analysis reveals that vibrant civil society alone cannot sustain democratic quality—political parties remain essential for channeling citizen demands and building sustainable coalitions.</a:t>
            </a:r>
            <a:endParaRPr lang="en-US" sz="1550" dirty="0"/>
          </a:p>
        </p:txBody>
      </p:sp>
      <p:pic>
        <p:nvPicPr>
          <p:cNvPr id="4" name="Image 0" descr="preencoded.png"/>
          <p:cNvPicPr>
            <a:picLocks noChangeAspect="1"/>
          </p:cNvPicPr>
          <p:nvPr/>
        </p:nvPicPr>
        <p:blipFill>
          <a:blip r:embed="rId3"/>
          <a:stretch>
            <a:fillRect/>
          </a:stretch>
        </p:blipFill>
        <p:spPr>
          <a:xfrm>
            <a:off x="702112" y="2449034"/>
            <a:ext cx="371962" cy="465079"/>
          </a:xfrm>
          <a:prstGeom prst="rect">
            <a:avLst/>
          </a:prstGeom>
        </p:spPr>
      </p:pic>
      <p:sp>
        <p:nvSpPr>
          <p:cNvPr id="5" name="Shape 2"/>
          <p:cNvSpPr/>
          <p:nvPr/>
        </p:nvSpPr>
        <p:spPr>
          <a:xfrm>
            <a:off x="702112" y="3023685"/>
            <a:ext cx="4291727" cy="22860"/>
          </a:xfrm>
          <a:prstGeom prst="rect">
            <a:avLst/>
          </a:prstGeom>
          <a:solidFill>
            <a:srgbClr val="E1E1DF"/>
          </a:solidFill>
          <a:ln/>
        </p:spPr>
        <p:txBody>
          <a:bodyPr/>
          <a:lstStyle/>
          <a:p>
            <a:endParaRPr lang="es-AR"/>
          </a:p>
        </p:txBody>
      </p:sp>
      <p:sp>
        <p:nvSpPr>
          <p:cNvPr id="6" name="Text 3"/>
          <p:cNvSpPr/>
          <p:nvPr/>
        </p:nvSpPr>
        <p:spPr>
          <a:xfrm>
            <a:off x="702112" y="3157154"/>
            <a:ext cx="3536871" cy="274201"/>
          </a:xfrm>
          <a:prstGeom prst="rect">
            <a:avLst/>
          </a:prstGeom>
          <a:noFill/>
          <a:ln/>
        </p:spPr>
        <p:txBody>
          <a:bodyPr wrap="none" lIns="0" tIns="0" rIns="0" bIns="0" rtlCol="0" anchor="t"/>
          <a:lstStyle/>
          <a:p>
            <a:pPr marL="0" indent="0" algn="l">
              <a:lnSpc>
                <a:spcPts val="2150"/>
              </a:lnSpc>
              <a:buNone/>
            </a:pPr>
            <a:r>
              <a:rPr lang="en-US" sz="1950" dirty="0">
                <a:solidFill>
                  <a:srgbClr val="C9C9C0"/>
                </a:solidFill>
                <a:latin typeface="Tomorrow Semi Bold" pitchFamily="34" charset="0"/>
                <a:ea typeface="Tomorrow Semi Bold" pitchFamily="34" charset="-122"/>
                <a:cs typeface="Tomorrow Semi Bold" pitchFamily="34" charset="-120"/>
              </a:rPr>
              <a:t>Strong Parties Build Democracy</a:t>
            </a:r>
            <a:endParaRPr lang="en-US" sz="1950" dirty="0"/>
          </a:p>
        </p:txBody>
      </p:sp>
      <p:sp>
        <p:nvSpPr>
          <p:cNvPr id="7" name="Text 4"/>
          <p:cNvSpPr/>
          <p:nvPr/>
        </p:nvSpPr>
        <p:spPr>
          <a:xfrm>
            <a:off x="702112" y="3536606"/>
            <a:ext cx="4291727" cy="1122998"/>
          </a:xfrm>
          <a:prstGeom prst="rect">
            <a:avLst/>
          </a:prstGeom>
          <a:noFill/>
          <a:ln/>
        </p:spPr>
        <p:txBody>
          <a:bodyPr wrap="square" lIns="0" tIns="0" rIns="0" bIns="0" rtlCol="0" anchor="t"/>
          <a:lstStyle/>
          <a:p>
            <a:pPr marL="0" indent="0" algn="l">
              <a:lnSpc>
                <a:spcPts val="2200"/>
              </a:lnSpc>
              <a:buNone/>
            </a:pPr>
            <a:r>
              <a:rPr lang="en-US" sz="1550" dirty="0">
                <a:solidFill>
                  <a:srgbClr val="C9C9C0"/>
                </a:solidFill>
                <a:latin typeface="Tomorrow" pitchFamily="34" charset="0"/>
                <a:ea typeface="Tomorrow" pitchFamily="34" charset="-122"/>
                <a:cs typeface="Tomorrow" pitchFamily="34" charset="-120"/>
              </a:rPr>
              <a:t>Countries with robust party systems (Chile, Uruguay) successfully channel demands, build coalitions, and sustain accountability, creating positive feedback loops for democratic legitimacy.</a:t>
            </a:r>
            <a:endParaRPr lang="en-US" sz="1550" dirty="0"/>
          </a:p>
        </p:txBody>
      </p:sp>
      <p:pic>
        <p:nvPicPr>
          <p:cNvPr id="8" name="Image 1" descr="preencoded.png"/>
          <p:cNvPicPr>
            <a:picLocks noChangeAspect="1"/>
          </p:cNvPicPr>
          <p:nvPr/>
        </p:nvPicPr>
        <p:blipFill>
          <a:blip r:embed="rId4"/>
          <a:stretch>
            <a:fillRect/>
          </a:stretch>
        </p:blipFill>
        <p:spPr>
          <a:xfrm>
            <a:off x="5169337" y="2449034"/>
            <a:ext cx="371962" cy="465079"/>
          </a:xfrm>
          <a:prstGeom prst="rect">
            <a:avLst/>
          </a:prstGeom>
        </p:spPr>
      </p:pic>
      <p:sp>
        <p:nvSpPr>
          <p:cNvPr id="9" name="Shape 5"/>
          <p:cNvSpPr/>
          <p:nvPr/>
        </p:nvSpPr>
        <p:spPr>
          <a:xfrm>
            <a:off x="5169337" y="3023685"/>
            <a:ext cx="4291727" cy="22860"/>
          </a:xfrm>
          <a:prstGeom prst="rect">
            <a:avLst/>
          </a:prstGeom>
          <a:solidFill>
            <a:srgbClr val="E1E1DF"/>
          </a:solidFill>
          <a:ln/>
        </p:spPr>
        <p:txBody>
          <a:bodyPr/>
          <a:lstStyle/>
          <a:p>
            <a:endParaRPr lang="es-AR"/>
          </a:p>
        </p:txBody>
      </p:sp>
      <p:sp>
        <p:nvSpPr>
          <p:cNvPr id="10" name="Text 6"/>
          <p:cNvSpPr/>
          <p:nvPr/>
        </p:nvSpPr>
        <p:spPr>
          <a:xfrm>
            <a:off x="5169337" y="3157154"/>
            <a:ext cx="3370064" cy="274201"/>
          </a:xfrm>
          <a:prstGeom prst="rect">
            <a:avLst/>
          </a:prstGeom>
          <a:noFill/>
          <a:ln/>
        </p:spPr>
        <p:txBody>
          <a:bodyPr wrap="none" lIns="0" tIns="0" rIns="0" bIns="0" rtlCol="0" anchor="t"/>
          <a:lstStyle/>
          <a:p>
            <a:pPr marL="0" indent="0" algn="l">
              <a:lnSpc>
                <a:spcPts val="2150"/>
              </a:lnSpc>
              <a:buNone/>
            </a:pPr>
            <a:r>
              <a:rPr lang="en-US" sz="1950" dirty="0">
                <a:solidFill>
                  <a:srgbClr val="C9C9C0"/>
                </a:solidFill>
                <a:latin typeface="Tomorrow Semi Bold" pitchFamily="34" charset="0"/>
                <a:ea typeface="Tomorrow Semi Bold" pitchFamily="34" charset="-122"/>
                <a:cs typeface="Tomorrow Semi Bold" pitchFamily="34" charset="-120"/>
              </a:rPr>
              <a:t>Weak Parties Enable Outsiders</a:t>
            </a:r>
            <a:endParaRPr lang="en-US" sz="1950" dirty="0"/>
          </a:p>
        </p:txBody>
      </p:sp>
      <p:sp>
        <p:nvSpPr>
          <p:cNvPr id="11" name="Text 7"/>
          <p:cNvSpPr/>
          <p:nvPr/>
        </p:nvSpPr>
        <p:spPr>
          <a:xfrm>
            <a:off x="5169337" y="3536606"/>
            <a:ext cx="4291727" cy="1122998"/>
          </a:xfrm>
          <a:prstGeom prst="rect">
            <a:avLst/>
          </a:prstGeom>
          <a:noFill/>
          <a:ln/>
        </p:spPr>
        <p:txBody>
          <a:bodyPr wrap="square" lIns="0" tIns="0" rIns="0" bIns="0" rtlCol="0" anchor="t"/>
          <a:lstStyle/>
          <a:p>
            <a:pPr marL="0" indent="0" algn="l">
              <a:lnSpc>
                <a:spcPts val="2200"/>
              </a:lnSpc>
              <a:buNone/>
            </a:pPr>
            <a:r>
              <a:rPr lang="en-US" sz="1550" dirty="0">
                <a:solidFill>
                  <a:srgbClr val="C9C9C0"/>
                </a:solidFill>
                <a:latin typeface="Tomorrow" pitchFamily="34" charset="0"/>
                <a:ea typeface="Tomorrow" pitchFamily="34" charset="-122"/>
                <a:cs typeface="Tomorrow" pitchFamily="34" charset="-120"/>
              </a:rPr>
              <a:t>Where parties have decayed or fragmented (Venezuela), outsider politicians dominate, institutions erode, and democracy becomes vulnerable to authoritarian capture.</a:t>
            </a:r>
            <a:endParaRPr lang="en-US" sz="1550" dirty="0"/>
          </a:p>
        </p:txBody>
      </p:sp>
      <p:pic>
        <p:nvPicPr>
          <p:cNvPr id="12" name="Image 2" descr="preencoded.png"/>
          <p:cNvPicPr>
            <a:picLocks noChangeAspect="1"/>
          </p:cNvPicPr>
          <p:nvPr/>
        </p:nvPicPr>
        <p:blipFill>
          <a:blip r:embed="rId5"/>
          <a:stretch>
            <a:fillRect/>
          </a:stretch>
        </p:blipFill>
        <p:spPr>
          <a:xfrm>
            <a:off x="9636562" y="2449034"/>
            <a:ext cx="371962" cy="465079"/>
          </a:xfrm>
          <a:prstGeom prst="rect">
            <a:avLst/>
          </a:prstGeom>
        </p:spPr>
      </p:pic>
      <p:sp>
        <p:nvSpPr>
          <p:cNvPr id="13" name="Shape 8"/>
          <p:cNvSpPr/>
          <p:nvPr/>
        </p:nvSpPr>
        <p:spPr>
          <a:xfrm>
            <a:off x="9636562" y="3023685"/>
            <a:ext cx="4291727" cy="22860"/>
          </a:xfrm>
          <a:prstGeom prst="rect">
            <a:avLst/>
          </a:prstGeom>
          <a:solidFill>
            <a:srgbClr val="E1E1DF"/>
          </a:solidFill>
          <a:ln/>
        </p:spPr>
        <p:txBody>
          <a:bodyPr/>
          <a:lstStyle/>
          <a:p>
            <a:endParaRPr lang="es-AR"/>
          </a:p>
        </p:txBody>
      </p:sp>
      <p:sp>
        <p:nvSpPr>
          <p:cNvPr id="14" name="Text 9"/>
          <p:cNvSpPr/>
          <p:nvPr/>
        </p:nvSpPr>
        <p:spPr>
          <a:xfrm>
            <a:off x="9636562" y="3157154"/>
            <a:ext cx="3527227" cy="274201"/>
          </a:xfrm>
          <a:prstGeom prst="rect">
            <a:avLst/>
          </a:prstGeom>
          <a:noFill/>
          <a:ln/>
        </p:spPr>
        <p:txBody>
          <a:bodyPr wrap="none" lIns="0" tIns="0" rIns="0" bIns="0" rtlCol="0" anchor="t"/>
          <a:lstStyle/>
          <a:p>
            <a:pPr marL="0" indent="0" algn="l">
              <a:lnSpc>
                <a:spcPts val="2150"/>
              </a:lnSpc>
              <a:buNone/>
            </a:pPr>
            <a:r>
              <a:rPr lang="en-US" sz="1950" dirty="0">
                <a:solidFill>
                  <a:srgbClr val="C9C9C0"/>
                </a:solidFill>
                <a:latin typeface="Tomorrow Semi Bold" pitchFamily="34" charset="0"/>
                <a:ea typeface="Tomorrow Semi Bold" pitchFamily="34" charset="-122"/>
                <a:cs typeface="Tomorrow Semi Bold" pitchFamily="34" charset="-120"/>
              </a:rPr>
              <a:t>Institutional Innovation Matters</a:t>
            </a:r>
            <a:endParaRPr lang="en-US" sz="1950" dirty="0"/>
          </a:p>
        </p:txBody>
      </p:sp>
      <p:sp>
        <p:nvSpPr>
          <p:cNvPr id="15" name="Text 10"/>
          <p:cNvSpPr/>
          <p:nvPr/>
        </p:nvSpPr>
        <p:spPr>
          <a:xfrm>
            <a:off x="9636562" y="3536606"/>
            <a:ext cx="4291727" cy="1122998"/>
          </a:xfrm>
          <a:prstGeom prst="rect">
            <a:avLst/>
          </a:prstGeom>
          <a:noFill/>
          <a:ln/>
        </p:spPr>
        <p:txBody>
          <a:bodyPr wrap="square" lIns="0" tIns="0" rIns="0" bIns="0" rtlCol="0" anchor="t"/>
          <a:lstStyle/>
          <a:p>
            <a:pPr marL="0" indent="0" algn="l">
              <a:lnSpc>
                <a:spcPts val="2200"/>
              </a:lnSpc>
              <a:buNone/>
            </a:pPr>
            <a:r>
              <a:rPr lang="en-US" sz="1550" dirty="0">
                <a:solidFill>
                  <a:srgbClr val="C9C9C0"/>
                </a:solidFill>
                <a:latin typeface="Tomorrow" pitchFamily="34" charset="0"/>
                <a:ea typeface="Tomorrow" pitchFamily="34" charset="-122"/>
                <a:cs typeface="Tomorrow" pitchFamily="34" charset="-120"/>
              </a:rPr>
              <a:t>Electoral reforms, legislative strengthening, and innovative representation mechanisms can bolster democratic quality when designed thoughtfully and implemented consistently.</a:t>
            </a:r>
            <a:endParaRPr lang="en-US" sz="1550" dirty="0"/>
          </a:p>
        </p:txBody>
      </p:sp>
      <p:sp>
        <p:nvSpPr>
          <p:cNvPr id="17" name="Text 12"/>
          <p:cNvSpPr/>
          <p:nvPr/>
        </p:nvSpPr>
        <p:spPr>
          <a:xfrm>
            <a:off x="702112" y="5609153"/>
            <a:ext cx="13226177" cy="842248"/>
          </a:xfrm>
          <a:prstGeom prst="rect">
            <a:avLst/>
          </a:prstGeom>
          <a:noFill/>
          <a:ln/>
        </p:spPr>
        <p:txBody>
          <a:bodyPr wrap="square" lIns="0" tIns="0" rIns="0" bIns="0" rtlCol="0" anchor="t"/>
          <a:lstStyle/>
          <a:p>
            <a:pPr marL="0" indent="0" algn="l">
              <a:lnSpc>
                <a:spcPts val="2200"/>
              </a:lnSpc>
              <a:buNone/>
            </a:pPr>
            <a:r>
              <a:rPr lang="en-US" sz="1550" dirty="0">
                <a:solidFill>
                  <a:srgbClr val="C9C9C0"/>
                </a:solidFill>
                <a:latin typeface="Tomorrow" pitchFamily="34" charset="0"/>
                <a:ea typeface="Tomorrow" pitchFamily="34" charset="-122"/>
                <a:cs typeface="Tomorrow" pitchFamily="34" charset="-120"/>
              </a:rPr>
              <a:t>The enduring lesson from Latin America's democratic experience is that transition does not equal consolidation. While modernization and economic performance theories fail to explain democratic endurance, the real challenge lies in how citizens perceive democracy: their expectations, trust, and sense of representation.</a:t>
            </a:r>
            <a:endParaRPr lang="en-US" sz="1550" dirty="0"/>
          </a:p>
        </p:txBody>
      </p:sp>
      <p:sp>
        <p:nvSpPr>
          <p:cNvPr id="18" name="Text 13"/>
          <p:cNvSpPr/>
          <p:nvPr/>
        </p:nvSpPr>
        <p:spPr>
          <a:xfrm>
            <a:off x="965359" y="6846213"/>
            <a:ext cx="12962930" cy="561499"/>
          </a:xfrm>
          <a:prstGeom prst="rect">
            <a:avLst/>
          </a:prstGeom>
          <a:noFill/>
          <a:ln/>
        </p:spPr>
        <p:txBody>
          <a:bodyPr wrap="square" lIns="0" tIns="0" rIns="0" bIns="0" rtlCol="0" anchor="t"/>
          <a:lstStyle/>
          <a:p>
            <a:pPr marL="0" indent="0" algn="l">
              <a:lnSpc>
                <a:spcPts val="2200"/>
              </a:lnSpc>
              <a:buNone/>
            </a:pPr>
            <a:r>
              <a:rPr lang="en-US" sz="1550" dirty="0">
                <a:solidFill>
                  <a:srgbClr val="C9C9C0"/>
                </a:solidFill>
                <a:latin typeface="Tomorrow" pitchFamily="34" charset="0"/>
                <a:ea typeface="Tomorrow" pitchFamily="34" charset="-122"/>
                <a:cs typeface="Tomorrow" pitchFamily="34" charset="-120"/>
              </a:rPr>
              <a:t>Unless governments deliver security, fairness, and responsiveness, democracy will survive in form but weaken in substance, remaining trapped in the paradox of durable but disillusioned democracies.</a:t>
            </a:r>
            <a:endParaRPr lang="en-US" sz="1550" dirty="0"/>
          </a:p>
        </p:txBody>
      </p:sp>
      <p:sp>
        <p:nvSpPr>
          <p:cNvPr id="19" name="Shape 14"/>
          <p:cNvSpPr/>
          <p:nvPr/>
        </p:nvSpPr>
        <p:spPr>
          <a:xfrm>
            <a:off x="702112" y="6648807"/>
            <a:ext cx="22860" cy="956310"/>
          </a:xfrm>
          <a:prstGeom prst="rect">
            <a:avLst/>
          </a:prstGeom>
          <a:solidFill>
            <a:srgbClr val="E1E1DF"/>
          </a:solidFill>
          <a:ln/>
        </p:spPr>
        <p:txBody>
          <a:bodyPr/>
          <a:lstStyle/>
          <a:p>
            <a:endParaRPr lang="es-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1389</Words>
  <Application>Microsoft Office PowerPoint</Application>
  <PresentationFormat>Personalizado</PresentationFormat>
  <Paragraphs>100</Paragraphs>
  <Slides>9</Slides>
  <Notes>9</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9</vt:i4>
      </vt:variant>
    </vt:vector>
  </HeadingPairs>
  <TitlesOfParts>
    <vt:vector size="13" baseType="lpstr">
      <vt:lpstr>Arial</vt:lpstr>
      <vt:lpstr>Tomorrow</vt:lpstr>
      <vt:lpstr>Tomorrow Semi 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Claudio Alberto Robelo Guzman</cp:lastModifiedBy>
  <cp:revision>3</cp:revision>
  <dcterms:created xsi:type="dcterms:W3CDTF">2025-10-01T23:52:30Z</dcterms:created>
  <dcterms:modified xsi:type="dcterms:W3CDTF">2025-10-02T03:32:57Z</dcterms:modified>
</cp:coreProperties>
</file>