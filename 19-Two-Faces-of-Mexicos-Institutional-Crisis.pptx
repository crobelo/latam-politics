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4630400" cy="8229600"/>
  <p:notesSz cx="8229600" cy="14630400"/>
  <p:embeddedFontLst>
    <p:embeddedFont>
      <p:font typeface="Tomorrow" panose="020B0604020202020204" charset="0"/>
      <p:regular r:id="rId11"/>
    </p:embeddedFont>
    <p:embeddedFont>
      <p:font typeface="Tomorrow Semi Bold" panose="020B0604020202020204" charset="0"/>
      <p:regular r:id="rId12"/>
    </p:embeddedFont>
  </p:embeddedFontLst>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8" d="100"/>
          <a:sy n="58" d="100"/>
        </p:scale>
        <p:origin x="73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15290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hape 1">
            <a:extLst>
              <a:ext uri="{FF2B5EF4-FFF2-40B4-BE49-F238E27FC236}">
                <a16:creationId xmlns:a16="http://schemas.microsoft.com/office/drawing/2014/main" id="{7B40C27C-7419-38AC-C764-6A914DFED322}"/>
              </a:ext>
            </a:extLst>
          </p:cNvPr>
          <p:cNvSpPr/>
          <p:nvPr userDrawn="1"/>
        </p:nvSpPr>
        <p:spPr>
          <a:xfrm>
            <a:off x="0" y="0"/>
            <a:ext cx="14630400" cy="8229600"/>
          </a:xfrm>
          <a:prstGeom prst="rect">
            <a:avLst/>
          </a:prstGeom>
          <a:solidFill>
            <a:srgbClr val="1D1D1B"/>
          </a:solidFill>
          <a:ln/>
        </p:spPr>
        <p:txBody>
          <a:bodyPr/>
          <a:lstStyle/>
          <a:p>
            <a:endParaRPr lang="es-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9.jpe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7004807" y="1293852"/>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Two Faces of Mexico's Institutional Crisis</a:t>
            </a:r>
            <a:endParaRPr lang="en-US" sz="4450" dirty="0"/>
          </a:p>
        </p:txBody>
      </p:sp>
      <p:sp>
        <p:nvSpPr>
          <p:cNvPr id="4" name="Text 1"/>
          <p:cNvSpPr/>
          <p:nvPr/>
        </p:nvSpPr>
        <p:spPr>
          <a:xfrm>
            <a:off x="7004807" y="3051572"/>
            <a:ext cx="7556421" cy="2177415"/>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Contemporary Mexico reveals a paradoxical governance crisis operating through two opposing forces. From above, populist plebiscitarianism under President Andrés Manuel López Obrador strains traditional checks and balances. From below, criminal organizations like the Cártel Jalisco Nueva Generación erode territorial sovereignty and impose alternative governance structures.</a:t>
            </a:r>
            <a:endParaRPr lang="en-US" sz="1750" dirty="0"/>
          </a:p>
        </p:txBody>
      </p:sp>
      <p:sp>
        <p:nvSpPr>
          <p:cNvPr id="5" name="Text 2"/>
          <p:cNvSpPr/>
          <p:nvPr/>
        </p:nvSpPr>
        <p:spPr>
          <a:xfrm>
            <a:off x="7004807" y="5484138"/>
            <a:ext cx="7556421" cy="1451610"/>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Both phenomena challenge the Mexican state's monopoly on legitimate authority—one by politicizing popular legitimacy against institutions, the other by privatizing coercive power and local governance.</a:t>
            </a:r>
            <a:endParaRPr lang="en-US" sz="1750" dirty="0"/>
          </a:p>
        </p:txBody>
      </p:sp>
      <p:pic>
        <p:nvPicPr>
          <p:cNvPr id="1030" name="Picture 6">
            <a:extLst>
              <a:ext uri="{FF2B5EF4-FFF2-40B4-BE49-F238E27FC236}">
                <a16:creationId xmlns:a16="http://schemas.microsoft.com/office/drawing/2014/main" id="{516943F1-16A0-C7FF-C773-FC13231DCDB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292" t="16870" r="10979"/>
          <a:stretch>
            <a:fillRect/>
          </a:stretch>
        </p:blipFill>
        <p:spPr bwMode="auto">
          <a:xfrm>
            <a:off x="120771" y="189781"/>
            <a:ext cx="6678897" cy="78500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01290" y="679728"/>
            <a:ext cx="7165659" cy="1417558"/>
          </a:xfrm>
          <a:prstGeom prst="rect">
            <a:avLst/>
          </a:prstGeom>
          <a:noFill/>
          <a:ln/>
        </p:spPr>
        <p:txBody>
          <a:bodyPr wrap="square" lIns="0" tIns="0" rIns="0" bIns="0" rtlCol="0" anchor="t"/>
          <a:lstStyle/>
          <a:p>
            <a:pPr marL="0" indent="0" algn="l">
              <a:lnSpc>
                <a:spcPts val="5550"/>
              </a:lnSpc>
              <a:buNone/>
            </a:pPr>
            <a:r>
              <a:rPr lang="en-US" sz="3900" dirty="0">
                <a:solidFill>
                  <a:srgbClr val="EDEDE8"/>
                </a:solidFill>
                <a:latin typeface="Tomorrow Semi Bold" pitchFamily="34" charset="0"/>
                <a:ea typeface="Tomorrow Semi Bold" pitchFamily="34" charset="-122"/>
                <a:cs typeface="Tomorrow Semi Bold" pitchFamily="34" charset="-120"/>
              </a:rPr>
              <a:t>Plebiscitarianism and the Erosion of State Capacity</a:t>
            </a:r>
            <a:endParaRPr lang="en-US" sz="3900" dirty="0"/>
          </a:p>
        </p:txBody>
      </p:sp>
      <p:sp>
        <p:nvSpPr>
          <p:cNvPr id="4" name="Text 2"/>
          <p:cNvSpPr/>
          <p:nvPr/>
        </p:nvSpPr>
        <p:spPr>
          <a:xfrm>
            <a:off x="793790" y="3251954"/>
            <a:ext cx="7604284" cy="725805"/>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Since AMLO's 2018 victory, Mexico has faced two simultaneous "stress tests" that reveal the fragility of democratic governance:</a:t>
            </a:r>
            <a:endParaRPr lang="en-US" sz="1750" dirty="0"/>
          </a:p>
        </p:txBody>
      </p:sp>
      <p:sp>
        <p:nvSpPr>
          <p:cNvPr id="5" name="Text 3"/>
          <p:cNvSpPr/>
          <p:nvPr/>
        </p:nvSpPr>
        <p:spPr>
          <a:xfrm>
            <a:off x="793790" y="4380309"/>
            <a:ext cx="7604284"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C9C9C0"/>
                </a:solidFill>
                <a:latin typeface="Tomorrow" pitchFamily="34" charset="0"/>
                <a:ea typeface="Tomorrow" pitchFamily="34" charset="-122"/>
                <a:cs typeface="Tomorrow" pitchFamily="34" charset="-120"/>
              </a:rPr>
              <a:t>Democratic backsliding</a:t>
            </a:r>
            <a:r>
              <a:rPr lang="en-US" sz="1750" dirty="0">
                <a:solidFill>
                  <a:srgbClr val="C9C9C0"/>
                </a:solidFill>
                <a:latin typeface="Tomorrow" pitchFamily="34" charset="0"/>
                <a:ea typeface="Tomorrow" pitchFamily="34" charset="-122"/>
                <a:cs typeface="Tomorrow" pitchFamily="34" charset="-120"/>
              </a:rPr>
              <a:t>: Attempts to centralize power and delegitimize horizontal accountability institutions</a:t>
            </a:r>
            <a:endParaRPr lang="en-US" sz="1750" dirty="0"/>
          </a:p>
        </p:txBody>
      </p:sp>
      <p:sp>
        <p:nvSpPr>
          <p:cNvPr id="6" name="Text 4"/>
          <p:cNvSpPr/>
          <p:nvPr/>
        </p:nvSpPr>
        <p:spPr>
          <a:xfrm>
            <a:off x="793790" y="5185410"/>
            <a:ext cx="7604284"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C9C9C0"/>
                </a:solidFill>
                <a:latin typeface="Tomorrow" pitchFamily="34" charset="0"/>
                <a:ea typeface="Tomorrow" pitchFamily="34" charset="-122"/>
                <a:cs typeface="Tomorrow" pitchFamily="34" charset="-120"/>
              </a:rPr>
              <a:t>State capacity erosion</a:t>
            </a:r>
            <a:r>
              <a:rPr lang="en-US" sz="1750" dirty="0">
                <a:solidFill>
                  <a:srgbClr val="C9C9C0"/>
                </a:solidFill>
                <a:latin typeface="Tomorrow" pitchFamily="34" charset="0"/>
                <a:ea typeface="Tomorrow" pitchFamily="34" charset="-122"/>
                <a:cs typeface="Tomorrow" pitchFamily="34" charset="-120"/>
              </a:rPr>
              <a:t>: Deep insecurity, pervasive violence, and militarization of civilian life</a:t>
            </a:r>
            <a:endParaRPr lang="en-US" sz="1750" dirty="0"/>
          </a:p>
        </p:txBody>
      </p:sp>
      <p:sp>
        <p:nvSpPr>
          <p:cNvPr id="7" name="Text 5"/>
          <p:cNvSpPr/>
          <p:nvPr/>
        </p:nvSpPr>
        <p:spPr>
          <a:xfrm>
            <a:off x="801290" y="6178911"/>
            <a:ext cx="7604284" cy="725805"/>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The nuanced reality: democratic erosion has been contained, but state capacity erosion has intensified dramatically.</a:t>
            </a:r>
            <a:endParaRPr lang="en-US" sz="1750" dirty="0"/>
          </a:p>
        </p:txBody>
      </p:sp>
      <p:pic>
        <p:nvPicPr>
          <p:cNvPr id="1028" name="Picture 4">
            <a:extLst>
              <a:ext uri="{FF2B5EF4-FFF2-40B4-BE49-F238E27FC236}">
                <a16:creationId xmlns:a16="http://schemas.microsoft.com/office/drawing/2014/main" id="{07ED866B-B0F9-8AEC-D39A-F2333D994E0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0741" r="12158"/>
          <a:stretch>
            <a:fillRect/>
          </a:stretch>
        </p:blipFill>
        <p:spPr bwMode="auto">
          <a:xfrm>
            <a:off x="8816195" y="0"/>
            <a:ext cx="5814205" cy="8229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366989" y="479822"/>
            <a:ext cx="8418790" cy="543282"/>
          </a:xfrm>
          <a:prstGeom prst="rect">
            <a:avLst/>
          </a:prstGeom>
          <a:noFill/>
          <a:ln/>
        </p:spPr>
        <p:txBody>
          <a:bodyPr wrap="none" lIns="0" tIns="0" rIns="0" bIns="0" rtlCol="0" anchor="t"/>
          <a:lstStyle/>
          <a:p>
            <a:pPr marL="0" indent="0" algn="l">
              <a:lnSpc>
                <a:spcPts val="4250"/>
              </a:lnSpc>
              <a:buNone/>
            </a:pPr>
            <a:r>
              <a:rPr lang="en-US" sz="3900" dirty="0">
                <a:solidFill>
                  <a:srgbClr val="EDEDE8"/>
                </a:solidFill>
                <a:latin typeface="Tomorrow Semi Bold" pitchFamily="34" charset="0"/>
                <a:ea typeface="Tomorrow Semi Bold" pitchFamily="34" charset="-122"/>
                <a:cs typeface="Tomorrow Semi Bold" pitchFamily="34" charset="-120"/>
              </a:rPr>
              <a:t>Belligerent Plebiscitarianism in Action</a:t>
            </a:r>
            <a:endParaRPr lang="en-US" sz="3900" dirty="0"/>
          </a:p>
        </p:txBody>
      </p:sp>
      <p:sp>
        <p:nvSpPr>
          <p:cNvPr id="4" name="Shape 1"/>
          <p:cNvSpPr/>
          <p:nvPr/>
        </p:nvSpPr>
        <p:spPr>
          <a:xfrm>
            <a:off x="7303770" y="1576778"/>
            <a:ext cx="45719" cy="2958046"/>
          </a:xfrm>
          <a:prstGeom prst="roundRect">
            <a:avLst>
              <a:gd name="adj" fmla="val 114101"/>
            </a:avLst>
          </a:prstGeom>
          <a:solidFill>
            <a:srgbClr val="555553"/>
          </a:solidFill>
          <a:ln/>
        </p:spPr>
        <p:txBody>
          <a:bodyPr/>
          <a:lstStyle/>
          <a:p>
            <a:endParaRPr lang="es-AR" sz="2400"/>
          </a:p>
        </p:txBody>
      </p:sp>
      <p:sp>
        <p:nvSpPr>
          <p:cNvPr id="5" name="Shape 2"/>
          <p:cNvSpPr/>
          <p:nvPr/>
        </p:nvSpPr>
        <p:spPr>
          <a:xfrm>
            <a:off x="6620828" y="1760968"/>
            <a:ext cx="521613" cy="22860"/>
          </a:xfrm>
          <a:prstGeom prst="roundRect">
            <a:avLst>
              <a:gd name="adj" fmla="val 114101"/>
            </a:avLst>
          </a:prstGeom>
          <a:solidFill>
            <a:srgbClr val="555553"/>
          </a:solidFill>
          <a:ln/>
        </p:spPr>
        <p:txBody>
          <a:bodyPr/>
          <a:lstStyle/>
          <a:p>
            <a:endParaRPr lang="es-AR" sz="2400"/>
          </a:p>
        </p:txBody>
      </p:sp>
      <p:sp>
        <p:nvSpPr>
          <p:cNvPr id="6" name="Shape 3"/>
          <p:cNvSpPr/>
          <p:nvPr/>
        </p:nvSpPr>
        <p:spPr>
          <a:xfrm>
            <a:off x="7119580" y="1576778"/>
            <a:ext cx="391239" cy="391239"/>
          </a:xfrm>
          <a:prstGeom prst="roundRect">
            <a:avLst>
              <a:gd name="adj" fmla="val 6667"/>
            </a:avLst>
          </a:prstGeom>
          <a:solidFill>
            <a:srgbClr val="3C3C3A"/>
          </a:solidFill>
          <a:ln/>
        </p:spPr>
        <p:txBody>
          <a:bodyPr/>
          <a:lstStyle/>
          <a:p>
            <a:endParaRPr lang="es-AR" sz="2400"/>
          </a:p>
        </p:txBody>
      </p:sp>
      <p:sp>
        <p:nvSpPr>
          <p:cNvPr id="7" name="Text 4"/>
          <p:cNvSpPr/>
          <p:nvPr/>
        </p:nvSpPr>
        <p:spPr>
          <a:xfrm>
            <a:off x="7184827" y="1609401"/>
            <a:ext cx="260747" cy="325993"/>
          </a:xfrm>
          <a:prstGeom prst="rect">
            <a:avLst/>
          </a:prstGeom>
          <a:noFill/>
          <a:ln/>
        </p:spPr>
        <p:txBody>
          <a:bodyPr wrap="none" lIns="0" tIns="0" rIns="0" bIns="0" rtlCol="0" anchor="t"/>
          <a:lstStyle/>
          <a:p>
            <a:pPr marL="0" indent="0" algn="ctr">
              <a:lnSpc>
                <a:spcPts val="2050"/>
              </a:lnSpc>
              <a:buNone/>
            </a:pPr>
            <a:r>
              <a:rPr lang="en-US" sz="2000" dirty="0">
                <a:solidFill>
                  <a:srgbClr val="C9C9C0"/>
                </a:solidFill>
                <a:latin typeface="Tomorrow Semi Bold" pitchFamily="34" charset="0"/>
                <a:ea typeface="Tomorrow Semi Bold" pitchFamily="34" charset="-122"/>
                <a:cs typeface="Tomorrow Semi Bold" pitchFamily="34" charset="-120"/>
              </a:rPr>
              <a:t>1</a:t>
            </a:r>
            <a:endParaRPr lang="en-US" sz="2000" dirty="0"/>
          </a:p>
        </p:txBody>
      </p:sp>
      <p:sp>
        <p:nvSpPr>
          <p:cNvPr id="8" name="Text 5"/>
          <p:cNvSpPr/>
          <p:nvPr/>
        </p:nvSpPr>
        <p:spPr>
          <a:xfrm>
            <a:off x="4272201" y="1636547"/>
            <a:ext cx="2173605" cy="271701"/>
          </a:xfrm>
          <a:prstGeom prst="rect">
            <a:avLst/>
          </a:prstGeom>
          <a:noFill/>
          <a:ln/>
        </p:spPr>
        <p:txBody>
          <a:bodyPr wrap="none" lIns="0" tIns="0" rIns="0" bIns="0" rtlCol="0" anchor="t"/>
          <a:lstStyle/>
          <a:p>
            <a:pPr marL="0" indent="0" algn="r">
              <a:lnSpc>
                <a:spcPts val="2100"/>
              </a:lnSpc>
              <a:buNone/>
            </a:pPr>
            <a:r>
              <a:rPr lang="en-US" sz="2000" dirty="0">
                <a:solidFill>
                  <a:srgbClr val="C9C9C0"/>
                </a:solidFill>
                <a:latin typeface="Tomorrow Semi Bold" pitchFamily="34" charset="0"/>
                <a:ea typeface="Tomorrow Semi Bold" pitchFamily="34" charset="-122"/>
                <a:cs typeface="Tomorrow Semi Bold" pitchFamily="34" charset="-120"/>
              </a:rPr>
              <a:t>2018</a:t>
            </a:r>
            <a:endParaRPr lang="en-US" sz="2000" dirty="0"/>
          </a:p>
        </p:txBody>
      </p:sp>
      <p:sp>
        <p:nvSpPr>
          <p:cNvPr id="9" name="Text 6"/>
          <p:cNvSpPr/>
          <p:nvPr/>
        </p:nvSpPr>
        <p:spPr>
          <a:xfrm>
            <a:off x="608528" y="2012547"/>
            <a:ext cx="5837277" cy="556260"/>
          </a:xfrm>
          <a:prstGeom prst="rect">
            <a:avLst/>
          </a:prstGeom>
          <a:noFill/>
          <a:ln/>
        </p:spPr>
        <p:txBody>
          <a:bodyPr wrap="square" lIns="0" tIns="0" rIns="0" bIns="0" rtlCol="0" anchor="t"/>
          <a:lstStyle/>
          <a:p>
            <a:pPr marL="0" indent="0" algn="r">
              <a:lnSpc>
                <a:spcPts val="2150"/>
              </a:lnSpc>
              <a:buNone/>
            </a:pPr>
            <a:r>
              <a:rPr lang="en-US" sz="1600" dirty="0">
                <a:solidFill>
                  <a:srgbClr val="C9C9C0"/>
                </a:solidFill>
                <a:latin typeface="Tomorrow" pitchFamily="34" charset="0"/>
                <a:ea typeface="Tomorrow" pitchFamily="34" charset="-122"/>
                <a:cs typeface="Tomorrow" pitchFamily="34" charset="-120"/>
              </a:rPr>
              <a:t>AMLO assumes presidency with sweeping electoral victory, promising transformation and direct democracy</a:t>
            </a:r>
            <a:endParaRPr lang="en-US" sz="1600" dirty="0"/>
          </a:p>
        </p:txBody>
      </p:sp>
      <p:sp>
        <p:nvSpPr>
          <p:cNvPr id="10" name="Shape 7"/>
          <p:cNvSpPr/>
          <p:nvPr/>
        </p:nvSpPr>
        <p:spPr>
          <a:xfrm>
            <a:off x="7487960" y="2597042"/>
            <a:ext cx="521613" cy="22860"/>
          </a:xfrm>
          <a:prstGeom prst="roundRect">
            <a:avLst>
              <a:gd name="adj" fmla="val 114101"/>
            </a:avLst>
          </a:prstGeom>
          <a:solidFill>
            <a:srgbClr val="555553"/>
          </a:solidFill>
          <a:ln/>
        </p:spPr>
        <p:txBody>
          <a:bodyPr/>
          <a:lstStyle/>
          <a:p>
            <a:endParaRPr lang="es-AR" sz="2400"/>
          </a:p>
        </p:txBody>
      </p:sp>
      <p:sp>
        <p:nvSpPr>
          <p:cNvPr id="11" name="Shape 8"/>
          <p:cNvSpPr/>
          <p:nvPr/>
        </p:nvSpPr>
        <p:spPr>
          <a:xfrm>
            <a:off x="7119580" y="2412849"/>
            <a:ext cx="391239" cy="391239"/>
          </a:xfrm>
          <a:prstGeom prst="roundRect">
            <a:avLst>
              <a:gd name="adj" fmla="val 6667"/>
            </a:avLst>
          </a:prstGeom>
          <a:solidFill>
            <a:srgbClr val="3C3C3A"/>
          </a:solidFill>
          <a:ln/>
        </p:spPr>
        <p:txBody>
          <a:bodyPr/>
          <a:lstStyle/>
          <a:p>
            <a:endParaRPr lang="es-AR" sz="2400"/>
          </a:p>
        </p:txBody>
      </p:sp>
      <p:sp>
        <p:nvSpPr>
          <p:cNvPr id="12" name="Text 9"/>
          <p:cNvSpPr/>
          <p:nvPr/>
        </p:nvSpPr>
        <p:spPr>
          <a:xfrm>
            <a:off x="7184827" y="2445476"/>
            <a:ext cx="260747" cy="325993"/>
          </a:xfrm>
          <a:prstGeom prst="rect">
            <a:avLst/>
          </a:prstGeom>
          <a:noFill/>
          <a:ln/>
        </p:spPr>
        <p:txBody>
          <a:bodyPr wrap="none" lIns="0" tIns="0" rIns="0" bIns="0" rtlCol="0" anchor="t"/>
          <a:lstStyle/>
          <a:p>
            <a:pPr marL="0" indent="0" algn="ctr">
              <a:lnSpc>
                <a:spcPts val="2050"/>
              </a:lnSpc>
              <a:buNone/>
            </a:pPr>
            <a:r>
              <a:rPr lang="en-US" sz="2000" dirty="0">
                <a:solidFill>
                  <a:srgbClr val="C9C9C0"/>
                </a:solidFill>
                <a:latin typeface="Tomorrow Semi Bold" pitchFamily="34" charset="0"/>
                <a:ea typeface="Tomorrow Semi Bold" pitchFamily="34" charset="-122"/>
                <a:cs typeface="Tomorrow Semi Bold" pitchFamily="34" charset="-120"/>
              </a:rPr>
              <a:t>2</a:t>
            </a:r>
            <a:endParaRPr lang="en-US" sz="2000" dirty="0"/>
          </a:p>
        </p:txBody>
      </p:sp>
      <p:sp>
        <p:nvSpPr>
          <p:cNvPr id="13" name="Text 10"/>
          <p:cNvSpPr/>
          <p:nvPr/>
        </p:nvSpPr>
        <p:spPr>
          <a:xfrm>
            <a:off x="8184594" y="2472622"/>
            <a:ext cx="2793683" cy="271701"/>
          </a:xfrm>
          <a:prstGeom prst="rect">
            <a:avLst/>
          </a:prstGeom>
          <a:noFill/>
          <a:ln/>
        </p:spPr>
        <p:txBody>
          <a:bodyPr wrap="none" lIns="0" tIns="0" rIns="0" bIns="0" rtlCol="0" anchor="t"/>
          <a:lstStyle/>
          <a:p>
            <a:pPr marL="0" indent="0" algn="l">
              <a:lnSpc>
                <a:spcPts val="2100"/>
              </a:lnSpc>
              <a:buNone/>
            </a:pPr>
            <a:r>
              <a:rPr lang="en-US" sz="2000" dirty="0">
                <a:solidFill>
                  <a:srgbClr val="C9C9C0"/>
                </a:solidFill>
                <a:latin typeface="Tomorrow Semi Bold" pitchFamily="34" charset="0"/>
                <a:ea typeface="Tomorrow Semi Bold" pitchFamily="34" charset="-122"/>
                <a:cs typeface="Tomorrow Semi Bold" pitchFamily="34" charset="-120"/>
              </a:rPr>
              <a:t>2022: Recall Referendum</a:t>
            </a:r>
            <a:endParaRPr lang="en-US" sz="2000" dirty="0"/>
          </a:p>
        </p:txBody>
      </p:sp>
      <p:sp>
        <p:nvSpPr>
          <p:cNvPr id="14" name="Text 11"/>
          <p:cNvSpPr/>
          <p:nvPr/>
        </p:nvSpPr>
        <p:spPr>
          <a:xfrm>
            <a:off x="8184594" y="2848621"/>
            <a:ext cx="5837277" cy="556260"/>
          </a:xfrm>
          <a:prstGeom prst="rect">
            <a:avLst/>
          </a:prstGeom>
          <a:noFill/>
          <a:ln/>
        </p:spPr>
        <p:txBody>
          <a:bodyPr wrap="square" lIns="0" tIns="0" rIns="0" bIns="0" rtlCol="0" anchor="t"/>
          <a:lstStyle/>
          <a:p>
            <a:pPr marL="0" indent="0" algn="l">
              <a:lnSpc>
                <a:spcPts val="2150"/>
              </a:lnSpc>
              <a:buNone/>
            </a:pPr>
            <a:r>
              <a:rPr lang="en-US" sz="1600" dirty="0">
                <a:solidFill>
                  <a:srgbClr val="C9C9C0"/>
                </a:solidFill>
                <a:latin typeface="Tomorrow" pitchFamily="34" charset="0"/>
                <a:ea typeface="Tomorrow" pitchFamily="34" charset="-122"/>
                <a:cs typeface="Tomorrow" pitchFamily="34" charset="-120"/>
              </a:rPr>
              <a:t>MORENA-promoted referendum intended to re-legitimize president. Low turnout blamed on INE "sabotage"</a:t>
            </a:r>
            <a:endParaRPr lang="en-US" sz="1600" dirty="0"/>
          </a:p>
        </p:txBody>
      </p:sp>
      <p:sp>
        <p:nvSpPr>
          <p:cNvPr id="15" name="Shape 12"/>
          <p:cNvSpPr/>
          <p:nvPr/>
        </p:nvSpPr>
        <p:spPr>
          <a:xfrm>
            <a:off x="6620828" y="3545467"/>
            <a:ext cx="521613" cy="22860"/>
          </a:xfrm>
          <a:prstGeom prst="roundRect">
            <a:avLst>
              <a:gd name="adj" fmla="val 114101"/>
            </a:avLst>
          </a:prstGeom>
          <a:solidFill>
            <a:srgbClr val="555553"/>
          </a:solidFill>
          <a:ln/>
        </p:spPr>
        <p:txBody>
          <a:bodyPr/>
          <a:lstStyle/>
          <a:p>
            <a:endParaRPr lang="es-AR" sz="2400"/>
          </a:p>
        </p:txBody>
      </p:sp>
      <p:sp>
        <p:nvSpPr>
          <p:cNvPr id="16" name="Shape 13"/>
          <p:cNvSpPr/>
          <p:nvPr/>
        </p:nvSpPr>
        <p:spPr>
          <a:xfrm>
            <a:off x="7119580" y="3346517"/>
            <a:ext cx="391239" cy="391239"/>
          </a:xfrm>
          <a:prstGeom prst="roundRect">
            <a:avLst>
              <a:gd name="adj" fmla="val 6667"/>
            </a:avLst>
          </a:prstGeom>
          <a:solidFill>
            <a:srgbClr val="3C3C3A"/>
          </a:solidFill>
          <a:ln/>
        </p:spPr>
        <p:txBody>
          <a:bodyPr/>
          <a:lstStyle/>
          <a:p>
            <a:endParaRPr lang="es-AR" sz="2400"/>
          </a:p>
        </p:txBody>
      </p:sp>
      <p:sp>
        <p:nvSpPr>
          <p:cNvPr id="17" name="Text 14"/>
          <p:cNvSpPr/>
          <p:nvPr/>
        </p:nvSpPr>
        <p:spPr>
          <a:xfrm>
            <a:off x="7184827" y="3379141"/>
            <a:ext cx="260747" cy="325993"/>
          </a:xfrm>
          <a:prstGeom prst="rect">
            <a:avLst/>
          </a:prstGeom>
          <a:noFill/>
          <a:ln/>
        </p:spPr>
        <p:txBody>
          <a:bodyPr wrap="none" lIns="0" tIns="0" rIns="0" bIns="0" rtlCol="0" anchor="t"/>
          <a:lstStyle/>
          <a:p>
            <a:pPr marL="0" indent="0" algn="ctr">
              <a:lnSpc>
                <a:spcPts val="2050"/>
              </a:lnSpc>
              <a:buNone/>
            </a:pPr>
            <a:r>
              <a:rPr lang="en-US" sz="2000" dirty="0">
                <a:solidFill>
                  <a:srgbClr val="C9C9C0"/>
                </a:solidFill>
                <a:latin typeface="Tomorrow Semi Bold" pitchFamily="34" charset="0"/>
                <a:ea typeface="Tomorrow Semi Bold" pitchFamily="34" charset="-122"/>
                <a:cs typeface="Tomorrow Semi Bold" pitchFamily="34" charset="-120"/>
              </a:rPr>
              <a:t>3</a:t>
            </a:r>
            <a:endParaRPr lang="en-US" sz="2000" dirty="0"/>
          </a:p>
        </p:txBody>
      </p:sp>
      <p:sp>
        <p:nvSpPr>
          <p:cNvPr id="18" name="Text 15"/>
          <p:cNvSpPr/>
          <p:nvPr/>
        </p:nvSpPr>
        <p:spPr>
          <a:xfrm>
            <a:off x="3615095" y="3406287"/>
            <a:ext cx="2830711" cy="271701"/>
          </a:xfrm>
          <a:prstGeom prst="rect">
            <a:avLst/>
          </a:prstGeom>
          <a:noFill/>
          <a:ln/>
        </p:spPr>
        <p:txBody>
          <a:bodyPr wrap="none" lIns="0" tIns="0" rIns="0" bIns="0" rtlCol="0" anchor="t"/>
          <a:lstStyle/>
          <a:p>
            <a:pPr marL="0" indent="0" algn="r">
              <a:lnSpc>
                <a:spcPts val="2100"/>
              </a:lnSpc>
              <a:buNone/>
            </a:pPr>
            <a:r>
              <a:rPr lang="en-US" sz="2000" dirty="0">
                <a:solidFill>
                  <a:srgbClr val="C9C9C0"/>
                </a:solidFill>
                <a:latin typeface="Tomorrow Semi Bold" pitchFamily="34" charset="0"/>
                <a:ea typeface="Tomorrow Semi Bold" pitchFamily="34" charset="-122"/>
                <a:cs typeface="Tomorrow Semi Bold" pitchFamily="34" charset="-120"/>
              </a:rPr>
              <a:t>2022: Reform Campaigns</a:t>
            </a:r>
            <a:endParaRPr lang="en-US" sz="2000" dirty="0"/>
          </a:p>
        </p:txBody>
      </p:sp>
      <p:sp>
        <p:nvSpPr>
          <p:cNvPr id="19" name="Text 16"/>
          <p:cNvSpPr/>
          <p:nvPr/>
        </p:nvSpPr>
        <p:spPr>
          <a:xfrm>
            <a:off x="608528" y="3782286"/>
            <a:ext cx="5837277" cy="556260"/>
          </a:xfrm>
          <a:prstGeom prst="rect">
            <a:avLst/>
          </a:prstGeom>
          <a:noFill/>
          <a:ln/>
        </p:spPr>
        <p:txBody>
          <a:bodyPr wrap="square" lIns="0" tIns="0" rIns="0" bIns="0" rtlCol="0" anchor="t"/>
          <a:lstStyle/>
          <a:p>
            <a:pPr marL="0" indent="0" algn="r">
              <a:lnSpc>
                <a:spcPts val="2150"/>
              </a:lnSpc>
              <a:buNone/>
            </a:pPr>
            <a:r>
              <a:rPr lang="en-US" sz="1600" dirty="0">
                <a:solidFill>
                  <a:srgbClr val="C9C9C0"/>
                </a:solidFill>
                <a:latin typeface="Tomorrow" pitchFamily="34" charset="0"/>
                <a:ea typeface="Tomorrow" pitchFamily="34" charset="-122"/>
                <a:cs typeface="Tomorrow" pitchFamily="34" charset="-120"/>
              </a:rPr>
              <a:t>Energy and electoral reforms framed as struggles of "the people" against elites. Blocked reforms prompt "Traidores a la Patria" rhetoric</a:t>
            </a:r>
            <a:endParaRPr lang="en-US" sz="1600" dirty="0"/>
          </a:p>
        </p:txBody>
      </p:sp>
      <p:pic>
        <p:nvPicPr>
          <p:cNvPr id="2052" name="Picture 4">
            <a:extLst>
              <a:ext uri="{FF2B5EF4-FFF2-40B4-BE49-F238E27FC236}">
                <a16:creationId xmlns:a16="http://schemas.microsoft.com/office/drawing/2014/main" id="{E14A00F7-BF13-A238-5563-B6A7AACBE5E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4346"/>
          <a:stretch>
            <a:fillRect/>
          </a:stretch>
        </p:blipFill>
        <p:spPr bwMode="auto">
          <a:xfrm>
            <a:off x="3105804" y="4999131"/>
            <a:ext cx="8418789" cy="31113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665202"/>
            <a:ext cx="7412712" cy="708779"/>
          </a:xfrm>
          <a:prstGeom prst="rect">
            <a:avLst/>
          </a:prstGeom>
          <a:noFill/>
          <a:ln/>
        </p:spPr>
        <p:txBody>
          <a:bodyPr wrap="none" lIns="0" tIns="0" rIns="0" bIns="0" rtlCol="0" anchor="t"/>
          <a:lstStyle/>
          <a:p>
            <a:pPr marL="0" indent="0" algn="l">
              <a:lnSpc>
                <a:spcPts val="5550"/>
              </a:lnSpc>
              <a:buNone/>
            </a:pPr>
            <a:r>
              <a:rPr lang="en-US" sz="3900" dirty="0">
                <a:solidFill>
                  <a:srgbClr val="EDEDE8"/>
                </a:solidFill>
                <a:latin typeface="Tomorrow Semi Bold" pitchFamily="34" charset="0"/>
                <a:ea typeface="Tomorrow Semi Bold" pitchFamily="34" charset="-122"/>
                <a:cs typeface="Tomorrow Semi Bold" pitchFamily="34" charset="-120"/>
              </a:rPr>
              <a:t>The Militarization Paradox</a:t>
            </a:r>
            <a:endParaRPr lang="en-US" sz="3900" dirty="0"/>
          </a:p>
        </p:txBody>
      </p:sp>
      <p:sp>
        <p:nvSpPr>
          <p:cNvPr id="3" name="Text 1"/>
          <p:cNvSpPr/>
          <p:nvPr/>
        </p:nvSpPr>
        <p:spPr>
          <a:xfrm>
            <a:off x="793790" y="1827609"/>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AMLO's most profound impact comes not through dismantling democracy, but through transforming the state itself—creating what scholars term a "hollow state."</a:t>
            </a:r>
            <a:endParaRPr lang="en-US" sz="1750" dirty="0"/>
          </a:p>
        </p:txBody>
      </p:sp>
      <p:sp>
        <p:nvSpPr>
          <p:cNvPr id="4" name="Shape 2"/>
          <p:cNvSpPr/>
          <p:nvPr/>
        </p:nvSpPr>
        <p:spPr>
          <a:xfrm>
            <a:off x="793790" y="2808565"/>
            <a:ext cx="4196358" cy="3173849"/>
          </a:xfrm>
          <a:prstGeom prst="roundRect">
            <a:avLst>
              <a:gd name="adj" fmla="val 4610"/>
            </a:avLst>
          </a:prstGeom>
          <a:solidFill>
            <a:srgbClr val="1D1D1B"/>
          </a:solidFill>
          <a:ln w="30480">
            <a:solidFill>
              <a:srgbClr val="555553"/>
            </a:solidFill>
            <a:prstDash val="solid"/>
          </a:ln>
        </p:spPr>
        <p:txBody>
          <a:bodyPr/>
          <a:lstStyle/>
          <a:p>
            <a:endParaRPr lang="es-AR"/>
          </a:p>
        </p:txBody>
      </p:sp>
      <p:sp>
        <p:nvSpPr>
          <p:cNvPr id="5" name="Shape 3"/>
          <p:cNvSpPr/>
          <p:nvPr/>
        </p:nvSpPr>
        <p:spPr>
          <a:xfrm>
            <a:off x="763310" y="2808565"/>
            <a:ext cx="121920" cy="3173849"/>
          </a:xfrm>
          <a:prstGeom prst="roundRect">
            <a:avLst>
              <a:gd name="adj" fmla="val 27907"/>
            </a:avLst>
          </a:prstGeom>
          <a:solidFill>
            <a:srgbClr val="E1E1DF"/>
          </a:solidFill>
          <a:ln/>
        </p:spPr>
        <p:txBody>
          <a:bodyPr/>
          <a:lstStyle/>
          <a:p>
            <a:endParaRPr lang="es-AR"/>
          </a:p>
        </p:txBody>
      </p:sp>
      <p:sp>
        <p:nvSpPr>
          <p:cNvPr id="6" name="Text 4"/>
          <p:cNvSpPr/>
          <p:nvPr/>
        </p:nvSpPr>
        <p:spPr>
          <a:xfrm>
            <a:off x="1142524" y="306585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Military Expansion</a:t>
            </a:r>
            <a:endParaRPr lang="en-US" sz="2200" dirty="0"/>
          </a:p>
        </p:txBody>
      </p:sp>
      <p:sp>
        <p:nvSpPr>
          <p:cNvPr id="7" name="Text 5"/>
          <p:cNvSpPr/>
          <p:nvPr/>
        </p:nvSpPr>
        <p:spPr>
          <a:xfrm>
            <a:off x="1142524" y="3556278"/>
            <a:ext cx="3590330" cy="1451610"/>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Armed forces now handle security, airport construction, customs operations, and major infrastructure like Tren Maya</a:t>
            </a:r>
            <a:endParaRPr lang="en-US" sz="1750" dirty="0"/>
          </a:p>
        </p:txBody>
      </p:sp>
      <p:sp>
        <p:nvSpPr>
          <p:cNvPr id="8" name="Shape 6"/>
          <p:cNvSpPr/>
          <p:nvPr/>
        </p:nvSpPr>
        <p:spPr>
          <a:xfrm>
            <a:off x="5216962" y="2808565"/>
            <a:ext cx="4196358" cy="3173849"/>
          </a:xfrm>
          <a:prstGeom prst="roundRect">
            <a:avLst>
              <a:gd name="adj" fmla="val 4610"/>
            </a:avLst>
          </a:prstGeom>
          <a:solidFill>
            <a:srgbClr val="1D1D1B"/>
          </a:solidFill>
          <a:ln w="30480">
            <a:solidFill>
              <a:srgbClr val="555553"/>
            </a:solidFill>
            <a:prstDash val="solid"/>
          </a:ln>
        </p:spPr>
        <p:txBody>
          <a:bodyPr/>
          <a:lstStyle/>
          <a:p>
            <a:endParaRPr lang="es-AR"/>
          </a:p>
        </p:txBody>
      </p:sp>
      <p:sp>
        <p:nvSpPr>
          <p:cNvPr id="9" name="Shape 7"/>
          <p:cNvSpPr/>
          <p:nvPr/>
        </p:nvSpPr>
        <p:spPr>
          <a:xfrm>
            <a:off x="5186482" y="2808565"/>
            <a:ext cx="121920" cy="3173849"/>
          </a:xfrm>
          <a:prstGeom prst="roundRect">
            <a:avLst>
              <a:gd name="adj" fmla="val 27907"/>
            </a:avLst>
          </a:prstGeom>
          <a:solidFill>
            <a:srgbClr val="E1E1DF"/>
          </a:solidFill>
          <a:ln/>
        </p:spPr>
        <p:txBody>
          <a:bodyPr/>
          <a:lstStyle/>
          <a:p>
            <a:endParaRPr lang="es-AR"/>
          </a:p>
        </p:txBody>
      </p:sp>
      <p:sp>
        <p:nvSpPr>
          <p:cNvPr id="10" name="Text 8"/>
          <p:cNvSpPr/>
          <p:nvPr/>
        </p:nvSpPr>
        <p:spPr>
          <a:xfrm>
            <a:off x="5565696" y="3065859"/>
            <a:ext cx="3590330" cy="708660"/>
          </a:xfrm>
          <a:prstGeom prst="rect">
            <a:avLst/>
          </a:prstGeom>
          <a:noFill/>
          <a:ln/>
        </p:spPr>
        <p:txBody>
          <a:bodyPr wrap="square" lIns="0" tIns="0" rIns="0" bIns="0" rtlCol="0" anchor="t"/>
          <a:lstStyle/>
          <a:p>
            <a:pPr marL="0" indent="0" algn="l">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Autonomous Agency Erosion</a:t>
            </a:r>
            <a:endParaRPr lang="en-US" sz="2200" dirty="0"/>
          </a:p>
        </p:txBody>
      </p:sp>
      <p:sp>
        <p:nvSpPr>
          <p:cNvPr id="11" name="Text 9"/>
          <p:cNvSpPr/>
          <p:nvPr/>
        </p:nvSpPr>
        <p:spPr>
          <a:xfrm>
            <a:off x="5565696" y="3910608"/>
            <a:ext cx="3590330" cy="1814513"/>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Budget cuts and unfilled appointments weaken oversight bodies: INE (elections), COFECE (antitrust), INAI (transparency), IFETEL (telecommunications)</a:t>
            </a:r>
            <a:endParaRPr lang="en-US" sz="1750" dirty="0"/>
          </a:p>
        </p:txBody>
      </p:sp>
      <p:sp>
        <p:nvSpPr>
          <p:cNvPr id="12" name="Shape 10"/>
          <p:cNvSpPr/>
          <p:nvPr/>
        </p:nvSpPr>
        <p:spPr>
          <a:xfrm>
            <a:off x="9640133" y="2808565"/>
            <a:ext cx="4196358" cy="3173849"/>
          </a:xfrm>
          <a:prstGeom prst="roundRect">
            <a:avLst>
              <a:gd name="adj" fmla="val 4610"/>
            </a:avLst>
          </a:prstGeom>
          <a:solidFill>
            <a:srgbClr val="1D1D1B"/>
          </a:solidFill>
          <a:ln w="30480">
            <a:solidFill>
              <a:srgbClr val="555553"/>
            </a:solidFill>
            <a:prstDash val="solid"/>
          </a:ln>
        </p:spPr>
        <p:txBody>
          <a:bodyPr/>
          <a:lstStyle/>
          <a:p>
            <a:endParaRPr lang="es-AR"/>
          </a:p>
        </p:txBody>
      </p:sp>
      <p:sp>
        <p:nvSpPr>
          <p:cNvPr id="13" name="Shape 11"/>
          <p:cNvSpPr/>
          <p:nvPr/>
        </p:nvSpPr>
        <p:spPr>
          <a:xfrm>
            <a:off x="9609653" y="2808565"/>
            <a:ext cx="121920" cy="3173849"/>
          </a:xfrm>
          <a:prstGeom prst="roundRect">
            <a:avLst>
              <a:gd name="adj" fmla="val 27907"/>
            </a:avLst>
          </a:prstGeom>
          <a:solidFill>
            <a:srgbClr val="E1E1DF"/>
          </a:solidFill>
          <a:ln/>
        </p:spPr>
        <p:txBody>
          <a:bodyPr/>
          <a:lstStyle/>
          <a:p>
            <a:endParaRPr lang="es-AR"/>
          </a:p>
        </p:txBody>
      </p:sp>
      <p:sp>
        <p:nvSpPr>
          <p:cNvPr id="14" name="Text 12"/>
          <p:cNvSpPr/>
          <p:nvPr/>
        </p:nvSpPr>
        <p:spPr>
          <a:xfrm>
            <a:off x="9988868" y="3065859"/>
            <a:ext cx="3363635" cy="354330"/>
          </a:xfrm>
          <a:prstGeom prst="rect">
            <a:avLst/>
          </a:prstGeom>
          <a:noFill/>
          <a:ln/>
        </p:spPr>
        <p:txBody>
          <a:bodyPr wrap="none" lIns="0" tIns="0" rIns="0" bIns="0" rtlCol="0" anchor="t"/>
          <a:lstStyle/>
          <a:p>
            <a:pPr marL="0" indent="0" algn="l">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Bureaucratic Hollowing</a:t>
            </a:r>
            <a:endParaRPr lang="en-US" sz="2200" dirty="0"/>
          </a:p>
        </p:txBody>
      </p:sp>
      <p:sp>
        <p:nvSpPr>
          <p:cNvPr id="15" name="Text 13"/>
          <p:cNvSpPr/>
          <p:nvPr/>
        </p:nvSpPr>
        <p:spPr>
          <a:xfrm>
            <a:off x="9988868" y="3556278"/>
            <a:ext cx="3590330" cy="1814513"/>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Technical and neutral capacities that stabilized Mexican governance reduced under efficiency and anti-corruption justifications</a:t>
            </a:r>
            <a:endParaRPr lang="en-US" sz="1750" dirty="0"/>
          </a:p>
        </p:txBody>
      </p:sp>
      <p:sp>
        <p:nvSpPr>
          <p:cNvPr id="16" name="Shape 14"/>
          <p:cNvSpPr/>
          <p:nvPr/>
        </p:nvSpPr>
        <p:spPr>
          <a:xfrm>
            <a:off x="793790" y="6237565"/>
            <a:ext cx="13042821" cy="1326713"/>
          </a:xfrm>
          <a:prstGeom prst="roundRect">
            <a:avLst>
              <a:gd name="adj" fmla="val 2565"/>
            </a:avLst>
          </a:prstGeom>
          <a:solidFill>
            <a:srgbClr val="272725"/>
          </a:solidFill>
          <a:ln/>
        </p:spPr>
        <p:txBody>
          <a:bodyPr/>
          <a:lstStyle/>
          <a:p>
            <a:endParaRPr lang="es-AR"/>
          </a:p>
        </p:txBody>
      </p:sp>
      <p:pic>
        <p:nvPicPr>
          <p:cNvPr id="17" name="Image 0" descr="preencoded.png"/>
          <p:cNvPicPr>
            <a:picLocks noChangeAspect="1"/>
          </p:cNvPicPr>
          <p:nvPr/>
        </p:nvPicPr>
        <p:blipFill>
          <a:blip r:embed="rId3"/>
          <a:stretch>
            <a:fillRect/>
          </a:stretch>
        </p:blipFill>
        <p:spPr>
          <a:xfrm>
            <a:off x="1020604" y="6589276"/>
            <a:ext cx="283488" cy="226814"/>
          </a:xfrm>
          <a:prstGeom prst="rect">
            <a:avLst/>
          </a:prstGeom>
        </p:spPr>
      </p:pic>
      <p:sp>
        <p:nvSpPr>
          <p:cNvPr id="18" name="Text 15"/>
          <p:cNvSpPr/>
          <p:nvPr/>
        </p:nvSpPr>
        <p:spPr>
          <a:xfrm>
            <a:off x="1530906" y="6521053"/>
            <a:ext cx="12078891" cy="725805"/>
          </a:xfrm>
          <a:prstGeom prst="rect">
            <a:avLst/>
          </a:prstGeom>
          <a:noFill/>
          <a:ln/>
        </p:spPr>
        <p:txBody>
          <a:bodyPr wrap="square" lIns="0" tIns="0" rIns="0" bIns="0" rtlCol="0" anchor="t"/>
          <a:lstStyle/>
          <a:p>
            <a:pPr marL="0" indent="0" algn="l">
              <a:lnSpc>
                <a:spcPts val="2850"/>
              </a:lnSpc>
              <a:buNone/>
            </a:pPr>
            <a:r>
              <a:rPr lang="en-US" sz="1750" dirty="0">
                <a:solidFill>
                  <a:srgbClr val="FFFFFF"/>
                </a:solidFill>
                <a:latin typeface="Tomorrow" pitchFamily="34" charset="0"/>
                <a:ea typeface="Tomorrow" pitchFamily="34" charset="-122"/>
                <a:cs typeface="Tomorrow" pitchFamily="34" charset="-120"/>
              </a:rPr>
              <a:t>Mexico's primary danger may not ne authoritarianism but institutional depletion—a weakened administrative core increasingly reliant on military rather than civilian structures.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5300" y="886449"/>
            <a:ext cx="6888004" cy="442317"/>
          </a:xfrm>
          <a:prstGeom prst="rect">
            <a:avLst/>
          </a:prstGeom>
          <a:noFill/>
          <a:ln/>
        </p:spPr>
        <p:txBody>
          <a:bodyPr wrap="none" lIns="0" tIns="0" rIns="0" bIns="0" rtlCol="0" anchor="t"/>
          <a:lstStyle/>
          <a:p>
            <a:pPr marL="0" indent="0" algn="l">
              <a:lnSpc>
                <a:spcPts val="3450"/>
              </a:lnSpc>
              <a:buNone/>
            </a:pPr>
            <a:r>
              <a:rPr lang="en-US" sz="3900" dirty="0">
                <a:solidFill>
                  <a:srgbClr val="EDEDE8"/>
                </a:solidFill>
                <a:latin typeface="Tomorrow Semi Bold" pitchFamily="34" charset="0"/>
                <a:ea typeface="Tomorrow Semi Bold" pitchFamily="34" charset="-122"/>
                <a:cs typeface="Tomorrow Semi Bold" pitchFamily="34" charset="-120"/>
              </a:rPr>
              <a:t>Criminal Governance: The CJNG Model</a:t>
            </a:r>
            <a:endParaRPr lang="en-US" sz="3900" dirty="0"/>
          </a:p>
        </p:txBody>
      </p:sp>
      <p:sp>
        <p:nvSpPr>
          <p:cNvPr id="4" name="Text 2"/>
          <p:cNvSpPr/>
          <p:nvPr/>
        </p:nvSpPr>
        <p:spPr>
          <a:xfrm>
            <a:off x="495299" y="2116488"/>
            <a:ext cx="7026935" cy="452914"/>
          </a:xfrm>
          <a:prstGeom prst="rect">
            <a:avLst/>
          </a:prstGeom>
          <a:noFill/>
          <a:ln/>
        </p:spPr>
        <p:txBody>
          <a:bodyPr wrap="square" lIns="0" tIns="0" rIns="0" bIns="0" rtlCol="0" anchor="t"/>
          <a:lstStyle/>
          <a:p>
            <a:pPr>
              <a:lnSpc>
                <a:spcPts val="2150"/>
              </a:lnSpc>
            </a:pPr>
            <a:r>
              <a:rPr lang="en-US" sz="1600" dirty="0">
                <a:solidFill>
                  <a:srgbClr val="C9C9C0"/>
                </a:solidFill>
                <a:latin typeface="Tomorrow" pitchFamily="34" charset="0"/>
              </a:rPr>
              <a:t>While the presidency expands plebiscitarian reach, the Cártel Jalisco Nueva Generación has built an alternative governance system combining violent coercion with selective legitimacy.</a:t>
            </a:r>
          </a:p>
        </p:txBody>
      </p:sp>
      <p:sp>
        <p:nvSpPr>
          <p:cNvPr id="5" name="Text 3"/>
          <p:cNvSpPr/>
          <p:nvPr/>
        </p:nvSpPr>
        <p:spPr>
          <a:xfrm>
            <a:off x="495299" y="3521349"/>
            <a:ext cx="6647259" cy="226457"/>
          </a:xfrm>
          <a:prstGeom prst="rect">
            <a:avLst/>
          </a:prstGeom>
          <a:noFill/>
          <a:ln/>
        </p:spPr>
        <p:txBody>
          <a:bodyPr wrap="none" lIns="0" tIns="0" rIns="0" bIns="0" rtlCol="0" anchor="t"/>
          <a:lstStyle/>
          <a:p>
            <a:pPr marL="0" indent="0" algn="l">
              <a:lnSpc>
                <a:spcPts val="1750"/>
              </a:lnSpc>
              <a:buNone/>
            </a:pPr>
            <a:r>
              <a:rPr lang="en-US" sz="1600" dirty="0">
                <a:solidFill>
                  <a:srgbClr val="C9C9C0"/>
                </a:solidFill>
                <a:latin typeface="Tomorrow" pitchFamily="34" charset="0"/>
                <a:ea typeface="Tomorrow" pitchFamily="34" charset="-122"/>
                <a:cs typeface="Tomorrow" pitchFamily="34" charset="-120"/>
              </a:rPr>
              <a:t>The CJNG exercises territorial control through:</a:t>
            </a:r>
            <a:endParaRPr lang="en-US" sz="1600" dirty="0"/>
          </a:p>
        </p:txBody>
      </p:sp>
      <p:sp>
        <p:nvSpPr>
          <p:cNvPr id="6" name="Text 4"/>
          <p:cNvSpPr/>
          <p:nvPr/>
        </p:nvSpPr>
        <p:spPr>
          <a:xfrm>
            <a:off x="495300" y="4051680"/>
            <a:ext cx="6647259" cy="226457"/>
          </a:xfrm>
          <a:prstGeom prst="rect">
            <a:avLst/>
          </a:prstGeom>
          <a:noFill/>
          <a:ln/>
        </p:spPr>
        <p:txBody>
          <a:bodyPr wrap="none" lIns="0" tIns="0" rIns="0" bIns="0" rtlCol="0" anchor="t"/>
          <a:lstStyle/>
          <a:p>
            <a:pPr marL="342900" indent="-342900" algn="l">
              <a:lnSpc>
                <a:spcPts val="1750"/>
              </a:lnSpc>
              <a:buSzPct val="100000"/>
              <a:buChar char="•"/>
            </a:pPr>
            <a:r>
              <a:rPr lang="en-US" sz="1600" dirty="0">
                <a:solidFill>
                  <a:srgbClr val="C9C9C0"/>
                </a:solidFill>
                <a:latin typeface="Tomorrow" pitchFamily="34" charset="0"/>
                <a:ea typeface="Tomorrow" pitchFamily="34" charset="-122"/>
                <a:cs typeface="Tomorrow" pitchFamily="34" charset="-120"/>
              </a:rPr>
              <a:t>Paramilitary organization with disciplined structure</a:t>
            </a:r>
            <a:endParaRPr lang="en-US" sz="1600" dirty="0"/>
          </a:p>
        </p:txBody>
      </p:sp>
      <p:sp>
        <p:nvSpPr>
          <p:cNvPr id="7" name="Text 5"/>
          <p:cNvSpPr/>
          <p:nvPr/>
        </p:nvSpPr>
        <p:spPr>
          <a:xfrm>
            <a:off x="495300" y="4533052"/>
            <a:ext cx="6647259" cy="226457"/>
          </a:xfrm>
          <a:prstGeom prst="rect">
            <a:avLst/>
          </a:prstGeom>
          <a:noFill/>
          <a:ln/>
        </p:spPr>
        <p:txBody>
          <a:bodyPr wrap="none" lIns="0" tIns="0" rIns="0" bIns="0" rtlCol="0" anchor="t"/>
          <a:lstStyle/>
          <a:p>
            <a:pPr marL="342900" indent="-342900" algn="l">
              <a:lnSpc>
                <a:spcPts val="1750"/>
              </a:lnSpc>
              <a:buSzPct val="100000"/>
              <a:buChar char="•"/>
            </a:pPr>
            <a:r>
              <a:rPr lang="en-US" sz="1600" dirty="0">
                <a:solidFill>
                  <a:srgbClr val="C9C9C0"/>
                </a:solidFill>
                <a:latin typeface="Tomorrow" pitchFamily="34" charset="0"/>
                <a:ea typeface="Tomorrow" pitchFamily="34" charset="-122"/>
                <a:cs typeface="Tomorrow" pitchFamily="34" charset="-120"/>
              </a:rPr>
              <a:t>Network alliances and flexible local ties</a:t>
            </a:r>
            <a:endParaRPr lang="en-US" sz="1600" dirty="0"/>
          </a:p>
        </p:txBody>
      </p:sp>
      <p:sp>
        <p:nvSpPr>
          <p:cNvPr id="8" name="Text 6"/>
          <p:cNvSpPr/>
          <p:nvPr/>
        </p:nvSpPr>
        <p:spPr>
          <a:xfrm>
            <a:off x="495300" y="5034925"/>
            <a:ext cx="6647259" cy="226457"/>
          </a:xfrm>
          <a:prstGeom prst="rect">
            <a:avLst/>
          </a:prstGeom>
          <a:noFill/>
          <a:ln/>
        </p:spPr>
        <p:txBody>
          <a:bodyPr wrap="none" lIns="0" tIns="0" rIns="0" bIns="0" rtlCol="0" anchor="t"/>
          <a:lstStyle/>
          <a:p>
            <a:pPr marL="342900" indent="-342900" algn="l">
              <a:lnSpc>
                <a:spcPts val="1750"/>
              </a:lnSpc>
              <a:buSzPct val="100000"/>
              <a:buChar char="•"/>
            </a:pPr>
            <a:r>
              <a:rPr lang="en-US" sz="1600" dirty="0">
                <a:solidFill>
                  <a:srgbClr val="C9C9C0"/>
                </a:solidFill>
                <a:latin typeface="Tomorrow" pitchFamily="34" charset="0"/>
                <a:ea typeface="Tomorrow" pitchFamily="34" charset="-122"/>
                <a:cs typeface="Tomorrow" pitchFamily="34" charset="-120"/>
              </a:rPr>
              <a:t>Economic diversification beyond drug trafficking</a:t>
            </a:r>
            <a:endParaRPr lang="en-US" sz="1600" dirty="0"/>
          </a:p>
        </p:txBody>
      </p:sp>
      <p:sp>
        <p:nvSpPr>
          <p:cNvPr id="9" name="Text 7"/>
          <p:cNvSpPr/>
          <p:nvPr/>
        </p:nvSpPr>
        <p:spPr>
          <a:xfrm>
            <a:off x="495300" y="5868940"/>
            <a:ext cx="6647259" cy="452914"/>
          </a:xfrm>
          <a:prstGeom prst="rect">
            <a:avLst/>
          </a:prstGeom>
          <a:noFill/>
          <a:ln/>
        </p:spPr>
        <p:txBody>
          <a:bodyPr wrap="square" lIns="0" tIns="0" rIns="0" bIns="0" rtlCol="0" anchor="t"/>
          <a:lstStyle/>
          <a:p>
            <a:pPr>
              <a:lnSpc>
                <a:spcPts val="2150"/>
              </a:lnSpc>
            </a:pPr>
            <a:r>
              <a:rPr lang="en-US" sz="1600" dirty="0">
                <a:solidFill>
                  <a:srgbClr val="C9C9C0"/>
                </a:solidFill>
                <a:latin typeface="Tomorrow" pitchFamily="34" charset="0"/>
              </a:rPr>
              <a:t>By 2022, the CJNG operated in approximately 20% of Mexican municipalities, with international cells across continents.</a:t>
            </a:r>
          </a:p>
        </p:txBody>
      </p:sp>
      <p:pic>
        <p:nvPicPr>
          <p:cNvPr id="4098" name="Picture 2">
            <a:extLst>
              <a:ext uri="{FF2B5EF4-FFF2-40B4-BE49-F238E27FC236}">
                <a16:creationId xmlns:a16="http://schemas.microsoft.com/office/drawing/2014/main" id="{12359D17-C85B-DBF5-9615-A202D9599D2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1091"/>
          <a:stretch>
            <a:fillRect/>
          </a:stretch>
        </p:blipFill>
        <p:spPr bwMode="auto">
          <a:xfrm>
            <a:off x="7531681" y="1532745"/>
            <a:ext cx="7026935" cy="621072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783550"/>
            <a:ext cx="11964948" cy="708779"/>
          </a:xfrm>
          <a:prstGeom prst="rect">
            <a:avLst/>
          </a:prstGeom>
          <a:noFill/>
          <a:ln/>
        </p:spPr>
        <p:txBody>
          <a:bodyPr wrap="none" lIns="0" tIns="0" rIns="0" bIns="0" rtlCol="0" anchor="t"/>
          <a:lstStyle/>
          <a:p>
            <a:pPr marL="0" indent="0" algn="l">
              <a:lnSpc>
                <a:spcPts val="5550"/>
              </a:lnSpc>
              <a:buNone/>
            </a:pPr>
            <a:r>
              <a:rPr lang="en-US" sz="3900" dirty="0">
                <a:solidFill>
                  <a:srgbClr val="EDEDE8"/>
                </a:solidFill>
                <a:latin typeface="Tomorrow Semi Bold" pitchFamily="34" charset="0"/>
                <a:ea typeface="Tomorrow Semi Bold" pitchFamily="34" charset="-122"/>
                <a:cs typeface="Tomorrow Semi Bold" pitchFamily="34" charset="-120"/>
              </a:rPr>
              <a:t>Ruling Violently: Coercion and Legitimacy</a:t>
            </a:r>
            <a:endParaRPr lang="en-US" sz="3900" dirty="0"/>
          </a:p>
        </p:txBody>
      </p:sp>
      <p:sp>
        <p:nvSpPr>
          <p:cNvPr id="3" name="Shape 1"/>
          <p:cNvSpPr/>
          <p:nvPr/>
        </p:nvSpPr>
        <p:spPr>
          <a:xfrm>
            <a:off x="793790" y="1945958"/>
            <a:ext cx="4196358" cy="2758559"/>
          </a:xfrm>
          <a:prstGeom prst="roundRect">
            <a:avLst>
              <a:gd name="adj" fmla="val 1233"/>
            </a:avLst>
          </a:prstGeom>
          <a:solidFill>
            <a:srgbClr val="3C3C3A"/>
          </a:solidFill>
          <a:ln/>
        </p:spPr>
        <p:txBody>
          <a:bodyPr/>
          <a:lstStyle/>
          <a:p>
            <a:endParaRPr lang="es-AR"/>
          </a:p>
        </p:txBody>
      </p:sp>
      <p:sp>
        <p:nvSpPr>
          <p:cNvPr id="4" name="Text 2"/>
          <p:cNvSpPr/>
          <p:nvPr/>
        </p:nvSpPr>
        <p:spPr>
          <a:xfrm>
            <a:off x="1020604" y="2172772"/>
            <a:ext cx="3043714" cy="354330"/>
          </a:xfrm>
          <a:prstGeom prst="rect">
            <a:avLst/>
          </a:prstGeom>
          <a:noFill/>
          <a:ln/>
        </p:spPr>
        <p:txBody>
          <a:bodyPr wrap="none" lIns="0" tIns="0" rIns="0" bIns="0" rtlCol="0" anchor="t"/>
          <a:lstStyle/>
          <a:p>
            <a:pPr marL="0" indent="0" algn="l">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Spectacular Violence</a:t>
            </a:r>
            <a:endParaRPr lang="en-US" sz="2200" dirty="0"/>
          </a:p>
        </p:txBody>
      </p:sp>
      <p:sp>
        <p:nvSpPr>
          <p:cNvPr id="5" name="Text 3"/>
          <p:cNvSpPr/>
          <p:nvPr/>
        </p:nvSpPr>
        <p:spPr>
          <a:xfrm>
            <a:off x="1020604" y="2663190"/>
            <a:ext cx="3742730" cy="1814513"/>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Public displays of brutality enforce obedience and deter rivals. Quasi-military tactics against state forces, including drones and armored convoys.</a:t>
            </a:r>
            <a:endParaRPr lang="en-US" sz="1750" dirty="0"/>
          </a:p>
        </p:txBody>
      </p:sp>
      <p:sp>
        <p:nvSpPr>
          <p:cNvPr id="6" name="Shape 4"/>
          <p:cNvSpPr/>
          <p:nvPr/>
        </p:nvSpPr>
        <p:spPr>
          <a:xfrm>
            <a:off x="5216962" y="1945958"/>
            <a:ext cx="4196358" cy="2758559"/>
          </a:xfrm>
          <a:prstGeom prst="roundRect">
            <a:avLst>
              <a:gd name="adj" fmla="val 1233"/>
            </a:avLst>
          </a:prstGeom>
          <a:solidFill>
            <a:srgbClr val="3C3C3A"/>
          </a:solidFill>
          <a:ln/>
        </p:spPr>
        <p:txBody>
          <a:bodyPr/>
          <a:lstStyle/>
          <a:p>
            <a:endParaRPr lang="es-AR"/>
          </a:p>
        </p:txBody>
      </p:sp>
      <p:sp>
        <p:nvSpPr>
          <p:cNvPr id="7" name="Text 5"/>
          <p:cNvSpPr/>
          <p:nvPr/>
        </p:nvSpPr>
        <p:spPr>
          <a:xfrm>
            <a:off x="5443776" y="217277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Media Propaganda</a:t>
            </a:r>
            <a:endParaRPr lang="en-US" sz="2200" dirty="0"/>
          </a:p>
        </p:txBody>
      </p:sp>
      <p:sp>
        <p:nvSpPr>
          <p:cNvPr id="8" name="Text 6"/>
          <p:cNvSpPr/>
          <p:nvPr/>
        </p:nvSpPr>
        <p:spPr>
          <a:xfrm>
            <a:off x="5443776" y="2663190"/>
            <a:ext cx="3742730" cy="1451610"/>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Strategic use of social media to broadcast power, create fear, and maintain internal cohesion through visibility.</a:t>
            </a:r>
            <a:endParaRPr lang="en-US" sz="1750" dirty="0"/>
          </a:p>
        </p:txBody>
      </p:sp>
      <p:sp>
        <p:nvSpPr>
          <p:cNvPr id="9" name="Shape 7"/>
          <p:cNvSpPr/>
          <p:nvPr/>
        </p:nvSpPr>
        <p:spPr>
          <a:xfrm>
            <a:off x="9640133" y="1945958"/>
            <a:ext cx="4196358" cy="2758559"/>
          </a:xfrm>
          <a:prstGeom prst="roundRect">
            <a:avLst>
              <a:gd name="adj" fmla="val 1233"/>
            </a:avLst>
          </a:prstGeom>
          <a:solidFill>
            <a:srgbClr val="3C3C3A"/>
          </a:solidFill>
          <a:ln/>
        </p:spPr>
        <p:txBody>
          <a:bodyPr/>
          <a:lstStyle/>
          <a:p>
            <a:endParaRPr lang="es-AR"/>
          </a:p>
        </p:txBody>
      </p:sp>
      <p:sp>
        <p:nvSpPr>
          <p:cNvPr id="10" name="Text 8"/>
          <p:cNvSpPr/>
          <p:nvPr/>
        </p:nvSpPr>
        <p:spPr>
          <a:xfrm>
            <a:off x="9866948" y="217277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Internal Discipline</a:t>
            </a:r>
            <a:endParaRPr lang="en-US" sz="2200" dirty="0"/>
          </a:p>
        </p:txBody>
      </p:sp>
      <p:sp>
        <p:nvSpPr>
          <p:cNvPr id="11" name="Text 9"/>
          <p:cNvSpPr/>
          <p:nvPr/>
        </p:nvSpPr>
        <p:spPr>
          <a:xfrm>
            <a:off x="9866948" y="2663190"/>
            <a:ext cx="3742730" cy="1451610"/>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Executions of traitors and forced recruitment create governance mechanism, not merely by-product of operations.</a:t>
            </a:r>
            <a:endParaRPr lang="en-US" sz="1750" dirty="0"/>
          </a:p>
        </p:txBody>
      </p:sp>
      <p:sp>
        <p:nvSpPr>
          <p:cNvPr id="12" name="Text 10"/>
          <p:cNvSpPr/>
          <p:nvPr/>
        </p:nvSpPr>
        <p:spPr>
          <a:xfrm>
            <a:off x="793790" y="5044678"/>
            <a:ext cx="3426262" cy="354330"/>
          </a:xfrm>
          <a:prstGeom prst="rect">
            <a:avLst/>
          </a:prstGeom>
          <a:noFill/>
          <a:ln/>
        </p:spPr>
        <p:txBody>
          <a:bodyPr wrap="none" lIns="0" tIns="0" rIns="0" bIns="0" rtlCol="0" anchor="t"/>
          <a:lstStyle/>
          <a:p>
            <a:pPr marL="0" indent="0" algn="l">
              <a:lnSpc>
                <a:spcPts val="2750"/>
              </a:lnSpc>
              <a:buNone/>
            </a:pPr>
            <a:r>
              <a:rPr lang="en-US" sz="2200" dirty="0">
                <a:solidFill>
                  <a:srgbClr val="EDEDE8"/>
                </a:solidFill>
                <a:latin typeface="Tomorrow Semi Bold" pitchFamily="34" charset="0"/>
                <a:ea typeface="Tomorrow Semi Bold" pitchFamily="34" charset="-122"/>
                <a:cs typeface="Tomorrow Semi Bold" pitchFamily="34" charset="-120"/>
              </a:rPr>
              <a:t>The Legitimacy Paradox</a:t>
            </a:r>
            <a:endParaRPr lang="en-US" sz="2200" dirty="0"/>
          </a:p>
        </p:txBody>
      </p:sp>
      <p:sp>
        <p:nvSpPr>
          <p:cNvPr id="13" name="Text 11"/>
          <p:cNvSpPr/>
          <p:nvPr/>
        </p:nvSpPr>
        <p:spPr>
          <a:xfrm>
            <a:off x="793790" y="5739170"/>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In areas of weak state presence, the CJNG provides rudimentary public goods: protection against petty crime, distribution of food and medicine during crises, and selective charity framed as "defending Mexicans" from corruption.</a:t>
            </a:r>
            <a:endParaRPr lang="en-US" sz="1750" dirty="0"/>
          </a:p>
        </p:txBody>
      </p:sp>
      <p:sp>
        <p:nvSpPr>
          <p:cNvPr id="14" name="Text 12"/>
          <p:cNvSpPr/>
          <p:nvPr/>
        </p:nvSpPr>
        <p:spPr>
          <a:xfrm>
            <a:off x="793790" y="6720126"/>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This produces paradoxical </a:t>
            </a:r>
            <a:r>
              <a:rPr lang="en-US" sz="1750" i="1" dirty="0">
                <a:solidFill>
                  <a:srgbClr val="C9C9C0"/>
                </a:solidFill>
                <a:latin typeface="Tomorrow" pitchFamily="34" charset="0"/>
                <a:ea typeface="Tomorrow" pitchFamily="34" charset="-122"/>
                <a:cs typeface="Tomorrow" pitchFamily="34" charset="-120"/>
              </a:rPr>
              <a:t>criminal legitimacy</a:t>
            </a:r>
            <a:r>
              <a:rPr lang="en-US" sz="1750" dirty="0">
                <a:solidFill>
                  <a:srgbClr val="C9C9C0"/>
                </a:solidFill>
                <a:latin typeface="Tomorrow" pitchFamily="34" charset="0"/>
                <a:ea typeface="Tomorrow" pitchFamily="34" charset="-122"/>
                <a:cs typeface="Tomorrow" pitchFamily="34" charset="-120"/>
              </a:rPr>
              <a:t>—citizens may tolerate or support the cartel in exchange for security and stability, creating dual sovereignty with the Mexican state.</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0427" y="815511"/>
            <a:ext cx="6868120" cy="354330"/>
          </a:xfrm>
          <a:prstGeom prst="rect">
            <a:avLst/>
          </a:prstGeom>
          <a:noFill/>
          <a:ln/>
        </p:spPr>
        <p:txBody>
          <a:bodyPr wrap="none" lIns="0" tIns="0" rIns="0" bIns="0" rtlCol="0" anchor="t"/>
          <a:lstStyle/>
          <a:p>
            <a:pPr marL="0" indent="0" algn="l">
              <a:lnSpc>
                <a:spcPts val="2750"/>
              </a:lnSpc>
              <a:buNone/>
            </a:pPr>
            <a:r>
              <a:rPr lang="en-US" sz="3900" dirty="0">
                <a:solidFill>
                  <a:srgbClr val="EDEDE8"/>
                </a:solidFill>
                <a:latin typeface="Tomorrow Semi Bold" pitchFamily="34" charset="0"/>
                <a:ea typeface="Tomorrow Semi Bold" pitchFamily="34" charset="-122"/>
                <a:cs typeface="Tomorrow Semi Bold" pitchFamily="34" charset="-120"/>
              </a:rPr>
              <a:t>Dual Erosion of State Authority</a:t>
            </a:r>
            <a:endParaRPr lang="en-US" sz="3900" dirty="0"/>
          </a:p>
        </p:txBody>
      </p:sp>
      <p:pic>
        <p:nvPicPr>
          <p:cNvPr id="4" name="Image 1" descr="preencoded.png"/>
          <p:cNvPicPr>
            <a:picLocks noChangeAspect="1"/>
          </p:cNvPicPr>
          <p:nvPr/>
        </p:nvPicPr>
        <p:blipFill>
          <a:blip r:embed="rId3"/>
          <a:stretch>
            <a:fillRect/>
          </a:stretch>
        </p:blipFill>
        <p:spPr>
          <a:xfrm>
            <a:off x="510183" y="1374429"/>
            <a:ext cx="4612243" cy="453628"/>
          </a:xfrm>
          <a:prstGeom prst="rect">
            <a:avLst/>
          </a:prstGeom>
        </p:spPr>
      </p:pic>
      <p:sp>
        <p:nvSpPr>
          <p:cNvPr id="5" name="Text 1"/>
          <p:cNvSpPr/>
          <p:nvPr/>
        </p:nvSpPr>
        <p:spPr>
          <a:xfrm>
            <a:off x="773156" y="2091030"/>
            <a:ext cx="966031" cy="177165"/>
          </a:xfrm>
          <a:prstGeom prst="rect">
            <a:avLst/>
          </a:prstGeom>
          <a:noFill/>
          <a:ln/>
        </p:spPr>
        <p:txBody>
          <a:bodyPr wrap="none" lIns="0" tIns="0" rIns="0" bIns="0" rtlCol="0" anchor="t"/>
          <a:lstStyle/>
          <a:p>
            <a:pPr marL="0" indent="0" algn="l">
              <a:lnSpc>
                <a:spcPts val="1350"/>
              </a:lnSpc>
              <a:buNone/>
            </a:pPr>
            <a:r>
              <a:rPr lang="en-US" sz="2400" dirty="0">
                <a:solidFill>
                  <a:srgbClr val="C9C9C0"/>
                </a:solidFill>
                <a:latin typeface="Tomorrow Semi Bold" pitchFamily="34" charset="0"/>
                <a:ea typeface="Tomorrow Semi Bold" pitchFamily="34" charset="-122"/>
                <a:cs typeface="Tomorrow Semi Bold" pitchFamily="34" charset="-120"/>
              </a:rPr>
              <a:t>Plebiscitarianism</a:t>
            </a:r>
            <a:endParaRPr lang="en-US" sz="2400" dirty="0"/>
          </a:p>
        </p:txBody>
      </p:sp>
      <p:sp>
        <p:nvSpPr>
          <p:cNvPr id="6" name="Text 2"/>
          <p:cNvSpPr/>
          <p:nvPr/>
        </p:nvSpPr>
        <p:spPr>
          <a:xfrm>
            <a:off x="773156" y="2336179"/>
            <a:ext cx="4050867" cy="194048"/>
          </a:xfrm>
          <a:prstGeom prst="rect">
            <a:avLst/>
          </a:prstGeom>
          <a:noFill/>
          <a:ln/>
        </p:spPr>
        <p:txBody>
          <a:bodyPr wrap="square" lIns="0" tIns="0" rIns="0" bIns="0" rtlCol="0" anchor="t"/>
          <a:lstStyle/>
          <a:p>
            <a:pPr>
              <a:lnSpc>
                <a:spcPts val="2850"/>
              </a:lnSpc>
            </a:pPr>
            <a:r>
              <a:rPr lang="en-US" sz="1600" dirty="0">
                <a:solidFill>
                  <a:srgbClr val="C9C9C0"/>
                </a:solidFill>
                <a:latin typeface="Tomorrow" pitchFamily="34" charset="0"/>
              </a:rPr>
              <a:t>Populist executive challenges from above through politicization and militarization</a:t>
            </a:r>
          </a:p>
        </p:txBody>
      </p:sp>
      <p:pic>
        <p:nvPicPr>
          <p:cNvPr id="7" name="Image 2" descr="preencoded.png"/>
          <p:cNvPicPr>
            <a:picLocks noChangeAspect="1"/>
          </p:cNvPicPr>
          <p:nvPr/>
        </p:nvPicPr>
        <p:blipFill>
          <a:blip r:embed="rId4"/>
          <a:stretch>
            <a:fillRect/>
          </a:stretch>
        </p:blipFill>
        <p:spPr>
          <a:xfrm>
            <a:off x="5122426" y="1374429"/>
            <a:ext cx="4612243" cy="453628"/>
          </a:xfrm>
          <a:prstGeom prst="rect">
            <a:avLst/>
          </a:prstGeom>
        </p:spPr>
      </p:pic>
      <p:sp>
        <p:nvSpPr>
          <p:cNvPr id="8" name="Text 3"/>
          <p:cNvSpPr/>
          <p:nvPr/>
        </p:nvSpPr>
        <p:spPr>
          <a:xfrm>
            <a:off x="5385400" y="2091030"/>
            <a:ext cx="1026398" cy="177165"/>
          </a:xfrm>
          <a:prstGeom prst="rect">
            <a:avLst/>
          </a:prstGeom>
          <a:noFill/>
          <a:ln/>
        </p:spPr>
        <p:txBody>
          <a:bodyPr wrap="none" lIns="0" tIns="0" rIns="0" bIns="0" rtlCol="0" anchor="t"/>
          <a:lstStyle/>
          <a:p>
            <a:pPr marL="0" indent="0" algn="l">
              <a:lnSpc>
                <a:spcPts val="1350"/>
              </a:lnSpc>
              <a:buNone/>
            </a:pPr>
            <a:r>
              <a:rPr lang="en-US" sz="2400" dirty="0">
                <a:solidFill>
                  <a:srgbClr val="C9C9C0"/>
                </a:solidFill>
                <a:latin typeface="Tomorrow Semi Bold" pitchFamily="34" charset="0"/>
                <a:ea typeface="Tomorrow Semi Bold" pitchFamily="34" charset="-122"/>
                <a:cs typeface="Tomorrow Semi Bold" pitchFamily="34" charset="-120"/>
              </a:rPr>
              <a:t>Institutional Vacuum</a:t>
            </a:r>
            <a:endParaRPr lang="en-US" sz="2400" dirty="0"/>
          </a:p>
        </p:txBody>
      </p:sp>
      <p:sp>
        <p:nvSpPr>
          <p:cNvPr id="9" name="Text 4"/>
          <p:cNvSpPr/>
          <p:nvPr/>
        </p:nvSpPr>
        <p:spPr>
          <a:xfrm>
            <a:off x="5385399" y="2336179"/>
            <a:ext cx="4050867" cy="194048"/>
          </a:xfrm>
          <a:prstGeom prst="rect">
            <a:avLst/>
          </a:prstGeom>
          <a:noFill/>
          <a:ln/>
        </p:spPr>
        <p:txBody>
          <a:bodyPr wrap="square" lIns="0" tIns="0" rIns="0" bIns="0" rtlCol="0" anchor="t"/>
          <a:lstStyle/>
          <a:p>
            <a:pPr>
              <a:lnSpc>
                <a:spcPts val="2850"/>
              </a:lnSpc>
            </a:pPr>
            <a:r>
              <a:rPr lang="en-US" sz="1600" dirty="0">
                <a:solidFill>
                  <a:srgbClr val="C9C9C0"/>
                </a:solidFill>
                <a:latin typeface="Tomorrow" pitchFamily="34" charset="0"/>
              </a:rPr>
              <a:t>Weak trust and uneven state presence create governance gaps</a:t>
            </a:r>
          </a:p>
        </p:txBody>
      </p:sp>
      <p:pic>
        <p:nvPicPr>
          <p:cNvPr id="10" name="Image 3" descr="preencoded.png"/>
          <p:cNvPicPr>
            <a:picLocks noChangeAspect="1"/>
          </p:cNvPicPr>
          <p:nvPr/>
        </p:nvPicPr>
        <p:blipFill>
          <a:blip r:embed="rId5"/>
          <a:stretch>
            <a:fillRect/>
          </a:stretch>
        </p:blipFill>
        <p:spPr>
          <a:xfrm>
            <a:off x="9734670" y="1374429"/>
            <a:ext cx="4612243" cy="453628"/>
          </a:xfrm>
          <a:prstGeom prst="rect">
            <a:avLst/>
          </a:prstGeom>
        </p:spPr>
      </p:pic>
      <p:sp>
        <p:nvSpPr>
          <p:cNvPr id="11" name="Text 5"/>
          <p:cNvSpPr/>
          <p:nvPr/>
        </p:nvSpPr>
        <p:spPr>
          <a:xfrm>
            <a:off x="9997642" y="2091030"/>
            <a:ext cx="1037189" cy="177165"/>
          </a:xfrm>
          <a:prstGeom prst="rect">
            <a:avLst/>
          </a:prstGeom>
          <a:noFill/>
          <a:ln/>
        </p:spPr>
        <p:txBody>
          <a:bodyPr wrap="none" lIns="0" tIns="0" rIns="0" bIns="0" rtlCol="0" anchor="t"/>
          <a:lstStyle/>
          <a:p>
            <a:pPr marL="0" indent="0" algn="l">
              <a:lnSpc>
                <a:spcPts val="1350"/>
              </a:lnSpc>
              <a:buNone/>
            </a:pPr>
            <a:r>
              <a:rPr lang="en-US" sz="2400" dirty="0">
                <a:solidFill>
                  <a:srgbClr val="C9C9C0"/>
                </a:solidFill>
                <a:latin typeface="Tomorrow Semi Bold" pitchFamily="34" charset="0"/>
                <a:ea typeface="Tomorrow Semi Bold" pitchFamily="34" charset="-122"/>
                <a:cs typeface="Tomorrow Semi Bold" pitchFamily="34" charset="-120"/>
              </a:rPr>
              <a:t>Criminal Governance</a:t>
            </a:r>
            <a:endParaRPr lang="en-US" sz="2400" dirty="0"/>
          </a:p>
        </p:txBody>
      </p:sp>
      <p:sp>
        <p:nvSpPr>
          <p:cNvPr id="12" name="Text 6"/>
          <p:cNvSpPr/>
          <p:nvPr/>
        </p:nvSpPr>
        <p:spPr>
          <a:xfrm>
            <a:off x="9997642" y="2336179"/>
            <a:ext cx="4050867" cy="177165"/>
          </a:xfrm>
          <a:prstGeom prst="rect">
            <a:avLst/>
          </a:prstGeom>
          <a:noFill/>
          <a:ln/>
        </p:spPr>
        <p:txBody>
          <a:bodyPr wrap="square" lIns="0" tIns="0" rIns="0" bIns="0" rtlCol="0" anchor="t"/>
          <a:lstStyle/>
          <a:p>
            <a:pPr>
              <a:lnSpc>
                <a:spcPts val="2850"/>
              </a:lnSpc>
            </a:pPr>
            <a:r>
              <a:rPr lang="en-US" sz="1600" dirty="0">
                <a:solidFill>
                  <a:srgbClr val="C9C9C0"/>
                </a:solidFill>
                <a:latin typeface="Tomorrow" pitchFamily="34" charset="0"/>
              </a:rPr>
              <a:t>Organizations challenge from below through coercion and shadow institutions</a:t>
            </a:r>
          </a:p>
        </p:txBody>
      </p:sp>
      <p:sp>
        <p:nvSpPr>
          <p:cNvPr id="13" name="Text 7"/>
          <p:cNvSpPr/>
          <p:nvPr/>
        </p:nvSpPr>
        <p:spPr>
          <a:xfrm>
            <a:off x="773156" y="4378300"/>
            <a:ext cx="5444764" cy="1333671"/>
          </a:xfrm>
          <a:prstGeom prst="rect">
            <a:avLst/>
          </a:prstGeom>
          <a:noFill/>
          <a:ln/>
        </p:spPr>
        <p:txBody>
          <a:bodyPr wrap="square" lIns="0" tIns="0" rIns="0" bIns="0" rtlCol="0" anchor="t"/>
          <a:lstStyle/>
          <a:p>
            <a:pPr>
              <a:lnSpc>
                <a:spcPts val="2850"/>
              </a:lnSpc>
            </a:pPr>
            <a:r>
              <a:rPr lang="en-US" sz="1750" dirty="0">
                <a:solidFill>
                  <a:srgbClr val="C9C9C0"/>
                </a:solidFill>
                <a:latin typeface="Tomorrow" pitchFamily="34" charset="0"/>
              </a:rPr>
              <a:t>Both logics reveal the same underlying crisis: the state loses capacity to govern through institutions, relying instead on personal, charismatic, or coercive forms of power.</a:t>
            </a:r>
          </a:p>
        </p:txBody>
      </p:sp>
      <p:pic>
        <p:nvPicPr>
          <p:cNvPr id="5122" name="Picture 2">
            <a:extLst>
              <a:ext uri="{FF2B5EF4-FFF2-40B4-BE49-F238E27FC236}">
                <a16:creationId xmlns:a16="http://schemas.microsoft.com/office/drawing/2014/main" id="{37607BD9-8F94-5AC2-E2E2-8F7DC453C85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15200" y="3291839"/>
            <a:ext cx="7231218" cy="481957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82241" y="614601"/>
            <a:ext cx="9564886" cy="698421"/>
          </a:xfrm>
          <a:prstGeom prst="rect">
            <a:avLst/>
          </a:prstGeom>
          <a:noFill/>
          <a:ln/>
        </p:spPr>
        <p:txBody>
          <a:bodyPr wrap="none" lIns="0" tIns="0" rIns="0" bIns="0" rtlCol="0" anchor="t"/>
          <a:lstStyle/>
          <a:p>
            <a:pPr marL="0" indent="0" algn="l">
              <a:lnSpc>
                <a:spcPts val="5450"/>
              </a:lnSpc>
              <a:buNone/>
            </a:pPr>
            <a:r>
              <a:rPr lang="en-US" sz="4350" dirty="0">
                <a:solidFill>
                  <a:srgbClr val="EDEDE8"/>
                </a:solidFill>
                <a:latin typeface="Tomorrow Semi Bold" pitchFamily="34" charset="0"/>
                <a:ea typeface="Tomorrow Semi Bold" pitchFamily="34" charset="-122"/>
                <a:cs typeface="Tomorrow Semi Bold" pitchFamily="34" charset="-120"/>
              </a:rPr>
              <a:t>Governing Through Fear and Faith</a:t>
            </a:r>
            <a:endParaRPr lang="en-US" sz="4350" dirty="0"/>
          </a:p>
        </p:txBody>
      </p:sp>
      <p:sp>
        <p:nvSpPr>
          <p:cNvPr id="3" name="Text 1"/>
          <p:cNvSpPr/>
          <p:nvPr/>
        </p:nvSpPr>
        <p:spPr>
          <a:xfrm>
            <a:off x="782241" y="1759982"/>
            <a:ext cx="13065919" cy="715089"/>
          </a:xfrm>
          <a:prstGeom prst="rect">
            <a:avLst/>
          </a:prstGeom>
          <a:noFill/>
          <a:ln/>
        </p:spPr>
        <p:txBody>
          <a:bodyPr wrap="square" lIns="0" tIns="0" rIns="0" bIns="0" rtlCol="0" anchor="t"/>
          <a:lstStyle/>
          <a:p>
            <a:pPr marL="0" indent="0" algn="l">
              <a:lnSpc>
                <a:spcPts val="2800"/>
              </a:lnSpc>
              <a:buNone/>
            </a:pPr>
            <a:r>
              <a:rPr lang="en-US" sz="1750" dirty="0">
                <a:solidFill>
                  <a:srgbClr val="C9C9C0"/>
                </a:solidFill>
                <a:latin typeface="Tomorrow" pitchFamily="34" charset="0"/>
                <a:ea typeface="Tomorrow" pitchFamily="34" charset="-122"/>
                <a:cs typeface="Tomorrow" pitchFamily="34" charset="-120"/>
              </a:rPr>
              <a:t>Mexico's governance crisis operates along two intertwined frontiers: the populist frontier where leaders claim to embody the nation directly, and the criminal frontier where nonstate actors fill vacuums with violence and patronage.</a:t>
            </a:r>
            <a:endParaRPr lang="en-US" sz="1750" dirty="0"/>
          </a:p>
        </p:txBody>
      </p:sp>
      <p:sp>
        <p:nvSpPr>
          <p:cNvPr id="4" name="Shape 2"/>
          <p:cNvSpPr/>
          <p:nvPr/>
        </p:nvSpPr>
        <p:spPr>
          <a:xfrm>
            <a:off x="782241" y="2726412"/>
            <a:ext cx="502801" cy="502801"/>
          </a:xfrm>
          <a:prstGeom prst="roundRect">
            <a:avLst>
              <a:gd name="adj" fmla="val 6668"/>
            </a:avLst>
          </a:prstGeom>
          <a:solidFill>
            <a:srgbClr val="3C3C3A"/>
          </a:solidFill>
          <a:ln/>
        </p:spPr>
        <p:txBody>
          <a:bodyPr/>
          <a:lstStyle/>
          <a:p>
            <a:endParaRPr lang="es-AR"/>
          </a:p>
        </p:txBody>
      </p:sp>
      <p:sp>
        <p:nvSpPr>
          <p:cNvPr id="5" name="Text 3"/>
          <p:cNvSpPr/>
          <p:nvPr/>
        </p:nvSpPr>
        <p:spPr>
          <a:xfrm>
            <a:off x="1508522" y="2803208"/>
            <a:ext cx="3370064" cy="349210"/>
          </a:xfrm>
          <a:prstGeom prst="rect">
            <a:avLst/>
          </a:prstGeom>
          <a:noFill/>
          <a:ln/>
        </p:spPr>
        <p:txBody>
          <a:bodyPr wrap="none" lIns="0" tIns="0" rIns="0" bIns="0" rtlCol="0" anchor="t"/>
          <a:lstStyle/>
          <a:p>
            <a:pPr marL="0" indent="0" algn="l">
              <a:lnSpc>
                <a:spcPts val="2700"/>
              </a:lnSpc>
              <a:buNone/>
            </a:pPr>
            <a:r>
              <a:rPr lang="en-US" sz="2150" dirty="0">
                <a:solidFill>
                  <a:srgbClr val="C9C9C0"/>
                </a:solidFill>
                <a:latin typeface="Tomorrow Semi Bold" pitchFamily="34" charset="0"/>
                <a:ea typeface="Tomorrow Semi Bold" pitchFamily="34" charset="-122"/>
                <a:cs typeface="Tomorrow Semi Bold" pitchFamily="34" charset="-120"/>
              </a:rPr>
              <a:t>The Militarization Mirror</a:t>
            </a:r>
            <a:endParaRPr lang="en-US" sz="2150" dirty="0"/>
          </a:p>
        </p:txBody>
      </p:sp>
      <p:sp>
        <p:nvSpPr>
          <p:cNvPr id="6" name="Text 4"/>
          <p:cNvSpPr/>
          <p:nvPr/>
        </p:nvSpPr>
        <p:spPr>
          <a:xfrm>
            <a:off x="1508522" y="3286482"/>
            <a:ext cx="3442811" cy="2145268"/>
          </a:xfrm>
          <a:prstGeom prst="rect">
            <a:avLst/>
          </a:prstGeom>
          <a:noFill/>
          <a:ln/>
        </p:spPr>
        <p:txBody>
          <a:bodyPr wrap="square" lIns="0" tIns="0" rIns="0" bIns="0" rtlCol="0" anchor="t"/>
          <a:lstStyle/>
          <a:p>
            <a:pPr marL="0" indent="0" algn="l">
              <a:lnSpc>
                <a:spcPts val="2800"/>
              </a:lnSpc>
              <a:buNone/>
            </a:pPr>
            <a:r>
              <a:rPr lang="en-US" sz="1750" dirty="0">
                <a:solidFill>
                  <a:srgbClr val="C9C9C0"/>
                </a:solidFill>
                <a:latin typeface="Tomorrow" pitchFamily="34" charset="0"/>
                <a:ea typeface="Tomorrow" pitchFamily="34" charset="-122"/>
                <a:cs typeface="Tomorrow" pitchFamily="34" charset="-120"/>
              </a:rPr>
              <a:t>AMLO's reliance on armed forces as the most effective institution mirrors cartel logic: substituting rule-based authority with personalized or militarized control.</a:t>
            </a:r>
            <a:endParaRPr lang="en-US" sz="1750" dirty="0"/>
          </a:p>
        </p:txBody>
      </p:sp>
      <p:sp>
        <p:nvSpPr>
          <p:cNvPr id="7" name="Shape 5"/>
          <p:cNvSpPr/>
          <p:nvPr/>
        </p:nvSpPr>
        <p:spPr>
          <a:xfrm>
            <a:off x="5230654" y="2726412"/>
            <a:ext cx="502801" cy="502801"/>
          </a:xfrm>
          <a:prstGeom prst="roundRect">
            <a:avLst>
              <a:gd name="adj" fmla="val 6668"/>
            </a:avLst>
          </a:prstGeom>
          <a:solidFill>
            <a:srgbClr val="3C3C3A"/>
          </a:solidFill>
          <a:ln/>
        </p:spPr>
        <p:txBody>
          <a:bodyPr/>
          <a:lstStyle/>
          <a:p>
            <a:endParaRPr lang="es-AR"/>
          </a:p>
        </p:txBody>
      </p:sp>
      <p:sp>
        <p:nvSpPr>
          <p:cNvPr id="8" name="Text 6"/>
          <p:cNvSpPr/>
          <p:nvPr/>
        </p:nvSpPr>
        <p:spPr>
          <a:xfrm>
            <a:off x="5956935" y="2803208"/>
            <a:ext cx="3442811" cy="698421"/>
          </a:xfrm>
          <a:prstGeom prst="rect">
            <a:avLst/>
          </a:prstGeom>
          <a:noFill/>
          <a:ln/>
        </p:spPr>
        <p:txBody>
          <a:bodyPr wrap="square" lIns="0" tIns="0" rIns="0" bIns="0" rtlCol="0" anchor="t"/>
          <a:lstStyle/>
          <a:p>
            <a:pPr marL="0" indent="0" algn="l">
              <a:lnSpc>
                <a:spcPts val="2700"/>
              </a:lnSpc>
              <a:buNone/>
            </a:pPr>
            <a:r>
              <a:rPr lang="en-US" sz="2150" dirty="0">
                <a:solidFill>
                  <a:srgbClr val="C9C9C0"/>
                </a:solidFill>
                <a:latin typeface="Tomorrow Semi Bold" pitchFamily="34" charset="0"/>
                <a:ea typeface="Tomorrow Semi Bold" pitchFamily="34" charset="-122"/>
                <a:cs typeface="Tomorrow Semi Bold" pitchFamily="34" charset="-120"/>
              </a:rPr>
              <a:t>Hybrid Conditions Persist</a:t>
            </a:r>
            <a:endParaRPr lang="en-US" sz="2150" dirty="0"/>
          </a:p>
        </p:txBody>
      </p:sp>
      <p:sp>
        <p:nvSpPr>
          <p:cNvPr id="9" name="Text 7"/>
          <p:cNvSpPr/>
          <p:nvPr/>
        </p:nvSpPr>
        <p:spPr>
          <a:xfrm>
            <a:off x="5956935" y="3635693"/>
            <a:ext cx="3442811" cy="2145268"/>
          </a:xfrm>
          <a:prstGeom prst="rect">
            <a:avLst/>
          </a:prstGeom>
          <a:noFill/>
          <a:ln/>
        </p:spPr>
        <p:txBody>
          <a:bodyPr wrap="square" lIns="0" tIns="0" rIns="0" bIns="0" rtlCol="0" anchor="t"/>
          <a:lstStyle/>
          <a:p>
            <a:pPr marL="0" indent="0" algn="l">
              <a:lnSpc>
                <a:spcPts val="2800"/>
              </a:lnSpc>
              <a:buNone/>
            </a:pPr>
            <a:r>
              <a:rPr lang="en-US" sz="1750" dirty="0">
                <a:solidFill>
                  <a:srgbClr val="C9C9C0"/>
                </a:solidFill>
                <a:latin typeface="Tomorrow" pitchFamily="34" charset="0"/>
                <a:ea typeface="Tomorrow" pitchFamily="34" charset="-122"/>
                <a:cs typeface="Tomorrow" pitchFamily="34" charset="-120"/>
              </a:rPr>
              <a:t>Neither democracy nor state has collapsed, but both operate under duality: elections coexist with militarized governance; formal legality coexists with informal criminal rule.</a:t>
            </a:r>
            <a:endParaRPr lang="en-US" sz="1750" dirty="0"/>
          </a:p>
        </p:txBody>
      </p:sp>
      <p:sp>
        <p:nvSpPr>
          <p:cNvPr id="10" name="Shape 8"/>
          <p:cNvSpPr/>
          <p:nvPr/>
        </p:nvSpPr>
        <p:spPr>
          <a:xfrm>
            <a:off x="9679067" y="2726412"/>
            <a:ext cx="502801" cy="502801"/>
          </a:xfrm>
          <a:prstGeom prst="roundRect">
            <a:avLst>
              <a:gd name="adj" fmla="val 6668"/>
            </a:avLst>
          </a:prstGeom>
          <a:solidFill>
            <a:srgbClr val="3C3C3A"/>
          </a:solidFill>
          <a:ln/>
        </p:spPr>
        <p:txBody>
          <a:bodyPr/>
          <a:lstStyle/>
          <a:p>
            <a:endParaRPr lang="es-AR"/>
          </a:p>
        </p:txBody>
      </p:sp>
      <p:sp>
        <p:nvSpPr>
          <p:cNvPr id="11" name="Text 9"/>
          <p:cNvSpPr/>
          <p:nvPr/>
        </p:nvSpPr>
        <p:spPr>
          <a:xfrm>
            <a:off x="10405348" y="2803208"/>
            <a:ext cx="2793921" cy="349210"/>
          </a:xfrm>
          <a:prstGeom prst="rect">
            <a:avLst/>
          </a:prstGeom>
          <a:noFill/>
          <a:ln/>
        </p:spPr>
        <p:txBody>
          <a:bodyPr wrap="none" lIns="0" tIns="0" rIns="0" bIns="0" rtlCol="0" anchor="t"/>
          <a:lstStyle/>
          <a:p>
            <a:pPr marL="0" indent="0" algn="l">
              <a:lnSpc>
                <a:spcPts val="2700"/>
              </a:lnSpc>
              <a:buNone/>
            </a:pPr>
            <a:r>
              <a:rPr lang="en-US" sz="2150" dirty="0">
                <a:solidFill>
                  <a:srgbClr val="C9C9C0"/>
                </a:solidFill>
                <a:latin typeface="Tomorrow Semi Bold" pitchFamily="34" charset="0"/>
                <a:ea typeface="Tomorrow Semi Bold" pitchFamily="34" charset="-122"/>
                <a:cs typeface="Tomorrow Semi Bold" pitchFamily="34" charset="-120"/>
              </a:rPr>
              <a:t>The Path Forward</a:t>
            </a:r>
            <a:endParaRPr lang="en-US" sz="2150" dirty="0"/>
          </a:p>
        </p:txBody>
      </p:sp>
      <p:sp>
        <p:nvSpPr>
          <p:cNvPr id="12" name="Text 10"/>
          <p:cNvSpPr/>
          <p:nvPr/>
        </p:nvSpPr>
        <p:spPr>
          <a:xfrm>
            <a:off x="10405348" y="3286482"/>
            <a:ext cx="3442811" cy="2860358"/>
          </a:xfrm>
          <a:prstGeom prst="rect">
            <a:avLst/>
          </a:prstGeom>
          <a:noFill/>
          <a:ln/>
        </p:spPr>
        <p:txBody>
          <a:bodyPr wrap="square" lIns="0" tIns="0" rIns="0" bIns="0" rtlCol="0" anchor="t"/>
          <a:lstStyle/>
          <a:p>
            <a:pPr marL="0" indent="0" algn="l">
              <a:lnSpc>
                <a:spcPts val="2800"/>
              </a:lnSpc>
              <a:buNone/>
            </a:pPr>
            <a:r>
              <a:rPr lang="en-US" sz="1750" dirty="0">
                <a:solidFill>
                  <a:srgbClr val="C9C9C0"/>
                </a:solidFill>
                <a:latin typeface="Tomorrow" pitchFamily="34" charset="0"/>
                <a:ea typeface="Tomorrow" pitchFamily="34" charset="-122"/>
                <a:cs typeface="Tomorrow" pitchFamily="34" charset="-120"/>
              </a:rPr>
              <a:t>Citizen dissatisfaction, weak institutions, and uneven legitimacy form the soil where both populism and criminal governance thrive. Rebuilding trust requires transparency, social inclusion, and local security.</a:t>
            </a:r>
            <a:endParaRPr lang="en-US" sz="1750" dirty="0"/>
          </a:p>
        </p:txBody>
      </p:sp>
      <p:sp>
        <p:nvSpPr>
          <p:cNvPr id="13" name="Text 11"/>
          <p:cNvSpPr/>
          <p:nvPr/>
        </p:nvSpPr>
        <p:spPr>
          <a:xfrm>
            <a:off x="1117402" y="6649522"/>
            <a:ext cx="12730758" cy="715089"/>
          </a:xfrm>
          <a:prstGeom prst="rect">
            <a:avLst/>
          </a:prstGeom>
          <a:noFill/>
          <a:ln/>
        </p:spPr>
        <p:txBody>
          <a:bodyPr wrap="square" lIns="0" tIns="0" rIns="0" bIns="0" rtlCol="0" anchor="t"/>
          <a:lstStyle/>
          <a:p>
            <a:pPr marL="0" indent="0" algn="l">
              <a:lnSpc>
                <a:spcPts val="2800"/>
              </a:lnSpc>
              <a:buNone/>
            </a:pPr>
            <a:r>
              <a:rPr lang="en-US" sz="1750" dirty="0">
                <a:solidFill>
                  <a:srgbClr val="C9C9C0"/>
                </a:solidFill>
                <a:latin typeface="Tomorrow" pitchFamily="34" charset="0"/>
                <a:ea typeface="Tomorrow" pitchFamily="34" charset="-122"/>
                <a:cs typeface="Tomorrow" pitchFamily="34" charset="-120"/>
              </a:rPr>
              <a:t>Reclaiming democratic institutions means addressing not only horizontal accountability but also the vertical legitimacy crisis that allows alternative forms of authority to flourish.</a:t>
            </a:r>
            <a:endParaRPr lang="en-US" sz="1750" dirty="0"/>
          </a:p>
        </p:txBody>
      </p:sp>
      <p:sp>
        <p:nvSpPr>
          <p:cNvPr id="14" name="Shape 12"/>
          <p:cNvSpPr/>
          <p:nvPr/>
        </p:nvSpPr>
        <p:spPr>
          <a:xfrm>
            <a:off x="782241" y="6398181"/>
            <a:ext cx="30480" cy="1217771"/>
          </a:xfrm>
          <a:prstGeom prst="rect">
            <a:avLst/>
          </a:prstGeom>
          <a:solidFill>
            <a:srgbClr val="E1E1DF"/>
          </a:solidFill>
          <a:ln/>
        </p:spPr>
        <p:txBody>
          <a:bodyPr/>
          <a:lstStyle/>
          <a:p>
            <a:endParaRPr lang="es-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108</TotalTime>
  <Words>788</Words>
  <Application>Microsoft Office PowerPoint</Application>
  <PresentationFormat>Personalizado</PresentationFormat>
  <Paragraphs>69</Paragraphs>
  <Slides>8</Slides>
  <Notes>8</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8</vt:i4>
      </vt:variant>
    </vt:vector>
  </HeadingPairs>
  <TitlesOfParts>
    <vt:vector size="13" baseType="lpstr">
      <vt:lpstr>Tomorrow Semi Bold</vt:lpstr>
      <vt:lpstr>Calibri</vt:lpstr>
      <vt:lpstr>Tomorrow</vt: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Claudio Alberto Robelo Guzman</cp:lastModifiedBy>
  <cp:revision>5</cp:revision>
  <dcterms:created xsi:type="dcterms:W3CDTF">2025-10-10T14:10:54Z</dcterms:created>
  <dcterms:modified xsi:type="dcterms:W3CDTF">2025-10-10T21:49:06Z</dcterms:modified>
</cp:coreProperties>
</file>