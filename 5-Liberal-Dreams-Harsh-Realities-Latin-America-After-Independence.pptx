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Tomorrow" panose="020B0604020202020204" charset="0"/>
      <p:regular r:id="rId13"/>
    </p:embeddedFont>
    <p:embeddedFont>
      <p:font typeface="Tomorrow Semi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5779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42763C81-EF59-FFFA-C82C-F019B23B0731}"/>
              </a:ext>
            </a:extLst>
          </p:cNvPr>
          <p:cNvSpPr/>
          <p:nvPr userDrawn="1"/>
        </p:nvSpPr>
        <p:spPr>
          <a:xfrm>
            <a:off x="0" y="0"/>
            <a:ext cx="14630400" cy="8229600"/>
          </a:xfrm>
          <a:prstGeom prst="rect">
            <a:avLst/>
          </a:prstGeom>
          <a:solidFill>
            <a:srgbClr val="1D1D1B"/>
          </a:solidFill>
          <a:ln/>
        </p:spPr>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0.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0314"/>
          </a:xfrm>
          <a:prstGeom prst="rect">
            <a:avLst/>
          </a:prstGeom>
        </p:spPr>
      </p:pic>
      <p:sp>
        <p:nvSpPr>
          <p:cNvPr id="3" name="Text 0"/>
          <p:cNvSpPr/>
          <p:nvPr/>
        </p:nvSpPr>
        <p:spPr>
          <a:xfrm>
            <a:off x="6194108" y="556022"/>
            <a:ext cx="7728585" cy="1895594"/>
          </a:xfrm>
          <a:prstGeom prst="rect">
            <a:avLst/>
          </a:prstGeom>
          <a:noFill/>
          <a:ln/>
        </p:spPr>
        <p:txBody>
          <a:bodyPr wrap="square" lIns="0" tIns="0" rIns="0" bIns="0" rtlCol="0" anchor="t"/>
          <a:lstStyle/>
          <a:p>
            <a:pPr marL="0" indent="0" algn="l">
              <a:lnSpc>
                <a:spcPts val="4950"/>
              </a:lnSpc>
              <a:buNone/>
            </a:pPr>
            <a:r>
              <a:rPr lang="en-US" sz="3950" dirty="0">
                <a:solidFill>
                  <a:srgbClr val="EDEDE8"/>
                </a:solidFill>
                <a:latin typeface="Tomorrow Semi Bold" pitchFamily="34" charset="0"/>
                <a:ea typeface="Tomorrow Semi Bold" pitchFamily="34" charset="-122"/>
                <a:cs typeface="Tomorrow Semi Bold" pitchFamily="34" charset="-120"/>
              </a:rPr>
              <a:t>Liberal Dreams, Harsh Realities: Latin America After Independence</a:t>
            </a:r>
            <a:endParaRPr lang="en-US" sz="3950" dirty="0"/>
          </a:p>
        </p:txBody>
      </p:sp>
      <p:sp>
        <p:nvSpPr>
          <p:cNvPr id="4" name="Text 1"/>
          <p:cNvSpPr/>
          <p:nvPr/>
        </p:nvSpPr>
        <p:spPr>
          <a:xfrm>
            <a:off x="6194108" y="2754868"/>
            <a:ext cx="7728585" cy="1294448"/>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After independence, Latin America embraced </a:t>
            </a:r>
            <a:r>
              <a:rPr lang="en-US" sz="1550" b="1" dirty="0">
                <a:solidFill>
                  <a:srgbClr val="C9C9C0"/>
                </a:solidFill>
                <a:latin typeface="Tomorrow" pitchFamily="34" charset="0"/>
                <a:ea typeface="Tomorrow" pitchFamily="34" charset="-122"/>
                <a:cs typeface="Tomorrow" pitchFamily="34" charset="-120"/>
              </a:rPr>
              <a:t>liberal ideals</a:t>
            </a:r>
            <a:r>
              <a:rPr lang="en-US" sz="1550" dirty="0">
                <a:solidFill>
                  <a:srgbClr val="C9C9C0"/>
                </a:solidFill>
                <a:latin typeface="Tomorrow" pitchFamily="34" charset="0"/>
                <a:ea typeface="Tomorrow" pitchFamily="34" charset="-122"/>
                <a:cs typeface="Tomorrow" pitchFamily="34" charset="-120"/>
              </a:rPr>
              <a:t>—liberty, equality, popular sovereignty. These became the rhetorical backbone of new constitutions. But the transition from colony to liberal republic was much rockier than anticipated.</a:t>
            </a:r>
            <a:endParaRPr lang="en-US" sz="1550" dirty="0"/>
          </a:p>
        </p:txBody>
      </p:sp>
      <p:sp>
        <p:nvSpPr>
          <p:cNvPr id="5" name="Text 2"/>
          <p:cNvSpPr/>
          <p:nvPr/>
        </p:nvSpPr>
        <p:spPr>
          <a:xfrm>
            <a:off x="6194108" y="4276725"/>
            <a:ext cx="7728585" cy="1294448"/>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The first generation of </a:t>
            </a:r>
            <a:r>
              <a:rPr lang="en-US" sz="1550" b="1" dirty="0">
                <a:solidFill>
                  <a:srgbClr val="C9C9C0"/>
                </a:solidFill>
                <a:latin typeface="Tomorrow" pitchFamily="34" charset="0"/>
                <a:ea typeface="Tomorrow" pitchFamily="34" charset="-122"/>
                <a:cs typeface="Tomorrow" pitchFamily="34" charset="-120"/>
              </a:rPr>
              <a:t>liberal leaders</a:t>
            </a:r>
            <a:r>
              <a:rPr lang="en-US" sz="1550" dirty="0">
                <a:solidFill>
                  <a:srgbClr val="C9C9C0"/>
                </a:solidFill>
                <a:latin typeface="Tomorrow" pitchFamily="34" charset="0"/>
                <a:ea typeface="Tomorrow" pitchFamily="34" charset="-122"/>
                <a:cs typeface="Tomorrow" pitchFamily="34" charset="-120"/>
              </a:rPr>
              <a:t>, mostly upper-class Creoles, lacked the institutional and economic foundations needed to implement liberalism. The result was instability, not transformation. </a:t>
            </a:r>
            <a:r>
              <a:rPr lang="en-US" sz="1550" b="1" dirty="0">
                <a:solidFill>
                  <a:srgbClr val="C9C9C0"/>
                </a:solidFill>
                <a:latin typeface="Tomorrow" pitchFamily="34" charset="0"/>
                <a:ea typeface="Tomorrow" pitchFamily="34" charset="-122"/>
                <a:cs typeface="Tomorrow" pitchFamily="34" charset="-120"/>
              </a:rPr>
              <a:t>Political violence, corruption, and disillusionment</a:t>
            </a:r>
            <a:r>
              <a:rPr lang="en-US" sz="1550" dirty="0">
                <a:solidFill>
                  <a:srgbClr val="C9C9C0"/>
                </a:solidFill>
                <a:latin typeface="Tomorrow" pitchFamily="34" charset="0"/>
                <a:ea typeface="Tomorrow" pitchFamily="34" charset="-122"/>
                <a:cs typeface="Tomorrow" pitchFamily="34" charset="-120"/>
              </a:rPr>
              <a:t> quickly set in.</a:t>
            </a:r>
            <a:endParaRPr lang="en-US" sz="1550" dirty="0"/>
          </a:p>
        </p:txBody>
      </p:sp>
      <p:sp>
        <p:nvSpPr>
          <p:cNvPr id="6" name="Text 3"/>
          <p:cNvSpPr/>
          <p:nvPr/>
        </p:nvSpPr>
        <p:spPr>
          <a:xfrm>
            <a:off x="6194108" y="5798582"/>
            <a:ext cx="7728585" cy="1294448"/>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Despite removing </a:t>
            </a:r>
            <a:r>
              <a:rPr lang="en-US" sz="1550" b="1" dirty="0">
                <a:solidFill>
                  <a:srgbClr val="C9C9C0"/>
                </a:solidFill>
                <a:latin typeface="Tomorrow" pitchFamily="34" charset="0"/>
                <a:ea typeface="Tomorrow" pitchFamily="34" charset="-122"/>
                <a:cs typeface="Tomorrow" pitchFamily="34" charset="-120"/>
              </a:rPr>
              <a:t>caste labels</a:t>
            </a:r>
            <a:r>
              <a:rPr lang="en-US" sz="1550" dirty="0">
                <a:solidFill>
                  <a:srgbClr val="C9C9C0"/>
                </a:solidFill>
                <a:latin typeface="Tomorrow" pitchFamily="34" charset="0"/>
                <a:ea typeface="Tomorrow" pitchFamily="34" charset="-122"/>
                <a:cs typeface="Tomorrow" pitchFamily="34" charset="-120"/>
              </a:rPr>
              <a:t> from censuses and parish records, social hierarchies remained deeply entrenched. Slavery continued in </a:t>
            </a:r>
            <a:r>
              <a:rPr lang="en-US" sz="1550" b="1" dirty="0">
                <a:solidFill>
                  <a:srgbClr val="C9C9C0"/>
                </a:solidFill>
                <a:latin typeface="Tomorrow" pitchFamily="34" charset="0"/>
                <a:ea typeface="Tomorrow" pitchFamily="34" charset="-122"/>
                <a:cs typeface="Tomorrow" pitchFamily="34" charset="-120"/>
              </a:rPr>
              <a:t>Brazil and Cuba</a:t>
            </a:r>
            <a:r>
              <a:rPr lang="en-US" sz="1550" dirty="0">
                <a:solidFill>
                  <a:srgbClr val="C9C9C0"/>
                </a:solidFill>
                <a:latin typeface="Tomorrow" pitchFamily="34" charset="0"/>
                <a:ea typeface="Tomorrow" pitchFamily="34" charset="-122"/>
                <a:cs typeface="Tomorrow" pitchFamily="34" charset="-120"/>
              </a:rPr>
              <a:t>, and Indigenous and mixed-race people were excluded from real citizenship and power.</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9615" y="877372"/>
            <a:ext cx="12791361" cy="651510"/>
          </a:xfrm>
          <a:prstGeom prst="rect">
            <a:avLst/>
          </a:prstGeom>
          <a:noFill/>
          <a:ln/>
        </p:spPr>
        <p:txBody>
          <a:bodyPr wrap="none" lIns="0" tIns="0" rIns="0" bIns="0" rtlCol="0" anchor="t"/>
          <a:lstStyle/>
          <a:p>
            <a:pPr marL="0" indent="0" algn="l">
              <a:lnSpc>
                <a:spcPts val="5100"/>
              </a:lnSpc>
              <a:buNone/>
            </a:pPr>
            <a:r>
              <a:rPr lang="en-US" sz="4100" dirty="0">
                <a:solidFill>
                  <a:srgbClr val="EDEDE8"/>
                </a:solidFill>
                <a:latin typeface="Tomorrow Semi Bold" pitchFamily="34" charset="0"/>
                <a:ea typeface="Tomorrow Semi Bold" pitchFamily="34" charset="-122"/>
                <a:cs typeface="Tomorrow Semi Bold" pitchFamily="34" charset="-120"/>
              </a:rPr>
              <a:t>Liberalism vs. Conservatism: Competing Visions</a:t>
            </a:r>
            <a:endParaRPr lang="en-US" sz="4100" dirty="0"/>
          </a:p>
        </p:txBody>
      </p:sp>
      <p:sp>
        <p:nvSpPr>
          <p:cNvPr id="3" name="Text 1"/>
          <p:cNvSpPr/>
          <p:nvPr/>
        </p:nvSpPr>
        <p:spPr>
          <a:xfrm>
            <a:off x="729615" y="1945838"/>
            <a:ext cx="13171170" cy="1000482"/>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The ideological clash between </a:t>
            </a:r>
            <a:r>
              <a:rPr lang="en-US" sz="1600" b="1" dirty="0">
                <a:solidFill>
                  <a:srgbClr val="C9C9C0"/>
                </a:solidFill>
                <a:latin typeface="Tomorrow" pitchFamily="34" charset="0"/>
                <a:ea typeface="Tomorrow" pitchFamily="34" charset="-122"/>
                <a:cs typeface="Tomorrow" pitchFamily="34" charset="-120"/>
              </a:rPr>
              <a:t>liberals and conservatives</a:t>
            </a:r>
            <a:r>
              <a:rPr lang="en-US" sz="1600" dirty="0">
                <a:solidFill>
                  <a:srgbClr val="C9C9C0"/>
                </a:solidFill>
                <a:latin typeface="Tomorrow" pitchFamily="34" charset="0"/>
                <a:ea typeface="Tomorrow" pitchFamily="34" charset="-122"/>
                <a:cs typeface="Tomorrow" pitchFamily="34" charset="-120"/>
              </a:rPr>
              <a:t> dominated the political landscape after independence. While liberals advocated for </a:t>
            </a:r>
            <a:r>
              <a:rPr lang="en-US" sz="1600" b="1" dirty="0">
                <a:solidFill>
                  <a:srgbClr val="C9C9C0"/>
                </a:solidFill>
                <a:latin typeface="Tomorrow" pitchFamily="34" charset="0"/>
                <a:ea typeface="Tomorrow" pitchFamily="34" charset="-122"/>
                <a:cs typeface="Tomorrow" pitchFamily="34" charset="-120"/>
              </a:rPr>
              <a:t>separation of church and state</a:t>
            </a:r>
            <a:r>
              <a:rPr lang="en-US" sz="1600" dirty="0">
                <a:solidFill>
                  <a:srgbClr val="C9C9C0"/>
                </a:solidFill>
                <a:latin typeface="Tomorrow" pitchFamily="34" charset="0"/>
                <a:ea typeface="Tomorrow" pitchFamily="34" charset="-122"/>
                <a:cs typeface="Tomorrow" pitchFamily="34" charset="-120"/>
              </a:rPr>
              <a:t>, public education, and civil liberties, conservatives defended </a:t>
            </a:r>
            <a:r>
              <a:rPr lang="en-US" sz="1600" b="1" dirty="0">
                <a:solidFill>
                  <a:srgbClr val="C9C9C0"/>
                </a:solidFill>
                <a:latin typeface="Tomorrow" pitchFamily="34" charset="0"/>
                <a:ea typeface="Tomorrow" pitchFamily="34" charset="-122"/>
                <a:cs typeface="Tomorrow" pitchFamily="34" charset="-120"/>
              </a:rPr>
              <a:t>Catholicism as the official religion</a:t>
            </a:r>
            <a:r>
              <a:rPr lang="en-US" sz="1600" dirty="0">
                <a:solidFill>
                  <a:srgbClr val="C9C9C0"/>
                </a:solidFill>
                <a:latin typeface="Tomorrow" pitchFamily="34" charset="0"/>
                <a:ea typeface="Tomorrow" pitchFamily="34" charset="-122"/>
                <a:cs typeface="Tomorrow" pitchFamily="34" charset="-120"/>
              </a:rPr>
              <a:t>, traditional hierarchies, and elite rule.</a:t>
            </a:r>
            <a:endParaRPr lang="en-US" sz="1600" dirty="0"/>
          </a:p>
        </p:txBody>
      </p:sp>
      <p:sp>
        <p:nvSpPr>
          <p:cNvPr id="4" name="Text 2"/>
          <p:cNvSpPr/>
          <p:nvPr/>
        </p:nvSpPr>
        <p:spPr>
          <a:xfrm>
            <a:off x="729615" y="3180874"/>
            <a:ext cx="13171170" cy="666988"/>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Though liberalism was officially dominant in many new republics, </a:t>
            </a:r>
            <a:r>
              <a:rPr lang="en-US" sz="1600" b="1" dirty="0">
                <a:solidFill>
                  <a:srgbClr val="C9C9C0"/>
                </a:solidFill>
                <a:latin typeface="Tomorrow" pitchFamily="34" charset="0"/>
                <a:ea typeface="Tomorrow" pitchFamily="34" charset="-122"/>
                <a:cs typeface="Tomorrow" pitchFamily="34" charset="-120"/>
              </a:rPr>
              <a:t>conservatives often resonated more with the rural masses</a:t>
            </a:r>
            <a:r>
              <a:rPr lang="en-US" sz="1600" dirty="0">
                <a:solidFill>
                  <a:srgbClr val="C9C9C0"/>
                </a:solidFill>
                <a:latin typeface="Tomorrow" pitchFamily="34" charset="0"/>
                <a:ea typeface="Tomorrow" pitchFamily="34" charset="-122"/>
                <a:cs typeface="Tomorrow" pitchFamily="34" charset="-120"/>
              </a:rPr>
              <a:t>, who remained deeply attached to traditional religious and social structures. This created a fundamental tension in governance.</a:t>
            </a:r>
            <a:endParaRPr lang="en-US" sz="1600" dirty="0"/>
          </a:p>
        </p:txBody>
      </p:sp>
      <p:sp>
        <p:nvSpPr>
          <p:cNvPr id="5" name="Text 3"/>
          <p:cNvSpPr/>
          <p:nvPr/>
        </p:nvSpPr>
        <p:spPr>
          <a:xfrm>
            <a:off x="729615" y="4082415"/>
            <a:ext cx="13171170" cy="666988"/>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A major issue was that </a:t>
            </a:r>
            <a:r>
              <a:rPr lang="en-US" sz="1600" b="1" dirty="0">
                <a:solidFill>
                  <a:srgbClr val="C9C9C0"/>
                </a:solidFill>
                <a:latin typeface="Tomorrow" pitchFamily="34" charset="0"/>
                <a:ea typeface="Tomorrow" pitchFamily="34" charset="-122"/>
                <a:cs typeface="Tomorrow" pitchFamily="34" charset="-120"/>
              </a:rPr>
              <a:t>liberal ideals were imported from Europe</a:t>
            </a:r>
            <a:r>
              <a:rPr lang="en-US" sz="1600" dirty="0">
                <a:solidFill>
                  <a:srgbClr val="C9C9C0"/>
                </a:solidFill>
                <a:latin typeface="Tomorrow" pitchFamily="34" charset="0"/>
                <a:ea typeface="Tomorrow" pitchFamily="34" charset="-122"/>
                <a:cs typeface="Tomorrow" pitchFamily="34" charset="-120"/>
              </a:rPr>
              <a:t> and didn't fit easily into the hierarchical, land-based societies of Latin America, creating a disconnect between constitutional ideals and social realities.</a:t>
            </a:r>
            <a:endParaRPr lang="en-US" sz="1600" dirty="0"/>
          </a:p>
        </p:txBody>
      </p:sp>
      <p:sp>
        <p:nvSpPr>
          <p:cNvPr id="6" name="Text 4"/>
          <p:cNvSpPr/>
          <p:nvPr/>
        </p:nvSpPr>
        <p:spPr>
          <a:xfrm>
            <a:off x="729615" y="5192435"/>
            <a:ext cx="2606159" cy="325755"/>
          </a:xfrm>
          <a:prstGeom prst="rect">
            <a:avLst/>
          </a:prstGeom>
          <a:noFill/>
          <a:ln/>
        </p:spPr>
        <p:txBody>
          <a:bodyPr wrap="none" lIns="0" tIns="0" rIns="0" bIns="0" rtlCol="0" anchor="t"/>
          <a:lstStyle/>
          <a:p>
            <a:pPr marL="0" indent="0" algn="l">
              <a:lnSpc>
                <a:spcPts val="2550"/>
              </a:lnSpc>
              <a:buNone/>
            </a:pPr>
            <a:r>
              <a:rPr lang="en-US" sz="2050" dirty="0">
                <a:solidFill>
                  <a:srgbClr val="EDEDE8"/>
                </a:solidFill>
                <a:latin typeface="Tomorrow Semi Bold" pitchFamily="34" charset="0"/>
                <a:ea typeface="Tomorrow Semi Bold" pitchFamily="34" charset="-122"/>
                <a:cs typeface="Tomorrow Semi Bold" pitchFamily="34" charset="-120"/>
              </a:rPr>
              <a:t>Liberal Vision</a:t>
            </a:r>
            <a:endParaRPr lang="en-US" sz="2050" dirty="0"/>
          </a:p>
        </p:txBody>
      </p:sp>
      <p:sp>
        <p:nvSpPr>
          <p:cNvPr id="7" name="Text 5"/>
          <p:cNvSpPr/>
          <p:nvPr/>
        </p:nvSpPr>
        <p:spPr>
          <a:xfrm>
            <a:off x="729615" y="5726668"/>
            <a:ext cx="6331268" cy="3334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C9C9C0"/>
                </a:solidFill>
                <a:latin typeface="Tomorrow" pitchFamily="34" charset="0"/>
                <a:ea typeface="Tomorrow" pitchFamily="34" charset="-122"/>
                <a:cs typeface="Tomorrow" pitchFamily="34" charset="-120"/>
              </a:rPr>
              <a:t>Separation of church and state</a:t>
            </a:r>
            <a:endParaRPr lang="en-US" sz="1600" dirty="0"/>
          </a:p>
        </p:txBody>
      </p:sp>
      <p:sp>
        <p:nvSpPr>
          <p:cNvPr id="8" name="Text 6"/>
          <p:cNvSpPr/>
          <p:nvPr/>
        </p:nvSpPr>
        <p:spPr>
          <a:xfrm>
            <a:off x="729615" y="6133028"/>
            <a:ext cx="6331268" cy="3334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C9C9C0"/>
                </a:solidFill>
                <a:latin typeface="Tomorrow" pitchFamily="34" charset="0"/>
                <a:ea typeface="Tomorrow" pitchFamily="34" charset="-122"/>
                <a:cs typeface="Tomorrow" pitchFamily="34" charset="-120"/>
              </a:rPr>
              <a:t>Public education systems</a:t>
            </a:r>
            <a:endParaRPr lang="en-US" sz="1600" dirty="0"/>
          </a:p>
        </p:txBody>
      </p:sp>
      <p:sp>
        <p:nvSpPr>
          <p:cNvPr id="9" name="Text 7"/>
          <p:cNvSpPr/>
          <p:nvPr/>
        </p:nvSpPr>
        <p:spPr>
          <a:xfrm>
            <a:off x="729615" y="6539389"/>
            <a:ext cx="6331268" cy="3334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C9C9C0"/>
                </a:solidFill>
                <a:latin typeface="Tomorrow" pitchFamily="34" charset="0"/>
                <a:ea typeface="Tomorrow" pitchFamily="34" charset="-122"/>
                <a:cs typeface="Tomorrow" pitchFamily="34" charset="-120"/>
              </a:rPr>
              <a:t>Civil liberties and equality</a:t>
            </a:r>
            <a:endParaRPr lang="en-US" sz="1600" dirty="0"/>
          </a:p>
        </p:txBody>
      </p:sp>
      <p:sp>
        <p:nvSpPr>
          <p:cNvPr id="10" name="Text 8"/>
          <p:cNvSpPr/>
          <p:nvPr/>
        </p:nvSpPr>
        <p:spPr>
          <a:xfrm>
            <a:off x="729615" y="6945749"/>
            <a:ext cx="6331268" cy="3334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C9C9C0"/>
                </a:solidFill>
                <a:latin typeface="Tomorrow" pitchFamily="34" charset="0"/>
                <a:ea typeface="Tomorrow" pitchFamily="34" charset="-122"/>
                <a:cs typeface="Tomorrow" pitchFamily="34" charset="-120"/>
              </a:rPr>
              <a:t>Free trade and markets</a:t>
            </a:r>
            <a:endParaRPr lang="en-US" sz="1600" dirty="0"/>
          </a:p>
        </p:txBody>
      </p:sp>
      <p:sp>
        <p:nvSpPr>
          <p:cNvPr id="11" name="Text 9"/>
          <p:cNvSpPr/>
          <p:nvPr/>
        </p:nvSpPr>
        <p:spPr>
          <a:xfrm>
            <a:off x="7577138" y="5192435"/>
            <a:ext cx="2639020" cy="325755"/>
          </a:xfrm>
          <a:prstGeom prst="rect">
            <a:avLst/>
          </a:prstGeom>
          <a:noFill/>
          <a:ln/>
        </p:spPr>
        <p:txBody>
          <a:bodyPr wrap="none" lIns="0" tIns="0" rIns="0" bIns="0" rtlCol="0" anchor="t"/>
          <a:lstStyle/>
          <a:p>
            <a:pPr marL="0" indent="0" algn="l">
              <a:lnSpc>
                <a:spcPts val="2550"/>
              </a:lnSpc>
              <a:buNone/>
            </a:pPr>
            <a:r>
              <a:rPr lang="en-US" sz="2050" dirty="0">
                <a:solidFill>
                  <a:srgbClr val="EDEDE8"/>
                </a:solidFill>
                <a:latin typeface="Tomorrow Semi Bold" pitchFamily="34" charset="0"/>
                <a:ea typeface="Tomorrow Semi Bold" pitchFamily="34" charset="-122"/>
                <a:cs typeface="Tomorrow Semi Bold" pitchFamily="34" charset="-120"/>
              </a:rPr>
              <a:t>Conservative Vision</a:t>
            </a:r>
            <a:endParaRPr lang="en-US" sz="2050" dirty="0"/>
          </a:p>
        </p:txBody>
      </p:sp>
      <p:sp>
        <p:nvSpPr>
          <p:cNvPr id="12" name="Text 10"/>
          <p:cNvSpPr/>
          <p:nvPr/>
        </p:nvSpPr>
        <p:spPr>
          <a:xfrm>
            <a:off x="7577138" y="5726668"/>
            <a:ext cx="6331268" cy="3334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C9C9C0"/>
                </a:solidFill>
                <a:latin typeface="Tomorrow" pitchFamily="34" charset="0"/>
                <a:ea typeface="Tomorrow" pitchFamily="34" charset="-122"/>
                <a:cs typeface="Tomorrow" pitchFamily="34" charset="-120"/>
              </a:rPr>
              <a:t>Catholicism as official religion</a:t>
            </a:r>
            <a:endParaRPr lang="en-US" sz="1600" dirty="0"/>
          </a:p>
        </p:txBody>
      </p:sp>
      <p:sp>
        <p:nvSpPr>
          <p:cNvPr id="13" name="Text 11"/>
          <p:cNvSpPr/>
          <p:nvPr/>
        </p:nvSpPr>
        <p:spPr>
          <a:xfrm>
            <a:off x="7577138" y="6133028"/>
            <a:ext cx="6331268" cy="3334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C9C9C0"/>
                </a:solidFill>
                <a:latin typeface="Tomorrow" pitchFamily="34" charset="0"/>
                <a:ea typeface="Tomorrow" pitchFamily="34" charset="-122"/>
                <a:cs typeface="Tomorrow" pitchFamily="34" charset="-120"/>
              </a:rPr>
              <a:t>Traditional social hierarchies</a:t>
            </a:r>
            <a:endParaRPr lang="en-US" sz="1600" dirty="0"/>
          </a:p>
        </p:txBody>
      </p:sp>
      <p:sp>
        <p:nvSpPr>
          <p:cNvPr id="14" name="Text 12"/>
          <p:cNvSpPr/>
          <p:nvPr/>
        </p:nvSpPr>
        <p:spPr>
          <a:xfrm>
            <a:off x="7577138" y="6539389"/>
            <a:ext cx="6331268" cy="3334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C9C9C0"/>
                </a:solidFill>
                <a:latin typeface="Tomorrow" pitchFamily="34" charset="0"/>
                <a:ea typeface="Tomorrow" pitchFamily="34" charset="-122"/>
                <a:cs typeface="Tomorrow" pitchFamily="34" charset="-120"/>
              </a:rPr>
              <a:t>Elite political control</a:t>
            </a:r>
            <a:endParaRPr lang="en-US" sz="1600" dirty="0"/>
          </a:p>
        </p:txBody>
      </p:sp>
      <p:sp>
        <p:nvSpPr>
          <p:cNvPr id="15" name="Text 13"/>
          <p:cNvSpPr/>
          <p:nvPr/>
        </p:nvSpPr>
        <p:spPr>
          <a:xfrm>
            <a:off x="7577138" y="6945749"/>
            <a:ext cx="6331268" cy="3334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C9C9C0"/>
                </a:solidFill>
                <a:latin typeface="Tomorrow" pitchFamily="34" charset="0"/>
                <a:ea typeface="Tomorrow" pitchFamily="34" charset="-122"/>
                <a:cs typeface="Tomorrow" pitchFamily="34" charset="-120"/>
              </a:rPr>
              <a:t>Protection of established interests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8426" y="580192"/>
            <a:ext cx="13153549" cy="1318736"/>
          </a:xfrm>
          <a:prstGeom prst="rect">
            <a:avLst/>
          </a:prstGeom>
          <a:noFill/>
          <a:ln/>
        </p:spPr>
        <p:txBody>
          <a:bodyPr wrap="square" lIns="0" tIns="0" rIns="0" bIns="0" rtlCol="0" anchor="t"/>
          <a:lstStyle/>
          <a:p>
            <a:pPr marL="0" indent="0" algn="l">
              <a:lnSpc>
                <a:spcPts val="5150"/>
              </a:lnSpc>
              <a:buNone/>
            </a:pPr>
            <a:r>
              <a:rPr lang="en-US" sz="4150" dirty="0">
                <a:solidFill>
                  <a:srgbClr val="EDEDE8"/>
                </a:solidFill>
                <a:latin typeface="Tomorrow Semi Bold" pitchFamily="34" charset="0"/>
                <a:ea typeface="Tomorrow Semi Bold" pitchFamily="34" charset="-122"/>
                <a:cs typeface="Tomorrow Semi Bold" pitchFamily="34" charset="-120"/>
              </a:rPr>
              <a:t>The Rise of Caudillos: Personalism Over Institutions</a:t>
            </a:r>
            <a:endParaRPr lang="en-US" sz="4150" dirty="0"/>
          </a:p>
        </p:txBody>
      </p:sp>
      <p:sp>
        <p:nvSpPr>
          <p:cNvPr id="3" name="Text 1"/>
          <p:cNvSpPr/>
          <p:nvPr/>
        </p:nvSpPr>
        <p:spPr>
          <a:xfrm>
            <a:off x="738426" y="1663655"/>
            <a:ext cx="13153549" cy="1012627"/>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In the absence of strong institutions, </a:t>
            </a:r>
            <a:r>
              <a:rPr lang="en-US" sz="1650" b="1" dirty="0">
                <a:solidFill>
                  <a:srgbClr val="C9C9C0"/>
                </a:solidFill>
                <a:latin typeface="Tomorrow" pitchFamily="34" charset="0"/>
                <a:ea typeface="Tomorrow" pitchFamily="34" charset="-122"/>
                <a:cs typeface="Tomorrow" pitchFamily="34" charset="-120"/>
              </a:rPr>
              <a:t>personalism and patronage</a:t>
            </a:r>
            <a:r>
              <a:rPr lang="en-US" sz="1650" dirty="0">
                <a:solidFill>
                  <a:srgbClr val="C9C9C0"/>
                </a:solidFill>
                <a:latin typeface="Tomorrow" pitchFamily="34" charset="0"/>
                <a:ea typeface="Tomorrow" pitchFamily="34" charset="-122"/>
                <a:cs typeface="Tomorrow" pitchFamily="34" charset="-120"/>
              </a:rPr>
              <a:t> filled the vacuum. Political leaders operated through </a:t>
            </a:r>
            <a:r>
              <a:rPr lang="en-US" sz="1650" b="1" dirty="0">
                <a:solidFill>
                  <a:srgbClr val="C9C9C0"/>
                </a:solidFill>
                <a:latin typeface="Tomorrow" pitchFamily="34" charset="0"/>
                <a:ea typeface="Tomorrow" pitchFamily="34" charset="-122"/>
                <a:cs typeface="Tomorrow" pitchFamily="34" charset="-120"/>
              </a:rPr>
              <a:t>networks of loyalty</a:t>
            </a:r>
            <a:r>
              <a:rPr lang="en-US" sz="1650" dirty="0">
                <a:solidFill>
                  <a:srgbClr val="C9C9C0"/>
                </a:solidFill>
                <a:latin typeface="Tomorrow" pitchFamily="34" charset="0"/>
                <a:ea typeface="Tomorrow" pitchFamily="34" charset="-122"/>
                <a:cs typeface="Tomorrow" pitchFamily="34" charset="-120"/>
              </a:rPr>
              <a:t> rather than ideology, giving rise to the </a:t>
            </a:r>
            <a:r>
              <a:rPr lang="en-US" sz="1650" b="1" dirty="0">
                <a:solidFill>
                  <a:srgbClr val="C9C9C0"/>
                </a:solidFill>
                <a:latin typeface="Tomorrow" pitchFamily="34" charset="0"/>
                <a:ea typeface="Tomorrow" pitchFamily="34" charset="-122"/>
                <a:cs typeface="Tomorrow" pitchFamily="34" charset="-120"/>
              </a:rPr>
              <a:t>caudillo</a:t>
            </a:r>
            <a:r>
              <a:rPr lang="en-US" sz="1650" dirty="0">
                <a:solidFill>
                  <a:srgbClr val="C9C9C0"/>
                </a:solidFill>
                <a:latin typeface="Tomorrow" pitchFamily="34" charset="0"/>
                <a:ea typeface="Tomorrow" pitchFamily="34" charset="-122"/>
                <a:cs typeface="Tomorrow" pitchFamily="34" charset="-120"/>
              </a:rPr>
              <a:t>—a charismatic strongman who ruled through a combination of personal charisma, landownership, military power, and patron-client relationships.</a:t>
            </a:r>
            <a:endParaRPr lang="en-US" sz="1650" dirty="0"/>
          </a:p>
        </p:txBody>
      </p:sp>
      <p:sp>
        <p:nvSpPr>
          <p:cNvPr id="4" name="Text 2"/>
          <p:cNvSpPr/>
          <p:nvPr/>
        </p:nvSpPr>
        <p:spPr>
          <a:xfrm>
            <a:off x="738426" y="3127887"/>
            <a:ext cx="13153549" cy="1012627"/>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These leaders weren't merely warlords—they embodied the crisis of post-independence governance where constitutions were weak and military charisma ruled. Their power demonstrated how liberal institutions failed to take root in societies still structured around personal relationships.</a:t>
            </a:r>
            <a:endParaRPr lang="en-US" sz="1650" dirty="0"/>
          </a:p>
        </p:txBody>
      </p:sp>
      <p:sp>
        <p:nvSpPr>
          <p:cNvPr id="5" name="Shape 3"/>
          <p:cNvSpPr/>
          <p:nvPr/>
        </p:nvSpPr>
        <p:spPr>
          <a:xfrm>
            <a:off x="738426" y="4820722"/>
            <a:ext cx="474702" cy="474702"/>
          </a:xfrm>
          <a:prstGeom prst="roundRect">
            <a:avLst>
              <a:gd name="adj" fmla="val 6667"/>
            </a:avLst>
          </a:prstGeom>
          <a:solidFill>
            <a:srgbClr val="3C3C3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17483" y="4860250"/>
            <a:ext cx="316468" cy="395526"/>
          </a:xfrm>
          <a:prstGeom prst="rect">
            <a:avLst/>
          </a:prstGeom>
        </p:spPr>
      </p:pic>
      <p:sp>
        <p:nvSpPr>
          <p:cNvPr id="7" name="Text 4"/>
          <p:cNvSpPr/>
          <p:nvPr/>
        </p:nvSpPr>
        <p:spPr>
          <a:xfrm>
            <a:off x="1424107" y="4893231"/>
            <a:ext cx="4597598" cy="329565"/>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Juan Manuel de Rosas (Argentina)</a:t>
            </a:r>
            <a:endParaRPr lang="en-US" sz="2050" dirty="0"/>
          </a:p>
        </p:txBody>
      </p:sp>
      <p:sp>
        <p:nvSpPr>
          <p:cNvPr id="8" name="Text 5"/>
          <p:cNvSpPr/>
          <p:nvPr/>
        </p:nvSpPr>
        <p:spPr>
          <a:xfrm>
            <a:off x="1424107" y="5349359"/>
            <a:ext cx="5759291" cy="675084"/>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Used violence, mass propaganda, and symbolism (mandatory red ribbons) to maintain control</a:t>
            </a:r>
            <a:endParaRPr lang="en-US" sz="1650" dirty="0"/>
          </a:p>
        </p:txBody>
      </p:sp>
      <p:sp>
        <p:nvSpPr>
          <p:cNvPr id="9" name="Shape 6"/>
          <p:cNvSpPr/>
          <p:nvPr/>
        </p:nvSpPr>
        <p:spPr>
          <a:xfrm>
            <a:off x="7447121" y="4820722"/>
            <a:ext cx="474702" cy="474702"/>
          </a:xfrm>
          <a:prstGeom prst="roundRect">
            <a:avLst>
              <a:gd name="adj" fmla="val 6667"/>
            </a:avLst>
          </a:prstGeom>
          <a:solidFill>
            <a:srgbClr val="3C3C3A"/>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526179" y="4860250"/>
            <a:ext cx="316468" cy="395526"/>
          </a:xfrm>
          <a:prstGeom prst="rect">
            <a:avLst/>
          </a:prstGeom>
        </p:spPr>
      </p:pic>
      <p:sp>
        <p:nvSpPr>
          <p:cNvPr id="11" name="Text 7"/>
          <p:cNvSpPr/>
          <p:nvPr/>
        </p:nvSpPr>
        <p:spPr>
          <a:xfrm>
            <a:off x="8132802" y="4893231"/>
            <a:ext cx="5146834" cy="329565"/>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Antonio López de Santa Anna (Mexico)</a:t>
            </a:r>
            <a:endParaRPr lang="en-US" sz="2050" dirty="0"/>
          </a:p>
        </p:txBody>
      </p:sp>
      <p:sp>
        <p:nvSpPr>
          <p:cNvPr id="12" name="Text 8"/>
          <p:cNvSpPr/>
          <p:nvPr/>
        </p:nvSpPr>
        <p:spPr>
          <a:xfrm>
            <a:off x="8132802" y="5349359"/>
            <a:ext cx="5759291" cy="675084"/>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Switched sides often, ruled repeatedly, and cultivated patriotic mythologies</a:t>
            </a:r>
            <a:endParaRPr lang="en-US" sz="1650" dirty="0"/>
          </a:p>
        </p:txBody>
      </p:sp>
      <p:sp>
        <p:nvSpPr>
          <p:cNvPr id="13" name="Shape 9"/>
          <p:cNvSpPr/>
          <p:nvPr/>
        </p:nvSpPr>
        <p:spPr>
          <a:xfrm>
            <a:off x="738426" y="6446401"/>
            <a:ext cx="474702" cy="474702"/>
          </a:xfrm>
          <a:prstGeom prst="roundRect">
            <a:avLst>
              <a:gd name="adj" fmla="val 6667"/>
            </a:avLst>
          </a:prstGeom>
          <a:solidFill>
            <a:srgbClr val="3C3C3A"/>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817483" y="6485930"/>
            <a:ext cx="316468" cy="395526"/>
          </a:xfrm>
          <a:prstGeom prst="rect">
            <a:avLst/>
          </a:prstGeom>
        </p:spPr>
      </p:pic>
      <p:sp>
        <p:nvSpPr>
          <p:cNvPr id="15" name="Text 10"/>
          <p:cNvSpPr/>
          <p:nvPr/>
        </p:nvSpPr>
        <p:spPr>
          <a:xfrm>
            <a:off x="1424107" y="6518910"/>
            <a:ext cx="4120515" cy="329565"/>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José Antonio Páez (Venezuela)</a:t>
            </a:r>
            <a:endParaRPr lang="en-US" sz="2050" dirty="0"/>
          </a:p>
        </p:txBody>
      </p:sp>
      <p:sp>
        <p:nvSpPr>
          <p:cNvPr id="16" name="Text 11"/>
          <p:cNvSpPr/>
          <p:nvPr/>
        </p:nvSpPr>
        <p:spPr>
          <a:xfrm>
            <a:off x="1424107" y="6975038"/>
            <a:ext cx="5759291" cy="337542"/>
          </a:xfrm>
          <a:prstGeom prst="rect">
            <a:avLst/>
          </a:prstGeom>
          <a:noFill/>
          <a:ln/>
        </p:spPr>
        <p:txBody>
          <a:bodyPr wrap="non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A llanero war hero turned conservative national figure</a:t>
            </a:r>
            <a:endParaRPr lang="en-US" sz="1650" dirty="0"/>
          </a:p>
        </p:txBody>
      </p:sp>
      <p:sp>
        <p:nvSpPr>
          <p:cNvPr id="17" name="Shape 12"/>
          <p:cNvSpPr/>
          <p:nvPr/>
        </p:nvSpPr>
        <p:spPr>
          <a:xfrm>
            <a:off x="7447121" y="6446401"/>
            <a:ext cx="474702" cy="474702"/>
          </a:xfrm>
          <a:prstGeom prst="roundRect">
            <a:avLst>
              <a:gd name="adj" fmla="val 6667"/>
            </a:avLst>
          </a:prstGeom>
          <a:solidFill>
            <a:srgbClr val="3C3C3A"/>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7526179" y="6485930"/>
            <a:ext cx="316468" cy="395526"/>
          </a:xfrm>
          <a:prstGeom prst="rect">
            <a:avLst/>
          </a:prstGeom>
        </p:spPr>
      </p:pic>
      <p:sp>
        <p:nvSpPr>
          <p:cNvPr id="19" name="Text 13"/>
          <p:cNvSpPr/>
          <p:nvPr/>
        </p:nvSpPr>
        <p:spPr>
          <a:xfrm>
            <a:off x="8132802" y="6518910"/>
            <a:ext cx="3616523" cy="329565"/>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Rafael Carrera (Guatemala)</a:t>
            </a:r>
            <a:endParaRPr lang="en-US" sz="2050" dirty="0"/>
          </a:p>
        </p:txBody>
      </p:sp>
      <p:sp>
        <p:nvSpPr>
          <p:cNvPr id="20" name="Text 14"/>
          <p:cNvSpPr/>
          <p:nvPr/>
        </p:nvSpPr>
        <p:spPr>
          <a:xfrm>
            <a:off x="8132802" y="6975038"/>
            <a:ext cx="5759291" cy="675084"/>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Protected Indigenous land and the Catholic Church; crushed liberal efforts</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8902" y="591026"/>
            <a:ext cx="8210550" cy="659725"/>
          </a:xfrm>
          <a:prstGeom prst="rect">
            <a:avLst/>
          </a:prstGeom>
          <a:noFill/>
          <a:ln/>
        </p:spPr>
        <p:txBody>
          <a:bodyPr wrap="none" lIns="0" tIns="0" rIns="0" bIns="0" rtlCol="0" anchor="t"/>
          <a:lstStyle/>
          <a:p>
            <a:pPr marL="0" indent="0" algn="l">
              <a:lnSpc>
                <a:spcPts val="5150"/>
              </a:lnSpc>
              <a:buNone/>
            </a:pPr>
            <a:r>
              <a:rPr lang="en-US" sz="4150" dirty="0">
                <a:solidFill>
                  <a:srgbClr val="EDEDE8"/>
                </a:solidFill>
                <a:latin typeface="Tomorrow Semi Bold" pitchFamily="34" charset="0"/>
                <a:ea typeface="Tomorrow Semi Bold" pitchFamily="34" charset="-122"/>
                <a:cs typeface="Tomorrow Semi Bold" pitchFamily="34" charset="-120"/>
              </a:rPr>
              <a:t>Brazil's Monarchical Exception</a:t>
            </a:r>
            <a:endParaRPr lang="en-US" sz="4150" dirty="0"/>
          </a:p>
        </p:txBody>
      </p:sp>
      <p:sp>
        <p:nvSpPr>
          <p:cNvPr id="3" name="Text 1"/>
          <p:cNvSpPr/>
          <p:nvPr/>
        </p:nvSpPr>
        <p:spPr>
          <a:xfrm>
            <a:off x="738902" y="1672947"/>
            <a:ext cx="13152596" cy="675323"/>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Unlike Spanish America, </a:t>
            </a:r>
            <a:r>
              <a:rPr lang="en-US" sz="1650" b="1" dirty="0">
                <a:solidFill>
                  <a:srgbClr val="C9C9C0"/>
                </a:solidFill>
                <a:latin typeface="Tomorrow" pitchFamily="34" charset="0"/>
                <a:ea typeface="Tomorrow" pitchFamily="34" charset="-122"/>
                <a:cs typeface="Tomorrow" pitchFamily="34" charset="-120"/>
              </a:rPr>
              <a:t>Brazil retained its monarchy</a:t>
            </a:r>
            <a:r>
              <a:rPr lang="en-US" sz="1650" dirty="0">
                <a:solidFill>
                  <a:srgbClr val="C9C9C0"/>
                </a:solidFill>
                <a:latin typeface="Tomorrow" pitchFamily="34" charset="0"/>
                <a:ea typeface="Tomorrow" pitchFamily="34" charset="-122"/>
                <a:cs typeface="Tomorrow" pitchFamily="34" charset="-120"/>
              </a:rPr>
              <a:t> under Pedro I and later Pedro II. Though Pedro I claimed to be a liberal, he was authoritarian in practice, creating tension between constitutional promises and imperial reality.</a:t>
            </a:r>
            <a:endParaRPr lang="en-US" sz="1650" dirty="0"/>
          </a:p>
        </p:txBody>
      </p:sp>
      <p:sp>
        <p:nvSpPr>
          <p:cNvPr id="4" name="Text 2"/>
          <p:cNvSpPr/>
          <p:nvPr/>
        </p:nvSpPr>
        <p:spPr>
          <a:xfrm>
            <a:off x="738902" y="2585799"/>
            <a:ext cx="13152596" cy="675323"/>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During the </a:t>
            </a:r>
            <a:r>
              <a:rPr lang="en-US" sz="1650" b="1" dirty="0">
                <a:solidFill>
                  <a:srgbClr val="C9C9C0"/>
                </a:solidFill>
                <a:latin typeface="Tomorrow" pitchFamily="34" charset="0"/>
                <a:ea typeface="Tomorrow" pitchFamily="34" charset="-122"/>
                <a:cs typeface="Tomorrow" pitchFamily="34" charset="-120"/>
              </a:rPr>
              <a:t>regency period</a:t>
            </a:r>
            <a:r>
              <a:rPr lang="en-US" sz="1650" dirty="0">
                <a:solidFill>
                  <a:srgbClr val="C9C9C0"/>
                </a:solidFill>
                <a:latin typeface="Tomorrow" pitchFamily="34" charset="0"/>
                <a:ea typeface="Tomorrow" pitchFamily="34" charset="-122"/>
                <a:cs typeface="Tomorrow" pitchFamily="34" charset="-120"/>
              </a:rPr>
              <a:t> (1831–40), Brazil experienced significant unrest as liberals briefly took power but soon lost control. This led to Pedro II's early enthronement and a return to conservative stability that would last for decades.</a:t>
            </a:r>
            <a:endParaRPr lang="en-US" sz="1650" dirty="0"/>
          </a:p>
        </p:txBody>
      </p:sp>
      <p:sp>
        <p:nvSpPr>
          <p:cNvPr id="5" name="Text 3"/>
          <p:cNvSpPr/>
          <p:nvPr/>
        </p:nvSpPr>
        <p:spPr>
          <a:xfrm>
            <a:off x="738902" y="3498652"/>
            <a:ext cx="13152596" cy="1012984"/>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Brazil's unique path avoided the fragmentation seen elsewhere in Latin America. By maintaining centralized imperial authority and continuing </a:t>
            </a:r>
            <a:r>
              <a:rPr lang="en-US" sz="1650" b="1" dirty="0">
                <a:solidFill>
                  <a:srgbClr val="C9C9C0"/>
                </a:solidFill>
                <a:latin typeface="Tomorrow" pitchFamily="34" charset="0"/>
                <a:ea typeface="Tomorrow" pitchFamily="34" charset="-122"/>
                <a:cs typeface="Tomorrow" pitchFamily="34" charset="-120"/>
              </a:rPr>
              <a:t>slavery and monarchy</a:t>
            </a:r>
            <a:r>
              <a:rPr lang="en-US" sz="1650" dirty="0">
                <a:solidFill>
                  <a:srgbClr val="C9C9C0"/>
                </a:solidFill>
                <a:latin typeface="Tomorrow" pitchFamily="34" charset="0"/>
                <a:ea typeface="Tomorrow" pitchFamily="34" charset="-122"/>
                <a:cs typeface="Tomorrow" pitchFamily="34" charset="-120"/>
              </a:rPr>
              <a:t>, Brazil paradoxically achieved </a:t>
            </a:r>
            <a:r>
              <a:rPr lang="en-US" sz="1650" b="1" dirty="0">
                <a:solidFill>
                  <a:srgbClr val="C9C9C0"/>
                </a:solidFill>
                <a:latin typeface="Tomorrow" pitchFamily="34" charset="0"/>
                <a:ea typeface="Tomorrow" pitchFamily="34" charset="-122"/>
                <a:cs typeface="Tomorrow" pitchFamily="34" charset="-120"/>
              </a:rPr>
              <a:t>stability</a:t>
            </a:r>
            <a:r>
              <a:rPr lang="en-US" sz="1650" dirty="0">
                <a:solidFill>
                  <a:srgbClr val="C9C9C0"/>
                </a:solidFill>
                <a:latin typeface="Tomorrow" pitchFamily="34" charset="0"/>
                <a:ea typeface="Tomorrow" pitchFamily="34" charset="-122"/>
                <a:cs typeface="Tomorrow" pitchFamily="34" charset="-120"/>
              </a:rPr>
              <a:t> while delaying the social transformations liberalism promised.</a:t>
            </a:r>
            <a:endParaRPr lang="en-US" sz="1650" dirty="0"/>
          </a:p>
        </p:txBody>
      </p:sp>
      <p:sp>
        <p:nvSpPr>
          <p:cNvPr id="6" name="Shape 4"/>
          <p:cNvSpPr/>
          <p:nvPr/>
        </p:nvSpPr>
        <p:spPr>
          <a:xfrm>
            <a:off x="738902" y="4986695"/>
            <a:ext cx="13152596" cy="22860"/>
          </a:xfrm>
          <a:prstGeom prst="roundRect">
            <a:avLst>
              <a:gd name="adj" fmla="val 138544"/>
            </a:avLst>
          </a:prstGeom>
          <a:solidFill>
            <a:srgbClr val="555553"/>
          </a:solidFill>
          <a:ln/>
        </p:spPr>
        <p:txBody>
          <a:bodyPr/>
          <a:lstStyle/>
          <a:p>
            <a:endParaRPr lang="en-US"/>
          </a:p>
        </p:txBody>
      </p:sp>
      <p:sp>
        <p:nvSpPr>
          <p:cNvPr id="7" name="Shape 5"/>
          <p:cNvSpPr/>
          <p:nvPr/>
        </p:nvSpPr>
        <p:spPr>
          <a:xfrm>
            <a:off x="2272546" y="4986695"/>
            <a:ext cx="22860" cy="633413"/>
          </a:xfrm>
          <a:prstGeom prst="roundRect">
            <a:avLst>
              <a:gd name="adj" fmla="val 138544"/>
            </a:avLst>
          </a:prstGeom>
          <a:solidFill>
            <a:srgbClr val="555553"/>
          </a:solidFill>
          <a:ln/>
        </p:spPr>
        <p:txBody>
          <a:bodyPr/>
          <a:lstStyle/>
          <a:p>
            <a:endParaRPr lang="en-US"/>
          </a:p>
        </p:txBody>
      </p:sp>
      <p:sp>
        <p:nvSpPr>
          <p:cNvPr id="8" name="Shape 6"/>
          <p:cNvSpPr/>
          <p:nvPr/>
        </p:nvSpPr>
        <p:spPr>
          <a:xfrm>
            <a:off x="2046446" y="4749165"/>
            <a:ext cx="475059" cy="475059"/>
          </a:xfrm>
          <a:prstGeom prst="roundRect">
            <a:avLst>
              <a:gd name="adj" fmla="val 6667"/>
            </a:avLst>
          </a:prstGeom>
          <a:solidFill>
            <a:srgbClr val="3C3C3A"/>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2125623" y="4788753"/>
            <a:ext cx="316706" cy="395883"/>
          </a:xfrm>
          <a:prstGeom prst="rect">
            <a:avLst/>
          </a:prstGeom>
        </p:spPr>
      </p:pic>
      <p:sp>
        <p:nvSpPr>
          <p:cNvPr id="10" name="Text 7"/>
          <p:cNvSpPr/>
          <p:nvPr/>
        </p:nvSpPr>
        <p:spPr>
          <a:xfrm>
            <a:off x="964406" y="5831205"/>
            <a:ext cx="2639258" cy="329922"/>
          </a:xfrm>
          <a:prstGeom prst="rect">
            <a:avLst/>
          </a:prstGeom>
          <a:noFill/>
          <a:ln/>
        </p:spPr>
        <p:txBody>
          <a:bodyPr wrap="none" lIns="0" tIns="0" rIns="0" bIns="0" rtlCol="0" anchor="t"/>
          <a:lstStyle/>
          <a:p>
            <a:pPr marL="0" indent="0" algn="ctr">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1822</a:t>
            </a:r>
            <a:endParaRPr lang="en-US" sz="2050" dirty="0"/>
          </a:p>
        </p:txBody>
      </p:sp>
      <p:sp>
        <p:nvSpPr>
          <p:cNvPr id="11" name="Text 8"/>
          <p:cNvSpPr/>
          <p:nvPr/>
        </p:nvSpPr>
        <p:spPr>
          <a:xfrm>
            <a:off x="950000" y="6287810"/>
            <a:ext cx="2668072" cy="1350645"/>
          </a:xfrm>
          <a:prstGeom prst="rect">
            <a:avLst/>
          </a:prstGeom>
          <a:noFill/>
          <a:ln/>
        </p:spPr>
        <p:txBody>
          <a:bodyPr wrap="square" lIns="0" tIns="0" rIns="0" bIns="0" rtlCol="0" anchor="t"/>
          <a:lstStyle/>
          <a:p>
            <a:pPr marL="0" indent="0" algn="ctr">
              <a:lnSpc>
                <a:spcPts val="2650"/>
              </a:lnSpc>
              <a:buNone/>
            </a:pPr>
            <a:r>
              <a:rPr lang="en-US" sz="1650" dirty="0">
                <a:solidFill>
                  <a:srgbClr val="C9C9C0"/>
                </a:solidFill>
                <a:latin typeface="Tomorrow" pitchFamily="34" charset="0"/>
                <a:ea typeface="Tomorrow" pitchFamily="34" charset="-122"/>
                <a:cs typeface="Tomorrow" pitchFamily="34" charset="-120"/>
              </a:rPr>
              <a:t>Pedro I declares independence from Portugal and becomes Emperor</a:t>
            </a:r>
            <a:endParaRPr lang="en-US" sz="1650" dirty="0"/>
          </a:p>
        </p:txBody>
      </p:sp>
      <p:sp>
        <p:nvSpPr>
          <p:cNvPr id="12" name="Shape 9"/>
          <p:cNvSpPr/>
          <p:nvPr/>
        </p:nvSpPr>
        <p:spPr>
          <a:xfrm>
            <a:off x="5626656" y="4986695"/>
            <a:ext cx="22860" cy="633413"/>
          </a:xfrm>
          <a:prstGeom prst="roundRect">
            <a:avLst>
              <a:gd name="adj" fmla="val 138544"/>
            </a:avLst>
          </a:prstGeom>
          <a:solidFill>
            <a:srgbClr val="555553"/>
          </a:solidFill>
          <a:ln/>
        </p:spPr>
        <p:txBody>
          <a:bodyPr/>
          <a:lstStyle/>
          <a:p>
            <a:endParaRPr lang="en-US"/>
          </a:p>
        </p:txBody>
      </p:sp>
      <p:sp>
        <p:nvSpPr>
          <p:cNvPr id="13" name="Shape 10"/>
          <p:cNvSpPr/>
          <p:nvPr/>
        </p:nvSpPr>
        <p:spPr>
          <a:xfrm>
            <a:off x="5400556" y="4749165"/>
            <a:ext cx="475059" cy="475059"/>
          </a:xfrm>
          <a:prstGeom prst="roundRect">
            <a:avLst>
              <a:gd name="adj" fmla="val 6667"/>
            </a:avLst>
          </a:prstGeom>
          <a:solidFill>
            <a:srgbClr val="3C3C3A"/>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5479733" y="4788753"/>
            <a:ext cx="316706" cy="395883"/>
          </a:xfrm>
          <a:prstGeom prst="rect">
            <a:avLst/>
          </a:prstGeom>
        </p:spPr>
      </p:pic>
      <p:sp>
        <p:nvSpPr>
          <p:cNvPr id="15" name="Text 11"/>
          <p:cNvSpPr/>
          <p:nvPr/>
        </p:nvSpPr>
        <p:spPr>
          <a:xfrm>
            <a:off x="4318516" y="5831205"/>
            <a:ext cx="2639258" cy="329922"/>
          </a:xfrm>
          <a:prstGeom prst="rect">
            <a:avLst/>
          </a:prstGeom>
          <a:noFill/>
          <a:ln/>
        </p:spPr>
        <p:txBody>
          <a:bodyPr wrap="none" lIns="0" tIns="0" rIns="0" bIns="0" rtlCol="0" anchor="t"/>
          <a:lstStyle/>
          <a:p>
            <a:pPr marL="0" indent="0" algn="ctr">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1824</a:t>
            </a:r>
            <a:endParaRPr lang="en-US" sz="2050" dirty="0"/>
          </a:p>
        </p:txBody>
      </p:sp>
      <p:sp>
        <p:nvSpPr>
          <p:cNvPr id="16" name="Text 12"/>
          <p:cNvSpPr/>
          <p:nvPr/>
        </p:nvSpPr>
        <p:spPr>
          <a:xfrm>
            <a:off x="4304109" y="6287810"/>
            <a:ext cx="2668072" cy="1012984"/>
          </a:xfrm>
          <a:prstGeom prst="rect">
            <a:avLst/>
          </a:prstGeom>
          <a:noFill/>
          <a:ln/>
        </p:spPr>
        <p:txBody>
          <a:bodyPr wrap="square" lIns="0" tIns="0" rIns="0" bIns="0" rtlCol="0" anchor="t"/>
          <a:lstStyle/>
          <a:p>
            <a:pPr marL="0" indent="0" algn="ctr">
              <a:lnSpc>
                <a:spcPts val="2650"/>
              </a:lnSpc>
              <a:buNone/>
            </a:pPr>
            <a:r>
              <a:rPr lang="en-US" sz="1650" dirty="0">
                <a:solidFill>
                  <a:srgbClr val="C9C9C0"/>
                </a:solidFill>
                <a:latin typeface="Tomorrow" pitchFamily="34" charset="0"/>
                <a:ea typeface="Tomorrow" pitchFamily="34" charset="-122"/>
                <a:cs typeface="Tomorrow" pitchFamily="34" charset="-120"/>
              </a:rPr>
              <a:t>First Brazilian Constitution establishes constitutional monarchy</a:t>
            </a:r>
            <a:endParaRPr lang="en-US" sz="1650" dirty="0"/>
          </a:p>
        </p:txBody>
      </p:sp>
      <p:sp>
        <p:nvSpPr>
          <p:cNvPr id="17" name="Shape 13"/>
          <p:cNvSpPr/>
          <p:nvPr/>
        </p:nvSpPr>
        <p:spPr>
          <a:xfrm>
            <a:off x="8980765" y="4986695"/>
            <a:ext cx="22860" cy="633413"/>
          </a:xfrm>
          <a:prstGeom prst="roundRect">
            <a:avLst>
              <a:gd name="adj" fmla="val 138544"/>
            </a:avLst>
          </a:prstGeom>
          <a:solidFill>
            <a:srgbClr val="555553"/>
          </a:solidFill>
          <a:ln/>
        </p:spPr>
        <p:txBody>
          <a:bodyPr/>
          <a:lstStyle/>
          <a:p>
            <a:endParaRPr lang="en-US"/>
          </a:p>
        </p:txBody>
      </p:sp>
      <p:sp>
        <p:nvSpPr>
          <p:cNvPr id="18" name="Shape 14"/>
          <p:cNvSpPr/>
          <p:nvPr/>
        </p:nvSpPr>
        <p:spPr>
          <a:xfrm>
            <a:off x="8754666" y="4749165"/>
            <a:ext cx="475059" cy="475059"/>
          </a:xfrm>
          <a:prstGeom prst="roundRect">
            <a:avLst>
              <a:gd name="adj" fmla="val 6667"/>
            </a:avLst>
          </a:prstGeom>
          <a:solidFill>
            <a:srgbClr val="3C3C3A"/>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8833842" y="4788753"/>
            <a:ext cx="316706" cy="395883"/>
          </a:xfrm>
          <a:prstGeom prst="rect">
            <a:avLst/>
          </a:prstGeom>
        </p:spPr>
      </p:pic>
      <p:sp>
        <p:nvSpPr>
          <p:cNvPr id="20" name="Text 15"/>
          <p:cNvSpPr/>
          <p:nvPr/>
        </p:nvSpPr>
        <p:spPr>
          <a:xfrm>
            <a:off x="7672626" y="5831205"/>
            <a:ext cx="2639258" cy="329922"/>
          </a:xfrm>
          <a:prstGeom prst="rect">
            <a:avLst/>
          </a:prstGeom>
          <a:noFill/>
          <a:ln/>
        </p:spPr>
        <p:txBody>
          <a:bodyPr wrap="none" lIns="0" tIns="0" rIns="0" bIns="0" rtlCol="0" anchor="t"/>
          <a:lstStyle/>
          <a:p>
            <a:pPr marL="0" indent="0" algn="ctr">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1831-40</a:t>
            </a:r>
            <a:endParaRPr lang="en-US" sz="2050" dirty="0"/>
          </a:p>
        </p:txBody>
      </p:sp>
      <p:sp>
        <p:nvSpPr>
          <p:cNvPr id="21" name="Text 16"/>
          <p:cNvSpPr/>
          <p:nvPr/>
        </p:nvSpPr>
        <p:spPr>
          <a:xfrm>
            <a:off x="7658219" y="6287810"/>
            <a:ext cx="2668072" cy="1012984"/>
          </a:xfrm>
          <a:prstGeom prst="rect">
            <a:avLst/>
          </a:prstGeom>
          <a:noFill/>
          <a:ln/>
        </p:spPr>
        <p:txBody>
          <a:bodyPr wrap="square" lIns="0" tIns="0" rIns="0" bIns="0" rtlCol="0" anchor="t"/>
          <a:lstStyle/>
          <a:p>
            <a:pPr marL="0" indent="0" algn="ctr">
              <a:lnSpc>
                <a:spcPts val="2650"/>
              </a:lnSpc>
              <a:buNone/>
            </a:pPr>
            <a:r>
              <a:rPr lang="en-US" sz="1650" dirty="0">
                <a:solidFill>
                  <a:srgbClr val="C9C9C0"/>
                </a:solidFill>
                <a:latin typeface="Tomorrow" pitchFamily="34" charset="0"/>
                <a:ea typeface="Tomorrow" pitchFamily="34" charset="-122"/>
                <a:cs typeface="Tomorrow" pitchFamily="34" charset="-120"/>
              </a:rPr>
              <a:t>Regency period with liberal reforms and regional revolts</a:t>
            </a:r>
            <a:endParaRPr lang="en-US" sz="1650" dirty="0"/>
          </a:p>
        </p:txBody>
      </p:sp>
      <p:sp>
        <p:nvSpPr>
          <p:cNvPr id="22" name="Shape 17"/>
          <p:cNvSpPr/>
          <p:nvPr/>
        </p:nvSpPr>
        <p:spPr>
          <a:xfrm>
            <a:off x="12334875" y="4986695"/>
            <a:ext cx="22860" cy="633413"/>
          </a:xfrm>
          <a:prstGeom prst="roundRect">
            <a:avLst>
              <a:gd name="adj" fmla="val 138544"/>
            </a:avLst>
          </a:prstGeom>
          <a:solidFill>
            <a:srgbClr val="555553"/>
          </a:solidFill>
          <a:ln/>
        </p:spPr>
        <p:txBody>
          <a:bodyPr/>
          <a:lstStyle/>
          <a:p>
            <a:endParaRPr lang="en-US"/>
          </a:p>
        </p:txBody>
      </p:sp>
      <p:sp>
        <p:nvSpPr>
          <p:cNvPr id="23" name="Shape 18"/>
          <p:cNvSpPr/>
          <p:nvPr/>
        </p:nvSpPr>
        <p:spPr>
          <a:xfrm>
            <a:off x="12108775" y="4749165"/>
            <a:ext cx="475059" cy="475059"/>
          </a:xfrm>
          <a:prstGeom prst="roundRect">
            <a:avLst>
              <a:gd name="adj" fmla="val 6667"/>
            </a:avLst>
          </a:prstGeom>
          <a:solidFill>
            <a:srgbClr val="3C3C3A"/>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12187952" y="4788753"/>
            <a:ext cx="316706" cy="395883"/>
          </a:xfrm>
          <a:prstGeom prst="rect">
            <a:avLst/>
          </a:prstGeom>
        </p:spPr>
      </p:pic>
      <p:sp>
        <p:nvSpPr>
          <p:cNvPr id="25" name="Text 19"/>
          <p:cNvSpPr/>
          <p:nvPr/>
        </p:nvSpPr>
        <p:spPr>
          <a:xfrm>
            <a:off x="11026735" y="5831205"/>
            <a:ext cx="2639258" cy="329922"/>
          </a:xfrm>
          <a:prstGeom prst="rect">
            <a:avLst/>
          </a:prstGeom>
          <a:noFill/>
          <a:ln/>
        </p:spPr>
        <p:txBody>
          <a:bodyPr wrap="none" lIns="0" tIns="0" rIns="0" bIns="0" rtlCol="0" anchor="t"/>
          <a:lstStyle/>
          <a:p>
            <a:pPr marL="0" indent="0" algn="ctr">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1840</a:t>
            </a:r>
            <a:endParaRPr lang="en-US" sz="2050" dirty="0"/>
          </a:p>
        </p:txBody>
      </p:sp>
      <p:sp>
        <p:nvSpPr>
          <p:cNvPr id="26" name="Text 20"/>
          <p:cNvSpPr/>
          <p:nvPr/>
        </p:nvSpPr>
        <p:spPr>
          <a:xfrm>
            <a:off x="11012329" y="6287810"/>
            <a:ext cx="2668072" cy="675323"/>
          </a:xfrm>
          <a:prstGeom prst="rect">
            <a:avLst/>
          </a:prstGeom>
          <a:noFill/>
          <a:ln/>
        </p:spPr>
        <p:txBody>
          <a:bodyPr wrap="square" lIns="0" tIns="0" rIns="0" bIns="0" rtlCol="0" anchor="t"/>
          <a:lstStyle/>
          <a:p>
            <a:pPr marL="0" indent="0" algn="ctr">
              <a:lnSpc>
                <a:spcPts val="2650"/>
              </a:lnSpc>
              <a:buNone/>
            </a:pPr>
            <a:r>
              <a:rPr lang="en-US" sz="1650" dirty="0">
                <a:solidFill>
                  <a:srgbClr val="C9C9C0"/>
                </a:solidFill>
                <a:latin typeface="Tomorrow" pitchFamily="34" charset="0"/>
                <a:ea typeface="Tomorrow" pitchFamily="34" charset="-122"/>
                <a:cs typeface="Tomorrow" pitchFamily="34" charset="-120"/>
              </a:rPr>
              <a:t>Pedro II enthroned early to restore stability</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21625" y="488394"/>
            <a:ext cx="10626804" cy="555069"/>
          </a:xfrm>
          <a:prstGeom prst="rect">
            <a:avLst/>
          </a:prstGeom>
          <a:noFill/>
          <a:ln/>
        </p:spPr>
        <p:txBody>
          <a:bodyPr wrap="none" lIns="0" tIns="0" rIns="0" bIns="0" rtlCol="0" anchor="t"/>
          <a:lstStyle/>
          <a:p>
            <a:pPr marL="0" indent="0" algn="l">
              <a:lnSpc>
                <a:spcPts val="4350"/>
              </a:lnSpc>
              <a:buNone/>
            </a:pPr>
            <a:r>
              <a:rPr lang="en-US" sz="3450" dirty="0">
                <a:solidFill>
                  <a:srgbClr val="EDEDE8"/>
                </a:solidFill>
                <a:latin typeface="Tomorrow Semi Bold" pitchFamily="34" charset="0"/>
                <a:ea typeface="Tomorrow Semi Bold" pitchFamily="34" charset="-122"/>
                <a:cs typeface="Tomorrow Semi Bold" pitchFamily="34" charset="-120"/>
              </a:rPr>
              <a:t>Everyday Life: Continuity Amid Political Change</a:t>
            </a:r>
            <a:endParaRPr lang="en-US" sz="3450" dirty="0"/>
          </a:p>
        </p:txBody>
      </p:sp>
      <p:sp>
        <p:nvSpPr>
          <p:cNvPr id="3" name="Text 1"/>
          <p:cNvSpPr/>
          <p:nvPr/>
        </p:nvSpPr>
        <p:spPr>
          <a:xfrm>
            <a:off x="621625" y="1398627"/>
            <a:ext cx="13387149" cy="568404"/>
          </a:xfrm>
          <a:prstGeom prst="rect">
            <a:avLst/>
          </a:prstGeom>
          <a:noFill/>
          <a:ln/>
        </p:spPr>
        <p:txBody>
          <a:bodyPr wrap="square" lIns="0" tIns="0" rIns="0" bIns="0" rtlCol="0" anchor="t"/>
          <a:lstStyle/>
          <a:p>
            <a:pPr marL="0" indent="0" algn="l">
              <a:lnSpc>
                <a:spcPts val="2200"/>
              </a:lnSpc>
              <a:buNone/>
            </a:pPr>
            <a:r>
              <a:rPr lang="en-US" sz="1500" dirty="0">
                <a:solidFill>
                  <a:srgbClr val="C9C9C0"/>
                </a:solidFill>
                <a:latin typeface="Tomorrow" pitchFamily="34" charset="0"/>
                <a:ea typeface="Tomorrow" pitchFamily="34" charset="-122"/>
                <a:cs typeface="Tomorrow" pitchFamily="34" charset="-120"/>
              </a:rPr>
              <a:t>Despite the dramatic political upheavals following independence, most people's </a:t>
            </a:r>
            <a:r>
              <a:rPr lang="en-US" sz="1500" b="1" dirty="0">
                <a:solidFill>
                  <a:srgbClr val="C9C9C0"/>
                </a:solidFill>
                <a:latin typeface="Tomorrow" pitchFamily="34" charset="0"/>
                <a:ea typeface="Tomorrow" pitchFamily="34" charset="-122"/>
                <a:cs typeface="Tomorrow" pitchFamily="34" charset="-120"/>
              </a:rPr>
              <a:t>daily lives changed very little</a:t>
            </a:r>
            <a:r>
              <a:rPr lang="en-US" sz="1500" dirty="0">
                <a:solidFill>
                  <a:srgbClr val="C9C9C0"/>
                </a:solidFill>
                <a:latin typeface="Tomorrow" pitchFamily="34" charset="0"/>
                <a:ea typeface="Tomorrow" pitchFamily="34" charset="-122"/>
                <a:cs typeface="Tomorrow" pitchFamily="34" charset="-120"/>
              </a:rPr>
              <a:t>. The grand liberal rhetoric rarely translated to meaningful change for ordinary citizens, especially those in rural areas far from centers of power.</a:t>
            </a:r>
            <a:endParaRPr lang="en-US" sz="1500" dirty="0"/>
          </a:p>
        </p:txBody>
      </p:sp>
      <p:sp>
        <p:nvSpPr>
          <p:cNvPr id="4" name="Text 2"/>
          <p:cNvSpPr/>
          <p:nvPr/>
        </p:nvSpPr>
        <p:spPr>
          <a:xfrm>
            <a:off x="621625" y="2166818"/>
            <a:ext cx="13387149" cy="568404"/>
          </a:xfrm>
          <a:prstGeom prst="rect">
            <a:avLst/>
          </a:prstGeom>
          <a:noFill/>
          <a:ln/>
        </p:spPr>
        <p:txBody>
          <a:bodyPr wrap="square" lIns="0" tIns="0" rIns="0" bIns="0" rtlCol="0" anchor="t"/>
          <a:lstStyle/>
          <a:p>
            <a:pPr marL="0" indent="0" algn="l">
              <a:lnSpc>
                <a:spcPts val="2200"/>
              </a:lnSpc>
              <a:buNone/>
            </a:pPr>
            <a:r>
              <a:rPr lang="en-US" sz="1500" b="1" dirty="0">
                <a:solidFill>
                  <a:srgbClr val="C9C9C0"/>
                </a:solidFill>
                <a:latin typeface="Tomorrow" pitchFamily="34" charset="0"/>
                <a:ea typeface="Tomorrow" pitchFamily="34" charset="-122"/>
                <a:cs typeface="Tomorrow" pitchFamily="34" charset="-120"/>
              </a:rPr>
              <a:t>Indigenous communities</a:t>
            </a:r>
            <a:r>
              <a:rPr lang="en-US" sz="1500" dirty="0">
                <a:solidFill>
                  <a:srgbClr val="C9C9C0"/>
                </a:solidFill>
                <a:latin typeface="Tomorrow" pitchFamily="34" charset="0"/>
                <a:ea typeface="Tomorrow" pitchFamily="34" charset="-122"/>
                <a:cs typeface="Tomorrow" pitchFamily="34" charset="-120"/>
              </a:rPr>
              <a:t> remained autonomous in many regions, while </a:t>
            </a:r>
            <a:r>
              <a:rPr lang="en-US" sz="1500" b="1" dirty="0">
                <a:solidFill>
                  <a:srgbClr val="C9C9C0"/>
                </a:solidFill>
                <a:latin typeface="Tomorrow" pitchFamily="34" charset="0"/>
                <a:ea typeface="Tomorrow" pitchFamily="34" charset="-122"/>
                <a:cs typeface="Tomorrow" pitchFamily="34" charset="-120"/>
              </a:rPr>
              <a:t>peons and sharecroppers</a:t>
            </a:r>
            <a:r>
              <a:rPr lang="en-US" sz="1500" dirty="0">
                <a:solidFill>
                  <a:srgbClr val="C9C9C0"/>
                </a:solidFill>
                <a:latin typeface="Tomorrow" pitchFamily="34" charset="0"/>
                <a:ea typeface="Tomorrow" pitchFamily="34" charset="-122"/>
                <a:cs typeface="Tomorrow" pitchFamily="34" charset="-120"/>
              </a:rPr>
              <a:t> continued working on haciendas under conditions similar to colonial times. </a:t>
            </a:r>
            <a:r>
              <a:rPr lang="en-US" sz="1500" b="1" dirty="0">
                <a:solidFill>
                  <a:srgbClr val="C9C9C0"/>
                </a:solidFill>
                <a:latin typeface="Tomorrow" pitchFamily="34" charset="0"/>
                <a:ea typeface="Tomorrow" pitchFamily="34" charset="-122"/>
                <a:cs typeface="Tomorrow" pitchFamily="34" charset="-120"/>
              </a:rPr>
              <a:t>Slavery</a:t>
            </a:r>
            <a:r>
              <a:rPr lang="en-US" sz="1500" dirty="0">
                <a:solidFill>
                  <a:srgbClr val="C9C9C0"/>
                </a:solidFill>
                <a:latin typeface="Tomorrow" pitchFamily="34" charset="0"/>
                <a:ea typeface="Tomorrow" pitchFamily="34" charset="-122"/>
                <a:cs typeface="Tomorrow" pitchFamily="34" charset="-120"/>
              </a:rPr>
              <a:t> persisted in Brazil and Cuba, and </a:t>
            </a:r>
            <a:r>
              <a:rPr lang="en-US" sz="1500" b="1" dirty="0">
                <a:solidFill>
                  <a:srgbClr val="C9C9C0"/>
                </a:solidFill>
                <a:latin typeface="Tomorrow" pitchFamily="34" charset="0"/>
                <a:ea typeface="Tomorrow" pitchFamily="34" charset="-122"/>
                <a:cs typeface="Tomorrow" pitchFamily="34" charset="-120"/>
              </a:rPr>
              <a:t>subsistence agriculture</a:t>
            </a:r>
            <a:r>
              <a:rPr lang="en-US" sz="1500" dirty="0">
                <a:solidFill>
                  <a:srgbClr val="C9C9C0"/>
                </a:solidFill>
                <a:latin typeface="Tomorrow" pitchFamily="34" charset="0"/>
                <a:ea typeface="Tomorrow" pitchFamily="34" charset="-122"/>
                <a:cs typeface="Tomorrow" pitchFamily="34" charset="-120"/>
              </a:rPr>
              <a:t> dominated the economy for most families.</a:t>
            </a:r>
            <a:endParaRPr lang="en-US" sz="1500" dirty="0"/>
          </a:p>
        </p:txBody>
      </p:sp>
      <p:sp>
        <p:nvSpPr>
          <p:cNvPr id="5" name="Text 3"/>
          <p:cNvSpPr/>
          <p:nvPr/>
        </p:nvSpPr>
        <p:spPr>
          <a:xfrm>
            <a:off x="621625" y="2935010"/>
            <a:ext cx="13387149" cy="568404"/>
          </a:xfrm>
          <a:prstGeom prst="rect">
            <a:avLst/>
          </a:prstGeom>
          <a:noFill/>
          <a:ln/>
        </p:spPr>
        <p:txBody>
          <a:bodyPr wrap="square" lIns="0" tIns="0" rIns="0" bIns="0" rtlCol="0" anchor="t"/>
          <a:lstStyle/>
          <a:p>
            <a:pPr marL="0" indent="0" algn="l">
              <a:lnSpc>
                <a:spcPts val="2200"/>
              </a:lnSpc>
              <a:buNone/>
            </a:pPr>
            <a:r>
              <a:rPr lang="en-US" sz="1500" dirty="0">
                <a:solidFill>
                  <a:srgbClr val="C9C9C0"/>
                </a:solidFill>
                <a:latin typeface="Tomorrow" pitchFamily="34" charset="0"/>
                <a:ea typeface="Tomorrow" pitchFamily="34" charset="-122"/>
                <a:cs typeface="Tomorrow" pitchFamily="34" charset="-120"/>
              </a:rPr>
              <a:t>Meanwhile, </a:t>
            </a:r>
            <a:r>
              <a:rPr lang="en-US" sz="1500" b="1" dirty="0">
                <a:solidFill>
                  <a:srgbClr val="C9C9C0"/>
                </a:solidFill>
                <a:latin typeface="Tomorrow" pitchFamily="34" charset="0"/>
                <a:ea typeface="Tomorrow" pitchFamily="34" charset="-122"/>
                <a:cs typeface="Tomorrow" pitchFamily="34" charset="-120"/>
              </a:rPr>
              <a:t>landowners gained new power</a:t>
            </a:r>
            <a:r>
              <a:rPr lang="en-US" sz="1500" dirty="0">
                <a:solidFill>
                  <a:srgbClr val="C9C9C0"/>
                </a:solidFill>
                <a:latin typeface="Tomorrow" pitchFamily="34" charset="0"/>
                <a:ea typeface="Tomorrow" pitchFamily="34" charset="-122"/>
                <a:cs typeface="Tomorrow" pitchFamily="34" charset="-120"/>
              </a:rPr>
              <a:t> as liberal policies dismantled merchant guilds and opened export opportunities. This often strengthened rather than weakened traditional hierarchies, contradicting liberal promises of equality.</a:t>
            </a:r>
            <a:endParaRPr lang="en-US" sz="1500" dirty="0"/>
          </a:p>
        </p:txBody>
      </p:sp>
      <p:pic>
        <p:nvPicPr>
          <p:cNvPr id="6" name="Image 0" descr="preencoded.png"/>
          <p:cNvPicPr>
            <a:picLocks noChangeAspect="1"/>
          </p:cNvPicPr>
          <p:nvPr/>
        </p:nvPicPr>
        <p:blipFill>
          <a:blip r:embed="rId3"/>
          <a:stretch>
            <a:fillRect/>
          </a:stretch>
        </p:blipFill>
        <p:spPr>
          <a:xfrm>
            <a:off x="621625" y="3817505"/>
            <a:ext cx="4314349" cy="2666405"/>
          </a:xfrm>
          <a:prstGeom prst="rect">
            <a:avLst/>
          </a:prstGeom>
        </p:spPr>
      </p:pic>
      <p:sp>
        <p:nvSpPr>
          <p:cNvPr id="7" name="Text 4"/>
          <p:cNvSpPr/>
          <p:nvPr/>
        </p:nvSpPr>
        <p:spPr>
          <a:xfrm>
            <a:off x="621625" y="6705842"/>
            <a:ext cx="2744867" cy="277535"/>
          </a:xfrm>
          <a:prstGeom prst="rect">
            <a:avLst/>
          </a:prstGeom>
          <a:noFill/>
          <a:ln/>
        </p:spPr>
        <p:txBody>
          <a:bodyPr wrap="none" lIns="0" tIns="0" rIns="0" bIns="0" rtlCol="0" anchor="t"/>
          <a:lstStyle/>
          <a:p>
            <a:pPr marL="0" indent="0" algn="l">
              <a:lnSpc>
                <a:spcPts val="2150"/>
              </a:lnSpc>
              <a:buNone/>
            </a:pPr>
            <a:r>
              <a:rPr lang="en-US" sz="1700" dirty="0">
                <a:solidFill>
                  <a:srgbClr val="C9C9C0"/>
                </a:solidFill>
                <a:latin typeface="Tomorrow Semi Bold" pitchFamily="34" charset="0"/>
                <a:ea typeface="Tomorrow Semi Bold" pitchFamily="34" charset="-122"/>
                <a:cs typeface="Tomorrow Semi Bold" pitchFamily="34" charset="-120"/>
              </a:rPr>
              <a:t>Indigenous Subsistence</a:t>
            </a:r>
            <a:endParaRPr lang="en-US" sz="1700" dirty="0"/>
          </a:p>
        </p:txBody>
      </p:sp>
      <p:sp>
        <p:nvSpPr>
          <p:cNvPr id="8" name="Text 5"/>
          <p:cNvSpPr/>
          <p:nvPr/>
        </p:nvSpPr>
        <p:spPr>
          <a:xfrm>
            <a:off x="621625" y="7089938"/>
            <a:ext cx="4314349" cy="852607"/>
          </a:xfrm>
          <a:prstGeom prst="rect">
            <a:avLst/>
          </a:prstGeom>
          <a:noFill/>
          <a:ln/>
        </p:spPr>
        <p:txBody>
          <a:bodyPr wrap="squar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Indigenous communities continued traditional farming practices largely unchanged from colonial times.</a:t>
            </a:r>
            <a:endParaRPr lang="en-US" sz="1350" dirty="0"/>
          </a:p>
        </p:txBody>
      </p:sp>
      <p:pic>
        <p:nvPicPr>
          <p:cNvPr id="9" name="Image 1" descr="preencoded.png"/>
          <p:cNvPicPr>
            <a:picLocks noChangeAspect="1"/>
          </p:cNvPicPr>
          <p:nvPr/>
        </p:nvPicPr>
        <p:blipFill>
          <a:blip r:embed="rId4"/>
          <a:stretch>
            <a:fillRect/>
          </a:stretch>
        </p:blipFill>
        <p:spPr>
          <a:xfrm>
            <a:off x="5157907" y="3817505"/>
            <a:ext cx="4314468" cy="2666524"/>
          </a:xfrm>
          <a:prstGeom prst="rect">
            <a:avLst/>
          </a:prstGeom>
        </p:spPr>
      </p:pic>
      <p:sp>
        <p:nvSpPr>
          <p:cNvPr id="10" name="Text 6"/>
          <p:cNvSpPr/>
          <p:nvPr/>
        </p:nvSpPr>
        <p:spPr>
          <a:xfrm>
            <a:off x="5157907" y="6705961"/>
            <a:ext cx="2220278" cy="277535"/>
          </a:xfrm>
          <a:prstGeom prst="rect">
            <a:avLst/>
          </a:prstGeom>
          <a:noFill/>
          <a:ln/>
        </p:spPr>
        <p:txBody>
          <a:bodyPr wrap="none" lIns="0" tIns="0" rIns="0" bIns="0" rtlCol="0" anchor="t"/>
          <a:lstStyle/>
          <a:p>
            <a:pPr marL="0" indent="0" algn="l">
              <a:lnSpc>
                <a:spcPts val="2150"/>
              </a:lnSpc>
              <a:buNone/>
            </a:pPr>
            <a:r>
              <a:rPr lang="en-US" sz="1700" dirty="0">
                <a:solidFill>
                  <a:srgbClr val="C9C9C0"/>
                </a:solidFill>
                <a:latin typeface="Tomorrow Semi Bold" pitchFamily="34" charset="0"/>
                <a:ea typeface="Tomorrow Semi Bold" pitchFamily="34" charset="-122"/>
                <a:cs typeface="Tomorrow Semi Bold" pitchFamily="34" charset="-120"/>
              </a:rPr>
              <a:t>Persistent Slavery</a:t>
            </a:r>
            <a:endParaRPr lang="en-US" sz="1700" dirty="0"/>
          </a:p>
        </p:txBody>
      </p:sp>
      <p:sp>
        <p:nvSpPr>
          <p:cNvPr id="11" name="Text 7"/>
          <p:cNvSpPr/>
          <p:nvPr/>
        </p:nvSpPr>
        <p:spPr>
          <a:xfrm>
            <a:off x="5157907" y="7090057"/>
            <a:ext cx="4314468" cy="568404"/>
          </a:xfrm>
          <a:prstGeom prst="rect">
            <a:avLst/>
          </a:prstGeom>
          <a:noFill/>
          <a:ln/>
        </p:spPr>
        <p:txBody>
          <a:bodyPr wrap="squar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Slavery continued in Brazil and Cuba despite independence movements' rhetoric of freedom.</a:t>
            </a:r>
            <a:endParaRPr lang="en-US" sz="1350" dirty="0"/>
          </a:p>
        </p:txBody>
      </p:sp>
      <p:pic>
        <p:nvPicPr>
          <p:cNvPr id="12" name="Image 2" descr="preencoded.png"/>
          <p:cNvPicPr>
            <a:picLocks noChangeAspect="1"/>
          </p:cNvPicPr>
          <p:nvPr/>
        </p:nvPicPr>
        <p:blipFill>
          <a:blip r:embed="rId5"/>
          <a:stretch>
            <a:fillRect/>
          </a:stretch>
        </p:blipFill>
        <p:spPr>
          <a:xfrm>
            <a:off x="9694307" y="3817505"/>
            <a:ext cx="4314468" cy="2666524"/>
          </a:xfrm>
          <a:prstGeom prst="rect">
            <a:avLst/>
          </a:prstGeom>
        </p:spPr>
      </p:pic>
      <p:sp>
        <p:nvSpPr>
          <p:cNvPr id="13" name="Text 8"/>
          <p:cNvSpPr/>
          <p:nvPr/>
        </p:nvSpPr>
        <p:spPr>
          <a:xfrm>
            <a:off x="9694307" y="6705961"/>
            <a:ext cx="2220278" cy="277535"/>
          </a:xfrm>
          <a:prstGeom prst="rect">
            <a:avLst/>
          </a:prstGeom>
          <a:noFill/>
          <a:ln/>
        </p:spPr>
        <p:txBody>
          <a:bodyPr wrap="none" lIns="0" tIns="0" rIns="0" bIns="0" rtlCol="0" anchor="t"/>
          <a:lstStyle/>
          <a:p>
            <a:pPr marL="0" indent="0" algn="l">
              <a:lnSpc>
                <a:spcPts val="2150"/>
              </a:lnSpc>
              <a:buNone/>
            </a:pPr>
            <a:r>
              <a:rPr lang="en-US" sz="1700" dirty="0">
                <a:solidFill>
                  <a:srgbClr val="C9C9C0"/>
                </a:solidFill>
                <a:latin typeface="Tomorrow Semi Bold" pitchFamily="34" charset="0"/>
                <a:ea typeface="Tomorrow Semi Bold" pitchFamily="34" charset="-122"/>
                <a:cs typeface="Tomorrow Semi Bold" pitchFamily="34" charset="-120"/>
              </a:rPr>
              <a:t>Hacienda System</a:t>
            </a:r>
            <a:endParaRPr lang="en-US" sz="1700" dirty="0"/>
          </a:p>
        </p:txBody>
      </p:sp>
      <p:sp>
        <p:nvSpPr>
          <p:cNvPr id="14" name="Text 9"/>
          <p:cNvSpPr/>
          <p:nvPr/>
        </p:nvSpPr>
        <p:spPr>
          <a:xfrm>
            <a:off x="9694307" y="7090057"/>
            <a:ext cx="4314468" cy="568404"/>
          </a:xfrm>
          <a:prstGeom prst="rect">
            <a:avLst/>
          </a:prstGeom>
          <a:noFill/>
          <a:ln/>
        </p:spPr>
        <p:txBody>
          <a:bodyPr wrap="squar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Large estates remained the dominant economic and social structure in rural areas.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6384" y="468511"/>
            <a:ext cx="9307830" cy="532448"/>
          </a:xfrm>
          <a:prstGeom prst="rect">
            <a:avLst/>
          </a:prstGeom>
          <a:noFill/>
          <a:ln/>
        </p:spPr>
        <p:txBody>
          <a:bodyPr wrap="none" lIns="0" tIns="0" rIns="0" bIns="0" rtlCol="0" anchor="t"/>
          <a:lstStyle/>
          <a:p>
            <a:pPr marL="0" indent="0" algn="l">
              <a:lnSpc>
                <a:spcPts val="4150"/>
              </a:lnSpc>
              <a:buNone/>
            </a:pPr>
            <a:r>
              <a:rPr lang="en-US" sz="4100" dirty="0">
                <a:solidFill>
                  <a:srgbClr val="EDEDE8"/>
                </a:solidFill>
                <a:latin typeface="Tomorrow Semi Bold" pitchFamily="34" charset="0"/>
                <a:ea typeface="Tomorrow Semi Bold" pitchFamily="34" charset="-122"/>
                <a:cs typeface="Tomorrow Semi Bold" pitchFamily="34" charset="-120"/>
              </a:rPr>
              <a:t>Forging National Identities Through Culture</a:t>
            </a:r>
            <a:endParaRPr lang="en-US" sz="4100" dirty="0"/>
          </a:p>
        </p:txBody>
      </p:sp>
      <p:sp>
        <p:nvSpPr>
          <p:cNvPr id="3" name="Text 1"/>
          <p:cNvSpPr/>
          <p:nvPr/>
        </p:nvSpPr>
        <p:spPr>
          <a:xfrm>
            <a:off x="596384" y="1341715"/>
            <a:ext cx="13437632" cy="545068"/>
          </a:xfrm>
          <a:prstGeom prst="rect">
            <a:avLst/>
          </a:prstGeom>
          <a:noFill/>
          <a:ln/>
        </p:spPr>
        <p:txBody>
          <a:bodyPr wrap="square" lIns="0" tIns="0" rIns="0" bIns="0" rtlCol="0" anchor="t"/>
          <a:lstStyle/>
          <a:p>
            <a:pPr marL="0" indent="0" algn="l">
              <a:lnSpc>
                <a:spcPts val="2100"/>
              </a:lnSpc>
              <a:buNone/>
            </a:pPr>
            <a:r>
              <a:rPr lang="en-US" sz="1500" b="1" dirty="0">
                <a:solidFill>
                  <a:srgbClr val="C9C9C0"/>
                </a:solidFill>
                <a:latin typeface="Tomorrow" pitchFamily="34" charset="0"/>
                <a:ea typeface="Tomorrow" pitchFamily="34" charset="-122"/>
                <a:cs typeface="Tomorrow" pitchFamily="34" charset="-120"/>
              </a:rPr>
              <a:t>Transculturation</a:t>
            </a:r>
            <a:r>
              <a:rPr lang="en-US" sz="1500" dirty="0">
                <a:solidFill>
                  <a:srgbClr val="C9C9C0"/>
                </a:solidFill>
                <a:latin typeface="Tomorrow" pitchFamily="34" charset="0"/>
                <a:ea typeface="Tomorrow" pitchFamily="34" charset="-122"/>
                <a:cs typeface="Tomorrow" pitchFamily="34" charset="-120"/>
              </a:rPr>
              <a:t> continued to shape emerging national identities as newly independent nations sought to define themselves. Folk traditions like the </a:t>
            </a:r>
            <a:r>
              <a:rPr lang="en-US" sz="1500" b="1" dirty="0">
                <a:solidFill>
                  <a:srgbClr val="C9C9C0"/>
                </a:solidFill>
                <a:latin typeface="Tomorrow" pitchFamily="34" charset="0"/>
                <a:ea typeface="Tomorrow" pitchFamily="34" charset="-122"/>
                <a:cs typeface="Tomorrow" pitchFamily="34" charset="-120"/>
              </a:rPr>
              <a:t>jarabe</a:t>
            </a:r>
            <a:r>
              <a:rPr lang="en-US" sz="1500" dirty="0">
                <a:solidFill>
                  <a:srgbClr val="C9C9C0"/>
                </a:solidFill>
                <a:latin typeface="Tomorrow" pitchFamily="34" charset="0"/>
                <a:ea typeface="Tomorrow" pitchFamily="34" charset="-122"/>
                <a:cs typeface="Tomorrow" pitchFamily="34" charset="-120"/>
              </a:rPr>
              <a:t> in Mexico and </a:t>
            </a:r>
            <a:r>
              <a:rPr lang="en-US" sz="1500" b="1" dirty="0">
                <a:solidFill>
                  <a:srgbClr val="C9C9C0"/>
                </a:solidFill>
                <a:latin typeface="Tomorrow" pitchFamily="34" charset="0"/>
                <a:ea typeface="Tomorrow" pitchFamily="34" charset="-122"/>
                <a:cs typeface="Tomorrow" pitchFamily="34" charset="-120"/>
              </a:rPr>
              <a:t>bambuco</a:t>
            </a:r>
            <a:r>
              <a:rPr lang="en-US" sz="1500" dirty="0">
                <a:solidFill>
                  <a:srgbClr val="C9C9C0"/>
                </a:solidFill>
                <a:latin typeface="Tomorrow" pitchFamily="34" charset="0"/>
                <a:ea typeface="Tomorrow" pitchFamily="34" charset="-122"/>
                <a:cs typeface="Tomorrow" pitchFamily="34" charset="-120"/>
              </a:rPr>
              <a:t> in Colombia gained prestige as symbols of national character, distinct from European influences.</a:t>
            </a:r>
            <a:endParaRPr lang="en-US" sz="1500" dirty="0"/>
          </a:p>
        </p:txBody>
      </p:sp>
      <p:sp>
        <p:nvSpPr>
          <p:cNvPr id="4" name="Text 2"/>
          <p:cNvSpPr/>
          <p:nvPr/>
        </p:nvSpPr>
        <p:spPr>
          <a:xfrm>
            <a:off x="596384" y="2078474"/>
            <a:ext cx="13437632" cy="545068"/>
          </a:xfrm>
          <a:prstGeom prst="rect">
            <a:avLst/>
          </a:prstGeom>
          <a:noFill/>
          <a:ln/>
        </p:spPr>
        <p:txBody>
          <a:bodyPr wrap="square" lIns="0" tIns="0" rIns="0" bIns="0" rtlCol="0" anchor="t"/>
          <a:lstStyle/>
          <a:p>
            <a:pPr marL="0" indent="0" algn="l">
              <a:lnSpc>
                <a:spcPts val="2100"/>
              </a:lnSpc>
              <a:buNone/>
            </a:pPr>
            <a:r>
              <a:rPr lang="en-US" sz="1500" dirty="0">
                <a:solidFill>
                  <a:srgbClr val="C9C9C0"/>
                </a:solidFill>
                <a:latin typeface="Tomorrow" pitchFamily="34" charset="0"/>
                <a:ea typeface="Tomorrow" pitchFamily="34" charset="-122"/>
                <a:cs typeface="Tomorrow" pitchFamily="34" charset="-120"/>
              </a:rPr>
              <a:t>The literary genre of </a:t>
            </a:r>
            <a:r>
              <a:rPr lang="en-US" sz="1500" b="1" dirty="0">
                <a:solidFill>
                  <a:srgbClr val="C9C9C0"/>
                </a:solidFill>
                <a:latin typeface="Tomorrow" pitchFamily="34" charset="0"/>
                <a:ea typeface="Tomorrow" pitchFamily="34" charset="-122"/>
                <a:cs typeface="Tomorrow" pitchFamily="34" charset="-120"/>
              </a:rPr>
              <a:t>costumbrismo</a:t>
            </a:r>
            <a:r>
              <a:rPr lang="en-US" sz="1500" dirty="0">
                <a:solidFill>
                  <a:srgbClr val="C9C9C0"/>
                </a:solidFill>
                <a:latin typeface="Tomorrow" pitchFamily="34" charset="0"/>
                <a:ea typeface="Tomorrow" pitchFamily="34" charset="-122"/>
                <a:cs typeface="Tomorrow" pitchFamily="34" charset="-120"/>
              </a:rPr>
              <a:t> emerged, depicting everyday customs to define national identity. These works celebrated local traditions while often romanticizing rural life and indigenous heritage, even as actual indigenous peoples remained marginalized.</a:t>
            </a:r>
            <a:endParaRPr lang="en-US" sz="1500" dirty="0"/>
          </a:p>
        </p:txBody>
      </p:sp>
      <p:sp>
        <p:nvSpPr>
          <p:cNvPr id="5" name="Text 3"/>
          <p:cNvSpPr/>
          <p:nvPr/>
        </p:nvSpPr>
        <p:spPr>
          <a:xfrm>
            <a:off x="596384" y="2815233"/>
            <a:ext cx="13437632" cy="545068"/>
          </a:xfrm>
          <a:prstGeom prst="rect">
            <a:avLst/>
          </a:prstGeom>
          <a:noFill/>
          <a:ln/>
        </p:spPr>
        <p:txBody>
          <a:bodyPr wrap="square" lIns="0" tIns="0" rIns="0" bIns="0" rtlCol="0" anchor="t"/>
          <a:lstStyle/>
          <a:p>
            <a:pPr marL="0" indent="0" algn="l">
              <a:lnSpc>
                <a:spcPts val="2100"/>
              </a:lnSpc>
              <a:buNone/>
            </a:pPr>
            <a:r>
              <a:rPr lang="en-US" sz="1500" dirty="0">
                <a:solidFill>
                  <a:srgbClr val="C9C9C0"/>
                </a:solidFill>
                <a:latin typeface="Tomorrow" pitchFamily="34" charset="0"/>
                <a:ea typeface="Tomorrow" pitchFamily="34" charset="-122"/>
                <a:cs typeface="Tomorrow" pitchFamily="34" charset="-120"/>
              </a:rPr>
              <a:t>Nativist imagery—especially anti-Spanish or anti-Portuguese rhetoric—remained politically potent in nation-building narratives, though increasingly disconnected from meaningful social reform that might have benefited the populations being celebrated.</a:t>
            </a:r>
            <a:endParaRPr lang="en-US" sz="1500" dirty="0"/>
          </a:p>
        </p:txBody>
      </p:sp>
      <p:sp>
        <p:nvSpPr>
          <p:cNvPr id="6" name="Text 4"/>
          <p:cNvSpPr/>
          <p:nvPr/>
        </p:nvSpPr>
        <p:spPr>
          <a:xfrm>
            <a:off x="2578060" y="4207073"/>
            <a:ext cx="2130028" cy="266224"/>
          </a:xfrm>
          <a:prstGeom prst="rect">
            <a:avLst/>
          </a:prstGeom>
          <a:noFill/>
          <a:ln/>
        </p:spPr>
        <p:txBody>
          <a:bodyPr wrap="none" lIns="0" tIns="0" rIns="0" bIns="0" rtlCol="0" anchor="t"/>
          <a:lstStyle/>
          <a:p>
            <a:pPr marL="0" indent="0" algn="r">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Literature</a:t>
            </a:r>
            <a:endParaRPr lang="en-US" sz="1650" dirty="0"/>
          </a:p>
        </p:txBody>
      </p:sp>
      <p:sp>
        <p:nvSpPr>
          <p:cNvPr id="7" name="Text 5"/>
          <p:cNvSpPr/>
          <p:nvPr/>
        </p:nvSpPr>
        <p:spPr>
          <a:xfrm>
            <a:off x="596384" y="4575453"/>
            <a:ext cx="4111704" cy="545068"/>
          </a:xfrm>
          <a:prstGeom prst="rect">
            <a:avLst/>
          </a:prstGeom>
          <a:noFill/>
          <a:ln/>
        </p:spPr>
        <p:txBody>
          <a:bodyPr wrap="square" lIns="0" tIns="0" rIns="0" bIns="0" rtlCol="0" anchor="t"/>
          <a:lstStyle/>
          <a:p>
            <a:pPr marL="0" indent="0" algn="r">
              <a:lnSpc>
                <a:spcPts val="2100"/>
              </a:lnSpc>
              <a:buNone/>
            </a:pPr>
            <a:r>
              <a:rPr lang="en-US" sz="1300" dirty="0">
                <a:solidFill>
                  <a:srgbClr val="C9C9C0"/>
                </a:solidFill>
                <a:latin typeface="Tomorrow" pitchFamily="34" charset="0"/>
                <a:ea typeface="Tomorrow" pitchFamily="34" charset="-122"/>
                <a:cs typeface="Tomorrow" pitchFamily="34" charset="-120"/>
              </a:rPr>
              <a:t>Costumbrismo works depicting local customs and character</a:t>
            </a:r>
            <a:endParaRPr lang="en-US" sz="1300" dirty="0"/>
          </a:p>
        </p:txBody>
      </p:sp>
      <p:pic>
        <p:nvPicPr>
          <p:cNvPr id="8" name="Image 0" descr="preencoded.png"/>
          <p:cNvPicPr>
            <a:picLocks noChangeAspect="1"/>
          </p:cNvPicPr>
          <p:nvPr/>
        </p:nvPicPr>
        <p:blipFill>
          <a:blip r:embed="rId3"/>
          <a:stretch>
            <a:fillRect/>
          </a:stretch>
        </p:blipFill>
        <p:spPr>
          <a:xfrm>
            <a:off x="4963597" y="3551992"/>
            <a:ext cx="4703088" cy="4703088"/>
          </a:xfrm>
          <a:prstGeom prst="rect">
            <a:avLst/>
          </a:prstGeom>
        </p:spPr>
      </p:pic>
      <p:pic>
        <p:nvPicPr>
          <p:cNvPr id="9" name="Image 1" descr="preencoded.png"/>
          <p:cNvPicPr>
            <a:picLocks noChangeAspect="1"/>
          </p:cNvPicPr>
          <p:nvPr/>
        </p:nvPicPr>
        <p:blipFill>
          <a:blip r:embed="rId4"/>
          <a:stretch>
            <a:fillRect/>
          </a:stretch>
        </p:blipFill>
        <p:spPr>
          <a:xfrm>
            <a:off x="6241018" y="4397454"/>
            <a:ext cx="254913" cy="318611"/>
          </a:xfrm>
          <a:prstGeom prst="rect">
            <a:avLst/>
          </a:prstGeom>
        </p:spPr>
      </p:pic>
      <p:sp>
        <p:nvSpPr>
          <p:cNvPr id="10" name="Text 6"/>
          <p:cNvSpPr/>
          <p:nvPr/>
        </p:nvSpPr>
        <p:spPr>
          <a:xfrm>
            <a:off x="9922193" y="4343400"/>
            <a:ext cx="2130028" cy="266224"/>
          </a:xfrm>
          <a:prstGeom prst="rect">
            <a:avLst/>
          </a:prstGeom>
          <a:noFill/>
          <a:ln/>
        </p:spPr>
        <p:txBody>
          <a:bodyPr wrap="none" lIns="0" tIns="0" rIns="0" bIns="0" rtlCol="0" anchor="t"/>
          <a:lstStyle/>
          <a:p>
            <a:pPr marL="0" indent="0" algn="l">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Music &amp; Dance</a:t>
            </a:r>
            <a:endParaRPr lang="en-US" sz="1650" dirty="0"/>
          </a:p>
        </p:txBody>
      </p:sp>
      <p:sp>
        <p:nvSpPr>
          <p:cNvPr id="11" name="Text 7"/>
          <p:cNvSpPr/>
          <p:nvPr/>
        </p:nvSpPr>
        <p:spPr>
          <a:xfrm>
            <a:off x="9922193" y="4711779"/>
            <a:ext cx="4111823" cy="272534"/>
          </a:xfrm>
          <a:prstGeom prst="rect">
            <a:avLst/>
          </a:prstGeom>
          <a:noFill/>
          <a:ln/>
        </p:spPr>
        <p:txBody>
          <a:bodyPr wrap="non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Folk traditions elevated to national symbols</a:t>
            </a:r>
            <a:endParaRPr lang="en-US" sz="1300" dirty="0"/>
          </a:p>
        </p:txBody>
      </p:sp>
      <p:pic>
        <p:nvPicPr>
          <p:cNvPr id="12" name="Image 2" descr="preencoded.png"/>
          <p:cNvPicPr>
            <a:picLocks noChangeAspect="1"/>
          </p:cNvPicPr>
          <p:nvPr/>
        </p:nvPicPr>
        <p:blipFill>
          <a:blip r:embed="rId5"/>
          <a:stretch>
            <a:fillRect/>
          </a:stretch>
        </p:blipFill>
        <p:spPr>
          <a:xfrm>
            <a:off x="4963597" y="3551992"/>
            <a:ext cx="4703088" cy="4703088"/>
          </a:xfrm>
          <a:prstGeom prst="rect">
            <a:avLst/>
          </a:prstGeom>
        </p:spPr>
      </p:pic>
      <p:pic>
        <p:nvPicPr>
          <p:cNvPr id="13" name="Image 3" descr="preencoded.png"/>
          <p:cNvPicPr>
            <a:picLocks noChangeAspect="1"/>
          </p:cNvPicPr>
          <p:nvPr/>
        </p:nvPicPr>
        <p:blipFill>
          <a:blip r:embed="rId6"/>
          <a:stretch>
            <a:fillRect/>
          </a:stretch>
        </p:blipFill>
        <p:spPr>
          <a:xfrm>
            <a:off x="8534281" y="4797623"/>
            <a:ext cx="254913" cy="318611"/>
          </a:xfrm>
          <a:prstGeom prst="rect">
            <a:avLst/>
          </a:prstGeom>
        </p:spPr>
      </p:pic>
      <p:sp>
        <p:nvSpPr>
          <p:cNvPr id="14" name="Text 8"/>
          <p:cNvSpPr/>
          <p:nvPr/>
        </p:nvSpPr>
        <p:spPr>
          <a:xfrm>
            <a:off x="9922193" y="6822638"/>
            <a:ext cx="2130028" cy="266224"/>
          </a:xfrm>
          <a:prstGeom prst="rect">
            <a:avLst/>
          </a:prstGeom>
          <a:noFill/>
          <a:ln/>
        </p:spPr>
        <p:txBody>
          <a:bodyPr wrap="none" lIns="0" tIns="0" rIns="0" bIns="0" rtlCol="0" anchor="t"/>
          <a:lstStyle/>
          <a:p>
            <a:pPr marL="0" indent="0" algn="l">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Visual Arts</a:t>
            </a:r>
            <a:endParaRPr lang="en-US" sz="1650" dirty="0"/>
          </a:p>
        </p:txBody>
      </p:sp>
      <p:sp>
        <p:nvSpPr>
          <p:cNvPr id="15" name="Text 9"/>
          <p:cNvSpPr/>
          <p:nvPr/>
        </p:nvSpPr>
        <p:spPr>
          <a:xfrm>
            <a:off x="9922193" y="7191018"/>
            <a:ext cx="4111823" cy="272534"/>
          </a:xfrm>
          <a:prstGeom prst="rect">
            <a:avLst/>
          </a:prstGeom>
          <a:noFill/>
          <a:ln/>
        </p:spPr>
        <p:txBody>
          <a:bodyPr wrap="non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Paintings celebrating local landscapes and people</a:t>
            </a:r>
            <a:endParaRPr lang="en-US" sz="1300" dirty="0"/>
          </a:p>
        </p:txBody>
      </p:sp>
      <p:pic>
        <p:nvPicPr>
          <p:cNvPr id="16" name="Image 4" descr="preencoded.png"/>
          <p:cNvPicPr>
            <a:picLocks noChangeAspect="1"/>
          </p:cNvPicPr>
          <p:nvPr/>
        </p:nvPicPr>
        <p:blipFill>
          <a:blip r:embed="rId7"/>
          <a:stretch>
            <a:fillRect/>
          </a:stretch>
        </p:blipFill>
        <p:spPr>
          <a:xfrm>
            <a:off x="4963597" y="3551992"/>
            <a:ext cx="4703088" cy="4703088"/>
          </a:xfrm>
          <a:prstGeom prst="rect">
            <a:avLst/>
          </a:prstGeom>
        </p:spPr>
      </p:pic>
      <p:pic>
        <p:nvPicPr>
          <p:cNvPr id="17" name="Image 5" descr="preencoded.png"/>
          <p:cNvPicPr>
            <a:picLocks noChangeAspect="1"/>
          </p:cNvPicPr>
          <p:nvPr/>
        </p:nvPicPr>
        <p:blipFill>
          <a:blip r:embed="rId8"/>
          <a:stretch>
            <a:fillRect/>
          </a:stretch>
        </p:blipFill>
        <p:spPr>
          <a:xfrm>
            <a:off x="8134112" y="7090886"/>
            <a:ext cx="254913" cy="318611"/>
          </a:xfrm>
          <a:prstGeom prst="rect">
            <a:avLst/>
          </a:prstGeom>
        </p:spPr>
      </p:pic>
      <p:sp>
        <p:nvSpPr>
          <p:cNvPr id="18" name="Text 10"/>
          <p:cNvSpPr/>
          <p:nvPr/>
        </p:nvSpPr>
        <p:spPr>
          <a:xfrm>
            <a:off x="2578060" y="6686431"/>
            <a:ext cx="2130028" cy="266224"/>
          </a:xfrm>
          <a:prstGeom prst="rect">
            <a:avLst/>
          </a:prstGeom>
          <a:noFill/>
          <a:ln/>
        </p:spPr>
        <p:txBody>
          <a:bodyPr wrap="none" lIns="0" tIns="0" rIns="0" bIns="0" rtlCol="0" anchor="t"/>
          <a:lstStyle/>
          <a:p>
            <a:pPr marL="0" indent="0" algn="r">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Public Celebrations</a:t>
            </a:r>
            <a:endParaRPr lang="en-US" sz="1650" dirty="0"/>
          </a:p>
        </p:txBody>
      </p:sp>
      <p:sp>
        <p:nvSpPr>
          <p:cNvPr id="19" name="Text 11"/>
          <p:cNvSpPr/>
          <p:nvPr/>
        </p:nvSpPr>
        <p:spPr>
          <a:xfrm>
            <a:off x="596384" y="7054810"/>
            <a:ext cx="4111704" cy="545068"/>
          </a:xfrm>
          <a:prstGeom prst="rect">
            <a:avLst/>
          </a:prstGeom>
          <a:noFill/>
          <a:ln/>
        </p:spPr>
        <p:txBody>
          <a:bodyPr wrap="square" lIns="0" tIns="0" rIns="0" bIns="0" rtlCol="0" anchor="t"/>
          <a:lstStyle/>
          <a:p>
            <a:pPr marL="0" indent="0" algn="r">
              <a:lnSpc>
                <a:spcPts val="2100"/>
              </a:lnSpc>
              <a:buNone/>
            </a:pPr>
            <a:r>
              <a:rPr lang="en-US" sz="1300" dirty="0">
                <a:solidFill>
                  <a:srgbClr val="C9C9C0"/>
                </a:solidFill>
                <a:latin typeface="Tomorrow" pitchFamily="34" charset="0"/>
                <a:ea typeface="Tomorrow" pitchFamily="34" charset="-122"/>
                <a:cs typeface="Tomorrow" pitchFamily="34" charset="-120"/>
              </a:rPr>
              <a:t>Festivals and ceremonies reinforcing national myths</a:t>
            </a:r>
            <a:endParaRPr lang="en-US" sz="1300" dirty="0"/>
          </a:p>
        </p:txBody>
      </p:sp>
      <p:pic>
        <p:nvPicPr>
          <p:cNvPr id="20" name="Image 6" descr="preencoded.png"/>
          <p:cNvPicPr>
            <a:picLocks noChangeAspect="1"/>
          </p:cNvPicPr>
          <p:nvPr/>
        </p:nvPicPr>
        <p:blipFill>
          <a:blip r:embed="rId9"/>
          <a:stretch>
            <a:fillRect/>
          </a:stretch>
        </p:blipFill>
        <p:spPr>
          <a:xfrm>
            <a:off x="4963597" y="3537704"/>
            <a:ext cx="4703088" cy="4703088"/>
          </a:xfrm>
          <a:prstGeom prst="rect">
            <a:avLst/>
          </a:prstGeom>
        </p:spPr>
      </p:pic>
      <p:pic>
        <p:nvPicPr>
          <p:cNvPr id="21" name="Image 7" descr="preencoded.png"/>
          <p:cNvPicPr>
            <a:picLocks noChangeAspect="1"/>
          </p:cNvPicPr>
          <p:nvPr/>
        </p:nvPicPr>
        <p:blipFill>
          <a:blip r:embed="rId10"/>
          <a:stretch>
            <a:fillRect/>
          </a:stretch>
        </p:blipFill>
        <p:spPr>
          <a:xfrm>
            <a:off x="5840849" y="6690717"/>
            <a:ext cx="254913" cy="3186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7933" y="477679"/>
            <a:ext cx="10034945" cy="542925"/>
          </a:xfrm>
          <a:prstGeom prst="rect">
            <a:avLst/>
          </a:prstGeom>
          <a:noFill/>
          <a:ln/>
        </p:spPr>
        <p:txBody>
          <a:bodyPr wrap="none" lIns="0" tIns="0" rIns="0" bIns="0" rtlCol="0" anchor="t"/>
          <a:lstStyle/>
          <a:p>
            <a:pPr marL="0" indent="0" algn="l">
              <a:lnSpc>
                <a:spcPts val="4250"/>
              </a:lnSpc>
              <a:buNone/>
            </a:pPr>
            <a:r>
              <a:rPr lang="en-US" sz="3400" dirty="0">
                <a:solidFill>
                  <a:srgbClr val="EDEDE8"/>
                </a:solidFill>
                <a:latin typeface="Tomorrow Semi Bold" pitchFamily="34" charset="0"/>
                <a:ea typeface="Tomorrow Semi Bold" pitchFamily="34" charset="-122"/>
                <a:cs typeface="Tomorrow Semi Bold" pitchFamily="34" charset="-120"/>
              </a:rPr>
              <a:t>Economic Dependency and Foreign Influence</a:t>
            </a:r>
            <a:endParaRPr lang="en-US" sz="3400" dirty="0"/>
          </a:p>
        </p:txBody>
      </p:sp>
      <p:sp>
        <p:nvSpPr>
          <p:cNvPr id="3" name="Text 1"/>
          <p:cNvSpPr/>
          <p:nvPr/>
        </p:nvSpPr>
        <p:spPr>
          <a:xfrm>
            <a:off x="607933" y="1282300"/>
            <a:ext cx="13414534" cy="555784"/>
          </a:xfrm>
          <a:prstGeom prst="rect">
            <a:avLst/>
          </a:prstGeom>
          <a:noFill/>
          <a:ln/>
        </p:spPr>
        <p:txBody>
          <a:bodyPr wrap="square" lIns="0" tIns="0" rIns="0" bIns="0" rtlCol="0" anchor="t"/>
          <a:lstStyle/>
          <a:p>
            <a:pPr marL="0" indent="0" algn="l">
              <a:lnSpc>
                <a:spcPts val="2150"/>
              </a:lnSpc>
              <a:buNone/>
            </a:pPr>
            <a:r>
              <a:rPr lang="en-US" sz="1500" dirty="0">
                <a:solidFill>
                  <a:srgbClr val="C9C9C0"/>
                </a:solidFill>
                <a:latin typeface="Tomorrow" pitchFamily="34" charset="0"/>
                <a:ea typeface="Tomorrow" pitchFamily="34" charset="-122"/>
                <a:cs typeface="Tomorrow" pitchFamily="34" charset="-120"/>
              </a:rPr>
              <a:t>Latin America remained </a:t>
            </a:r>
            <a:r>
              <a:rPr lang="en-US" sz="1500" b="1" dirty="0">
                <a:solidFill>
                  <a:srgbClr val="C9C9C0"/>
                </a:solidFill>
                <a:latin typeface="Tomorrow" pitchFamily="34" charset="0"/>
                <a:ea typeface="Tomorrow" pitchFamily="34" charset="-122"/>
                <a:cs typeface="Tomorrow" pitchFamily="34" charset="-120"/>
              </a:rPr>
              <a:t>economically and culturally dependent</a:t>
            </a:r>
            <a:r>
              <a:rPr lang="en-US" sz="1500" dirty="0">
                <a:solidFill>
                  <a:srgbClr val="C9C9C0"/>
                </a:solidFill>
                <a:latin typeface="Tomorrow" pitchFamily="34" charset="0"/>
                <a:ea typeface="Tomorrow" pitchFamily="34" charset="-122"/>
                <a:cs typeface="Tomorrow" pitchFamily="34" charset="-120"/>
              </a:rPr>
              <a:t> on Europe and the U.S. despite political independence. </a:t>
            </a:r>
            <a:r>
              <a:rPr lang="en-US" sz="1500" b="1" dirty="0">
                <a:solidFill>
                  <a:srgbClr val="C9C9C0"/>
                </a:solidFill>
                <a:latin typeface="Tomorrow" pitchFamily="34" charset="0"/>
                <a:ea typeface="Tomorrow" pitchFamily="34" charset="-122"/>
                <a:cs typeface="Tomorrow" pitchFamily="34" charset="-120"/>
              </a:rPr>
              <a:t>British, French, and U.S. traders</a:t>
            </a:r>
            <a:r>
              <a:rPr lang="en-US" sz="1500" dirty="0">
                <a:solidFill>
                  <a:srgbClr val="C9C9C0"/>
                </a:solidFill>
                <a:latin typeface="Tomorrow" pitchFamily="34" charset="0"/>
                <a:ea typeface="Tomorrow" pitchFamily="34" charset="-122"/>
                <a:cs typeface="Tomorrow" pitchFamily="34" charset="-120"/>
              </a:rPr>
              <a:t> simply replaced Spanish monopolies, creating new forms of economic subordination through trade and finance.</a:t>
            </a:r>
            <a:endParaRPr lang="en-US" sz="1500" dirty="0"/>
          </a:p>
        </p:txBody>
      </p:sp>
      <p:sp>
        <p:nvSpPr>
          <p:cNvPr id="4" name="Text 2"/>
          <p:cNvSpPr/>
          <p:nvPr/>
        </p:nvSpPr>
        <p:spPr>
          <a:xfrm>
            <a:off x="607933" y="2033465"/>
            <a:ext cx="13414534" cy="555784"/>
          </a:xfrm>
          <a:prstGeom prst="rect">
            <a:avLst/>
          </a:prstGeom>
          <a:noFill/>
          <a:ln/>
        </p:spPr>
        <p:txBody>
          <a:bodyPr wrap="square" lIns="0" tIns="0" rIns="0" bIns="0" rtlCol="0" anchor="t"/>
          <a:lstStyle/>
          <a:p>
            <a:pPr marL="0" indent="0" algn="l">
              <a:lnSpc>
                <a:spcPts val="2150"/>
              </a:lnSpc>
              <a:buNone/>
            </a:pPr>
            <a:r>
              <a:rPr lang="en-US" sz="1500" dirty="0">
                <a:solidFill>
                  <a:srgbClr val="C9C9C0"/>
                </a:solidFill>
                <a:latin typeface="Tomorrow" pitchFamily="34" charset="0"/>
                <a:ea typeface="Tomorrow" pitchFamily="34" charset="-122"/>
                <a:cs typeface="Tomorrow" pitchFamily="34" charset="-120"/>
              </a:rPr>
              <a:t>When debts weren't paid, foreign powers employed </a:t>
            </a:r>
            <a:r>
              <a:rPr lang="en-US" sz="1500" b="1" dirty="0">
                <a:solidFill>
                  <a:srgbClr val="C9C9C0"/>
                </a:solidFill>
                <a:latin typeface="Tomorrow" pitchFamily="34" charset="0"/>
                <a:ea typeface="Tomorrow" pitchFamily="34" charset="-122"/>
                <a:cs typeface="Tomorrow" pitchFamily="34" charset="-120"/>
              </a:rPr>
              <a:t>gunboat diplomacy</a:t>
            </a:r>
            <a:r>
              <a:rPr lang="en-US" sz="1500" dirty="0">
                <a:solidFill>
                  <a:srgbClr val="C9C9C0"/>
                </a:solidFill>
                <a:latin typeface="Tomorrow" pitchFamily="34" charset="0"/>
                <a:ea typeface="Tomorrow" pitchFamily="34" charset="-122"/>
                <a:cs typeface="Tomorrow" pitchFamily="34" charset="-120"/>
              </a:rPr>
              <a:t>, using military threats to protect their economic interests. The </a:t>
            </a:r>
            <a:r>
              <a:rPr lang="en-US" sz="1500" b="1" dirty="0">
                <a:solidFill>
                  <a:srgbClr val="C9C9C0"/>
                </a:solidFill>
                <a:latin typeface="Tomorrow" pitchFamily="34" charset="0"/>
                <a:ea typeface="Tomorrow" pitchFamily="34" charset="-122"/>
                <a:cs typeface="Tomorrow" pitchFamily="34" charset="-120"/>
              </a:rPr>
              <a:t>Monroe Doctrine</a:t>
            </a:r>
            <a:r>
              <a:rPr lang="en-US" sz="1500" dirty="0">
                <a:solidFill>
                  <a:srgbClr val="C9C9C0"/>
                </a:solidFill>
                <a:latin typeface="Tomorrow" pitchFamily="34" charset="0"/>
                <a:ea typeface="Tomorrow" pitchFamily="34" charset="-122"/>
                <a:cs typeface="Tomorrow" pitchFamily="34" charset="-120"/>
              </a:rPr>
              <a:t> asserted U.S. interest in the region but had limited practical effect in this early period beyond rhetorical claims.</a:t>
            </a:r>
            <a:endParaRPr lang="en-US" sz="1500" dirty="0"/>
          </a:p>
        </p:txBody>
      </p:sp>
      <p:sp>
        <p:nvSpPr>
          <p:cNvPr id="5" name="Text 3"/>
          <p:cNvSpPr/>
          <p:nvPr/>
        </p:nvSpPr>
        <p:spPr>
          <a:xfrm>
            <a:off x="607933" y="2784631"/>
            <a:ext cx="13414534" cy="555784"/>
          </a:xfrm>
          <a:prstGeom prst="rect">
            <a:avLst/>
          </a:prstGeom>
          <a:noFill/>
          <a:ln/>
        </p:spPr>
        <p:txBody>
          <a:bodyPr wrap="square" lIns="0" tIns="0" rIns="0" bIns="0" rtlCol="0" anchor="t"/>
          <a:lstStyle/>
          <a:p>
            <a:pPr marL="0" indent="0" algn="l">
              <a:lnSpc>
                <a:spcPts val="2150"/>
              </a:lnSpc>
              <a:buNone/>
            </a:pPr>
            <a:r>
              <a:rPr lang="en-US" sz="1500" dirty="0">
                <a:solidFill>
                  <a:srgbClr val="C9C9C0"/>
                </a:solidFill>
                <a:latin typeface="Tomorrow" pitchFamily="34" charset="0"/>
                <a:ea typeface="Tomorrow" pitchFamily="34" charset="-122"/>
                <a:cs typeface="Tomorrow" pitchFamily="34" charset="-120"/>
              </a:rPr>
              <a:t>The </a:t>
            </a:r>
            <a:r>
              <a:rPr lang="en-US" sz="1500" b="1" dirty="0">
                <a:solidFill>
                  <a:srgbClr val="C9C9C0"/>
                </a:solidFill>
                <a:latin typeface="Tomorrow" pitchFamily="34" charset="0"/>
                <a:ea typeface="Tomorrow" pitchFamily="34" charset="-122"/>
                <a:cs typeface="Tomorrow" pitchFamily="34" charset="-120"/>
              </a:rPr>
              <a:t>Guano Boom in Peru</a:t>
            </a:r>
            <a:r>
              <a:rPr lang="en-US" sz="1500" dirty="0">
                <a:solidFill>
                  <a:srgbClr val="C9C9C0"/>
                </a:solidFill>
                <a:latin typeface="Tomorrow" pitchFamily="34" charset="0"/>
                <a:ea typeface="Tomorrow" pitchFamily="34" charset="-122"/>
                <a:cs typeface="Tomorrow" pitchFamily="34" charset="-120"/>
              </a:rPr>
              <a:t> exemplified these dynamics. This seabird fertilizer exported to Europe brought temporary prosperity, but benefits stayed coastal, deepening regional inequality while reinforcing export dependency.</a:t>
            </a:r>
            <a:endParaRPr lang="en-US" sz="1500" dirty="0"/>
          </a:p>
        </p:txBody>
      </p:sp>
      <p:pic>
        <p:nvPicPr>
          <p:cNvPr id="6" name="Image 0" descr="preencoded.png"/>
          <p:cNvPicPr>
            <a:picLocks noChangeAspect="1"/>
          </p:cNvPicPr>
          <p:nvPr/>
        </p:nvPicPr>
        <p:blipFill>
          <a:blip r:embed="rId3"/>
          <a:stretch>
            <a:fillRect/>
          </a:stretch>
        </p:blipFill>
        <p:spPr>
          <a:xfrm>
            <a:off x="3131463" y="3621524"/>
            <a:ext cx="1659969" cy="1000958"/>
          </a:xfrm>
          <a:prstGeom prst="rect">
            <a:avLst/>
          </a:prstGeom>
        </p:spPr>
      </p:pic>
      <p:pic>
        <p:nvPicPr>
          <p:cNvPr id="7" name="Image 1" descr="preencoded.png"/>
          <p:cNvPicPr>
            <a:picLocks noChangeAspect="1"/>
          </p:cNvPicPr>
          <p:nvPr/>
        </p:nvPicPr>
        <p:blipFill>
          <a:blip r:embed="rId4"/>
          <a:stretch>
            <a:fillRect/>
          </a:stretch>
        </p:blipFill>
        <p:spPr>
          <a:xfrm>
            <a:off x="3839289" y="4093369"/>
            <a:ext cx="244197" cy="305276"/>
          </a:xfrm>
          <a:prstGeom prst="rect">
            <a:avLst/>
          </a:prstGeom>
        </p:spPr>
      </p:pic>
      <p:sp>
        <p:nvSpPr>
          <p:cNvPr id="8" name="Text 4"/>
          <p:cNvSpPr/>
          <p:nvPr/>
        </p:nvSpPr>
        <p:spPr>
          <a:xfrm>
            <a:off x="4965144" y="3795236"/>
            <a:ext cx="2171462" cy="271463"/>
          </a:xfrm>
          <a:prstGeom prst="rect">
            <a:avLst/>
          </a:prstGeom>
          <a:noFill/>
          <a:ln/>
        </p:spPr>
        <p:txBody>
          <a:bodyPr wrap="none" lIns="0" tIns="0" rIns="0" bIns="0" rtlCol="0" anchor="t"/>
          <a:lstStyle/>
          <a:p>
            <a:pPr marL="0" indent="0" algn="l">
              <a:lnSpc>
                <a:spcPts val="2100"/>
              </a:lnSpc>
              <a:buNone/>
            </a:pPr>
            <a:r>
              <a:rPr lang="en-US" sz="1700" dirty="0">
                <a:solidFill>
                  <a:srgbClr val="C9C9C0"/>
                </a:solidFill>
                <a:latin typeface="Tomorrow Semi Bold" pitchFamily="34" charset="0"/>
                <a:ea typeface="Tomorrow Semi Bold" pitchFamily="34" charset="-122"/>
                <a:cs typeface="Tomorrow Semi Bold" pitchFamily="34" charset="-120"/>
              </a:rPr>
              <a:t>Foreign Powers</a:t>
            </a:r>
            <a:endParaRPr lang="en-US" sz="1700" dirty="0"/>
          </a:p>
        </p:txBody>
      </p:sp>
      <p:sp>
        <p:nvSpPr>
          <p:cNvPr id="9" name="Text 5"/>
          <p:cNvSpPr/>
          <p:nvPr/>
        </p:nvSpPr>
        <p:spPr>
          <a:xfrm>
            <a:off x="4965144" y="4170878"/>
            <a:ext cx="2377202" cy="277892"/>
          </a:xfrm>
          <a:prstGeom prst="rect">
            <a:avLst/>
          </a:prstGeom>
          <a:noFill/>
          <a:ln/>
        </p:spPr>
        <p:txBody>
          <a:bodyPr wrap="none" lIns="0" tIns="0" rIns="0" bIns="0" rtlCol="0" anchor="t"/>
          <a:lstStyle/>
          <a:p>
            <a:pPr marL="0" indent="0" algn="l">
              <a:lnSpc>
                <a:spcPts val="2150"/>
              </a:lnSpc>
              <a:buNone/>
            </a:pPr>
            <a:r>
              <a:rPr lang="en-US" sz="1350" dirty="0">
                <a:solidFill>
                  <a:srgbClr val="C9C9C0"/>
                </a:solidFill>
                <a:latin typeface="Tomorrow" pitchFamily="34" charset="0"/>
                <a:ea typeface="Tomorrow" pitchFamily="34" charset="-122"/>
                <a:cs typeface="Tomorrow" pitchFamily="34" charset="-120"/>
              </a:rPr>
              <a:t>Britain, France, United States</a:t>
            </a:r>
            <a:endParaRPr lang="en-US" sz="1350" dirty="0"/>
          </a:p>
        </p:txBody>
      </p:sp>
      <p:sp>
        <p:nvSpPr>
          <p:cNvPr id="10" name="Shape 6"/>
          <p:cNvSpPr/>
          <p:nvPr/>
        </p:nvSpPr>
        <p:spPr>
          <a:xfrm>
            <a:off x="4834771" y="4634627"/>
            <a:ext cx="9144357" cy="11430"/>
          </a:xfrm>
          <a:prstGeom prst="roundRect">
            <a:avLst>
              <a:gd name="adj" fmla="val 227985"/>
            </a:avLst>
          </a:prstGeom>
          <a:solidFill>
            <a:srgbClr val="555553"/>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2301478" y="4665821"/>
            <a:ext cx="3320058" cy="1000958"/>
          </a:xfrm>
          <a:prstGeom prst="rect">
            <a:avLst/>
          </a:prstGeom>
        </p:spPr>
      </p:pic>
      <p:pic>
        <p:nvPicPr>
          <p:cNvPr id="12" name="Image 3" descr="preencoded.png"/>
          <p:cNvPicPr>
            <a:picLocks noChangeAspect="1"/>
          </p:cNvPicPr>
          <p:nvPr/>
        </p:nvPicPr>
        <p:blipFill>
          <a:blip r:embed="rId6"/>
          <a:stretch>
            <a:fillRect/>
          </a:stretch>
        </p:blipFill>
        <p:spPr>
          <a:xfrm>
            <a:off x="3839289" y="5013603"/>
            <a:ext cx="244197" cy="305276"/>
          </a:xfrm>
          <a:prstGeom prst="rect">
            <a:avLst/>
          </a:prstGeom>
        </p:spPr>
      </p:pic>
      <p:sp>
        <p:nvSpPr>
          <p:cNvPr id="13" name="Text 7"/>
          <p:cNvSpPr/>
          <p:nvPr/>
        </p:nvSpPr>
        <p:spPr>
          <a:xfrm>
            <a:off x="5795248" y="4839533"/>
            <a:ext cx="2012513" cy="271463"/>
          </a:xfrm>
          <a:prstGeom prst="rect">
            <a:avLst/>
          </a:prstGeom>
          <a:noFill/>
          <a:ln/>
        </p:spPr>
        <p:txBody>
          <a:bodyPr wrap="none" lIns="0" tIns="0" rIns="0" bIns="0" rtlCol="0" anchor="t"/>
          <a:lstStyle/>
          <a:p>
            <a:pPr marL="0" indent="0" algn="l">
              <a:lnSpc>
                <a:spcPts val="2100"/>
              </a:lnSpc>
              <a:buNone/>
            </a:pPr>
            <a:r>
              <a:rPr lang="en-US" sz="1700" dirty="0">
                <a:solidFill>
                  <a:srgbClr val="C9C9C0"/>
                </a:solidFill>
                <a:latin typeface="Tomorrow Semi Bold" pitchFamily="34" charset="0"/>
                <a:ea typeface="Tomorrow Semi Bold" pitchFamily="34" charset="-122"/>
                <a:cs typeface="Tomorrow Semi Bold" pitchFamily="34" charset="-120"/>
              </a:rPr>
              <a:t>Economic Control</a:t>
            </a:r>
            <a:endParaRPr lang="en-US" sz="1700" dirty="0"/>
          </a:p>
        </p:txBody>
      </p:sp>
      <p:sp>
        <p:nvSpPr>
          <p:cNvPr id="14" name="Text 8"/>
          <p:cNvSpPr/>
          <p:nvPr/>
        </p:nvSpPr>
        <p:spPr>
          <a:xfrm>
            <a:off x="5795248" y="5215176"/>
            <a:ext cx="2012513" cy="277892"/>
          </a:xfrm>
          <a:prstGeom prst="rect">
            <a:avLst/>
          </a:prstGeom>
          <a:noFill/>
          <a:ln/>
        </p:spPr>
        <p:txBody>
          <a:bodyPr wrap="none" lIns="0" tIns="0" rIns="0" bIns="0" rtlCol="0" anchor="t"/>
          <a:lstStyle/>
          <a:p>
            <a:pPr marL="0" indent="0" algn="l">
              <a:lnSpc>
                <a:spcPts val="2150"/>
              </a:lnSpc>
              <a:buNone/>
            </a:pPr>
            <a:r>
              <a:rPr lang="en-US" sz="1350" dirty="0">
                <a:solidFill>
                  <a:srgbClr val="C9C9C0"/>
                </a:solidFill>
                <a:latin typeface="Tomorrow" pitchFamily="34" charset="0"/>
                <a:ea typeface="Tomorrow" pitchFamily="34" charset="-122"/>
                <a:cs typeface="Tomorrow" pitchFamily="34" charset="-120"/>
              </a:rPr>
              <a:t>Trade, loans, investment</a:t>
            </a:r>
            <a:endParaRPr lang="en-US" sz="1350" dirty="0"/>
          </a:p>
        </p:txBody>
      </p:sp>
      <p:sp>
        <p:nvSpPr>
          <p:cNvPr id="15" name="Shape 9"/>
          <p:cNvSpPr/>
          <p:nvPr/>
        </p:nvSpPr>
        <p:spPr>
          <a:xfrm>
            <a:off x="5664875" y="5678924"/>
            <a:ext cx="8314253" cy="11430"/>
          </a:xfrm>
          <a:prstGeom prst="roundRect">
            <a:avLst>
              <a:gd name="adj" fmla="val 227985"/>
            </a:avLst>
          </a:prstGeom>
          <a:solidFill>
            <a:srgbClr val="555553"/>
          </a:solidFill>
          <a:ln/>
        </p:spPr>
        <p:txBody>
          <a:bodyPr/>
          <a:lstStyle/>
          <a:p>
            <a:endParaRPr lang="en-US"/>
          </a:p>
        </p:txBody>
      </p:sp>
      <p:pic>
        <p:nvPicPr>
          <p:cNvPr id="16" name="Image 4" descr="preencoded.png"/>
          <p:cNvPicPr>
            <a:picLocks noChangeAspect="1"/>
          </p:cNvPicPr>
          <p:nvPr/>
        </p:nvPicPr>
        <p:blipFill>
          <a:blip r:embed="rId7"/>
          <a:stretch>
            <a:fillRect/>
          </a:stretch>
        </p:blipFill>
        <p:spPr>
          <a:xfrm>
            <a:off x="1471493" y="5710118"/>
            <a:ext cx="4980027" cy="1000958"/>
          </a:xfrm>
          <a:prstGeom prst="rect">
            <a:avLst/>
          </a:prstGeom>
        </p:spPr>
      </p:pic>
      <p:pic>
        <p:nvPicPr>
          <p:cNvPr id="17" name="Image 5" descr="preencoded.png"/>
          <p:cNvPicPr>
            <a:picLocks noChangeAspect="1"/>
          </p:cNvPicPr>
          <p:nvPr/>
        </p:nvPicPr>
        <p:blipFill>
          <a:blip r:embed="rId8"/>
          <a:stretch>
            <a:fillRect/>
          </a:stretch>
        </p:blipFill>
        <p:spPr>
          <a:xfrm>
            <a:off x="3839289" y="6057900"/>
            <a:ext cx="244197" cy="305276"/>
          </a:xfrm>
          <a:prstGeom prst="rect">
            <a:avLst/>
          </a:prstGeom>
        </p:spPr>
      </p:pic>
      <p:sp>
        <p:nvSpPr>
          <p:cNvPr id="18" name="Text 10"/>
          <p:cNvSpPr/>
          <p:nvPr/>
        </p:nvSpPr>
        <p:spPr>
          <a:xfrm>
            <a:off x="6625233" y="5883831"/>
            <a:ext cx="2171462" cy="271463"/>
          </a:xfrm>
          <a:prstGeom prst="rect">
            <a:avLst/>
          </a:prstGeom>
          <a:noFill/>
          <a:ln/>
        </p:spPr>
        <p:txBody>
          <a:bodyPr wrap="none" lIns="0" tIns="0" rIns="0" bIns="0" rtlCol="0" anchor="t"/>
          <a:lstStyle/>
          <a:p>
            <a:pPr marL="0" indent="0" algn="l">
              <a:lnSpc>
                <a:spcPts val="2100"/>
              </a:lnSpc>
              <a:buNone/>
            </a:pPr>
            <a:r>
              <a:rPr lang="en-US" sz="1700" dirty="0">
                <a:solidFill>
                  <a:srgbClr val="C9C9C0"/>
                </a:solidFill>
                <a:latin typeface="Tomorrow Semi Bold" pitchFamily="34" charset="0"/>
                <a:ea typeface="Tomorrow Semi Bold" pitchFamily="34" charset="-122"/>
                <a:cs typeface="Tomorrow Semi Bold" pitchFamily="34" charset="-120"/>
              </a:rPr>
              <a:t>Export Economies</a:t>
            </a:r>
            <a:endParaRPr lang="en-US" sz="1700" dirty="0"/>
          </a:p>
        </p:txBody>
      </p:sp>
      <p:sp>
        <p:nvSpPr>
          <p:cNvPr id="19" name="Text 11"/>
          <p:cNvSpPr/>
          <p:nvPr/>
        </p:nvSpPr>
        <p:spPr>
          <a:xfrm>
            <a:off x="6625233" y="6259473"/>
            <a:ext cx="2985492" cy="277892"/>
          </a:xfrm>
          <a:prstGeom prst="rect">
            <a:avLst/>
          </a:prstGeom>
          <a:noFill/>
          <a:ln/>
        </p:spPr>
        <p:txBody>
          <a:bodyPr wrap="none" lIns="0" tIns="0" rIns="0" bIns="0" rtlCol="0" anchor="t"/>
          <a:lstStyle/>
          <a:p>
            <a:pPr marL="0" indent="0" algn="l">
              <a:lnSpc>
                <a:spcPts val="2150"/>
              </a:lnSpc>
              <a:buNone/>
            </a:pPr>
            <a:r>
              <a:rPr lang="en-US" sz="1350" dirty="0">
                <a:solidFill>
                  <a:srgbClr val="C9C9C0"/>
                </a:solidFill>
                <a:latin typeface="Tomorrow" pitchFamily="34" charset="0"/>
                <a:ea typeface="Tomorrow" pitchFamily="34" charset="-122"/>
                <a:cs typeface="Tomorrow" pitchFamily="34" charset="-120"/>
              </a:rPr>
              <a:t>Raw materials, agricultural products</a:t>
            </a:r>
            <a:endParaRPr lang="en-US" sz="1350" dirty="0"/>
          </a:p>
        </p:txBody>
      </p:sp>
      <p:sp>
        <p:nvSpPr>
          <p:cNvPr id="20" name="Shape 12"/>
          <p:cNvSpPr/>
          <p:nvPr/>
        </p:nvSpPr>
        <p:spPr>
          <a:xfrm>
            <a:off x="6494859" y="6723221"/>
            <a:ext cx="7484269" cy="11430"/>
          </a:xfrm>
          <a:prstGeom prst="roundRect">
            <a:avLst>
              <a:gd name="adj" fmla="val 227985"/>
            </a:avLst>
          </a:prstGeom>
          <a:solidFill>
            <a:srgbClr val="555553"/>
          </a:solidFill>
          <a:ln/>
        </p:spPr>
        <p:txBody>
          <a:bodyPr/>
          <a:lstStyle/>
          <a:p>
            <a:endParaRPr lang="en-US"/>
          </a:p>
        </p:txBody>
      </p:sp>
      <p:pic>
        <p:nvPicPr>
          <p:cNvPr id="21" name="Image 6" descr="preencoded.png"/>
          <p:cNvPicPr>
            <a:picLocks noChangeAspect="1"/>
          </p:cNvPicPr>
          <p:nvPr/>
        </p:nvPicPr>
        <p:blipFill>
          <a:blip r:embed="rId9"/>
          <a:stretch>
            <a:fillRect/>
          </a:stretch>
        </p:blipFill>
        <p:spPr>
          <a:xfrm>
            <a:off x="641390" y="6754416"/>
            <a:ext cx="6640116" cy="1000958"/>
          </a:xfrm>
          <a:prstGeom prst="rect">
            <a:avLst/>
          </a:prstGeom>
        </p:spPr>
      </p:pic>
      <p:pic>
        <p:nvPicPr>
          <p:cNvPr id="22" name="Image 7" descr="preencoded.png"/>
          <p:cNvPicPr>
            <a:picLocks noChangeAspect="1"/>
          </p:cNvPicPr>
          <p:nvPr/>
        </p:nvPicPr>
        <p:blipFill>
          <a:blip r:embed="rId10"/>
          <a:stretch>
            <a:fillRect/>
          </a:stretch>
        </p:blipFill>
        <p:spPr>
          <a:xfrm>
            <a:off x="3839289" y="7102197"/>
            <a:ext cx="244197" cy="305276"/>
          </a:xfrm>
          <a:prstGeom prst="rect">
            <a:avLst/>
          </a:prstGeom>
        </p:spPr>
      </p:pic>
      <p:sp>
        <p:nvSpPr>
          <p:cNvPr id="23" name="Text 13"/>
          <p:cNvSpPr/>
          <p:nvPr/>
        </p:nvSpPr>
        <p:spPr>
          <a:xfrm>
            <a:off x="7455217" y="6928128"/>
            <a:ext cx="2171462" cy="271463"/>
          </a:xfrm>
          <a:prstGeom prst="rect">
            <a:avLst/>
          </a:prstGeom>
          <a:noFill/>
          <a:ln/>
        </p:spPr>
        <p:txBody>
          <a:bodyPr wrap="none" lIns="0" tIns="0" rIns="0" bIns="0" rtlCol="0" anchor="t"/>
          <a:lstStyle/>
          <a:p>
            <a:pPr marL="0" indent="0" algn="l">
              <a:lnSpc>
                <a:spcPts val="2100"/>
              </a:lnSpc>
              <a:buNone/>
            </a:pPr>
            <a:r>
              <a:rPr lang="en-US" sz="1700" dirty="0">
                <a:solidFill>
                  <a:srgbClr val="C9C9C0"/>
                </a:solidFill>
                <a:latin typeface="Tomorrow Semi Bold" pitchFamily="34" charset="0"/>
                <a:ea typeface="Tomorrow Semi Bold" pitchFamily="34" charset="-122"/>
                <a:cs typeface="Tomorrow Semi Bold" pitchFamily="34" charset="-120"/>
              </a:rPr>
              <a:t>Local Populations</a:t>
            </a:r>
            <a:endParaRPr lang="en-US" sz="1700" dirty="0"/>
          </a:p>
        </p:txBody>
      </p:sp>
      <p:sp>
        <p:nvSpPr>
          <p:cNvPr id="24" name="Text 14"/>
          <p:cNvSpPr/>
          <p:nvPr/>
        </p:nvSpPr>
        <p:spPr>
          <a:xfrm>
            <a:off x="7455217" y="7303770"/>
            <a:ext cx="2922984" cy="277892"/>
          </a:xfrm>
          <a:prstGeom prst="rect">
            <a:avLst/>
          </a:prstGeom>
          <a:noFill/>
          <a:ln/>
        </p:spPr>
        <p:txBody>
          <a:bodyPr wrap="none" lIns="0" tIns="0" rIns="0" bIns="0" rtlCol="0" anchor="t"/>
          <a:lstStyle/>
          <a:p>
            <a:pPr marL="0" indent="0" algn="l">
              <a:lnSpc>
                <a:spcPts val="2150"/>
              </a:lnSpc>
              <a:buNone/>
            </a:pPr>
            <a:r>
              <a:rPr lang="en-US" sz="1350" dirty="0">
                <a:solidFill>
                  <a:srgbClr val="C9C9C0"/>
                </a:solidFill>
                <a:latin typeface="Tomorrow" pitchFamily="34" charset="0"/>
                <a:ea typeface="Tomorrow" pitchFamily="34" charset="-122"/>
                <a:cs typeface="Tomorrow" pitchFamily="34" charset="-120"/>
              </a:rPr>
              <a:t>Limited benefits, continued poverty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p:nvPr/>
        </p:nvSpPr>
        <p:spPr>
          <a:xfrm>
            <a:off x="421719" y="674263"/>
            <a:ext cx="6593324" cy="376595"/>
          </a:xfrm>
          <a:prstGeom prst="rect">
            <a:avLst/>
          </a:prstGeom>
          <a:noFill/>
          <a:ln/>
        </p:spPr>
        <p:txBody>
          <a:bodyPr wrap="none" lIns="0" tIns="0" rIns="0" bIns="0" rtlCol="0" anchor="t"/>
          <a:lstStyle/>
          <a:p>
            <a:pPr marL="0" indent="0" algn="l">
              <a:lnSpc>
                <a:spcPts val="2950"/>
              </a:lnSpc>
              <a:buNone/>
            </a:pPr>
            <a:r>
              <a:rPr lang="en-US" sz="4100" dirty="0">
                <a:solidFill>
                  <a:srgbClr val="EDEDE8"/>
                </a:solidFill>
                <a:latin typeface="Tomorrow Semi Bold" pitchFamily="34" charset="0"/>
                <a:ea typeface="Tomorrow Semi Bold" pitchFamily="34" charset="-122"/>
                <a:cs typeface="Tomorrow Semi Bold" pitchFamily="34" charset="-120"/>
              </a:rPr>
              <a:t>The U.S.–Mexico War: Territory and Identity</a:t>
            </a:r>
            <a:endParaRPr lang="en-US" sz="4100" dirty="0"/>
          </a:p>
        </p:txBody>
      </p:sp>
      <p:sp>
        <p:nvSpPr>
          <p:cNvPr id="3" name="Text 1"/>
          <p:cNvSpPr/>
          <p:nvPr/>
        </p:nvSpPr>
        <p:spPr>
          <a:xfrm>
            <a:off x="421720" y="1777608"/>
            <a:ext cx="13265706" cy="385524"/>
          </a:xfrm>
          <a:prstGeom prst="rect">
            <a:avLst/>
          </a:prstGeom>
          <a:noFill/>
          <a:ln/>
        </p:spPr>
        <p:txBody>
          <a:bodyPr wrap="square" lIns="0" tIns="0" rIns="0" bIns="0" rtlCol="0" anchor="t"/>
          <a:lstStyle/>
          <a:p>
            <a:pPr marL="0" indent="0" algn="l">
              <a:buNone/>
            </a:pPr>
            <a:r>
              <a:rPr lang="en-US" dirty="0">
                <a:solidFill>
                  <a:srgbClr val="C9C9C0"/>
                </a:solidFill>
                <a:latin typeface="Tomorrow" pitchFamily="34" charset="0"/>
                <a:ea typeface="Tomorrow" pitchFamily="34" charset="-122"/>
                <a:cs typeface="Tomorrow" pitchFamily="34" charset="-120"/>
              </a:rPr>
              <a:t>The U.S.–Mexico War (1846–1848) represented a pivotal moment in hemispheric relations. Sparked by disputes over Texas and driven by U.S. expansionist ideology of Manifest Destiny, the conflict </a:t>
            </a:r>
            <a:r>
              <a:rPr lang="en-US" b="1" dirty="0">
                <a:solidFill>
                  <a:srgbClr val="C9C9C0"/>
                </a:solidFill>
                <a:latin typeface="Tomorrow" pitchFamily="34" charset="0"/>
                <a:ea typeface="Tomorrow" pitchFamily="34" charset="-122"/>
                <a:cs typeface="Tomorrow" pitchFamily="34" charset="-120"/>
              </a:rPr>
              <a:t>resulted in the loss of half of Mexico's territory</a:t>
            </a:r>
            <a:r>
              <a:rPr lang="en-US" dirty="0">
                <a:solidFill>
                  <a:srgbClr val="C9C9C0"/>
                </a:solidFill>
                <a:latin typeface="Tomorrow" pitchFamily="34" charset="0"/>
                <a:ea typeface="Tomorrow" pitchFamily="34" charset="-122"/>
                <a:cs typeface="Tomorrow" pitchFamily="34" charset="-120"/>
              </a:rPr>
              <a:t>—including California, New Mexico, and Texas.</a:t>
            </a:r>
            <a:endParaRPr lang="en-US" dirty="0"/>
          </a:p>
        </p:txBody>
      </p:sp>
      <p:sp>
        <p:nvSpPr>
          <p:cNvPr id="4" name="Text 2"/>
          <p:cNvSpPr/>
          <p:nvPr/>
        </p:nvSpPr>
        <p:spPr>
          <a:xfrm>
            <a:off x="421720" y="2698680"/>
            <a:ext cx="13265706" cy="385524"/>
          </a:xfrm>
          <a:prstGeom prst="rect">
            <a:avLst/>
          </a:prstGeom>
          <a:noFill/>
          <a:ln/>
        </p:spPr>
        <p:txBody>
          <a:bodyPr wrap="square" lIns="0" tIns="0" rIns="0" bIns="0" rtlCol="0" anchor="t"/>
          <a:lstStyle/>
          <a:p>
            <a:pPr marL="0" indent="0" algn="l">
              <a:buNone/>
            </a:pPr>
            <a:r>
              <a:rPr lang="en-US" dirty="0">
                <a:solidFill>
                  <a:srgbClr val="C9C9C0"/>
                </a:solidFill>
                <a:latin typeface="Tomorrow" pitchFamily="34" charset="0"/>
                <a:ea typeface="Tomorrow" pitchFamily="34" charset="-122"/>
                <a:cs typeface="Tomorrow" pitchFamily="34" charset="-120"/>
              </a:rPr>
              <a:t>This traumatic event profoundly shaped Mexican national identity and soured Mexican views of the United States. It introduced </a:t>
            </a:r>
            <a:r>
              <a:rPr lang="en-US" b="1" dirty="0">
                <a:solidFill>
                  <a:srgbClr val="C9C9C0"/>
                </a:solidFill>
                <a:latin typeface="Tomorrow" pitchFamily="34" charset="0"/>
                <a:ea typeface="Tomorrow" pitchFamily="34" charset="-122"/>
                <a:cs typeface="Tomorrow" pitchFamily="34" charset="-120"/>
              </a:rPr>
              <a:t>a love-hate dynamic</a:t>
            </a:r>
            <a:r>
              <a:rPr lang="en-US" dirty="0">
                <a:solidFill>
                  <a:srgbClr val="C9C9C0"/>
                </a:solidFill>
                <a:latin typeface="Tomorrow" pitchFamily="34" charset="0"/>
                <a:ea typeface="Tomorrow" pitchFamily="34" charset="-122"/>
                <a:cs typeface="Tomorrow" pitchFamily="34" charset="-120"/>
              </a:rPr>
              <a:t> in hemispheric relations that would persist for generations, combining admiration for U.S. power with resentment of its imperialism.</a:t>
            </a:r>
            <a:endParaRPr lang="en-US" dirty="0"/>
          </a:p>
        </p:txBody>
      </p:sp>
      <p:sp>
        <p:nvSpPr>
          <p:cNvPr id="5" name="Text 3"/>
          <p:cNvSpPr/>
          <p:nvPr/>
        </p:nvSpPr>
        <p:spPr>
          <a:xfrm>
            <a:off x="421720" y="3691186"/>
            <a:ext cx="13265706" cy="980827"/>
          </a:xfrm>
          <a:prstGeom prst="rect">
            <a:avLst/>
          </a:prstGeom>
          <a:noFill/>
          <a:ln/>
        </p:spPr>
        <p:txBody>
          <a:bodyPr wrap="none" lIns="0" tIns="0" rIns="0" bIns="0" rtlCol="0" anchor="t"/>
          <a:lstStyle/>
          <a:p>
            <a:pPr marL="0" indent="0" algn="l">
              <a:buNone/>
            </a:pPr>
            <a:r>
              <a:rPr lang="en-US" dirty="0">
                <a:solidFill>
                  <a:srgbClr val="C9C9C0"/>
                </a:solidFill>
                <a:latin typeface="Tomorrow" pitchFamily="34" charset="0"/>
                <a:ea typeface="Tomorrow" pitchFamily="34" charset="-122"/>
                <a:cs typeface="Tomorrow" pitchFamily="34" charset="-120"/>
              </a:rPr>
              <a:t>For the United States, the victory reinforced beliefs in national superiority, while for Mexico, the defeat prompted </a:t>
            </a:r>
          </a:p>
          <a:p>
            <a:pPr marL="0" indent="0" algn="l">
              <a:buNone/>
            </a:pPr>
            <a:r>
              <a:rPr lang="en-US" dirty="0">
                <a:solidFill>
                  <a:srgbClr val="C9C9C0"/>
                </a:solidFill>
                <a:latin typeface="Tomorrow" pitchFamily="34" charset="0"/>
                <a:ea typeface="Tomorrow" pitchFamily="34" charset="-122"/>
                <a:cs typeface="Tomorrow" pitchFamily="34" charset="-120"/>
              </a:rPr>
              <a:t>soul-searching about national weakness and the need for reform.</a:t>
            </a:r>
            <a:endParaRPr lang="en-US" dirty="0"/>
          </a:p>
        </p:txBody>
      </p:sp>
      <p:pic>
        <p:nvPicPr>
          <p:cNvPr id="1026" name="Picture 2" descr="Mexican-American War | Significance, Battles, Results, Timeline, &amp; Facts |  Britannica">
            <a:extLst>
              <a:ext uri="{FF2B5EF4-FFF2-40B4-BE49-F238E27FC236}">
                <a16:creationId xmlns:a16="http://schemas.microsoft.com/office/drawing/2014/main" id="{77EFA309-0079-93DF-9388-EE9871DDDF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4" y="4500563"/>
            <a:ext cx="5765799" cy="32432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imeline">
            <a:extLst>
              <a:ext uri="{FF2B5EF4-FFF2-40B4-BE49-F238E27FC236}">
                <a16:creationId xmlns:a16="http://schemas.microsoft.com/office/drawing/2014/main" id="{2DFEEBB6-E838-4540-016A-F3E12D36FB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33603" y="4248150"/>
            <a:ext cx="3782991" cy="3495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p:nvPr/>
        </p:nvSpPr>
        <p:spPr>
          <a:xfrm>
            <a:off x="738188" y="587335"/>
            <a:ext cx="8513921" cy="659130"/>
          </a:xfrm>
          <a:prstGeom prst="rect">
            <a:avLst/>
          </a:prstGeom>
          <a:noFill/>
          <a:ln/>
        </p:spPr>
        <p:txBody>
          <a:bodyPr wrap="none" lIns="0" tIns="0" rIns="0" bIns="0" rtlCol="0" anchor="t"/>
          <a:lstStyle/>
          <a:p>
            <a:pPr marL="0" indent="0" algn="l">
              <a:lnSpc>
                <a:spcPts val="5150"/>
              </a:lnSpc>
              <a:buNone/>
            </a:pPr>
            <a:r>
              <a:rPr lang="en-US" sz="4150" dirty="0">
                <a:solidFill>
                  <a:srgbClr val="EDEDE8"/>
                </a:solidFill>
                <a:latin typeface="Tomorrow Semi Bold" pitchFamily="34" charset="0"/>
                <a:ea typeface="Tomorrow Semi Bold" pitchFamily="34" charset="-122"/>
                <a:cs typeface="Tomorrow Semi Bold" pitchFamily="34" charset="-120"/>
              </a:rPr>
              <a:t>Gender and Cultural Hierarchies</a:t>
            </a:r>
            <a:endParaRPr lang="en-US" sz="4150" dirty="0"/>
          </a:p>
        </p:txBody>
      </p:sp>
      <p:sp>
        <p:nvSpPr>
          <p:cNvPr id="3" name="Text 1"/>
          <p:cNvSpPr/>
          <p:nvPr/>
        </p:nvSpPr>
        <p:spPr>
          <a:xfrm>
            <a:off x="738188" y="1668185"/>
            <a:ext cx="13154025" cy="1011912"/>
          </a:xfrm>
          <a:prstGeom prst="rect">
            <a:avLst/>
          </a:prstGeom>
          <a:noFill/>
          <a:ln/>
        </p:spPr>
        <p:txBody>
          <a:bodyPr wrap="square" lIns="0" tIns="0" rIns="0" bIns="0" rtlCol="0" anchor="t"/>
          <a:lstStyle/>
          <a:p>
            <a:pPr marL="0" indent="0" algn="l">
              <a:lnSpc>
                <a:spcPts val="2650"/>
              </a:lnSpc>
              <a:buNone/>
            </a:pPr>
            <a:r>
              <a:rPr lang="en-US" sz="1650" b="1" dirty="0">
                <a:solidFill>
                  <a:srgbClr val="C9C9C0"/>
                </a:solidFill>
                <a:latin typeface="Tomorrow" pitchFamily="34" charset="0"/>
                <a:ea typeface="Tomorrow" pitchFamily="34" charset="-122"/>
                <a:cs typeface="Tomorrow" pitchFamily="34" charset="-120"/>
              </a:rPr>
              <a:t>Women</a:t>
            </a:r>
            <a:r>
              <a:rPr lang="en-US" sz="1650" dirty="0">
                <a:solidFill>
                  <a:srgbClr val="C9C9C0"/>
                </a:solidFill>
                <a:latin typeface="Tomorrow" pitchFamily="34" charset="0"/>
                <a:ea typeface="Tomorrow" pitchFamily="34" charset="-122"/>
                <a:cs typeface="Tomorrow" pitchFamily="34" charset="-120"/>
              </a:rPr>
              <a:t> were largely excluded from public life in post-independence Latin America, prominent only through their relationships to powerful men. Notable exceptions like </a:t>
            </a:r>
            <a:r>
              <a:rPr lang="en-US" sz="1650" b="1" dirty="0">
                <a:solidFill>
                  <a:srgbClr val="C9C9C0"/>
                </a:solidFill>
                <a:latin typeface="Tomorrow" pitchFamily="34" charset="0"/>
                <a:ea typeface="Tomorrow" pitchFamily="34" charset="-122"/>
                <a:cs typeface="Tomorrow" pitchFamily="34" charset="-120"/>
              </a:rPr>
              <a:t>Encarnación Ezcurra</a:t>
            </a:r>
            <a:r>
              <a:rPr lang="en-US" sz="1650" dirty="0">
                <a:solidFill>
                  <a:srgbClr val="C9C9C0"/>
                </a:solidFill>
                <a:latin typeface="Tomorrow" pitchFamily="34" charset="0"/>
                <a:ea typeface="Tomorrow" pitchFamily="34" charset="-122"/>
                <a:cs typeface="Tomorrow" pitchFamily="34" charset="-120"/>
              </a:rPr>
              <a:t>, </a:t>
            </a:r>
            <a:r>
              <a:rPr lang="en-US" sz="1650" b="1" dirty="0">
                <a:solidFill>
                  <a:srgbClr val="C9C9C0"/>
                </a:solidFill>
                <a:latin typeface="Tomorrow" pitchFamily="34" charset="0"/>
                <a:ea typeface="Tomorrow" pitchFamily="34" charset="-122"/>
                <a:cs typeface="Tomorrow" pitchFamily="34" charset="-120"/>
              </a:rPr>
              <a:t>Manuela Rosas</a:t>
            </a:r>
            <a:r>
              <a:rPr lang="en-US" sz="1650" dirty="0">
                <a:solidFill>
                  <a:srgbClr val="C9C9C0"/>
                </a:solidFill>
                <a:latin typeface="Tomorrow" pitchFamily="34" charset="0"/>
                <a:ea typeface="Tomorrow" pitchFamily="34" charset="-122"/>
                <a:cs typeface="Tomorrow" pitchFamily="34" charset="-120"/>
              </a:rPr>
              <a:t>, and </a:t>
            </a:r>
            <a:r>
              <a:rPr lang="en-US" sz="1650" b="1" dirty="0">
                <a:solidFill>
                  <a:srgbClr val="C9C9C0"/>
                </a:solidFill>
                <a:latin typeface="Tomorrow" pitchFamily="34" charset="0"/>
                <a:ea typeface="Tomorrow" pitchFamily="34" charset="-122"/>
                <a:cs typeface="Tomorrow" pitchFamily="34" charset="-120"/>
              </a:rPr>
              <a:t>Camila O'Gorman</a:t>
            </a:r>
            <a:r>
              <a:rPr lang="en-US" sz="1650" dirty="0">
                <a:solidFill>
                  <a:srgbClr val="C9C9C0"/>
                </a:solidFill>
                <a:latin typeface="Tomorrow" pitchFamily="34" charset="0"/>
                <a:ea typeface="Tomorrow" pitchFamily="34" charset="-122"/>
                <a:cs typeface="Tomorrow" pitchFamily="34" charset="-120"/>
              </a:rPr>
              <a:t> gained influence through family connections rather than independent political standing.</a:t>
            </a:r>
            <a:endParaRPr lang="en-US" sz="1650" dirty="0"/>
          </a:p>
        </p:txBody>
      </p:sp>
      <p:sp>
        <p:nvSpPr>
          <p:cNvPr id="4" name="Text 2"/>
          <p:cNvSpPr/>
          <p:nvPr/>
        </p:nvSpPr>
        <p:spPr>
          <a:xfrm>
            <a:off x="738188" y="2917269"/>
            <a:ext cx="13154025" cy="1011912"/>
          </a:xfrm>
          <a:prstGeom prst="rect">
            <a:avLst/>
          </a:prstGeom>
          <a:noFill/>
          <a:ln/>
        </p:spPr>
        <p:txBody>
          <a:bodyPr wrap="square" lIns="0" tIns="0" rIns="0" bIns="0" rtlCol="0" anchor="t"/>
          <a:lstStyle/>
          <a:p>
            <a:pPr marL="0" indent="0" algn="l">
              <a:lnSpc>
                <a:spcPts val="2650"/>
              </a:lnSpc>
              <a:buNone/>
            </a:pPr>
            <a:r>
              <a:rPr lang="en-US" sz="1650" b="1" dirty="0">
                <a:solidFill>
                  <a:srgbClr val="C9C9C0"/>
                </a:solidFill>
                <a:latin typeface="Tomorrow" pitchFamily="34" charset="0"/>
                <a:ea typeface="Tomorrow" pitchFamily="34" charset="-122"/>
                <a:cs typeface="Tomorrow" pitchFamily="34" charset="-120"/>
              </a:rPr>
              <a:t>Cultural hegemony</a:t>
            </a:r>
            <a:r>
              <a:rPr lang="en-US" sz="1650" dirty="0">
                <a:solidFill>
                  <a:srgbClr val="C9C9C0"/>
                </a:solidFill>
                <a:latin typeface="Tomorrow" pitchFamily="34" charset="0"/>
                <a:ea typeface="Tomorrow" pitchFamily="34" charset="-122"/>
                <a:cs typeface="Tomorrow" pitchFamily="34" charset="-120"/>
              </a:rPr>
              <a:t> ensured European norms remained dominant throughout society. Writing, education, and political participation were restricted to elites who defined themselves through European standards of fashion, speech, and culture. </a:t>
            </a:r>
            <a:r>
              <a:rPr lang="en-US" sz="1650" b="1" dirty="0">
                <a:solidFill>
                  <a:srgbClr val="C9C9C0"/>
                </a:solidFill>
                <a:latin typeface="Tomorrow" pitchFamily="34" charset="0"/>
                <a:ea typeface="Tomorrow" pitchFamily="34" charset="-122"/>
                <a:cs typeface="Tomorrow" pitchFamily="34" charset="-120"/>
              </a:rPr>
              <a:t>Honor and respectability</a:t>
            </a:r>
            <a:r>
              <a:rPr lang="en-US" sz="1650" dirty="0">
                <a:solidFill>
                  <a:srgbClr val="C9C9C0"/>
                </a:solidFill>
                <a:latin typeface="Tomorrow" pitchFamily="34" charset="0"/>
                <a:ea typeface="Tomorrow" pitchFamily="34" charset="-122"/>
                <a:cs typeface="Tomorrow" pitchFamily="34" charset="-120"/>
              </a:rPr>
              <a:t> became crucial markers of social status.</a:t>
            </a:r>
            <a:endParaRPr lang="en-US" sz="1650" dirty="0"/>
          </a:p>
        </p:txBody>
      </p:sp>
      <p:sp>
        <p:nvSpPr>
          <p:cNvPr id="5" name="Text 3"/>
          <p:cNvSpPr/>
          <p:nvPr/>
        </p:nvSpPr>
        <p:spPr>
          <a:xfrm>
            <a:off x="738188" y="4166354"/>
            <a:ext cx="13154025" cy="674608"/>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Though the formal </a:t>
            </a:r>
            <a:r>
              <a:rPr lang="en-US" sz="1650" b="1" dirty="0">
                <a:solidFill>
                  <a:srgbClr val="C9C9C0"/>
                </a:solidFill>
                <a:latin typeface="Tomorrow" pitchFamily="34" charset="0"/>
                <a:ea typeface="Tomorrow" pitchFamily="34" charset="-122"/>
                <a:cs typeface="Tomorrow" pitchFamily="34" charset="-120"/>
              </a:rPr>
              <a:t>caste system</a:t>
            </a:r>
            <a:r>
              <a:rPr lang="en-US" sz="1650" dirty="0">
                <a:solidFill>
                  <a:srgbClr val="C9C9C0"/>
                </a:solidFill>
                <a:latin typeface="Tomorrow" pitchFamily="34" charset="0"/>
                <a:ea typeface="Tomorrow" pitchFamily="34" charset="-122"/>
                <a:cs typeface="Tomorrow" pitchFamily="34" charset="-120"/>
              </a:rPr>
              <a:t> declined after independence, </a:t>
            </a:r>
            <a:r>
              <a:rPr lang="en-US" sz="1650" b="1" dirty="0">
                <a:solidFill>
                  <a:srgbClr val="C9C9C0"/>
                </a:solidFill>
                <a:latin typeface="Tomorrow" pitchFamily="34" charset="0"/>
                <a:ea typeface="Tomorrow" pitchFamily="34" charset="-122"/>
                <a:cs typeface="Tomorrow" pitchFamily="34" charset="-120"/>
              </a:rPr>
              <a:t>class and racial inequalities persisted</a:t>
            </a:r>
            <a:r>
              <a:rPr lang="en-US" sz="1650" dirty="0">
                <a:solidFill>
                  <a:srgbClr val="C9C9C0"/>
                </a:solidFill>
                <a:latin typeface="Tomorrow" pitchFamily="34" charset="0"/>
                <a:ea typeface="Tomorrow" pitchFamily="34" charset="-122"/>
                <a:cs typeface="Tomorrow" pitchFamily="34" charset="-120"/>
              </a:rPr>
              <a:t>, now framed in more subtle terms of "civilization" versus "barbarism" rather than explicit racial categories.</a:t>
            </a:r>
            <a:endParaRPr lang="en-US" sz="1650" dirty="0"/>
          </a:p>
        </p:txBody>
      </p:sp>
      <p:sp>
        <p:nvSpPr>
          <p:cNvPr id="6" name="Shape 4"/>
          <p:cNvSpPr/>
          <p:nvPr/>
        </p:nvSpPr>
        <p:spPr>
          <a:xfrm>
            <a:off x="738188" y="5078135"/>
            <a:ext cx="4244102" cy="2564130"/>
          </a:xfrm>
          <a:prstGeom prst="roundRect">
            <a:avLst>
              <a:gd name="adj" fmla="val 1234"/>
            </a:avLst>
          </a:prstGeom>
          <a:solidFill>
            <a:srgbClr val="3C3C3A"/>
          </a:solidFill>
          <a:ln/>
        </p:spPr>
        <p:txBody>
          <a:bodyPr/>
          <a:lstStyle/>
          <a:p>
            <a:endParaRPr lang="en-US"/>
          </a:p>
        </p:txBody>
      </p:sp>
      <p:sp>
        <p:nvSpPr>
          <p:cNvPr id="7" name="Text 5"/>
          <p:cNvSpPr/>
          <p:nvPr/>
        </p:nvSpPr>
        <p:spPr>
          <a:xfrm>
            <a:off x="949047" y="5288994"/>
            <a:ext cx="2636401" cy="329446"/>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Elite Women</a:t>
            </a:r>
            <a:endParaRPr lang="en-US" sz="2050" dirty="0"/>
          </a:p>
        </p:txBody>
      </p:sp>
      <p:sp>
        <p:nvSpPr>
          <p:cNvPr id="8" name="Text 6"/>
          <p:cNvSpPr/>
          <p:nvPr/>
        </p:nvSpPr>
        <p:spPr>
          <a:xfrm>
            <a:off x="949047" y="5744885"/>
            <a:ext cx="3822382" cy="1686520"/>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Gained limited influence through family connections to powerful men, maintained social networks, and upheld European cultural standards in domestic spheres.</a:t>
            </a:r>
            <a:endParaRPr lang="en-US" sz="1650" dirty="0"/>
          </a:p>
        </p:txBody>
      </p:sp>
      <p:sp>
        <p:nvSpPr>
          <p:cNvPr id="9" name="Shape 7"/>
          <p:cNvSpPr/>
          <p:nvPr/>
        </p:nvSpPr>
        <p:spPr>
          <a:xfrm>
            <a:off x="5193149" y="5078135"/>
            <a:ext cx="4244102" cy="2564130"/>
          </a:xfrm>
          <a:prstGeom prst="roundRect">
            <a:avLst>
              <a:gd name="adj" fmla="val 1234"/>
            </a:avLst>
          </a:prstGeom>
          <a:solidFill>
            <a:srgbClr val="3C3C3A"/>
          </a:solidFill>
          <a:ln/>
        </p:spPr>
        <p:txBody>
          <a:bodyPr/>
          <a:lstStyle/>
          <a:p>
            <a:endParaRPr lang="en-US"/>
          </a:p>
        </p:txBody>
      </p:sp>
      <p:sp>
        <p:nvSpPr>
          <p:cNvPr id="10" name="Text 8"/>
          <p:cNvSpPr/>
          <p:nvPr/>
        </p:nvSpPr>
        <p:spPr>
          <a:xfrm>
            <a:off x="5404009" y="5288994"/>
            <a:ext cx="2636401" cy="329446"/>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Indigenous Women</a:t>
            </a:r>
            <a:endParaRPr lang="en-US" sz="2050" dirty="0"/>
          </a:p>
        </p:txBody>
      </p:sp>
      <p:sp>
        <p:nvSpPr>
          <p:cNvPr id="11" name="Text 9"/>
          <p:cNvSpPr/>
          <p:nvPr/>
        </p:nvSpPr>
        <p:spPr>
          <a:xfrm>
            <a:off x="5404009" y="5744885"/>
            <a:ext cx="3822382" cy="1686520"/>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Faced double marginalization based on gender and ethnicity, maintained traditional roles in communities while navigating increasing economic pressures.</a:t>
            </a:r>
            <a:endParaRPr lang="en-US" sz="1650" dirty="0"/>
          </a:p>
        </p:txBody>
      </p:sp>
      <p:sp>
        <p:nvSpPr>
          <p:cNvPr id="12" name="Shape 10"/>
          <p:cNvSpPr/>
          <p:nvPr/>
        </p:nvSpPr>
        <p:spPr>
          <a:xfrm>
            <a:off x="9648111" y="5078135"/>
            <a:ext cx="4244102" cy="2564130"/>
          </a:xfrm>
          <a:prstGeom prst="roundRect">
            <a:avLst>
              <a:gd name="adj" fmla="val 1234"/>
            </a:avLst>
          </a:prstGeom>
          <a:solidFill>
            <a:srgbClr val="3C3C3A"/>
          </a:solidFill>
          <a:ln/>
        </p:spPr>
        <p:txBody>
          <a:bodyPr/>
          <a:lstStyle/>
          <a:p>
            <a:endParaRPr lang="en-US"/>
          </a:p>
        </p:txBody>
      </p:sp>
      <p:sp>
        <p:nvSpPr>
          <p:cNvPr id="13" name="Text 11"/>
          <p:cNvSpPr/>
          <p:nvPr/>
        </p:nvSpPr>
        <p:spPr>
          <a:xfrm>
            <a:off x="9858970" y="5288994"/>
            <a:ext cx="2636401" cy="329446"/>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Afro-Latin Women</a:t>
            </a:r>
            <a:endParaRPr lang="en-US" sz="2050" dirty="0"/>
          </a:p>
        </p:txBody>
      </p:sp>
      <p:sp>
        <p:nvSpPr>
          <p:cNvPr id="14" name="Text 12"/>
          <p:cNvSpPr/>
          <p:nvPr/>
        </p:nvSpPr>
        <p:spPr>
          <a:xfrm>
            <a:off x="9858970" y="5744885"/>
            <a:ext cx="3822382" cy="1686520"/>
          </a:xfrm>
          <a:prstGeom prst="rect">
            <a:avLst/>
          </a:prstGeom>
          <a:noFill/>
          <a:ln/>
        </p:spPr>
        <p:txBody>
          <a:bodyPr wrap="square" lIns="0" tIns="0" rIns="0" bIns="0" rtlCol="0" anchor="t"/>
          <a:lstStyle/>
          <a:p>
            <a:pPr marL="0" indent="0" algn="l">
              <a:lnSpc>
                <a:spcPts val="2650"/>
              </a:lnSpc>
              <a:buNone/>
            </a:pPr>
            <a:r>
              <a:rPr lang="en-US" sz="1650" dirty="0">
                <a:solidFill>
                  <a:srgbClr val="C9C9C0"/>
                </a:solidFill>
                <a:latin typeface="Tomorrow" pitchFamily="34" charset="0"/>
                <a:ea typeface="Tomorrow" pitchFamily="34" charset="-122"/>
                <a:cs typeface="Tomorrow" pitchFamily="34" charset="-120"/>
              </a:rPr>
              <a:t>Continued to face slavery in some regions, worked as domestic servants or in markets elsewhere, developed economic strategies for survival and possible manumission.</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2345" y="521494"/>
            <a:ext cx="8503801" cy="591383"/>
          </a:xfrm>
          <a:prstGeom prst="rect">
            <a:avLst/>
          </a:prstGeom>
          <a:noFill/>
          <a:ln/>
        </p:spPr>
        <p:txBody>
          <a:bodyPr wrap="none" lIns="0" tIns="0" rIns="0" bIns="0" rtlCol="0" anchor="t"/>
          <a:lstStyle/>
          <a:p>
            <a:pPr marL="0" indent="0" algn="l">
              <a:lnSpc>
                <a:spcPts val="4650"/>
              </a:lnSpc>
              <a:buNone/>
            </a:pPr>
            <a:r>
              <a:rPr lang="en-US" sz="3700" dirty="0">
                <a:solidFill>
                  <a:srgbClr val="EDEDE8"/>
                </a:solidFill>
                <a:latin typeface="Tomorrow Semi Bold" pitchFamily="34" charset="0"/>
                <a:ea typeface="Tomorrow Semi Bold" pitchFamily="34" charset="-122"/>
                <a:cs typeface="Tomorrow Semi Bold" pitchFamily="34" charset="-120"/>
              </a:rPr>
              <a:t>Conclusion: The Unfulfilled Promise</a:t>
            </a:r>
            <a:endParaRPr lang="en-US" sz="3700" dirty="0"/>
          </a:p>
        </p:txBody>
      </p:sp>
      <p:sp>
        <p:nvSpPr>
          <p:cNvPr id="3" name="Text 1"/>
          <p:cNvSpPr/>
          <p:nvPr/>
        </p:nvSpPr>
        <p:spPr>
          <a:xfrm>
            <a:off x="662345" y="1491258"/>
            <a:ext cx="13305711" cy="605314"/>
          </a:xfrm>
          <a:prstGeom prst="rect">
            <a:avLst/>
          </a:prstGeom>
          <a:noFill/>
          <a:ln/>
        </p:spPr>
        <p:txBody>
          <a:bodyPr wrap="square" lIns="0" tIns="0" rIns="0" bIns="0" rtlCol="0" anchor="t"/>
          <a:lstStyle/>
          <a:p>
            <a:pPr marL="0" indent="0" algn="l">
              <a:lnSpc>
                <a:spcPts val="2350"/>
              </a:lnSpc>
              <a:buNone/>
            </a:pPr>
            <a:r>
              <a:rPr lang="en-US" sz="1500" dirty="0">
                <a:solidFill>
                  <a:srgbClr val="C9C9C0"/>
                </a:solidFill>
                <a:latin typeface="Tomorrow" pitchFamily="34" charset="0"/>
                <a:ea typeface="Tomorrow" pitchFamily="34" charset="-122"/>
                <a:cs typeface="Tomorrow" pitchFamily="34" charset="-120"/>
              </a:rPr>
              <a:t>By 1850, </a:t>
            </a:r>
            <a:r>
              <a:rPr lang="en-US" sz="1500" b="1" dirty="0">
                <a:solidFill>
                  <a:srgbClr val="C9C9C0"/>
                </a:solidFill>
                <a:latin typeface="Tomorrow" pitchFamily="34" charset="0"/>
                <a:ea typeface="Tomorrow" pitchFamily="34" charset="-122"/>
                <a:cs typeface="Tomorrow" pitchFamily="34" charset="-120"/>
              </a:rPr>
              <a:t>liberal hopes had largely failed</a:t>
            </a:r>
            <a:r>
              <a:rPr lang="en-US" sz="1500" dirty="0">
                <a:solidFill>
                  <a:srgbClr val="C9C9C0"/>
                </a:solidFill>
                <a:latin typeface="Tomorrow" pitchFamily="34" charset="0"/>
                <a:ea typeface="Tomorrow" pitchFamily="34" charset="-122"/>
                <a:cs typeface="Tomorrow" pitchFamily="34" charset="-120"/>
              </a:rPr>
              <a:t> across Latin America. The region was marked by political instability, conservative dominance, economic stagnation and dependency, and persistent social inequality despite the rhetoric of republican equality.</a:t>
            </a:r>
            <a:endParaRPr lang="en-US" sz="1500" dirty="0"/>
          </a:p>
        </p:txBody>
      </p:sp>
      <p:sp>
        <p:nvSpPr>
          <p:cNvPr id="4" name="Text 2"/>
          <p:cNvSpPr/>
          <p:nvPr/>
        </p:nvSpPr>
        <p:spPr>
          <a:xfrm>
            <a:off x="662345" y="2309455"/>
            <a:ext cx="13305711" cy="907971"/>
          </a:xfrm>
          <a:prstGeom prst="rect">
            <a:avLst/>
          </a:prstGeom>
          <a:noFill/>
          <a:ln/>
        </p:spPr>
        <p:txBody>
          <a:bodyPr wrap="square" lIns="0" tIns="0" rIns="0" bIns="0" rtlCol="0" anchor="t"/>
          <a:lstStyle/>
          <a:p>
            <a:pPr marL="0" indent="0" algn="l">
              <a:lnSpc>
                <a:spcPts val="2350"/>
              </a:lnSpc>
              <a:buNone/>
            </a:pPr>
            <a:r>
              <a:rPr lang="en-US" sz="1500" dirty="0">
                <a:solidFill>
                  <a:srgbClr val="C9C9C0"/>
                </a:solidFill>
                <a:latin typeface="Tomorrow" pitchFamily="34" charset="0"/>
                <a:ea typeface="Tomorrow" pitchFamily="34" charset="-122"/>
                <a:cs typeface="Tomorrow" pitchFamily="34" charset="-120"/>
              </a:rPr>
              <a:t>The emergence of </a:t>
            </a:r>
            <a:r>
              <a:rPr lang="en-US" sz="1500" b="1" dirty="0">
                <a:solidFill>
                  <a:srgbClr val="C9C9C0"/>
                </a:solidFill>
                <a:latin typeface="Tomorrow" pitchFamily="34" charset="0"/>
                <a:ea typeface="Tomorrow" pitchFamily="34" charset="-122"/>
                <a:cs typeface="Tomorrow" pitchFamily="34" charset="-120"/>
              </a:rPr>
              <a:t>national identities</a:t>
            </a:r>
            <a:r>
              <a:rPr lang="en-US" sz="1500" dirty="0">
                <a:solidFill>
                  <a:srgbClr val="C9C9C0"/>
                </a:solidFill>
                <a:latin typeface="Tomorrow" pitchFamily="34" charset="0"/>
                <a:ea typeface="Tomorrow" pitchFamily="34" charset="-122"/>
                <a:cs typeface="Tomorrow" pitchFamily="34" charset="-120"/>
              </a:rPr>
              <a:t> represented one achievement, though these often existed amid continuity with colonial patterns rather than true transformation. The gap between constitutional ideals and social realities remained vast, with power concentrated in the hands of landowners and military leaders.</a:t>
            </a:r>
            <a:endParaRPr lang="en-US" sz="1500" dirty="0"/>
          </a:p>
        </p:txBody>
      </p:sp>
      <p:sp>
        <p:nvSpPr>
          <p:cNvPr id="5" name="Text 3"/>
          <p:cNvSpPr/>
          <p:nvPr/>
        </p:nvSpPr>
        <p:spPr>
          <a:xfrm>
            <a:off x="662345" y="3430310"/>
            <a:ext cx="13305711" cy="605314"/>
          </a:xfrm>
          <a:prstGeom prst="rect">
            <a:avLst/>
          </a:prstGeom>
          <a:noFill/>
          <a:ln/>
        </p:spPr>
        <p:txBody>
          <a:bodyPr wrap="square" lIns="0" tIns="0" rIns="0" bIns="0" rtlCol="0" anchor="t"/>
          <a:lstStyle/>
          <a:p>
            <a:pPr marL="0" indent="0" algn="l">
              <a:lnSpc>
                <a:spcPts val="2350"/>
              </a:lnSpc>
              <a:buNone/>
            </a:pPr>
            <a:r>
              <a:rPr lang="en-US" sz="1500" dirty="0">
                <a:solidFill>
                  <a:srgbClr val="C9C9C0"/>
                </a:solidFill>
                <a:latin typeface="Tomorrow" pitchFamily="34" charset="0"/>
                <a:ea typeface="Tomorrow" pitchFamily="34" charset="-122"/>
                <a:cs typeface="Tomorrow" pitchFamily="34" charset="-120"/>
              </a:rPr>
              <a:t>Yet the seeds of future change were planted during this period. Liberalism would return—stronger, better adapted, and more ambitious in the decades to follow, building on both the failures and limited successes of this first generation of independence.</a:t>
            </a:r>
            <a:endParaRPr lang="en-US" sz="1500" dirty="0"/>
          </a:p>
        </p:txBody>
      </p:sp>
      <p:sp>
        <p:nvSpPr>
          <p:cNvPr id="6" name="Shape 4"/>
          <p:cNvSpPr/>
          <p:nvPr/>
        </p:nvSpPr>
        <p:spPr>
          <a:xfrm>
            <a:off x="662345" y="4248507"/>
            <a:ext cx="2217539" cy="1090136"/>
          </a:xfrm>
          <a:prstGeom prst="roundRect">
            <a:avLst>
              <a:gd name="adj" fmla="val 2604"/>
            </a:avLst>
          </a:prstGeom>
          <a:solidFill>
            <a:srgbClr val="3C3C3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638062" y="4627245"/>
            <a:ext cx="266105" cy="332661"/>
          </a:xfrm>
          <a:prstGeom prst="rect">
            <a:avLst/>
          </a:prstGeom>
        </p:spPr>
      </p:pic>
      <p:sp>
        <p:nvSpPr>
          <p:cNvPr id="8" name="Text 5"/>
          <p:cNvSpPr/>
          <p:nvPr/>
        </p:nvSpPr>
        <p:spPr>
          <a:xfrm>
            <a:off x="3069074" y="4437698"/>
            <a:ext cx="2754273" cy="295632"/>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Political Independence</a:t>
            </a:r>
            <a:endParaRPr lang="en-US" sz="1850" dirty="0"/>
          </a:p>
        </p:txBody>
      </p:sp>
      <p:sp>
        <p:nvSpPr>
          <p:cNvPr id="9" name="Text 6"/>
          <p:cNvSpPr/>
          <p:nvPr/>
        </p:nvSpPr>
        <p:spPr>
          <a:xfrm>
            <a:off x="3069074" y="4846796"/>
            <a:ext cx="3099554" cy="302657"/>
          </a:xfrm>
          <a:prstGeom prst="rect">
            <a:avLst/>
          </a:prstGeom>
          <a:noFill/>
          <a:ln/>
        </p:spPr>
        <p:txBody>
          <a:bodyPr wrap="non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Achieved but with unstable results</a:t>
            </a:r>
            <a:endParaRPr lang="en-US" sz="1450" dirty="0"/>
          </a:p>
        </p:txBody>
      </p:sp>
      <p:sp>
        <p:nvSpPr>
          <p:cNvPr id="10" name="Shape 7"/>
          <p:cNvSpPr/>
          <p:nvPr/>
        </p:nvSpPr>
        <p:spPr>
          <a:xfrm>
            <a:off x="2974419" y="5329118"/>
            <a:ext cx="10899100" cy="11430"/>
          </a:xfrm>
          <a:prstGeom prst="roundRect">
            <a:avLst>
              <a:gd name="adj" fmla="val 248357"/>
            </a:avLst>
          </a:prstGeom>
          <a:solidFill>
            <a:srgbClr val="555553"/>
          </a:solidFill>
          <a:ln/>
        </p:spPr>
        <p:txBody>
          <a:bodyPr/>
          <a:lstStyle/>
          <a:p>
            <a:endParaRPr lang="en-US"/>
          </a:p>
        </p:txBody>
      </p:sp>
      <p:sp>
        <p:nvSpPr>
          <p:cNvPr id="11" name="Shape 8"/>
          <p:cNvSpPr/>
          <p:nvPr/>
        </p:nvSpPr>
        <p:spPr>
          <a:xfrm>
            <a:off x="662345" y="5433179"/>
            <a:ext cx="4435197" cy="1090136"/>
          </a:xfrm>
          <a:prstGeom prst="roundRect">
            <a:avLst>
              <a:gd name="adj" fmla="val 2604"/>
            </a:avLst>
          </a:prstGeom>
          <a:solidFill>
            <a:srgbClr val="3C3C3A"/>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2746891" y="5811917"/>
            <a:ext cx="266105" cy="332661"/>
          </a:xfrm>
          <a:prstGeom prst="rect">
            <a:avLst/>
          </a:prstGeom>
        </p:spPr>
      </p:pic>
      <p:sp>
        <p:nvSpPr>
          <p:cNvPr id="13" name="Text 9"/>
          <p:cNvSpPr/>
          <p:nvPr/>
        </p:nvSpPr>
        <p:spPr>
          <a:xfrm>
            <a:off x="5286732" y="5622369"/>
            <a:ext cx="3198376" cy="295632"/>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Constitutional Governance</a:t>
            </a:r>
            <a:endParaRPr lang="en-US" sz="1850" dirty="0"/>
          </a:p>
        </p:txBody>
      </p:sp>
      <p:sp>
        <p:nvSpPr>
          <p:cNvPr id="14" name="Text 10"/>
          <p:cNvSpPr/>
          <p:nvPr/>
        </p:nvSpPr>
        <p:spPr>
          <a:xfrm>
            <a:off x="5286732" y="6031468"/>
            <a:ext cx="3198376" cy="302657"/>
          </a:xfrm>
          <a:prstGeom prst="rect">
            <a:avLst/>
          </a:prstGeom>
          <a:noFill/>
          <a:ln/>
        </p:spPr>
        <p:txBody>
          <a:bodyPr wrap="non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Established but frequently violated</a:t>
            </a:r>
            <a:endParaRPr lang="en-US" sz="1450" dirty="0"/>
          </a:p>
        </p:txBody>
      </p:sp>
      <p:sp>
        <p:nvSpPr>
          <p:cNvPr id="15" name="Shape 11"/>
          <p:cNvSpPr/>
          <p:nvPr/>
        </p:nvSpPr>
        <p:spPr>
          <a:xfrm>
            <a:off x="5192078" y="6513790"/>
            <a:ext cx="8681442" cy="11430"/>
          </a:xfrm>
          <a:prstGeom prst="roundRect">
            <a:avLst>
              <a:gd name="adj" fmla="val 248357"/>
            </a:avLst>
          </a:prstGeom>
          <a:solidFill>
            <a:srgbClr val="555553"/>
          </a:solidFill>
          <a:ln/>
        </p:spPr>
        <p:txBody>
          <a:bodyPr/>
          <a:lstStyle/>
          <a:p>
            <a:endParaRPr lang="en-US"/>
          </a:p>
        </p:txBody>
      </p:sp>
      <p:sp>
        <p:nvSpPr>
          <p:cNvPr id="16" name="Shape 12"/>
          <p:cNvSpPr/>
          <p:nvPr/>
        </p:nvSpPr>
        <p:spPr>
          <a:xfrm>
            <a:off x="662345" y="6617851"/>
            <a:ext cx="6652855" cy="1090136"/>
          </a:xfrm>
          <a:prstGeom prst="roundRect">
            <a:avLst>
              <a:gd name="adj" fmla="val 2604"/>
            </a:avLst>
          </a:prstGeom>
          <a:solidFill>
            <a:srgbClr val="3C3C3A"/>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3855720" y="6996589"/>
            <a:ext cx="266105" cy="332661"/>
          </a:xfrm>
          <a:prstGeom prst="rect">
            <a:avLst/>
          </a:prstGeom>
        </p:spPr>
      </p:pic>
      <p:sp>
        <p:nvSpPr>
          <p:cNvPr id="18" name="Text 13"/>
          <p:cNvSpPr/>
          <p:nvPr/>
        </p:nvSpPr>
        <p:spPr>
          <a:xfrm>
            <a:off x="7504390" y="6807041"/>
            <a:ext cx="2365534" cy="295632"/>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Social Equality</a:t>
            </a:r>
            <a:endParaRPr lang="en-US" sz="1850" dirty="0"/>
          </a:p>
        </p:txBody>
      </p:sp>
      <p:sp>
        <p:nvSpPr>
          <p:cNvPr id="19" name="Text 14"/>
          <p:cNvSpPr/>
          <p:nvPr/>
        </p:nvSpPr>
        <p:spPr>
          <a:xfrm>
            <a:off x="7504390" y="7216140"/>
            <a:ext cx="2856071" cy="302657"/>
          </a:xfrm>
          <a:prstGeom prst="rect">
            <a:avLst/>
          </a:prstGeom>
          <a:noFill/>
          <a:ln/>
        </p:spPr>
        <p:txBody>
          <a:bodyPr wrap="non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Promised but largely unrealized</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1587</Words>
  <Application>Microsoft Office PowerPoint</Application>
  <PresentationFormat>Personalizado</PresentationFormat>
  <Paragraphs>110</Paragraphs>
  <Slides>10</Slides>
  <Notes>10</Notes>
  <HiddenSlides>2</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Tomorrow Semi Bold</vt:lpstr>
      <vt:lpstr>Arial</vt:lpstr>
      <vt:lpstr>Tomorrow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Claudio Robelo</cp:lastModifiedBy>
  <cp:revision>3</cp:revision>
  <dcterms:created xsi:type="dcterms:W3CDTF">2025-05-09T22:31:02Z</dcterms:created>
  <dcterms:modified xsi:type="dcterms:W3CDTF">2025-05-10T16:25:56Z</dcterms:modified>
</cp:coreProperties>
</file>