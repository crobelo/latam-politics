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Tomorrow" panose="020B0604020202020204" charset="0"/>
      <p:regular r:id="rId12"/>
    </p:embeddedFont>
    <p:embeddedFont>
      <p:font typeface="Tomorrow Semi Bold" panose="020B0604020202020204" charset="0"/>
      <p:regular r:id="rId13"/>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7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6471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AADA220A-1DA2-9AAA-656E-F7BE422EF0F8}"/>
              </a:ext>
            </a:extLst>
          </p:cNvPr>
          <p:cNvSpPr/>
          <p:nvPr userDrawn="1"/>
        </p:nvSpPr>
        <p:spPr>
          <a:xfrm>
            <a:off x="0" y="0"/>
            <a:ext cx="14630400" cy="8229600"/>
          </a:xfrm>
          <a:prstGeom prst="rect">
            <a:avLst/>
          </a:prstGeom>
          <a:solidFill>
            <a:srgbClr val="1D1D1B"/>
          </a:solidFill>
          <a:ln/>
        </p:spPr>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315200" y="1250752"/>
            <a:ext cx="6521411" cy="2835116"/>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Presidents in Latin America: Power, Peril and Democratic Governance</a:t>
            </a:r>
            <a:endParaRPr lang="en-US" sz="4450" dirty="0"/>
          </a:p>
        </p:txBody>
      </p:sp>
      <p:sp>
        <p:nvSpPr>
          <p:cNvPr id="4" name="Text 1"/>
          <p:cNvSpPr/>
          <p:nvPr/>
        </p:nvSpPr>
        <p:spPr>
          <a:xfrm>
            <a:off x="7315199" y="3911116"/>
            <a:ext cx="652141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Presidential democracies in Latin America balance extraordinary executive authority with persistent risks of instability and gridlock. Their success depends less on regime type than on how constitutions distribute power and how party systems channel it. This framework explains how electoral rules, fragmentation, and discipline shape presidents’ ability to govern and remain accountable. It highlights the fine line between effective leadership and the perils of executive dominance in fragile democracies.</a:t>
            </a:r>
            <a:endParaRPr lang="en-US" sz="1750" dirty="0"/>
          </a:p>
        </p:txBody>
      </p:sp>
      <p:pic>
        <p:nvPicPr>
          <p:cNvPr id="1026" name="Picture 2">
            <a:extLst>
              <a:ext uri="{FF2B5EF4-FFF2-40B4-BE49-F238E27FC236}">
                <a16:creationId xmlns:a16="http://schemas.microsoft.com/office/drawing/2014/main" id="{31DF2C96-6994-A214-4DCD-7BBEEF5020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041" r="15294"/>
          <a:stretch>
            <a:fillRect/>
          </a:stretch>
        </p:blipFill>
        <p:spPr bwMode="auto">
          <a:xfrm>
            <a:off x="0" y="0"/>
            <a:ext cx="6616931"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32262" y="539088"/>
            <a:ext cx="13404349" cy="1417558"/>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The presidentialism question during the Third Wave</a:t>
            </a:r>
            <a:endParaRPr lang="en-US" sz="4450" dirty="0"/>
          </a:p>
        </p:txBody>
      </p:sp>
      <p:sp>
        <p:nvSpPr>
          <p:cNvPr id="3" name="Text 1"/>
          <p:cNvSpPr/>
          <p:nvPr/>
        </p:nvSpPr>
        <p:spPr>
          <a:xfrm>
            <a:off x="432262" y="1526154"/>
            <a:ext cx="13042821" cy="326612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classic claim is that presidentialism is inherently brittle: dual democratic legitimacy (separately elected branches) plus fixed terms generate zero-sum conflict and inflexibility. </a:t>
            </a:r>
          </a:p>
          <a:p>
            <a:pPr marL="0" indent="0" algn="l">
              <a:lnSpc>
                <a:spcPts val="2850"/>
              </a:lnSpc>
              <a:buNone/>
            </a:pPr>
            <a:endParaRPr lang="en-US" sz="1750" dirty="0">
              <a:solidFill>
                <a:srgbClr val="C9C9C0"/>
              </a:solidFill>
              <a:latin typeface="Tomorrow" pitchFamily="34" charset="0"/>
              <a:ea typeface="Tomorrow" pitchFamily="34" charset="-122"/>
              <a:cs typeface="Tomorrow" pitchFamily="34" charset="-120"/>
            </a:endParaRPr>
          </a:p>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Shugart &amp; Mainwaring argue this is too sweeping. </a:t>
            </a:r>
          </a:p>
          <a:p>
            <a:pPr marL="0" indent="0" algn="l">
              <a:lnSpc>
                <a:spcPts val="2850"/>
              </a:lnSpc>
              <a:buNone/>
            </a:pPr>
            <a:endParaRPr lang="en-US" sz="1750" dirty="0">
              <a:solidFill>
                <a:srgbClr val="C9C9C0"/>
              </a:solidFill>
              <a:latin typeface="Tomorrow" pitchFamily="34" charset="0"/>
              <a:ea typeface="Tomorrow" pitchFamily="34" charset="-122"/>
              <a:cs typeface="Tomorrow" pitchFamily="34" charset="-120"/>
            </a:endParaRPr>
          </a:p>
          <a:p>
            <a:pPr marL="285750" indent="-285750" algn="l">
              <a:lnSpc>
                <a:spcPts val="2850"/>
              </a:lnSpc>
              <a:buFont typeface="Arial" panose="020B0604020202020204" pitchFamily="34" charset="0"/>
              <a:buChar char="•"/>
            </a:pPr>
            <a:r>
              <a:rPr lang="en-US" sz="1750" dirty="0">
                <a:solidFill>
                  <a:srgbClr val="C9C9C0"/>
                </a:solidFill>
                <a:latin typeface="Tomorrow" pitchFamily="34" charset="0"/>
                <a:ea typeface="Tomorrow" pitchFamily="34" charset="-122"/>
                <a:cs typeface="Tomorrow" pitchFamily="34" charset="-120"/>
              </a:rPr>
              <a:t>Scholars confounds regime type with region and history: most presidential democracies were in Latin America (military legacies, high inequality), while most parliamentary democracies were in Europe or British Commonwealth contexts (state capacity, rule-of-law traditions). So differences in durability may reflect </a:t>
            </a:r>
            <a:r>
              <a:rPr lang="en-US" sz="1750" b="1" dirty="0">
                <a:solidFill>
                  <a:srgbClr val="C9C9C0"/>
                </a:solidFill>
                <a:latin typeface="Tomorrow" pitchFamily="34" charset="0"/>
                <a:ea typeface="Tomorrow" pitchFamily="34" charset="-122"/>
                <a:cs typeface="Tomorrow" pitchFamily="34" charset="-120"/>
              </a:rPr>
              <a:t>background conditions </a:t>
            </a:r>
            <a:r>
              <a:rPr lang="en-US" sz="1750" dirty="0">
                <a:solidFill>
                  <a:srgbClr val="C9C9C0"/>
                </a:solidFill>
                <a:latin typeface="Tomorrow" pitchFamily="34" charset="0"/>
                <a:ea typeface="Tomorrow" pitchFamily="34" charset="-122"/>
                <a:cs typeface="Tomorrow" pitchFamily="34" charset="-120"/>
              </a:rPr>
              <a:t>as much as constitutional form.</a:t>
            </a:r>
          </a:p>
          <a:p>
            <a:pPr algn="l">
              <a:lnSpc>
                <a:spcPts val="2850"/>
              </a:lnSpc>
            </a:pPr>
            <a:endParaRPr lang="en-US" sz="1750" dirty="0">
              <a:solidFill>
                <a:srgbClr val="C9C9C0"/>
              </a:solidFill>
              <a:latin typeface="Tomorrow" pitchFamily="34" charset="0"/>
              <a:ea typeface="Tomorrow" pitchFamily="34" charset="-122"/>
              <a:cs typeface="Tomorrow" pitchFamily="34" charset="-120"/>
            </a:endParaRPr>
          </a:p>
          <a:p>
            <a:pPr marL="285750" indent="-285750" algn="l">
              <a:lnSpc>
                <a:spcPts val="2850"/>
              </a:lnSpc>
              <a:buFont typeface="Arial" panose="020B0604020202020204" pitchFamily="34" charset="0"/>
              <a:buChar char="•"/>
            </a:pPr>
            <a:r>
              <a:rPr lang="en-US" sz="1750" dirty="0">
                <a:solidFill>
                  <a:srgbClr val="C9C9C0"/>
                </a:solidFill>
                <a:latin typeface="Tomorrow" pitchFamily="34" charset="0"/>
                <a:ea typeface="Tomorrow" pitchFamily="34" charset="-122"/>
                <a:cs typeface="Tomorrow" pitchFamily="34" charset="-120"/>
              </a:rPr>
              <a:t>Both regime types have seen breakdowns at different historical moments (e.g., interwar parliamentary collapses in Europe vs. presidential breakdowns in South America in the 1960s–70s). </a:t>
            </a:r>
          </a:p>
          <a:p>
            <a:pPr marL="0" indent="0" algn="l">
              <a:lnSpc>
                <a:spcPts val="2850"/>
              </a:lnSpc>
              <a:buNone/>
            </a:pPr>
            <a:endParaRPr lang="en-US" sz="1750" dirty="0">
              <a:solidFill>
                <a:srgbClr val="C9C9C0"/>
              </a:solidFill>
              <a:latin typeface="Tomorrow" pitchFamily="34" charset="0"/>
              <a:ea typeface="Tomorrow" pitchFamily="34" charset="-122"/>
              <a:cs typeface="Tomorrow" pitchFamily="34" charset="-120"/>
            </a:endParaRPr>
          </a:p>
        </p:txBody>
      </p:sp>
      <p:sp>
        <p:nvSpPr>
          <p:cNvPr id="4" name="Shape 2"/>
          <p:cNvSpPr/>
          <p:nvPr/>
        </p:nvSpPr>
        <p:spPr>
          <a:xfrm>
            <a:off x="793790" y="6430299"/>
            <a:ext cx="13042821" cy="1326713"/>
          </a:xfrm>
          <a:prstGeom prst="roundRect">
            <a:avLst>
              <a:gd name="adj" fmla="val 2565"/>
            </a:avLst>
          </a:prstGeom>
          <a:solidFill>
            <a:srgbClr val="272725"/>
          </a:solidFill>
          <a:ln/>
        </p:spPr>
        <p:txBody>
          <a:bodyPr/>
          <a:lstStyle/>
          <a:p>
            <a:endParaRPr lang="es-AR"/>
          </a:p>
        </p:txBody>
      </p:sp>
      <p:pic>
        <p:nvPicPr>
          <p:cNvPr id="5" name="Image 0" descr="preencoded.png"/>
          <p:cNvPicPr>
            <a:picLocks noChangeAspect="1"/>
          </p:cNvPicPr>
          <p:nvPr/>
        </p:nvPicPr>
        <p:blipFill>
          <a:blip r:embed="rId3"/>
          <a:stretch>
            <a:fillRect/>
          </a:stretch>
        </p:blipFill>
        <p:spPr>
          <a:xfrm>
            <a:off x="1020604" y="6615759"/>
            <a:ext cx="283488" cy="226814"/>
          </a:xfrm>
          <a:prstGeom prst="rect">
            <a:avLst/>
          </a:prstGeom>
        </p:spPr>
      </p:pic>
      <p:sp>
        <p:nvSpPr>
          <p:cNvPr id="6" name="Text 3"/>
          <p:cNvSpPr/>
          <p:nvPr/>
        </p:nvSpPr>
        <p:spPr>
          <a:xfrm>
            <a:off x="1530906" y="6614036"/>
            <a:ext cx="12078891" cy="725805"/>
          </a:xfrm>
          <a:prstGeom prst="rect">
            <a:avLst/>
          </a:prstGeom>
          <a:noFill/>
          <a:ln/>
        </p:spPr>
        <p:txBody>
          <a:bodyPr wrap="square" lIns="0" tIns="0" rIns="0" bIns="0" rtlCol="0" anchor="t"/>
          <a:lstStyle/>
          <a:p>
            <a:pPr>
              <a:lnSpc>
                <a:spcPts val="2850"/>
              </a:lnSpc>
            </a:pPr>
            <a:r>
              <a:rPr lang="en-US" sz="1750" dirty="0">
                <a:solidFill>
                  <a:srgbClr val="C9C9C0"/>
                </a:solidFill>
                <a:latin typeface="Tomorrow" pitchFamily="34" charset="0"/>
                <a:ea typeface="Tomorrow" pitchFamily="34" charset="-122"/>
                <a:cs typeface="Tomorrow" pitchFamily="34" charset="-120"/>
              </a:rPr>
              <a:t>The question, then, is not "which system is universally superior?" but </a:t>
            </a:r>
            <a:r>
              <a:rPr lang="en-US" sz="1750" b="1" dirty="0">
                <a:solidFill>
                  <a:srgbClr val="C9C9C0"/>
                </a:solidFill>
                <a:latin typeface="Tomorrow" pitchFamily="34" charset="0"/>
                <a:ea typeface="Tomorrow" pitchFamily="34" charset="-122"/>
                <a:cs typeface="Tomorrow" pitchFamily="34" charset="-120"/>
              </a:rPr>
              <a:t>which institutional configurations </a:t>
            </a:r>
            <a:r>
              <a:rPr lang="en-US" sz="1750" dirty="0">
                <a:solidFill>
                  <a:srgbClr val="C9C9C0"/>
                </a:solidFill>
                <a:latin typeface="Tomorrow" pitchFamily="34" charset="0"/>
                <a:ea typeface="Tomorrow" pitchFamily="34" charset="-122"/>
                <a:cs typeface="Tomorrow" pitchFamily="34" charset="-120"/>
              </a:rPr>
              <a:t>within presidentialism support stable, accountable governance.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575020"/>
            <a:ext cx="7075884"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Defining presidentialism</a:t>
            </a:r>
            <a:endParaRPr lang="en-US" sz="4450" dirty="0"/>
          </a:p>
        </p:txBody>
      </p:sp>
      <p:sp>
        <p:nvSpPr>
          <p:cNvPr id="3" name="Shape 1"/>
          <p:cNvSpPr/>
          <p:nvPr/>
        </p:nvSpPr>
        <p:spPr>
          <a:xfrm>
            <a:off x="793790" y="4181363"/>
            <a:ext cx="6407944" cy="2032754"/>
          </a:xfrm>
          <a:prstGeom prst="roundRect">
            <a:avLst>
              <a:gd name="adj" fmla="val 1674"/>
            </a:avLst>
          </a:prstGeom>
          <a:solidFill>
            <a:srgbClr val="3C3C3A"/>
          </a:solidFill>
          <a:ln/>
        </p:spPr>
        <p:txBody>
          <a:bodyPr/>
          <a:lstStyle/>
          <a:p>
            <a:endParaRPr lang="es-AR"/>
          </a:p>
        </p:txBody>
      </p:sp>
      <p:sp>
        <p:nvSpPr>
          <p:cNvPr id="4" name="Text 2"/>
          <p:cNvSpPr/>
          <p:nvPr/>
        </p:nvSpPr>
        <p:spPr>
          <a:xfrm>
            <a:off x="1020604" y="44081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Separate origin</a:t>
            </a:r>
            <a:endParaRPr lang="en-US" sz="2200" dirty="0"/>
          </a:p>
        </p:txBody>
      </p:sp>
      <p:sp>
        <p:nvSpPr>
          <p:cNvPr id="5" name="Text 3"/>
          <p:cNvSpPr/>
          <p:nvPr/>
        </p:nvSpPr>
        <p:spPr>
          <a:xfrm>
            <a:off x="1020604" y="4898596"/>
            <a:ext cx="5954316"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chief executive is popularly elected (directly or via an electoral college that transparently aggregates the popular vote).</a:t>
            </a:r>
            <a:endParaRPr lang="en-US" sz="1750" dirty="0"/>
          </a:p>
        </p:txBody>
      </p:sp>
      <p:sp>
        <p:nvSpPr>
          <p:cNvPr id="6" name="Shape 4"/>
          <p:cNvSpPr/>
          <p:nvPr/>
        </p:nvSpPr>
        <p:spPr>
          <a:xfrm>
            <a:off x="7428548" y="4181363"/>
            <a:ext cx="6408063" cy="2032754"/>
          </a:xfrm>
          <a:prstGeom prst="roundRect">
            <a:avLst>
              <a:gd name="adj" fmla="val 1674"/>
            </a:avLst>
          </a:prstGeom>
          <a:solidFill>
            <a:srgbClr val="3C3C3A"/>
          </a:solidFill>
          <a:ln/>
        </p:spPr>
        <p:txBody>
          <a:bodyPr/>
          <a:lstStyle/>
          <a:p>
            <a:endParaRPr lang="es-AR"/>
          </a:p>
        </p:txBody>
      </p:sp>
      <p:sp>
        <p:nvSpPr>
          <p:cNvPr id="7" name="Text 5"/>
          <p:cNvSpPr/>
          <p:nvPr/>
        </p:nvSpPr>
        <p:spPr>
          <a:xfrm>
            <a:off x="7655362" y="44081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Separate survival</a:t>
            </a:r>
            <a:endParaRPr lang="en-US" sz="2200" dirty="0"/>
          </a:p>
        </p:txBody>
      </p:sp>
      <p:sp>
        <p:nvSpPr>
          <p:cNvPr id="8" name="Text 6"/>
          <p:cNvSpPr/>
          <p:nvPr/>
        </p:nvSpPr>
        <p:spPr>
          <a:xfrm>
            <a:off x="7655362" y="4898596"/>
            <a:ext cx="5954435"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Fixed terms for executive and legislature; neither can routinely dismiss the other (impeachment is exceptional and judicialized).</a:t>
            </a:r>
            <a:endParaRPr lang="en-US" sz="1750" dirty="0"/>
          </a:p>
        </p:txBody>
      </p:sp>
      <p:sp>
        <p:nvSpPr>
          <p:cNvPr id="9" name="Text 7"/>
          <p:cNvSpPr/>
          <p:nvPr/>
        </p:nvSpPr>
        <p:spPr>
          <a:xfrm>
            <a:off x="793790" y="6552401"/>
            <a:ext cx="13042821" cy="124493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Parliamentarism instead makes the cabinet collectively responsible to parliament (no fixed executive tenure) and often allows early dissolution of the legislature.  However, presidentialism is not one thing—it's a family of systems sharing separate origin and survival but varying widely in powers and party-system environments.</a:t>
            </a:r>
            <a:endParaRPr lang="en-US" sz="1750" dirty="0"/>
          </a:p>
        </p:txBody>
      </p:sp>
      <p:pic>
        <p:nvPicPr>
          <p:cNvPr id="4098" name="Picture 2">
            <a:extLst>
              <a:ext uri="{FF2B5EF4-FFF2-40B4-BE49-F238E27FC236}">
                <a16:creationId xmlns:a16="http://schemas.microsoft.com/office/drawing/2014/main" id="{FF5C8241-4088-1470-CB95-46F9111FF7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691" y="1425069"/>
            <a:ext cx="4662141" cy="26232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Peruvians demand dissolution of Congress">
            <a:extLst>
              <a:ext uri="{FF2B5EF4-FFF2-40B4-BE49-F238E27FC236}">
                <a16:creationId xmlns:a16="http://schemas.microsoft.com/office/drawing/2014/main" id="{DF39C3B8-1B5C-6C9B-07AC-2A8427211E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3805"/>
          <a:stretch>
            <a:fillRect/>
          </a:stretch>
        </p:blipFill>
        <p:spPr bwMode="auto">
          <a:xfrm>
            <a:off x="7836423" y="1425069"/>
            <a:ext cx="5308347" cy="26897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375603"/>
            <a:ext cx="12603956" cy="637937"/>
          </a:xfrm>
          <a:prstGeom prst="rect">
            <a:avLst/>
          </a:prstGeom>
          <a:noFill/>
          <a:ln/>
        </p:spPr>
        <p:txBody>
          <a:bodyPr wrap="none" lIns="0" tIns="0" rIns="0" bIns="0" rtlCol="0" anchor="t"/>
          <a:lstStyle/>
          <a:p>
            <a:pPr marL="0" indent="0" algn="l">
              <a:lnSpc>
                <a:spcPts val="5000"/>
              </a:lnSpc>
              <a:buNone/>
            </a:pPr>
            <a:r>
              <a:rPr lang="en-US" sz="4000" dirty="0">
                <a:solidFill>
                  <a:srgbClr val="EDEDE8"/>
                </a:solidFill>
                <a:latin typeface="Tomorrow Semi Bold" pitchFamily="34" charset="0"/>
                <a:ea typeface="Tomorrow Semi Bold" pitchFamily="34" charset="-122"/>
                <a:cs typeface="Tomorrow Semi Bold" pitchFamily="34" charset="-120"/>
              </a:rPr>
              <a:t>Constitutional and partisan powers of presidents</a:t>
            </a:r>
            <a:endParaRPr lang="en-US" sz="4000" dirty="0"/>
          </a:p>
        </p:txBody>
      </p:sp>
      <p:sp>
        <p:nvSpPr>
          <p:cNvPr id="4" name="Text 2"/>
          <p:cNvSpPr/>
          <p:nvPr/>
        </p:nvSpPr>
        <p:spPr>
          <a:xfrm>
            <a:off x="1933337" y="1212656"/>
            <a:ext cx="3993356" cy="318849"/>
          </a:xfrm>
          <a:prstGeom prst="rect">
            <a:avLst/>
          </a:prstGeom>
          <a:noFill/>
          <a:ln/>
        </p:spPr>
        <p:txBody>
          <a:bodyPr wrap="none" lIns="0" tIns="0" rIns="0" bIns="0" rtlCol="0" anchor="t"/>
          <a:lstStyle/>
          <a:p>
            <a:pPr marL="0" indent="0" algn="l">
              <a:lnSpc>
                <a:spcPts val="2500"/>
              </a:lnSpc>
              <a:buNone/>
            </a:pPr>
            <a:r>
              <a:rPr lang="en-US" sz="2000" dirty="0">
                <a:solidFill>
                  <a:srgbClr val="E1E1DF"/>
                </a:solidFill>
                <a:latin typeface="Tomorrow Semi Bold" pitchFamily="34" charset="0"/>
                <a:ea typeface="Tomorrow Semi Bold" pitchFamily="34" charset="-122"/>
                <a:cs typeface="Tomorrow Semi Bold" pitchFamily="34" charset="-120"/>
              </a:rPr>
              <a:t>Constitutional powers (textual)</a:t>
            </a:r>
            <a:endParaRPr lang="en-US" sz="2000" dirty="0"/>
          </a:p>
        </p:txBody>
      </p:sp>
      <p:sp>
        <p:nvSpPr>
          <p:cNvPr id="5" name="Text 3"/>
          <p:cNvSpPr/>
          <p:nvPr/>
        </p:nvSpPr>
        <p:spPr>
          <a:xfrm>
            <a:off x="793790" y="4267849"/>
            <a:ext cx="6272451" cy="1306830"/>
          </a:xfrm>
          <a:prstGeom prst="rect">
            <a:avLst/>
          </a:prstGeom>
          <a:noFill/>
          <a:ln/>
        </p:spPr>
        <p:txBody>
          <a:bodyPr wrap="square" lIns="0" tIns="0" rIns="0" bIns="0" rtlCol="0" anchor="t"/>
          <a:lstStyle/>
          <a:p>
            <a:pPr marL="0" indent="0" algn="just">
              <a:lnSpc>
                <a:spcPts val="2550"/>
              </a:lnSpc>
              <a:buNone/>
            </a:pPr>
            <a:r>
              <a:rPr lang="en-US" sz="1600" dirty="0">
                <a:solidFill>
                  <a:srgbClr val="C9C9C0"/>
                </a:solidFill>
                <a:latin typeface="Tomorrow" pitchFamily="34" charset="0"/>
                <a:ea typeface="Tomorrow" pitchFamily="34" charset="-122"/>
                <a:cs typeface="Tomorrow" pitchFamily="34" charset="-120"/>
              </a:rPr>
              <a:t>Veto (and override thresholds), partial/line-item vetoes, decree or urgency powers, budget initiation, agenda-setting, appointment/removal powers. These determine how much a president can shape policy independent of the legislature.</a:t>
            </a:r>
            <a:endParaRPr lang="en-US" sz="1600" dirty="0"/>
          </a:p>
        </p:txBody>
      </p:sp>
      <p:sp>
        <p:nvSpPr>
          <p:cNvPr id="6" name="Text 4"/>
          <p:cNvSpPr/>
          <p:nvPr/>
        </p:nvSpPr>
        <p:spPr>
          <a:xfrm>
            <a:off x="9262646" y="1212656"/>
            <a:ext cx="3381732" cy="318849"/>
          </a:xfrm>
          <a:prstGeom prst="rect">
            <a:avLst/>
          </a:prstGeom>
          <a:noFill/>
          <a:ln/>
        </p:spPr>
        <p:txBody>
          <a:bodyPr wrap="none" lIns="0" tIns="0" rIns="0" bIns="0" rtlCol="0" anchor="t"/>
          <a:lstStyle/>
          <a:p>
            <a:pPr marL="0" indent="0" algn="l">
              <a:lnSpc>
                <a:spcPts val="2500"/>
              </a:lnSpc>
              <a:buNone/>
            </a:pPr>
            <a:r>
              <a:rPr lang="en-US" sz="2000" dirty="0">
                <a:solidFill>
                  <a:srgbClr val="E1E1DF"/>
                </a:solidFill>
                <a:latin typeface="Tomorrow Semi Bold" pitchFamily="34" charset="0"/>
                <a:ea typeface="Tomorrow Semi Bold" pitchFamily="34" charset="-122"/>
                <a:cs typeface="Tomorrow Semi Bold" pitchFamily="34" charset="-120"/>
              </a:rPr>
              <a:t>Partisan powers (political)</a:t>
            </a:r>
            <a:endParaRPr lang="en-US" sz="2000" dirty="0"/>
          </a:p>
        </p:txBody>
      </p:sp>
      <p:sp>
        <p:nvSpPr>
          <p:cNvPr id="7" name="Text 5"/>
          <p:cNvSpPr/>
          <p:nvPr/>
        </p:nvSpPr>
        <p:spPr>
          <a:xfrm>
            <a:off x="7571780" y="4267849"/>
            <a:ext cx="6272451" cy="653415"/>
          </a:xfrm>
          <a:prstGeom prst="rect">
            <a:avLst/>
          </a:prstGeom>
          <a:noFill/>
          <a:ln/>
        </p:spPr>
        <p:txBody>
          <a:bodyPr wrap="square" lIns="0" tIns="0" rIns="0" bIns="0" rtlCol="0" anchor="t"/>
          <a:lstStyle/>
          <a:p>
            <a:pPr marL="0" indent="0" algn="just">
              <a:lnSpc>
                <a:spcPts val="2550"/>
              </a:lnSpc>
              <a:buNone/>
            </a:pPr>
            <a:r>
              <a:rPr lang="en-US" sz="1600" dirty="0">
                <a:solidFill>
                  <a:srgbClr val="C9C9C0"/>
                </a:solidFill>
                <a:latin typeface="Tomorrow" pitchFamily="34" charset="0"/>
                <a:ea typeface="Tomorrow" pitchFamily="34" charset="-122"/>
                <a:cs typeface="Tomorrow" pitchFamily="34" charset="-120"/>
              </a:rPr>
              <a:t>The president’s party or coalition seat share and coalitional position in the legislature, plus the cohesion/discipline of those allies.</a:t>
            </a:r>
            <a:endParaRPr lang="en-US" sz="1600" dirty="0"/>
          </a:p>
        </p:txBody>
      </p:sp>
      <p:sp>
        <p:nvSpPr>
          <p:cNvPr id="8" name="Text 6"/>
          <p:cNvSpPr/>
          <p:nvPr/>
        </p:nvSpPr>
        <p:spPr>
          <a:xfrm>
            <a:off x="793789" y="6036936"/>
            <a:ext cx="13042821" cy="1306830"/>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Examples: presidents in post-Pinochet Chile and Colombia enjoy substantial agenda and veto tools, whereas Costa Rica and Venezuela give comparatively modest formal tools; Mexico (under the PRI) illustrates high partisan power; Brazil shows strong formal tools but weak partisan anchors. </a:t>
            </a:r>
          </a:p>
          <a:p>
            <a:pPr marL="0" indent="0" algn="l">
              <a:lnSpc>
                <a:spcPts val="2550"/>
              </a:lnSpc>
              <a:buNone/>
            </a:pPr>
            <a:endParaRPr lang="en-US" sz="1600" dirty="0">
              <a:solidFill>
                <a:srgbClr val="C9C9C0"/>
              </a:solidFill>
              <a:latin typeface="Tomorrow" pitchFamily="34" charset="0"/>
              <a:ea typeface="Tomorrow" pitchFamily="34" charset="-122"/>
              <a:cs typeface="Tomorrow" pitchFamily="34" charset="-120"/>
            </a:endParaRPr>
          </a:p>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The </a:t>
            </a:r>
            <a:r>
              <a:rPr lang="en-US" sz="1600" b="1" dirty="0">
                <a:solidFill>
                  <a:srgbClr val="C9C9C0"/>
                </a:solidFill>
                <a:latin typeface="Tomorrow" pitchFamily="34" charset="0"/>
                <a:ea typeface="Tomorrow" pitchFamily="34" charset="-122"/>
                <a:cs typeface="Tomorrow" pitchFamily="34" charset="-120"/>
              </a:rPr>
              <a:t>interaction</a:t>
            </a:r>
            <a:r>
              <a:rPr lang="en-US" sz="1600" dirty="0">
                <a:solidFill>
                  <a:srgbClr val="C9C9C0"/>
                </a:solidFill>
                <a:latin typeface="Tomorrow" pitchFamily="34" charset="0"/>
                <a:ea typeface="Tomorrow" pitchFamily="34" charset="-122"/>
                <a:cs typeface="Tomorrow" pitchFamily="34" charset="-120"/>
              </a:rPr>
              <a:t> of these two dimensions—text and parties—determines governing capacity far more than either alone.</a:t>
            </a:r>
            <a:endParaRPr lang="en-US" sz="1600" dirty="0"/>
          </a:p>
        </p:txBody>
      </p:sp>
      <p:pic>
        <p:nvPicPr>
          <p:cNvPr id="2052" name="Picture 4">
            <a:extLst>
              <a:ext uri="{FF2B5EF4-FFF2-40B4-BE49-F238E27FC236}">
                <a16:creationId xmlns:a16="http://schemas.microsoft.com/office/drawing/2014/main" id="{72D59AC1-5384-EA82-C619-F5D0168AE2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56" r="8180"/>
          <a:stretch>
            <a:fillRect/>
          </a:stretch>
        </p:blipFill>
        <p:spPr bwMode="auto">
          <a:xfrm>
            <a:off x="1985427" y="1715058"/>
            <a:ext cx="3595687" cy="239974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9D009B5B-AEE1-532D-1016-9C3B49AD38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0161" y="1715058"/>
            <a:ext cx="3595687" cy="2400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4143" y="600313"/>
            <a:ext cx="13102114" cy="1159907"/>
          </a:xfrm>
          <a:prstGeom prst="rect">
            <a:avLst/>
          </a:prstGeom>
          <a:noFill/>
          <a:ln/>
        </p:spPr>
        <p:txBody>
          <a:bodyPr wrap="square" lIns="0" tIns="0" rIns="0" bIns="0" rtlCol="0" anchor="t"/>
          <a:lstStyle/>
          <a:p>
            <a:pPr marL="0" indent="0" algn="l">
              <a:lnSpc>
                <a:spcPts val="4550"/>
              </a:lnSpc>
              <a:buNone/>
            </a:pPr>
            <a:r>
              <a:rPr lang="en-US" sz="3650" dirty="0">
                <a:solidFill>
                  <a:srgbClr val="EDEDE8"/>
                </a:solidFill>
                <a:latin typeface="Tomorrow Semi Bold" pitchFamily="34" charset="0"/>
                <a:ea typeface="Tomorrow Semi Bold" pitchFamily="34" charset="-122"/>
                <a:cs typeface="Tomorrow Semi Bold" pitchFamily="34" charset="-120"/>
              </a:rPr>
              <a:t>Party systems and the consequences</a:t>
            </a:r>
            <a:endParaRPr lang="en-US" sz="3650" dirty="0"/>
          </a:p>
        </p:txBody>
      </p:sp>
      <p:sp>
        <p:nvSpPr>
          <p:cNvPr id="4" name="Shape 2"/>
          <p:cNvSpPr/>
          <p:nvPr/>
        </p:nvSpPr>
        <p:spPr>
          <a:xfrm>
            <a:off x="764143" y="1494443"/>
            <a:ext cx="6458307" cy="2637830"/>
          </a:xfrm>
          <a:prstGeom prst="roundRect">
            <a:avLst>
              <a:gd name="adj" fmla="val 1209"/>
            </a:avLst>
          </a:prstGeom>
          <a:solidFill>
            <a:srgbClr val="1D1D1B"/>
          </a:solidFill>
          <a:ln w="22860">
            <a:solidFill>
              <a:srgbClr val="555553"/>
            </a:solidFill>
            <a:prstDash val="solid"/>
          </a:ln>
        </p:spPr>
        <p:txBody>
          <a:bodyPr/>
          <a:lstStyle/>
          <a:p>
            <a:endParaRPr lang="es-AR"/>
          </a:p>
        </p:txBody>
      </p:sp>
      <p:sp>
        <p:nvSpPr>
          <p:cNvPr id="5" name="Text 3"/>
          <p:cNvSpPr/>
          <p:nvPr/>
        </p:nvSpPr>
        <p:spPr>
          <a:xfrm>
            <a:off x="972503" y="1864463"/>
            <a:ext cx="2869287" cy="289917"/>
          </a:xfrm>
          <a:prstGeom prst="rect">
            <a:avLst/>
          </a:prstGeom>
          <a:noFill/>
          <a:ln/>
        </p:spPr>
        <p:txBody>
          <a:bodyPr wrap="none" lIns="0" tIns="0" rIns="0" bIns="0" rtlCol="0" anchor="t"/>
          <a:lstStyle/>
          <a:p>
            <a:pPr marL="0" indent="0" algn="l">
              <a:lnSpc>
                <a:spcPts val="2250"/>
              </a:lnSpc>
              <a:buNone/>
            </a:pPr>
            <a:r>
              <a:rPr lang="en-US" sz="2400" dirty="0">
                <a:solidFill>
                  <a:srgbClr val="C9C9C0"/>
                </a:solidFill>
                <a:latin typeface="Tomorrow Semi Bold" pitchFamily="34" charset="0"/>
                <a:ea typeface="Tomorrow Semi Bold" pitchFamily="34" charset="-122"/>
                <a:cs typeface="Tomorrow Semi Bold" pitchFamily="34" charset="-120"/>
              </a:rPr>
              <a:t>Majority presidentialism</a:t>
            </a:r>
            <a:endParaRPr lang="en-US" sz="2400" dirty="0"/>
          </a:p>
        </p:txBody>
      </p:sp>
      <p:sp>
        <p:nvSpPr>
          <p:cNvPr id="6" name="Text 4"/>
          <p:cNvSpPr/>
          <p:nvPr/>
        </p:nvSpPr>
        <p:spPr>
          <a:xfrm>
            <a:off x="972503" y="2398707"/>
            <a:ext cx="6041588" cy="890826"/>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President's party/coalition ≥ 50% seats. Executive–legislative bargaining is smoother, but an overly disciplined single-party majority risks eroding checks and balances.</a:t>
            </a:r>
            <a:endParaRPr lang="en-US" sz="1450" dirty="0"/>
          </a:p>
        </p:txBody>
      </p:sp>
      <p:sp>
        <p:nvSpPr>
          <p:cNvPr id="7" name="Shape 5"/>
          <p:cNvSpPr/>
          <p:nvPr/>
        </p:nvSpPr>
        <p:spPr>
          <a:xfrm>
            <a:off x="7407950" y="1494443"/>
            <a:ext cx="6458307" cy="2637830"/>
          </a:xfrm>
          <a:prstGeom prst="roundRect">
            <a:avLst>
              <a:gd name="adj" fmla="val 1209"/>
            </a:avLst>
          </a:prstGeom>
          <a:solidFill>
            <a:srgbClr val="1D1D1B"/>
          </a:solidFill>
          <a:ln w="22860">
            <a:solidFill>
              <a:srgbClr val="555553"/>
            </a:solidFill>
            <a:prstDash val="solid"/>
          </a:ln>
        </p:spPr>
        <p:txBody>
          <a:bodyPr/>
          <a:lstStyle/>
          <a:p>
            <a:endParaRPr lang="es-AR"/>
          </a:p>
        </p:txBody>
      </p:sp>
      <p:sp>
        <p:nvSpPr>
          <p:cNvPr id="8" name="Text 6"/>
          <p:cNvSpPr/>
          <p:nvPr/>
        </p:nvSpPr>
        <p:spPr>
          <a:xfrm>
            <a:off x="7616309" y="1864463"/>
            <a:ext cx="2881193" cy="289917"/>
          </a:xfrm>
          <a:prstGeom prst="rect">
            <a:avLst/>
          </a:prstGeom>
          <a:noFill/>
          <a:ln/>
        </p:spPr>
        <p:txBody>
          <a:bodyPr wrap="none" lIns="0" tIns="0" rIns="0" bIns="0" rtlCol="0" anchor="t"/>
          <a:lstStyle/>
          <a:p>
            <a:pPr marL="0" indent="0" algn="l">
              <a:lnSpc>
                <a:spcPts val="2250"/>
              </a:lnSpc>
              <a:buNone/>
            </a:pPr>
            <a:r>
              <a:rPr lang="en-US" sz="2400" dirty="0">
                <a:solidFill>
                  <a:srgbClr val="C9C9C0"/>
                </a:solidFill>
                <a:latin typeface="Tomorrow Semi Bold" pitchFamily="34" charset="0"/>
                <a:ea typeface="Tomorrow Semi Bold" pitchFamily="34" charset="-122"/>
                <a:cs typeface="Tomorrow Semi Bold" pitchFamily="34" charset="-120"/>
              </a:rPr>
              <a:t>Minority presidentialism</a:t>
            </a:r>
            <a:endParaRPr lang="en-US" sz="2400" dirty="0"/>
          </a:p>
        </p:txBody>
      </p:sp>
      <p:sp>
        <p:nvSpPr>
          <p:cNvPr id="9" name="Text 7"/>
          <p:cNvSpPr/>
          <p:nvPr/>
        </p:nvSpPr>
        <p:spPr>
          <a:xfrm>
            <a:off x="7616309" y="2398707"/>
            <a:ext cx="6041588" cy="1484709"/>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President's party well below half—often &lt;⅓. Presidents must assemble ad-hoc or brittle coalitions to pass ordinary policy and budgets; because terms are fixed, the opposition can defect without "bringing down the government," creating incentives for immobilism or governing by decree.</a:t>
            </a:r>
            <a:endParaRPr lang="en-US" sz="1450" dirty="0"/>
          </a:p>
        </p:txBody>
      </p:sp>
      <p:sp>
        <p:nvSpPr>
          <p:cNvPr id="10" name="Text 8"/>
          <p:cNvSpPr/>
          <p:nvPr/>
        </p:nvSpPr>
        <p:spPr>
          <a:xfrm>
            <a:off x="764143" y="4782624"/>
            <a:ext cx="13102114" cy="1187768"/>
          </a:xfrm>
          <a:prstGeom prst="rect">
            <a:avLst/>
          </a:prstGeom>
          <a:noFill/>
          <a:ln/>
        </p:spPr>
        <p:txBody>
          <a:bodyPr wrap="square" lIns="0" tIns="0" rIns="0" bIns="0" rtlCol="0" anchor="t"/>
          <a:lstStyle/>
          <a:p>
            <a:pPr marL="0" indent="0" algn="l">
              <a:lnSpc>
                <a:spcPts val="2300"/>
              </a:lnSpc>
              <a:buNone/>
            </a:pPr>
            <a:r>
              <a:rPr lang="en-US" sz="1600" dirty="0">
                <a:solidFill>
                  <a:srgbClr val="C9C9C0"/>
                </a:solidFill>
                <a:latin typeface="Tomorrow" pitchFamily="34" charset="0"/>
                <a:ea typeface="Tomorrow" pitchFamily="34" charset="-122"/>
                <a:cs typeface="Tomorrow" pitchFamily="34" charset="-120"/>
              </a:rPr>
              <a:t>Coalitions in presidential regimes are often pre-electoral and non-binding post-election, unlike the binding cabinet coalitions of parliamentarism. Hence, fragmentation + weak discipline is the danger zone, not "presidentialism" per se. This is why we care about avoiding the scenario of a president facing a multiparty legislature in which their own party is a small minority: it magnifies veto players, raises transaction costs, and tempts executives toward extra-legislative tools.</a:t>
            </a:r>
            <a:endParaRPr lang="en-US" sz="1600" dirty="0"/>
          </a:p>
        </p:txBody>
      </p:sp>
      <p:sp>
        <p:nvSpPr>
          <p:cNvPr id="11" name="Shape 9"/>
          <p:cNvSpPr/>
          <p:nvPr/>
        </p:nvSpPr>
        <p:spPr>
          <a:xfrm>
            <a:off x="764143" y="6544866"/>
            <a:ext cx="13102114" cy="1085374"/>
          </a:xfrm>
          <a:prstGeom prst="roundRect">
            <a:avLst>
              <a:gd name="adj" fmla="val 2565"/>
            </a:avLst>
          </a:prstGeom>
          <a:solidFill>
            <a:srgbClr val="272725"/>
          </a:solidFill>
          <a:ln/>
        </p:spPr>
        <p:txBody>
          <a:bodyPr/>
          <a:lstStyle/>
          <a:p>
            <a:endParaRPr lang="es-AR"/>
          </a:p>
        </p:txBody>
      </p:sp>
      <p:pic>
        <p:nvPicPr>
          <p:cNvPr id="12" name="Image 0" descr="preencoded.png"/>
          <p:cNvPicPr>
            <a:picLocks noChangeAspect="1"/>
          </p:cNvPicPr>
          <p:nvPr/>
        </p:nvPicPr>
        <p:blipFill>
          <a:blip r:embed="rId3"/>
          <a:stretch>
            <a:fillRect/>
          </a:stretch>
        </p:blipFill>
        <p:spPr>
          <a:xfrm>
            <a:off x="949643" y="6827639"/>
            <a:ext cx="231934" cy="185499"/>
          </a:xfrm>
          <a:prstGeom prst="rect">
            <a:avLst/>
          </a:prstGeom>
        </p:spPr>
      </p:pic>
      <p:sp>
        <p:nvSpPr>
          <p:cNvPr id="13" name="Text 10"/>
          <p:cNvSpPr/>
          <p:nvPr/>
        </p:nvSpPr>
        <p:spPr>
          <a:xfrm>
            <a:off x="1367076" y="6776680"/>
            <a:ext cx="12313682" cy="593884"/>
          </a:xfrm>
          <a:prstGeom prst="rect">
            <a:avLst/>
          </a:prstGeom>
          <a:noFill/>
          <a:ln/>
        </p:spPr>
        <p:txBody>
          <a:bodyPr wrap="square" lIns="0" tIns="0" rIns="0" bIns="0" rtlCol="0" anchor="t"/>
          <a:lstStyle/>
          <a:p>
            <a:pPr marL="0" indent="0" algn="l">
              <a:lnSpc>
                <a:spcPts val="2300"/>
              </a:lnSpc>
              <a:buNone/>
            </a:pPr>
            <a:r>
              <a:rPr lang="en-US" sz="1450" b="1" dirty="0">
                <a:solidFill>
                  <a:srgbClr val="FFFFFF"/>
                </a:solidFill>
                <a:latin typeface="Tomorrow" pitchFamily="34" charset="0"/>
                <a:ea typeface="Tomorrow" pitchFamily="34" charset="-122"/>
                <a:cs typeface="Tomorrow" pitchFamily="34" charset="-120"/>
              </a:rPr>
              <a:t>Core variables:</a:t>
            </a:r>
            <a:r>
              <a:rPr lang="en-US" sz="1450" dirty="0">
                <a:solidFill>
                  <a:srgbClr val="FFFFFF"/>
                </a:solidFill>
                <a:latin typeface="Tomorrow" pitchFamily="34" charset="0"/>
                <a:ea typeface="Tomorrow" pitchFamily="34" charset="-122"/>
                <a:cs typeface="Tomorrow" pitchFamily="34" charset="-120"/>
              </a:rPr>
              <a:t> president's party seat share; coalition status; coalition bindingness; cabinet participation vs. legislative loyalty; use of veto/decree as substitutes for lawmaking.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48546"/>
            <a:ext cx="12710398" cy="602456"/>
          </a:xfrm>
          <a:prstGeom prst="rect">
            <a:avLst/>
          </a:prstGeom>
          <a:noFill/>
          <a:ln/>
        </p:spPr>
        <p:txBody>
          <a:bodyPr wrap="none" lIns="0" tIns="0" rIns="0" bIns="0" rtlCol="0" anchor="t"/>
          <a:lstStyle/>
          <a:p>
            <a:pPr marL="0" indent="0" algn="l">
              <a:lnSpc>
                <a:spcPts val="4700"/>
              </a:lnSpc>
              <a:buNone/>
            </a:pPr>
            <a:r>
              <a:rPr lang="en-US" sz="3750" dirty="0">
                <a:solidFill>
                  <a:srgbClr val="EDEDE8"/>
                </a:solidFill>
                <a:latin typeface="Tomorrow Semi Bold" pitchFamily="34" charset="0"/>
                <a:ea typeface="Tomorrow Semi Bold" pitchFamily="34" charset="-122"/>
                <a:cs typeface="Tomorrow Semi Bold" pitchFamily="34" charset="-120"/>
              </a:rPr>
              <a:t>Fragmentation, discipline, and ideological proximity</a:t>
            </a:r>
            <a:endParaRPr lang="en-US" sz="3750" dirty="0"/>
          </a:p>
        </p:txBody>
      </p:sp>
      <p:pic>
        <p:nvPicPr>
          <p:cNvPr id="3" name="Image 0" descr="preencoded.png"/>
          <p:cNvPicPr>
            <a:picLocks noChangeAspect="1"/>
          </p:cNvPicPr>
          <p:nvPr/>
        </p:nvPicPr>
        <p:blipFill>
          <a:blip r:embed="rId3"/>
          <a:stretch>
            <a:fillRect/>
          </a:stretch>
        </p:blipFill>
        <p:spPr>
          <a:xfrm>
            <a:off x="793790" y="1736527"/>
            <a:ext cx="192762" cy="240983"/>
          </a:xfrm>
          <a:prstGeom prst="rect">
            <a:avLst/>
          </a:prstGeom>
        </p:spPr>
      </p:pic>
      <p:sp>
        <p:nvSpPr>
          <p:cNvPr id="4" name="Shape 1"/>
          <p:cNvSpPr/>
          <p:nvPr/>
        </p:nvSpPr>
        <p:spPr>
          <a:xfrm>
            <a:off x="793790" y="2041208"/>
            <a:ext cx="4219099" cy="22860"/>
          </a:xfrm>
          <a:prstGeom prst="rect">
            <a:avLst/>
          </a:prstGeom>
          <a:solidFill>
            <a:srgbClr val="E1E1DF"/>
          </a:solidFill>
          <a:ln/>
        </p:spPr>
        <p:txBody>
          <a:bodyPr/>
          <a:lstStyle/>
          <a:p>
            <a:endParaRPr lang="es-AR"/>
          </a:p>
        </p:txBody>
      </p:sp>
      <p:sp>
        <p:nvSpPr>
          <p:cNvPr id="5" name="Text 2"/>
          <p:cNvSpPr/>
          <p:nvPr/>
        </p:nvSpPr>
        <p:spPr>
          <a:xfrm>
            <a:off x="793790" y="2266374"/>
            <a:ext cx="2409944" cy="301228"/>
          </a:xfrm>
          <a:prstGeom prst="rect">
            <a:avLst/>
          </a:prstGeom>
          <a:noFill/>
          <a:ln/>
        </p:spPr>
        <p:txBody>
          <a:bodyPr wrap="none" lIns="0" tIns="0" rIns="0" bIns="0" rtlCol="0" anchor="t"/>
          <a:lstStyle/>
          <a:p>
            <a:pPr marL="0" indent="0" algn="l">
              <a:lnSpc>
                <a:spcPts val="2350"/>
              </a:lnSpc>
              <a:buNone/>
            </a:pPr>
            <a:r>
              <a:rPr lang="en-US" sz="2400" dirty="0">
                <a:solidFill>
                  <a:srgbClr val="C9C9C0"/>
                </a:solidFill>
                <a:latin typeface="Tomorrow Semi Bold" pitchFamily="34" charset="0"/>
                <a:ea typeface="Tomorrow Semi Bold" pitchFamily="34" charset="-122"/>
                <a:cs typeface="Tomorrow Semi Bold" pitchFamily="34" charset="-120"/>
              </a:rPr>
              <a:t>Fragmentation</a:t>
            </a:r>
            <a:endParaRPr lang="en-US" sz="2400" dirty="0"/>
          </a:p>
        </p:txBody>
      </p:sp>
      <p:sp>
        <p:nvSpPr>
          <p:cNvPr id="6" name="Text 3"/>
          <p:cNvSpPr/>
          <p:nvPr/>
        </p:nvSpPr>
        <p:spPr>
          <a:xfrm>
            <a:off x="793790" y="2816212"/>
            <a:ext cx="4219099" cy="1749483"/>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Use the effective number of parties (N) to capture how many "relevant" parties exist, weighting by size. Empirically, when N ≲ 3–3.5, presidents are likelier to find stable legislative support or at least reliable veto-sustaining minorities; as N rises, minority presidentialism becomes the norm and coalitions become fragile.</a:t>
            </a:r>
            <a:endParaRPr lang="en-US" sz="1500" dirty="0"/>
          </a:p>
        </p:txBody>
      </p:sp>
      <p:pic>
        <p:nvPicPr>
          <p:cNvPr id="7" name="Image 1" descr="preencoded.png"/>
          <p:cNvPicPr>
            <a:picLocks noChangeAspect="1"/>
          </p:cNvPicPr>
          <p:nvPr/>
        </p:nvPicPr>
        <p:blipFill>
          <a:blip r:embed="rId4"/>
          <a:stretch>
            <a:fillRect/>
          </a:stretch>
        </p:blipFill>
        <p:spPr>
          <a:xfrm>
            <a:off x="5205651" y="1736527"/>
            <a:ext cx="192762" cy="240983"/>
          </a:xfrm>
          <a:prstGeom prst="rect">
            <a:avLst/>
          </a:prstGeom>
        </p:spPr>
      </p:pic>
      <p:sp>
        <p:nvSpPr>
          <p:cNvPr id="8" name="Shape 4"/>
          <p:cNvSpPr/>
          <p:nvPr/>
        </p:nvSpPr>
        <p:spPr>
          <a:xfrm>
            <a:off x="5205651" y="2041208"/>
            <a:ext cx="4219099" cy="22860"/>
          </a:xfrm>
          <a:prstGeom prst="rect">
            <a:avLst/>
          </a:prstGeom>
          <a:solidFill>
            <a:srgbClr val="E1E1DF"/>
          </a:solidFill>
          <a:ln/>
        </p:spPr>
        <p:txBody>
          <a:bodyPr/>
          <a:lstStyle/>
          <a:p>
            <a:endParaRPr lang="es-AR"/>
          </a:p>
        </p:txBody>
      </p:sp>
      <p:sp>
        <p:nvSpPr>
          <p:cNvPr id="9" name="Text 5"/>
          <p:cNvSpPr/>
          <p:nvPr/>
        </p:nvSpPr>
        <p:spPr>
          <a:xfrm>
            <a:off x="5205651" y="2266374"/>
            <a:ext cx="2409944" cy="301228"/>
          </a:xfrm>
          <a:prstGeom prst="rect">
            <a:avLst/>
          </a:prstGeom>
          <a:noFill/>
          <a:ln/>
        </p:spPr>
        <p:txBody>
          <a:bodyPr wrap="none" lIns="0" tIns="0" rIns="0" bIns="0" rtlCol="0" anchor="t"/>
          <a:lstStyle/>
          <a:p>
            <a:pPr marL="0" indent="0" algn="l">
              <a:lnSpc>
                <a:spcPts val="2350"/>
              </a:lnSpc>
              <a:buNone/>
            </a:pPr>
            <a:r>
              <a:rPr lang="en-US" sz="2400" dirty="0">
                <a:solidFill>
                  <a:srgbClr val="C9C9C0"/>
                </a:solidFill>
                <a:latin typeface="Tomorrow Semi Bold" pitchFamily="34" charset="0"/>
                <a:ea typeface="Tomorrow Semi Bold" pitchFamily="34" charset="-122"/>
                <a:cs typeface="Tomorrow Semi Bold" pitchFamily="34" charset="-120"/>
              </a:rPr>
              <a:t>Discipline</a:t>
            </a:r>
            <a:endParaRPr lang="en-US" sz="2400" dirty="0"/>
          </a:p>
        </p:txBody>
      </p:sp>
      <p:sp>
        <p:nvSpPr>
          <p:cNvPr id="10" name="Text 6"/>
          <p:cNvSpPr/>
          <p:nvPr/>
        </p:nvSpPr>
        <p:spPr>
          <a:xfrm>
            <a:off x="5205651" y="2816213"/>
            <a:ext cx="4219099" cy="1968168"/>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Party cohesion (internal vote unity) lowers bargaining costs and makes executive-legislative relations predictable. Very low discipline (e.g., personalistic/open-list systems) forces presidents into retail bargaining with individual legislators.</a:t>
            </a:r>
            <a:endParaRPr lang="en-US" sz="1500" dirty="0"/>
          </a:p>
        </p:txBody>
      </p:sp>
      <p:pic>
        <p:nvPicPr>
          <p:cNvPr id="11" name="Image 2" descr="preencoded.png"/>
          <p:cNvPicPr>
            <a:picLocks noChangeAspect="1"/>
          </p:cNvPicPr>
          <p:nvPr/>
        </p:nvPicPr>
        <p:blipFill>
          <a:blip r:embed="rId5"/>
          <a:stretch>
            <a:fillRect/>
          </a:stretch>
        </p:blipFill>
        <p:spPr>
          <a:xfrm>
            <a:off x="9617512" y="1736527"/>
            <a:ext cx="192762" cy="240983"/>
          </a:xfrm>
          <a:prstGeom prst="rect">
            <a:avLst/>
          </a:prstGeom>
        </p:spPr>
      </p:pic>
      <p:sp>
        <p:nvSpPr>
          <p:cNvPr id="12" name="Shape 7"/>
          <p:cNvSpPr/>
          <p:nvPr/>
        </p:nvSpPr>
        <p:spPr>
          <a:xfrm>
            <a:off x="9617512" y="2041208"/>
            <a:ext cx="4219099" cy="22860"/>
          </a:xfrm>
          <a:prstGeom prst="rect">
            <a:avLst/>
          </a:prstGeom>
          <a:solidFill>
            <a:srgbClr val="E1E1DF"/>
          </a:solidFill>
          <a:ln/>
        </p:spPr>
        <p:txBody>
          <a:bodyPr/>
          <a:lstStyle/>
          <a:p>
            <a:endParaRPr lang="es-AR"/>
          </a:p>
        </p:txBody>
      </p:sp>
      <p:sp>
        <p:nvSpPr>
          <p:cNvPr id="13" name="Text 8"/>
          <p:cNvSpPr/>
          <p:nvPr/>
        </p:nvSpPr>
        <p:spPr>
          <a:xfrm>
            <a:off x="9617512" y="2266374"/>
            <a:ext cx="2600444" cy="301228"/>
          </a:xfrm>
          <a:prstGeom prst="rect">
            <a:avLst/>
          </a:prstGeom>
          <a:noFill/>
          <a:ln/>
        </p:spPr>
        <p:txBody>
          <a:bodyPr wrap="none" lIns="0" tIns="0" rIns="0" bIns="0" rtlCol="0" anchor="t"/>
          <a:lstStyle/>
          <a:p>
            <a:pPr marL="0" indent="0" algn="l">
              <a:lnSpc>
                <a:spcPts val="2350"/>
              </a:lnSpc>
              <a:buNone/>
            </a:pPr>
            <a:r>
              <a:rPr lang="en-US" sz="2400" dirty="0">
                <a:solidFill>
                  <a:srgbClr val="C9C9C0"/>
                </a:solidFill>
                <a:latin typeface="Tomorrow Semi Bold" pitchFamily="34" charset="0"/>
                <a:ea typeface="Tomorrow Semi Bold" pitchFamily="34" charset="-122"/>
                <a:cs typeface="Tomorrow Semi Bold" pitchFamily="34" charset="-120"/>
              </a:rPr>
              <a:t>Ideological proximity</a:t>
            </a:r>
            <a:endParaRPr lang="en-US" sz="2400" dirty="0"/>
          </a:p>
        </p:txBody>
      </p:sp>
      <p:sp>
        <p:nvSpPr>
          <p:cNvPr id="14" name="Text 9"/>
          <p:cNvSpPr/>
          <p:nvPr/>
        </p:nvSpPr>
        <p:spPr>
          <a:xfrm>
            <a:off x="9617512" y="2816212"/>
            <a:ext cx="4219099" cy="240553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Even with few parties, polarization can block coalitions; with many parties, ideological proximity can still make deals feasible. Distance on the policy spectrum conditions whether a president can bridge from a large plurality to a working majority.</a:t>
            </a:r>
            <a:endParaRPr lang="en-US" sz="1500" dirty="0"/>
          </a:p>
        </p:txBody>
      </p:sp>
      <p:sp>
        <p:nvSpPr>
          <p:cNvPr id="15" name="Shape 10"/>
          <p:cNvSpPr/>
          <p:nvPr/>
        </p:nvSpPr>
        <p:spPr>
          <a:xfrm>
            <a:off x="793790" y="6353532"/>
            <a:ext cx="13042821" cy="1127403"/>
          </a:xfrm>
          <a:prstGeom prst="roundRect">
            <a:avLst>
              <a:gd name="adj" fmla="val 2565"/>
            </a:avLst>
          </a:prstGeom>
          <a:solidFill>
            <a:srgbClr val="272725"/>
          </a:solidFill>
          <a:ln/>
        </p:spPr>
        <p:txBody>
          <a:bodyPr/>
          <a:lstStyle/>
          <a:p>
            <a:endParaRPr lang="es-AR"/>
          </a:p>
        </p:txBody>
      </p:sp>
      <p:pic>
        <p:nvPicPr>
          <p:cNvPr id="16" name="Image 3" descr="preencoded.png"/>
          <p:cNvPicPr>
            <a:picLocks noChangeAspect="1"/>
          </p:cNvPicPr>
          <p:nvPr/>
        </p:nvPicPr>
        <p:blipFill>
          <a:blip r:embed="rId6"/>
          <a:stretch>
            <a:fillRect/>
          </a:stretch>
        </p:blipFill>
        <p:spPr>
          <a:xfrm>
            <a:off x="986552" y="6654284"/>
            <a:ext cx="240983" cy="192762"/>
          </a:xfrm>
          <a:prstGeom prst="rect">
            <a:avLst/>
          </a:prstGeom>
        </p:spPr>
      </p:pic>
      <p:sp>
        <p:nvSpPr>
          <p:cNvPr id="17" name="Text 11"/>
          <p:cNvSpPr/>
          <p:nvPr/>
        </p:nvSpPr>
        <p:spPr>
          <a:xfrm>
            <a:off x="1420297" y="6594396"/>
            <a:ext cx="12223552" cy="616744"/>
          </a:xfrm>
          <a:prstGeom prst="rect">
            <a:avLst/>
          </a:prstGeom>
          <a:noFill/>
          <a:ln/>
        </p:spPr>
        <p:txBody>
          <a:bodyPr wrap="square" lIns="0" tIns="0" rIns="0" bIns="0" rtlCol="0" anchor="t"/>
          <a:lstStyle/>
          <a:p>
            <a:pPr>
              <a:lnSpc>
                <a:spcPts val="2400"/>
              </a:lnSpc>
            </a:pPr>
            <a:r>
              <a:rPr lang="en-US" dirty="0">
                <a:solidFill>
                  <a:srgbClr val="C9C9C0"/>
                </a:solidFill>
                <a:latin typeface="Tomorrow" pitchFamily="34" charset="0"/>
                <a:ea typeface="Tomorrow" pitchFamily="34" charset="-122"/>
                <a:cs typeface="Tomorrow" pitchFamily="34" charset="-120"/>
              </a:rPr>
              <a:t>In practice, fragmentation, discipline, and proximity interact: high N + low discipline + high polarization is the worst triad; moderate N + moderate discipline + moderate proximity is the most governable.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0095" y="387885"/>
            <a:ext cx="13110210" cy="1221581"/>
          </a:xfrm>
          <a:prstGeom prst="rect">
            <a:avLst/>
          </a:prstGeom>
          <a:noFill/>
          <a:ln/>
        </p:spPr>
        <p:txBody>
          <a:bodyPr wrap="square" lIns="0" tIns="0" rIns="0" bIns="0" rtlCol="0" anchor="t"/>
          <a:lstStyle/>
          <a:p>
            <a:pPr marL="0" indent="0" algn="l">
              <a:lnSpc>
                <a:spcPts val="4800"/>
              </a:lnSpc>
              <a:buNone/>
            </a:pPr>
            <a:r>
              <a:rPr lang="en-US" sz="3800" dirty="0">
                <a:solidFill>
                  <a:srgbClr val="EDEDE8"/>
                </a:solidFill>
                <a:latin typeface="Tomorrow Semi Bold" pitchFamily="34" charset="0"/>
                <a:ea typeface="Tomorrow Semi Bold" pitchFamily="34" charset="-122"/>
                <a:cs typeface="Tomorrow Semi Bold" pitchFamily="34" charset="-120"/>
              </a:rPr>
              <a:t>Electoral rules and the number of parties</a:t>
            </a:r>
            <a:endParaRPr lang="en-US" sz="3800" dirty="0"/>
          </a:p>
        </p:txBody>
      </p:sp>
      <p:sp>
        <p:nvSpPr>
          <p:cNvPr id="4" name="Shape 2"/>
          <p:cNvSpPr/>
          <p:nvPr/>
        </p:nvSpPr>
        <p:spPr>
          <a:xfrm>
            <a:off x="760095" y="3857465"/>
            <a:ext cx="439698" cy="439698"/>
          </a:xfrm>
          <a:prstGeom prst="roundRect">
            <a:avLst>
              <a:gd name="adj" fmla="val 6668"/>
            </a:avLst>
          </a:prstGeom>
          <a:solidFill>
            <a:srgbClr val="3C3C3A"/>
          </a:solidFill>
          <a:ln/>
        </p:spPr>
        <p:txBody>
          <a:bodyPr/>
          <a:lstStyle/>
          <a:p>
            <a:endParaRPr lang="es-AR"/>
          </a:p>
        </p:txBody>
      </p:sp>
      <p:sp>
        <p:nvSpPr>
          <p:cNvPr id="5" name="Text 3"/>
          <p:cNvSpPr/>
          <p:nvPr/>
        </p:nvSpPr>
        <p:spPr>
          <a:xfrm>
            <a:off x="1395174" y="3924616"/>
            <a:ext cx="2775585" cy="305395"/>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District magnitude (M)</a:t>
            </a:r>
            <a:endParaRPr lang="en-US" sz="1900" dirty="0"/>
          </a:p>
        </p:txBody>
      </p:sp>
      <p:sp>
        <p:nvSpPr>
          <p:cNvPr id="6" name="Text 4"/>
          <p:cNvSpPr/>
          <p:nvPr/>
        </p:nvSpPr>
        <p:spPr>
          <a:xfrm>
            <a:off x="1395174" y="4347169"/>
            <a:ext cx="3572113" cy="1563886"/>
          </a:xfrm>
          <a:prstGeom prst="rect">
            <a:avLst/>
          </a:prstGeom>
          <a:noFill/>
          <a:ln/>
        </p:spPr>
        <p:txBody>
          <a:bodyPr wrap="squar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Higher M with bigger PR districts and national lists, lowers thresholds and lets small parties win seats. This leads to higher Number of parties.</a:t>
            </a:r>
          </a:p>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Smaller M, especially single-member districts raises thresholds and lowers the Number of parties.</a:t>
            </a:r>
            <a:endParaRPr lang="en-US" sz="1500" dirty="0"/>
          </a:p>
        </p:txBody>
      </p:sp>
      <p:sp>
        <p:nvSpPr>
          <p:cNvPr id="7" name="Shape 5"/>
          <p:cNvSpPr/>
          <p:nvPr/>
        </p:nvSpPr>
        <p:spPr>
          <a:xfrm>
            <a:off x="5211604" y="3857465"/>
            <a:ext cx="439698" cy="439698"/>
          </a:xfrm>
          <a:prstGeom prst="roundRect">
            <a:avLst>
              <a:gd name="adj" fmla="val 6668"/>
            </a:avLst>
          </a:prstGeom>
          <a:solidFill>
            <a:srgbClr val="3C3C3A"/>
          </a:solidFill>
          <a:ln/>
        </p:spPr>
        <p:txBody>
          <a:bodyPr/>
          <a:lstStyle/>
          <a:p>
            <a:endParaRPr lang="es-AR"/>
          </a:p>
        </p:txBody>
      </p:sp>
      <p:sp>
        <p:nvSpPr>
          <p:cNvPr id="8" name="Text 6"/>
          <p:cNvSpPr/>
          <p:nvPr/>
        </p:nvSpPr>
        <p:spPr>
          <a:xfrm>
            <a:off x="5846683" y="3924616"/>
            <a:ext cx="2443163" cy="305395"/>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Presidential rule</a:t>
            </a:r>
            <a:endParaRPr lang="en-US" sz="1900" dirty="0"/>
          </a:p>
        </p:txBody>
      </p:sp>
      <p:sp>
        <p:nvSpPr>
          <p:cNvPr id="9" name="Text 7"/>
          <p:cNvSpPr/>
          <p:nvPr/>
        </p:nvSpPr>
        <p:spPr>
          <a:xfrm>
            <a:off x="5846683" y="4347169"/>
            <a:ext cx="3572113" cy="1563886"/>
          </a:xfrm>
          <a:prstGeom prst="rect">
            <a:avLst/>
          </a:prstGeom>
          <a:noFill/>
          <a:ln/>
        </p:spPr>
        <p:txBody>
          <a:bodyPr wrap="squar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Plurality tends to focus the contest into two big blocs; runoff reduces coordination pressures, allowing multiple first-round entrants to survive.</a:t>
            </a:r>
            <a:endParaRPr lang="en-US" sz="1500" dirty="0"/>
          </a:p>
        </p:txBody>
      </p:sp>
      <p:sp>
        <p:nvSpPr>
          <p:cNvPr id="10" name="Shape 8"/>
          <p:cNvSpPr/>
          <p:nvPr/>
        </p:nvSpPr>
        <p:spPr>
          <a:xfrm>
            <a:off x="9663112" y="3857465"/>
            <a:ext cx="439698" cy="439698"/>
          </a:xfrm>
          <a:prstGeom prst="roundRect">
            <a:avLst>
              <a:gd name="adj" fmla="val 6668"/>
            </a:avLst>
          </a:prstGeom>
          <a:solidFill>
            <a:srgbClr val="3C3C3A"/>
          </a:solidFill>
          <a:ln/>
        </p:spPr>
        <p:txBody>
          <a:bodyPr/>
          <a:lstStyle/>
          <a:p>
            <a:endParaRPr lang="es-AR"/>
          </a:p>
        </p:txBody>
      </p:sp>
      <p:sp>
        <p:nvSpPr>
          <p:cNvPr id="11" name="Text 9"/>
          <p:cNvSpPr/>
          <p:nvPr/>
        </p:nvSpPr>
        <p:spPr>
          <a:xfrm>
            <a:off x="10298192" y="3924616"/>
            <a:ext cx="2443163" cy="305395"/>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Electoral cycle</a:t>
            </a:r>
            <a:endParaRPr lang="en-US" sz="1900" dirty="0"/>
          </a:p>
        </p:txBody>
      </p:sp>
      <p:sp>
        <p:nvSpPr>
          <p:cNvPr id="12" name="Text 10"/>
          <p:cNvSpPr/>
          <p:nvPr/>
        </p:nvSpPr>
        <p:spPr>
          <a:xfrm>
            <a:off x="10298192" y="4347169"/>
            <a:ext cx="3572113" cy="1876663"/>
          </a:xfrm>
          <a:prstGeom prst="rect">
            <a:avLst/>
          </a:prstGeom>
          <a:noFill/>
          <a:ln/>
        </p:spPr>
        <p:txBody>
          <a:bodyPr wrap="squar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Concurrent presidential–legislative elections transmit the presidential cleavage into congressional voting (coattails) with fewer, larger blocs. </a:t>
            </a:r>
          </a:p>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Non-concurrent breaks that linkage and more parties survive.</a:t>
            </a:r>
            <a:endParaRPr lang="en-US" sz="1500" dirty="0"/>
          </a:p>
        </p:txBody>
      </p:sp>
      <p:sp>
        <p:nvSpPr>
          <p:cNvPr id="14" name="Shape 12"/>
          <p:cNvSpPr/>
          <p:nvPr/>
        </p:nvSpPr>
        <p:spPr>
          <a:xfrm>
            <a:off x="760095" y="6737211"/>
            <a:ext cx="13110210" cy="1143238"/>
          </a:xfrm>
          <a:prstGeom prst="roundRect">
            <a:avLst>
              <a:gd name="adj" fmla="val 2565"/>
            </a:avLst>
          </a:prstGeom>
          <a:solidFill>
            <a:srgbClr val="272725"/>
          </a:solidFill>
          <a:ln/>
        </p:spPr>
        <p:txBody>
          <a:bodyPr/>
          <a:lstStyle/>
          <a:p>
            <a:endParaRPr lang="es-AR"/>
          </a:p>
        </p:txBody>
      </p:sp>
      <p:pic>
        <p:nvPicPr>
          <p:cNvPr id="15" name="Image 0" descr="preencoded.png"/>
          <p:cNvPicPr>
            <a:picLocks noChangeAspect="1"/>
          </p:cNvPicPr>
          <p:nvPr/>
        </p:nvPicPr>
        <p:blipFill>
          <a:blip r:embed="rId3"/>
          <a:stretch>
            <a:fillRect/>
          </a:stretch>
        </p:blipFill>
        <p:spPr>
          <a:xfrm>
            <a:off x="955477" y="7046654"/>
            <a:ext cx="244316" cy="195382"/>
          </a:xfrm>
          <a:prstGeom prst="rect">
            <a:avLst/>
          </a:prstGeom>
        </p:spPr>
      </p:pic>
      <p:sp>
        <p:nvSpPr>
          <p:cNvPr id="16" name="Text 13"/>
          <p:cNvSpPr/>
          <p:nvPr/>
        </p:nvSpPr>
        <p:spPr>
          <a:xfrm>
            <a:off x="1395174" y="6981408"/>
            <a:ext cx="12279749" cy="625554"/>
          </a:xfrm>
          <a:prstGeom prst="rect">
            <a:avLst/>
          </a:prstGeom>
          <a:noFill/>
          <a:ln/>
        </p:spPr>
        <p:txBody>
          <a:bodyPr wrap="square" lIns="0" tIns="0" rIns="0" bIns="0" rtlCol="0" anchor="t"/>
          <a:lstStyle/>
          <a:p>
            <a:pPr marL="0" indent="0" algn="l">
              <a:lnSpc>
                <a:spcPts val="2450"/>
              </a:lnSpc>
              <a:buNone/>
            </a:pPr>
            <a:r>
              <a:rPr lang="en-US" sz="1500" b="1" dirty="0">
                <a:solidFill>
                  <a:srgbClr val="FFFFFF"/>
                </a:solidFill>
                <a:latin typeface="Tomorrow" pitchFamily="34" charset="0"/>
                <a:ea typeface="Tomorrow" pitchFamily="34" charset="-122"/>
                <a:cs typeface="Tomorrow" pitchFamily="34" charset="-120"/>
              </a:rPr>
              <a:t>Core levers:</a:t>
            </a:r>
            <a:r>
              <a:rPr lang="en-US" sz="1500" dirty="0">
                <a:solidFill>
                  <a:srgbClr val="FFFFFF"/>
                </a:solidFill>
                <a:latin typeface="Tomorrow" pitchFamily="34" charset="0"/>
                <a:ea typeface="Tomorrow" pitchFamily="34" charset="-122"/>
                <a:cs typeface="Tomorrow" pitchFamily="34" charset="-120"/>
              </a:rPr>
              <a:t> district magnitude; legal/effective thresholds; list type; presidential plurality vs. runoff; election timing; malapportionment; party-entry barriers.</a:t>
            </a:r>
            <a:endParaRPr lang="en-US" sz="1500" dirty="0"/>
          </a:p>
        </p:txBody>
      </p:sp>
      <p:pic>
        <p:nvPicPr>
          <p:cNvPr id="3074" name="Picture 2">
            <a:extLst>
              <a:ext uri="{FF2B5EF4-FFF2-40B4-BE49-F238E27FC236}">
                <a16:creationId xmlns:a16="http://schemas.microsoft.com/office/drawing/2014/main" id="{BFE3E766-A519-C774-0EDD-4957D6F540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295" y="1726624"/>
            <a:ext cx="1752591" cy="213816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6B1FBFB2-A765-CC60-4F18-4E036A7296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90472" y="1415288"/>
            <a:ext cx="2294255" cy="236496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1D56AFF0-5CA1-E0CC-11A4-5EB45246C1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6927" y="1752172"/>
            <a:ext cx="3356546" cy="19048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62940"/>
            <a:ext cx="9648468" cy="531614"/>
          </a:xfrm>
          <a:prstGeom prst="rect">
            <a:avLst/>
          </a:prstGeom>
          <a:noFill/>
          <a:ln/>
        </p:spPr>
        <p:txBody>
          <a:bodyPr wrap="none" lIns="0" tIns="0" rIns="0" bIns="0" rtlCol="0" anchor="t"/>
          <a:lstStyle/>
          <a:p>
            <a:pPr marL="0" indent="0" algn="l">
              <a:lnSpc>
                <a:spcPts val="4150"/>
              </a:lnSpc>
              <a:buNone/>
            </a:pPr>
            <a:r>
              <a:rPr lang="en-US" sz="3300" dirty="0">
                <a:solidFill>
                  <a:srgbClr val="EDEDE8"/>
                </a:solidFill>
                <a:latin typeface="Tomorrow Semi Bold" pitchFamily="34" charset="0"/>
                <a:ea typeface="Tomorrow Semi Bold" pitchFamily="34" charset="-122"/>
                <a:cs typeface="Tomorrow Semi Bold" pitchFamily="34" charset="-120"/>
              </a:rPr>
              <a:t>Institutional determinants of party discipline</a:t>
            </a:r>
            <a:endParaRPr lang="en-US" sz="3300" dirty="0"/>
          </a:p>
        </p:txBody>
      </p:sp>
      <p:pic>
        <p:nvPicPr>
          <p:cNvPr id="4" name="Image 0" descr="preencoded.png"/>
          <p:cNvPicPr>
            <a:picLocks noChangeAspect="1"/>
          </p:cNvPicPr>
          <p:nvPr/>
        </p:nvPicPr>
        <p:blipFill>
          <a:blip r:embed="rId3"/>
          <a:stretch>
            <a:fillRect/>
          </a:stretch>
        </p:blipFill>
        <p:spPr>
          <a:xfrm>
            <a:off x="793790" y="1549336"/>
            <a:ext cx="425291" cy="425291"/>
          </a:xfrm>
          <a:prstGeom prst="rect">
            <a:avLst/>
          </a:prstGeom>
        </p:spPr>
      </p:pic>
      <p:sp>
        <p:nvSpPr>
          <p:cNvPr id="5" name="Text 2"/>
          <p:cNvSpPr/>
          <p:nvPr/>
        </p:nvSpPr>
        <p:spPr>
          <a:xfrm>
            <a:off x="1431727" y="1650301"/>
            <a:ext cx="2796659" cy="265747"/>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Ballot structure &amp; list type</a:t>
            </a:r>
            <a:endParaRPr lang="en-US" sz="1650" dirty="0"/>
          </a:p>
        </p:txBody>
      </p:sp>
      <p:sp>
        <p:nvSpPr>
          <p:cNvPr id="6" name="Text 3"/>
          <p:cNvSpPr/>
          <p:nvPr/>
        </p:nvSpPr>
        <p:spPr>
          <a:xfrm>
            <a:off x="1431727" y="2018085"/>
            <a:ext cx="5777151" cy="1088708"/>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Open-list PR lets voters reward individuals within the same party list, fostering personal vote-seeking and intra-party competition , and leads to weaker discipline. Closed-list PR ties careers to party leaders' ranking and leads to stronger discipline.</a:t>
            </a:r>
            <a:endParaRPr lang="en-US" sz="1300" dirty="0"/>
          </a:p>
        </p:txBody>
      </p:sp>
      <p:pic>
        <p:nvPicPr>
          <p:cNvPr id="7" name="Image 1" descr="preencoded.png"/>
          <p:cNvPicPr>
            <a:picLocks noChangeAspect="1"/>
          </p:cNvPicPr>
          <p:nvPr/>
        </p:nvPicPr>
        <p:blipFill>
          <a:blip r:embed="rId4"/>
          <a:stretch>
            <a:fillRect/>
          </a:stretch>
        </p:blipFill>
        <p:spPr>
          <a:xfrm>
            <a:off x="7421523" y="1549336"/>
            <a:ext cx="425291" cy="425291"/>
          </a:xfrm>
          <a:prstGeom prst="rect">
            <a:avLst/>
          </a:prstGeom>
        </p:spPr>
      </p:pic>
      <p:sp>
        <p:nvSpPr>
          <p:cNvPr id="8" name="Text 4"/>
          <p:cNvSpPr/>
          <p:nvPr/>
        </p:nvSpPr>
        <p:spPr>
          <a:xfrm>
            <a:off x="8059460" y="1650301"/>
            <a:ext cx="3168253" cy="265747"/>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Nomination &amp; finance control</a:t>
            </a:r>
            <a:endParaRPr lang="en-US" sz="1650" dirty="0"/>
          </a:p>
        </p:txBody>
      </p:sp>
      <p:sp>
        <p:nvSpPr>
          <p:cNvPr id="9" name="Text 5"/>
          <p:cNvSpPr/>
          <p:nvPr/>
        </p:nvSpPr>
        <p:spPr>
          <a:xfrm>
            <a:off x="8059460" y="2018085"/>
            <a:ext cx="5777151" cy="816531"/>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Centralized control over candidate placement, list order, and money increases leaders' leverage to enforce roll-call unity; decentralized primaries or free-agent fundraising weakens it.</a:t>
            </a:r>
            <a:endParaRPr lang="en-US" sz="1300" dirty="0"/>
          </a:p>
        </p:txBody>
      </p:sp>
      <p:pic>
        <p:nvPicPr>
          <p:cNvPr id="10" name="Image 2" descr="preencoded.png"/>
          <p:cNvPicPr>
            <a:picLocks noChangeAspect="1"/>
          </p:cNvPicPr>
          <p:nvPr/>
        </p:nvPicPr>
        <p:blipFill>
          <a:blip r:embed="rId5"/>
          <a:stretch>
            <a:fillRect/>
          </a:stretch>
        </p:blipFill>
        <p:spPr>
          <a:xfrm>
            <a:off x="793790" y="3446954"/>
            <a:ext cx="425291" cy="425291"/>
          </a:xfrm>
          <a:prstGeom prst="rect">
            <a:avLst/>
          </a:prstGeom>
        </p:spPr>
      </p:pic>
      <p:sp>
        <p:nvSpPr>
          <p:cNvPr id="11" name="Text 6"/>
          <p:cNvSpPr/>
          <p:nvPr/>
        </p:nvSpPr>
        <p:spPr>
          <a:xfrm>
            <a:off x="1431727" y="3547919"/>
            <a:ext cx="3537109" cy="265747"/>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Career ladders &amp; reelection rules</a:t>
            </a:r>
            <a:endParaRPr lang="en-US" sz="1650" dirty="0"/>
          </a:p>
        </p:txBody>
      </p:sp>
      <p:sp>
        <p:nvSpPr>
          <p:cNvPr id="12" name="Text 7"/>
          <p:cNvSpPr/>
          <p:nvPr/>
        </p:nvSpPr>
        <p:spPr>
          <a:xfrm>
            <a:off x="1431727" y="3915703"/>
            <a:ext cx="5777151" cy="816531"/>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When re-nomination and advancement depend on party loyalty (or national leadership approval), members comply; where individual reputations and constituency service dominate, members defect.</a:t>
            </a:r>
            <a:endParaRPr lang="en-US" sz="1300" dirty="0"/>
          </a:p>
        </p:txBody>
      </p:sp>
      <p:pic>
        <p:nvPicPr>
          <p:cNvPr id="13" name="Image 3" descr="preencoded.png"/>
          <p:cNvPicPr>
            <a:picLocks noChangeAspect="1"/>
          </p:cNvPicPr>
          <p:nvPr/>
        </p:nvPicPr>
        <p:blipFill>
          <a:blip r:embed="rId6"/>
          <a:stretch>
            <a:fillRect/>
          </a:stretch>
        </p:blipFill>
        <p:spPr>
          <a:xfrm>
            <a:off x="7421523" y="3446954"/>
            <a:ext cx="425291" cy="425291"/>
          </a:xfrm>
          <a:prstGeom prst="rect">
            <a:avLst/>
          </a:prstGeom>
        </p:spPr>
      </p:pic>
      <p:sp>
        <p:nvSpPr>
          <p:cNvPr id="14" name="Text 8"/>
          <p:cNvSpPr/>
          <p:nvPr/>
        </p:nvSpPr>
        <p:spPr>
          <a:xfrm>
            <a:off x="8059460" y="3547919"/>
            <a:ext cx="2880598" cy="265747"/>
          </a:xfrm>
          <a:prstGeom prst="rect">
            <a:avLst/>
          </a:prstGeom>
          <a:noFill/>
          <a:ln/>
        </p:spPr>
        <p:txBody>
          <a:bodyPr wrap="none" lIns="0" tIns="0" rIns="0" bIns="0" rtlCol="0" anchor="t"/>
          <a:lstStyle/>
          <a:p>
            <a:pPr marL="0" indent="0" algn="l">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Committee &amp; agenda rules</a:t>
            </a:r>
            <a:endParaRPr lang="en-US" sz="1650" dirty="0"/>
          </a:p>
        </p:txBody>
      </p:sp>
      <p:sp>
        <p:nvSpPr>
          <p:cNvPr id="15" name="Text 9"/>
          <p:cNvSpPr/>
          <p:nvPr/>
        </p:nvSpPr>
        <p:spPr>
          <a:xfrm>
            <a:off x="8059460" y="3915703"/>
            <a:ext cx="5777151" cy="544354"/>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Parties that can allocate committee posts and control floor access can reward loyalty and sanction defection, building cohesion over time.</a:t>
            </a:r>
            <a:endParaRPr lang="en-US" sz="1300" dirty="0"/>
          </a:p>
        </p:txBody>
      </p:sp>
      <p:sp>
        <p:nvSpPr>
          <p:cNvPr id="16" name="Text 10"/>
          <p:cNvSpPr/>
          <p:nvPr/>
        </p:nvSpPr>
        <p:spPr>
          <a:xfrm>
            <a:off x="793790" y="5372457"/>
            <a:ext cx="13042821" cy="544354"/>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Coalitional presidentialism tools. Targeted appointments, budget amendments, and sub-national transfers can purchase short-term unity, but without institutionalized party control they rarely produce durable cohesion.</a:t>
            </a:r>
            <a:endParaRPr lang="en-US" sz="1300" dirty="0"/>
          </a:p>
        </p:txBody>
      </p:sp>
      <p:sp>
        <p:nvSpPr>
          <p:cNvPr id="17" name="Text 11"/>
          <p:cNvSpPr/>
          <p:nvPr/>
        </p:nvSpPr>
        <p:spPr>
          <a:xfrm>
            <a:off x="793790" y="6108144"/>
            <a:ext cx="13042821" cy="272177"/>
          </a:xfrm>
          <a:prstGeom prst="rect">
            <a:avLst/>
          </a:prstGeom>
          <a:noFill/>
          <a:ln/>
        </p:spPr>
        <p:txBody>
          <a:bodyPr wrap="non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Bottom line: electoral engineering and internal party statutes manufacture discipline (or not), which then conditions presidential governance.</a:t>
            </a:r>
            <a:endParaRPr lang="en-US" sz="1300" dirty="0"/>
          </a:p>
        </p:txBody>
      </p:sp>
      <p:sp>
        <p:nvSpPr>
          <p:cNvPr id="18" name="Shape 12"/>
          <p:cNvSpPr/>
          <p:nvPr/>
        </p:nvSpPr>
        <p:spPr>
          <a:xfrm>
            <a:off x="793790" y="6571655"/>
            <a:ext cx="13042821" cy="994886"/>
          </a:xfrm>
          <a:prstGeom prst="roundRect">
            <a:avLst>
              <a:gd name="adj" fmla="val 2565"/>
            </a:avLst>
          </a:prstGeom>
          <a:solidFill>
            <a:srgbClr val="272725"/>
          </a:solidFill>
          <a:ln/>
        </p:spPr>
        <p:txBody>
          <a:bodyPr/>
          <a:lstStyle/>
          <a:p>
            <a:endParaRPr lang="es-AR"/>
          </a:p>
        </p:txBody>
      </p:sp>
      <p:pic>
        <p:nvPicPr>
          <p:cNvPr id="19" name="Image 4" descr="preencoded.png"/>
          <p:cNvPicPr>
            <a:picLocks noChangeAspect="1"/>
          </p:cNvPicPr>
          <p:nvPr/>
        </p:nvPicPr>
        <p:blipFill>
          <a:blip r:embed="rId7"/>
          <a:stretch>
            <a:fillRect/>
          </a:stretch>
        </p:blipFill>
        <p:spPr>
          <a:xfrm>
            <a:off x="963811" y="6833473"/>
            <a:ext cx="212646" cy="170021"/>
          </a:xfrm>
          <a:prstGeom prst="rect">
            <a:avLst/>
          </a:prstGeom>
        </p:spPr>
      </p:pic>
      <p:sp>
        <p:nvSpPr>
          <p:cNvPr id="20" name="Text 13"/>
          <p:cNvSpPr/>
          <p:nvPr/>
        </p:nvSpPr>
        <p:spPr>
          <a:xfrm>
            <a:off x="1346478" y="6784181"/>
            <a:ext cx="12320111" cy="544354"/>
          </a:xfrm>
          <a:prstGeom prst="rect">
            <a:avLst/>
          </a:prstGeom>
          <a:noFill/>
          <a:ln/>
        </p:spPr>
        <p:txBody>
          <a:bodyPr wrap="square" lIns="0" tIns="0" rIns="0" bIns="0" rtlCol="0" anchor="t"/>
          <a:lstStyle/>
          <a:p>
            <a:pPr marL="0" indent="0" algn="l">
              <a:lnSpc>
                <a:spcPts val="2100"/>
              </a:lnSpc>
              <a:buNone/>
            </a:pPr>
            <a:r>
              <a:rPr lang="en-US" sz="1300" b="1" dirty="0">
                <a:solidFill>
                  <a:srgbClr val="FFFFFF"/>
                </a:solidFill>
                <a:latin typeface="Tomorrow" pitchFamily="34" charset="0"/>
                <a:ea typeface="Tomorrow" pitchFamily="34" charset="-122"/>
                <a:cs typeface="Tomorrow" pitchFamily="34" charset="-120"/>
              </a:rPr>
              <a:t>Core variables:</a:t>
            </a:r>
            <a:r>
              <a:rPr lang="en-US" sz="1300" dirty="0">
                <a:solidFill>
                  <a:srgbClr val="FFFFFF"/>
                </a:solidFill>
                <a:latin typeface="Tomorrow" pitchFamily="34" charset="0"/>
                <a:ea typeface="Tomorrow" pitchFamily="34" charset="-122"/>
                <a:cs typeface="Tomorrow" pitchFamily="34" charset="-120"/>
              </a:rPr>
              <a:t> open vs. closed lists; centralization of nominations/finance; reelection/re-nomination dependence; internal rules for posts; executive patronage reach.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0218" y="620792"/>
            <a:ext cx="11330940" cy="529233"/>
          </a:xfrm>
          <a:prstGeom prst="rect">
            <a:avLst/>
          </a:prstGeom>
          <a:noFill/>
          <a:ln/>
        </p:spPr>
        <p:txBody>
          <a:bodyPr wrap="none" lIns="0" tIns="0" rIns="0" bIns="0" rtlCol="0" anchor="t"/>
          <a:lstStyle/>
          <a:p>
            <a:pPr marL="0" indent="0" algn="l">
              <a:lnSpc>
                <a:spcPts val="4150"/>
              </a:lnSpc>
              <a:buNone/>
            </a:pPr>
            <a:r>
              <a:rPr lang="en-US" sz="3300" dirty="0">
                <a:solidFill>
                  <a:srgbClr val="EDEDE8"/>
                </a:solidFill>
                <a:latin typeface="Tomorrow Semi Bold" pitchFamily="34" charset="0"/>
                <a:ea typeface="Tomorrow Semi Bold" pitchFamily="34" charset="-122"/>
                <a:cs typeface="Tomorrow Semi Bold" pitchFamily="34" charset="-120"/>
              </a:rPr>
              <a:t>The interaction of constitutional and partisan powers</a:t>
            </a:r>
            <a:endParaRPr lang="en-US" sz="3300" dirty="0"/>
          </a:p>
        </p:txBody>
      </p:sp>
      <p:sp>
        <p:nvSpPr>
          <p:cNvPr id="4" name="Shape 2"/>
          <p:cNvSpPr/>
          <p:nvPr/>
        </p:nvSpPr>
        <p:spPr>
          <a:xfrm>
            <a:off x="790218" y="1564574"/>
            <a:ext cx="6440329" cy="1957507"/>
          </a:xfrm>
          <a:prstGeom prst="roundRect">
            <a:avLst>
              <a:gd name="adj" fmla="val 1420"/>
            </a:avLst>
          </a:prstGeom>
          <a:solidFill>
            <a:srgbClr val="3C3C3A"/>
          </a:solidFill>
          <a:ln/>
        </p:spPr>
        <p:txBody>
          <a:bodyPr/>
          <a:lstStyle/>
          <a:p>
            <a:endParaRPr lang="es-AR"/>
          </a:p>
        </p:txBody>
      </p:sp>
      <p:sp>
        <p:nvSpPr>
          <p:cNvPr id="5" name="Text 3"/>
          <p:cNvSpPr/>
          <p:nvPr/>
        </p:nvSpPr>
        <p:spPr>
          <a:xfrm>
            <a:off x="959525" y="1786813"/>
            <a:ext cx="2846189" cy="264557"/>
          </a:xfrm>
          <a:prstGeom prst="rect">
            <a:avLst/>
          </a:prstGeom>
          <a:noFill/>
          <a:ln/>
        </p:spPr>
        <p:txBody>
          <a:bodyPr wrap="none" lIns="0" tIns="0" rIns="0" bIns="0" rtlCol="0" anchor="t"/>
          <a:lstStyle/>
          <a:p>
            <a:pPr marL="0" indent="0" algn="l">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Strong-text / Strong-party</a:t>
            </a:r>
            <a:endParaRPr lang="en-US" sz="2000" dirty="0"/>
          </a:p>
        </p:txBody>
      </p:sp>
      <p:sp>
        <p:nvSpPr>
          <p:cNvPr id="6" name="Text 4"/>
          <p:cNvSpPr/>
          <p:nvPr/>
        </p:nvSpPr>
        <p:spPr>
          <a:xfrm>
            <a:off x="959525" y="2269305"/>
            <a:ext cx="6101715" cy="1083469"/>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Presidents possess robust veto/decree/agenda tools and command a cohesive majority or near-majority. Expect fast lawmaking, programmatic coherence, and—if oversight is weak—risk of delegative tendencies or dominance.</a:t>
            </a:r>
            <a:endParaRPr lang="en-US" sz="1300" dirty="0"/>
          </a:p>
        </p:txBody>
      </p:sp>
      <p:sp>
        <p:nvSpPr>
          <p:cNvPr id="7" name="Shape 5"/>
          <p:cNvSpPr/>
          <p:nvPr/>
        </p:nvSpPr>
        <p:spPr>
          <a:xfrm>
            <a:off x="7399853" y="1564574"/>
            <a:ext cx="6440329" cy="1957507"/>
          </a:xfrm>
          <a:prstGeom prst="roundRect">
            <a:avLst>
              <a:gd name="adj" fmla="val 1420"/>
            </a:avLst>
          </a:prstGeom>
          <a:solidFill>
            <a:srgbClr val="3C3C3A"/>
          </a:solidFill>
          <a:ln/>
        </p:spPr>
        <p:txBody>
          <a:bodyPr/>
          <a:lstStyle/>
          <a:p>
            <a:endParaRPr lang="es-AR"/>
          </a:p>
        </p:txBody>
      </p:sp>
      <p:sp>
        <p:nvSpPr>
          <p:cNvPr id="8" name="Text 6"/>
          <p:cNvSpPr/>
          <p:nvPr/>
        </p:nvSpPr>
        <p:spPr>
          <a:xfrm>
            <a:off x="7569160" y="1786813"/>
            <a:ext cx="2694265" cy="264557"/>
          </a:xfrm>
          <a:prstGeom prst="rect">
            <a:avLst/>
          </a:prstGeom>
          <a:noFill/>
          <a:ln/>
        </p:spPr>
        <p:txBody>
          <a:bodyPr wrap="none" lIns="0" tIns="0" rIns="0" bIns="0" rtlCol="0" anchor="t"/>
          <a:lstStyle/>
          <a:p>
            <a:pPr marL="0" indent="0" algn="l">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Strong-text / Weak-party</a:t>
            </a:r>
            <a:endParaRPr lang="en-US" sz="2000" dirty="0"/>
          </a:p>
        </p:txBody>
      </p:sp>
      <p:sp>
        <p:nvSpPr>
          <p:cNvPr id="9" name="Text 7"/>
          <p:cNvSpPr/>
          <p:nvPr/>
        </p:nvSpPr>
        <p:spPr>
          <a:xfrm>
            <a:off x="7569160" y="2269305"/>
            <a:ext cx="6101715" cy="1083469"/>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Presidents hold powerful formal tools but lack reliable seats and cohesion. Expect standoffs, heavy reliance on decrees or urgency procedures, frequent bargaining crises, and judicialized conflict over the limits of decree/urgency powers.</a:t>
            </a:r>
            <a:endParaRPr lang="en-US" sz="1300" dirty="0"/>
          </a:p>
        </p:txBody>
      </p:sp>
      <p:sp>
        <p:nvSpPr>
          <p:cNvPr id="10" name="Shape 8"/>
          <p:cNvSpPr/>
          <p:nvPr/>
        </p:nvSpPr>
        <p:spPr>
          <a:xfrm>
            <a:off x="790218" y="3738205"/>
            <a:ext cx="6440329" cy="1957507"/>
          </a:xfrm>
          <a:prstGeom prst="roundRect">
            <a:avLst>
              <a:gd name="adj" fmla="val 1420"/>
            </a:avLst>
          </a:prstGeom>
          <a:solidFill>
            <a:srgbClr val="3C3C3A"/>
          </a:solidFill>
          <a:ln/>
        </p:spPr>
        <p:txBody>
          <a:bodyPr/>
          <a:lstStyle/>
          <a:p>
            <a:endParaRPr lang="es-AR"/>
          </a:p>
        </p:txBody>
      </p:sp>
      <p:sp>
        <p:nvSpPr>
          <p:cNvPr id="11" name="Text 9"/>
          <p:cNvSpPr/>
          <p:nvPr/>
        </p:nvSpPr>
        <p:spPr>
          <a:xfrm>
            <a:off x="959525" y="3960444"/>
            <a:ext cx="2694265" cy="264557"/>
          </a:xfrm>
          <a:prstGeom prst="rect">
            <a:avLst/>
          </a:prstGeom>
          <a:noFill/>
          <a:ln/>
        </p:spPr>
        <p:txBody>
          <a:bodyPr wrap="none" lIns="0" tIns="0" rIns="0" bIns="0" rtlCol="0" anchor="t"/>
          <a:lstStyle/>
          <a:p>
            <a:pPr marL="0" indent="0" algn="l">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Weak-text / Strong-party</a:t>
            </a:r>
            <a:endParaRPr lang="en-US" sz="2000" dirty="0"/>
          </a:p>
        </p:txBody>
      </p:sp>
      <p:sp>
        <p:nvSpPr>
          <p:cNvPr id="12" name="Text 10"/>
          <p:cNvSpPr/>
          <p:nvPr/>
        </p:nvSpPr>
        <p:spPr>
          <a:xfrm>
            <a:off x="959525" y="4442936"/>
            <a:ext cx="6101715" cy="1083469"/>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Presidents with modest formal tools but cohesive legislative backing govern effectively via party channels: party leadership, agenda control in the chamber, budget bargaining. The presidency "borrows" strength from the party.</a:t>
            </a:r>
            <a:endParaRPr lang="en-US" sz="1300" dirty="0"/>
          </a:p>
        </p:txBody>
      </p:sp>
      <p:sp>
        <p:nvSpPr>
          <p:cNvPr id="13" name="Shape 11"/>
          <p:cNvSpPr/>
          <p:nvPr/>
        </p:nvSpPr>
        <p:spPr>
          <a:xfrm>
            <a:off x="7399853" y="3738205"/>
            <a:ext cx="6440329" cy="1957507"/>
          </a:xfrm>
          <a:prstGeom prst="roundRect">
            <a:avLst>
              <a:gd name="adj" fmla="val 1420"/>
            </a:avLst>
          </a:prstGeom>
          <a:solidFill>
            <a:srgbClr val="3C3C3A"/>
          </a:solidFill>
          <a:ln/>
        </p:spPr>
        <p:txBody>
          <a:bodyPr/>
          <a:lstStyle/>
          <a:p>
            <a:endParaRPr lang="es-AR"/>
          </a:p>
        </p:txBody>
      </p:sp>
      <p:sp>
        <p:nvSpPr>
          <p:cNvPr id="14" name="Text 12"/>
          <p:cNvSpPr/>
          <p:nvPr/>
        </p:nvSpPr>
        <p:spPr>
          <a:xfrm>
            <a:off x="7569160" y="3960444"/>
            <a:ext cx="2542342" cy="264557"/>
          </a:xfrm>
          <a:prstGeom prst="rect">
            <a:avLst/>
          </a:prstGeom>
          <a:noFill/>
          <a:ln/>
        </p:spPr>
        <p:txBody>
          <a:bodyPr wrap="none" lIns="0" tIns="0" rIns="0" bIns="0" rtlCol="0" anchor="t"/>
          <a:lstStyle/>
          <a:p>
            <a:pPr marL="0" indent="0" algn="l">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Weak-text / Weak-party</a:t>
            </a:r>
            <a:endParaRPr lang="en-US" sz="2000" dirty="0"/>
          </a:p>
        </p:txBody>
      </p:sp>
      <p:sp>
        <p:nvSpPr>
          <p:cNvPr id="15" name="Text 13"/>
          <p:cNvSpPr/>
          <p:nvPr/>
        </p:nvSpPr>
        <p:spPr>
          <a:xfrm>
            <a:off x="7569160" y="4442936"/>
            <a:ext cx="6101715" cy="812602"/>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The paralysis corner: few formal levers and no stable bloc. Expect immobilism, budget delays, policy drift, temptation toward extra-institutional shortcuts, and heightened regime stress.</a:t>
            </a:r>
            <a:endParaRPr lang="en-US" sz="1300" dirty="0"/>
          </a:p>
        </p:txBody>
      </p:sp>
      <p:sp>
        <p:nvSpPr>
          <p:cNvPr id="16" name="Text 14"/>
          <p:cNvSpPr/>
          <p:nvPr/>
        </p:nvSpPr>
        <p:spPr>
          <a:xfrm>
            <a:off x="790218" y="5886212"/>
            <a:ext cx="13049964" cy="541734"/>
          </a:xfrm>
          <a:prstGeom prst="rect">
            <a:avLst/>
          </a:prstGeom>
          <a:noFill/>
          <a:ln/>
        </p:spPr>
        <p:txBody>
          <a:bodyPr wrap="square" lIns="0" tIns="0" rIns="0" bIns="0" rtlCol="0" anchor="t"/>
          <a:lstStyle/>
          <a:p>
            <a:pPr marL="0" indent="0" algn="l">
              <a:lnSpc>
                <a:spcPts val="2100"/>
              </a:lnSpc>
              <a:buNone/>
            </a:pPr>
            <a:r>
              <a:rPr lang="en-US" sz="1300" dirty="0">
                <a:solidFill>
                  <a:srgbClr val="C9C9C0"/>
                </a:solidFill>
                <a:latin typeface="Tomorrow" pitchFamily="34" charset="0"/>
                <a:ea typeface="Tomorrow" pitchFamily="34" charset="-122"/>
                <a:cs typeface="Tomorrow" pitchFamily="34" charset="-120"/>
              </a:rPr>
              <a:t>Do not ask "Is this a strong presidency?" in the abstract. Ask "Strong where?" (constitutional vs. partisan) and "What compensatory moves follow?" (decree reliance, patronage for votes, coalition pacts, or party-led governance).</a:t>
            </a:r>
            <a:endParaRPr lang="en-US" sz="1300" dirty="0"/>
          </a:p>
        </p:txBody>
      </p:sp>
      <p:sp>
        <p:nvSpPr>
          <p:cNvPr id="17" name="Shape 15"/>
          <p:cNvSpPr/>
          <p:nvPr/>
        </p:nvSpPr>
        <p:spPr>
          <a:xfrm>
            <a:off x="790218" y="6618446"/>
            <a:ext cx="13049964" cy="990362"/>
          </a:xfrm>
          <a:prstGeom prst="roundRect">
            <a:avLst>
              <a:gd name="adj" fmla="val 2565"/>
            </a:avLst>
          </a:prstGeom>
          <a:solidFill>
            <a:srgbClr val="272725"/>
          </a:solidFill>
          <a:ln/>
        </p:spPr>
        <p:txBody>
          <a:bodyPr/>
          <a:lstStyle/>
          <a:p>
            <a:endParaRPr lang="es-AR"/>
          </a:p>
        </p:txBody>
      </p:sp>
      <p:pic>
        <p:nvPicPr>
          <p:cNvPr id="18" name="Image 0" descr="preencoded.png"/>
          <p:cNvPicPr>
            <a:picLocks noChangeAspect="1"/>
          </p:cNvPicPr>
          <p:nvPr/>
        </p:nvPicPr>
        <p:blipFill>
          <a:blip r:embed="rId3"/>
          <a:stretch>
            <a:fillRect/>
          </a:stretch>
        </p:blipFill>
        <p:spPr>
          <a:xfrm>
            <a:off x="959525" y="6879908"/>
            <a:ext cx="211574" cy="169307"/>
          </a:xfrm>
          <a:prstGeom prst="rect">
            <a:avLst/>
          </a:prstGeom>
        </p:spPr>
      </p:pic>
      <p:sp>
        <p:nvSpPr>
          <p:cNvPr id="19" name="Text 16"/>
          <p:cNvSpPr/>
          <p:nvPr/>
        </p:nvSpPr>
        <p:spPr>
          <a:xfrm>
            <a:off x="1340406" y="6830020"/>
            <a:ext cx="12330470" cy="541734"/>
          </a:xfrm>
          <a:prstGeom prst="rect">
            <a:avLst/>
          </a:prstGeom>
          <a:noFill/>
          <a:ln/>
        </p:spPr>
        <p:txBody>
          <a:bodyPr wrap="square" lIns="0" tIns="0" rIns="0" bIns="0" rtlCol="0" anchor="t"/>
          <a:lstStyle/>
          <a:p>
            <a:pPr marL="0" indent="0" algn="l">
              <a:lnSpc>
                <a:spcPts val="2100"/>
              </a:lnSpc>
              <a:buNone/>
            </a:pPr>
            <a:r>
              <a:rPr lang="en-US" sz="1300" b="1" dirty="0">
                <a:solidFill>
                  <a:srgbClr val="FFFFFF"/>
                </a:solidFill>
                <a:latin typeface="Tomorrow" pitchFamily="34" charset="0"/>
                <a:ea typeface="Tomorrow" pitchFamily="34" charset="-122"/>
                <a:cs typeface="Tomorrow" pitchFamily="34" charset="-120"/>
              </a:rPr>
              <a:t>Core variables:</a:t>
            </a:r>
            <a:r>
              <a:rPr lang="en-US" sz="1300" dirty="0">
                <a:solidFill>
                  <a:srgbClr val="FFFFFF"/>
                </a:solidFill>
                <a:latin typeface="Tomorrow" pitchFamily="34" charset="0"/>
                <a:ea typeface="Tomorrow" pitchFamily="34" charset="-122"/>
                <a:cs typeface="Tomorrow" pitchFamily="34" charset="-120"/>
              </a:rPr>
              <a:t> composite "textual power" index (veto type, decree scope, budget prerogatives) × partisan power (seat share, coalition durability, discipline).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1480</Words>
  <Application>Microsoft Office PowerPoint</Application>
  <PresentationFormat>Personalizado</PresentationFormat>
  <Paragraphs>82</Paragraphs>
  <Slides>9</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Tomorrow</vt:lpstr>
      <vt:lpstr>Tomorrow Semi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Claudio Alberto Robelo Guzman</cp:lastModifiedBy>
  <cp:revision>3</cp:revision>
  <dcterms:created xsi:type="dcterms:W3CDTF">2025-10-05T20:34:22Z</dcterms:created>
  <dcterms:modified xsi:type="dcterms:W3CDTF">2025-10-05T23:53:21Z</dcterms:modified>
</cp:coreProperties>
</file>