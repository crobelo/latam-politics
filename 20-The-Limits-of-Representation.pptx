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Tomorrow" panose="020B0604020202020204" charset="0"/>
      <p:regular r:id="rId11"/>
    </p:embeddedFont>
    <p:embeddedFont>
      <p:font typeface="Tomorrow Semi Bold" panose="020B0604020202020204" charset="0"/>
      <p:regular r:id="rId12"/>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3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0709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E0161B7C-CD46-060C-906C-8F8830DA37BC}"/>
              </a:ext>
            </a:extLst>
          </p:cNvPr>
          <p:cNvSpPr/>
          <p:nvPr userDrawn="1"/>
        </p:nvSpPr>
        <p:spPr>
          <a:xfrm>
            <a:off x="0" y="0"/>
            <a:ext cx="14630400" cy="8229600"/>
          </a:xfrm>
          <a:prstGeom prst="rect">
            <a:avLst/>
          </a:prstGeom>
          <a:solidFill>
            <a:srgbClr val="1D1D1B"/>
          </a:solidFill>
          <a:ln/>
        </p:spPr>
        <p:txBody>
          <a:bodyPr/>
          <a:lstStyle/>
          <a:p>
            <a:endParaRPr lang="es-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643652" y="732005"/>
            <a:ext cx="7856696" cy="1724144"/>
          </a:xfrm>
          <a:prstGeom prst="rect">
            <a:avLst/>
          </a:prstGeom>
          <a:noFill/>
          <a:ln/>
        </p:spPr>
        <p:txBody>
          <a:bodyPr wrap="square" lIns="0" tIns="0" rIns="0" bIns="0" rtlCol="0" anchor="t"/>
          <a:lstStyle/>
          <a:p>
            <a:pPr marL="0" indent="0" algn="l">
              <a:lnSpc>
                <a:spcPts val="4500"/>
              </a:lnSpc>
              <a:buNone/>
            </a:pPr>
            <a:r>
              <a:rPr lang="en-US" sz="4000" dirty="0">
                <a:solidFill>
                  <a:srgbClr val="EDEDE8"/>
                </a:solidFill>
                <a:latin typeface="Tomorrow Semi Bold" pitchFamily="34" charset="0"/>
                <a:ea typeface="Tomorrow Semi Bold" pitchFamily="34" charset="-122"/>
                <a:cs typeface="Tomorrow Semi Bold" pitchFamily="34" charset="-120"/>
              </a:rPr>
              <a:t>Party Systems, Governance, and Citizen Disaffection in Latin America</a:t>
            </a:r>
            <a:endParaRPr lang="en-US" sz="4000" dirty="0"/>
          </a:p>
        </p:txBody>
      </p:sp>
      <p:sp>
        <p:nvSpPr>
          <p:cNvPr id="5" name="Text 2"/>
          <p:cNvSpPr/>
          <p:nvPr/>
        </p:nvSpPr>
        <p:spPr>
          <a:xfrm>
            <a:off x="643652" y="3082349"/>
            <a:ext cx="6816691" cy="1177290"/>
          </a:xfrm>
          <a:prstGeom prst="rect">
            <a:avLst/>
          </a:prstGeom>
          <a:noFill/>
          <a:ln/>
        </p:spPr>
        <p:txBody>
          <a:bodyPr wrap="squar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As we close our exploration of Latin American politics, we turn to two democracies that illuminate the region's defining paradox. Both Brazil and Chile entered 2022 with robust institutional frameworks and recent histories of democratic stability. Yet both confronted profound crises of citizen confidence.</a:t>
            </a:r>
            <a:endParaRPr lang="en-US" sz="1400" dirty="0"/>
          </a:p>
        </p:txBody>
      </p:sp>
      <p:sp>
        <p:nvSpPr>
          <p:cNvPr id="6" name="Text 3"/>
          <p:cNvSpPr/>
          <p:nvPr/>
        </p:nvSpPr>
        <p:spPr>
          <a:xfrm>
            <a:off x="643652" y="4978566"/>
            <a:ext cx="6671548" cy="1177290"/>
          </a:xfrm>
          <a:prstGeom prst="rect">
            <a:avLst/>
          </a:prstGeom>
          <a:noFill/>
          <a:ln/>
        </p:spPr>
        <p:txBody>
          <a:bodyPr wrap="squar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The tension we examine today centers not on democracy's survival, but on its </a:t>
            </a:r>
            <a:r>
              <a:rPr lang="en-US" sz="1400" dirty="0">
                <a:solidFill>
                  <a:srgbClr val="C9C9C0"/>
                </a:solidFill>
                <a:latin typeface="Tomorrow" pitchFamily="34" charset="0"/>
              </a:rPr>
              <a:t>representation crisis: </a:t>
            </a:r>
            <a:r>
              <a:rPr lang="en-US" sz="1400" dirty="0">
                <a:solidFill>
                  <a:srgbClr val="C9C9C0"/>
                </a:solidFill>
                <a:latin typeface="Tomorrow" pitchFamily="34" charset="0"/>
                <a:ea typeface="Tomorrow" pitchFamily="34" charset="-122"/>
                <a:cs typeface="Tomorrow" pitchFamily="34" charset="-120"/>
              </a:rPr>
              <a:t>the weakening of political parties as mediators between citizens and the state, and the widening mismatch between governance capacity and social expectations.</a:t>
            </a:r>
            <a:endParaRPr lang="en-US" sz="1400" dirty="0"/>
          </a:p>
        </p:txBody>
      </p:sp>
      <p:sp>
        <p:nvSpPr>
          <p:cNvPr id="7" name="Text 4"/>
          <p:cNvSpPr/>
          <p:nvPr/>
        </p:nvSpPr>
        <p:spPr>
          <a:xfrm>
            <a:off x="643652" y="6547604"/>
            <a:ext cx="6816691" cy="588645"/>
          </a:xfrm>
          <a:prstGeom prst="rect">
            <a:avLst/>
          </a:prstGeom>
          <a:noFill/>
          <a:ln/>
        </p:spPr>
        <p:txBody>
          <a:bodyPr wrap="squar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These cases remind us that </a:t>
            </a:r>
            <a:r>
              <a:rPr lang="en-US" sz="1400" b="1" dirty="0">
                <a:solidFill>
                  <a:srgbClr val="C9C9C0"/>
                </a:solidFill>
                <a:latin typeface="Tomorrow" pitchFamily="34" charset="0"/>
                <a:ea typeface="Tomorrow" pitchFamily="34" charset="-122"/>
                <a:cs typeface="Tomorrow" pitchFamily="34" charset="-120"/>
              </a:rPr>
              <a:t>elections can remain competitive even as governability and legitimacy erode</a:t>
            </a:r>
            <a:r>
              <a:rPr lang="en-US" sz="1400" dirty="0">
                <a:solidFill>
                  <a:srgbClr val="C9C9C0"/>
                </a:solidFill>
                <a:latin typeface="Tomorrow" pitchFamily="34" charset="0"/>
                <a:ea typeface="Tomorrow" pitchFamily="34" charset="-122"/>
                <a:cs typeface="Tomorrow" pitchFamily="34" charset="-120"/>
              </a:rPr>
              <a:t>.</a:t>
            </a:r>
            <a:endParaRPr lang="en-US" sz="1400" dirty="0"/>
          </a:p>
        </p:txBody>
      </p:sp>
      <p:pic>
        <p:nvPicPr>
          <p:cNvPr id="9" name="Imagen 8">
            <a:extLst>
              <a:ext uri="{FF2B5EF4-FFF2-40B4-BE49-F238E27FC236}">
                <a16:creationId xmlns:a16="http://schemas.microsoft.com/office/drawing/2014/main" id="{2955C7F6-D3ED-3794-4F37-889D07259A3E}"/>
              </a:ext>
            </a:extLst>
          </p:cNvPr>
          <p:cNvPicPr>
            <a:picLocks noChangeAspect="1"/>
          </p:cNvPicPr>
          <p:nvPr/>
        </p:nvPicPr>
        <p:blipFill>
          <a:blip r:embed="rId3"/>
          <a:srcRect l="17164" r="19643"/>
          <a:stretch>
            <a:fillRect/>
          </a:stretch>
        </p:blipFill>
        <p:spPr>
          <a:xfrm>
            <a:off x="7663544" y="1594077"/>
            <a:ext cx="6858608" cy="61130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8650" y="493990"/>
            <a:ext cx="13373100" cy="1122759"/>
          </a:xfrm>
          <a:prstGeom prst="rect">
            <a:avLst/>
          </a:prstGeom>
          <a:noFill/>
          <a:ln/>
        </p:spPr>
        <p:txBody>
          <a:bodyPr wrap="square" lIns="0" tIns="0" rIns="0" bIns="0" rtlCol="0" anchor="t"/>
          <a:lstStyle/>
          <a:p>
            <a:pPr marL="0" indent="0" algn="l">
              <a:lnSpc>
                <a:spcPts val="4400"/>
              </a:lnSpc>
              <a:buNone/>
            </a:pPr>
            <a:r>
              <a:rPr lang="en-US" sz="3500" dirty="0">
                <a:solidFill>
                  <a:srgbClr val="EDEDE8"/>
                </a:solidFill>
                <a:latin typeface="Tomorrow Semi Bold" pitchFamily="34" charset="0"/>
                <a:ea typeface="Tomorrow Semi Bold" pitchFamily="34" charset="-122"/>
                <a:cs typeface="Tomorrow Semi Bold" pitchFamily="34" charset="-120"/>
              </a:rPr>
              <a:t>Brazil 2022: Party Disintegration and the Politics of Memory</a:t>
            </a:r>
            <a:endParaRPr lang="en-US" sz="3500" dirty="0"/>
          </a:p>
        </p:txBody>
      </p:sp>
      <p:sp>
        <p:nvSpPr>
          <p:cNvPr id="3" name="Text 1"/>
          <p:cNvSpPr/>
          <p:nvPr/>
        </p:nvSpPr>
        <p:spPr>
          <a:xfrm>
            <a:off x="628650" y="1373190"/>
            <a:ext cx="5246727" cy="449104"/>
          </a:xfrm>
          <a:prstGeom prst="rect">
            <a:avLst/>
          </a:prstGeom>
          <a:noFill/>
          <a:ln/>
        </p:spPr>
        <p:txBody>
          <a:bodyPr wrap="none" lIns="0" tIns="0" rIns="0" bIns="0" rtlCol="0" anchor="t"/>
          <a:lstStyle/>
          <a:p>
            <a:pPr marL="0" indent="0" algn="l">
              <a:lnSpc>
                <a:spcPts val="3500"/>
              </a:lnSpc>
              <a:buNone/>
            </a:pPr>
            <a:r>
              <a:rPr lang="en-US" sz="2800" dirty="0">
                <a:solidFill>
                  <a:srgbClr val="EDEDE8"/>
                </a:solidFill>
                <a:latin typeface="Tomorrow Semi Bold" pitchFamily="34" charset="0"/>
                <a:ea typeface="Tomorrow Semi Bold" pitchFamily="34" charset="-122"/>
                <a:cs typeface="Tomorrow Semi Bold" pitchFamily="34" charset="-120"/>
              </a:rPr>
              <a:t>The Erosion of Party Anchors</a:t>
            </a:r>
            <a:endParaRPr lang="en-US" sz="2800" dirty="0"/>
          </a:p>
        </p:txBody>
      </p:sp>
      <p:sp>
        <p:nvSpPr>
          <p:cNvPr id="4" name="Text 2"/>
          <p:cNvSpPr/>
          <p:nvPr/>
        </p:nvSpPr>
        <p:spPr>
          <a:xfrm>
            <a:off x="628650" y="2190962"/>
            <a:ext cx="13373100" cy="574834"/>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Brazil's 2022 election was fundamentally a contest between two presidents — Lula and Bolsonaro — rather than between two party programs. The traditional partisan structure that once organized Brazilian politics has collapsed into stark personalization.</a:t>
            </a:r>
            <a:endParaRPr lang="en-US" sz="1400" dirty="0"/>
          </a:p>
        </p:txBody>
      </p:sp>
      <p:sp>
        <p:nvSpPr>
          <p:cNvPr id="5" name="Shape 3"/>
          <p:cNvSpPr/>
          <p:nvPr/>
        </p:nvSpPr>
        <p:spPr>
          <a:xfrm>
            <a:off x="628650" y="2967844"/>
            <a:ext cx="4337923" cy="1609725"/>
          </a:xfrm>
          <a:prstGeom prst="roundRect">
            <a:avLst>
              <a:gd name="adj" fmla="val 1674"/>
            </a:avLst>
          </a:prstGeom>
          <a:solidFill>
            <a:srgbClr val="3C3C3A"/>
          </a:solidFill>
          <a:ln/>
        </p:spPr>
        <p:txBody>
          <a:bodyPr/>
          <a:lstStyle/>
          <a:p>
            <a:endParaRPr lang="es-AR"/>
          </a:p>
        </p:txBody>
      </p:sp>
      <p:sp>
        <p:nvSpPr>
          <p:cNvPr id="6" name="Text 4"/>
          <p:cNvSpPr/>
          <p:nvPr/>
        </p:nvSpPr>
        <p:spPr>
          <a:xfrm>
            <a:off x="808196" y="3147391"/>
            <a:ext cx="2245400" cy="280630"/>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The PSDB-PT Era</a:t>
            </a:r>
            <a:endParaRPr lang="en-US" sz="1750" dirty="0"/>
          </a:p>
        </p:txBody>
      </p:sp>
      <p:sp>
        <p:nvSpPr>
          <p:cNvPr id="7" name="Text 5"/>
          <p:cNvSpPr/>
          <p:nvPr/>
        </p:nvSpPr>
        <p:spPr>
          <a:xfrm>
            <a:off x="808196" y="3535773"/>
            <a:ext cx="3978831" cy="862251"/>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Traditional center-right and left anchors that structured Brazilian democracy for decades have lost their organizing capacity</a:t>
            </a:r>
            <a:endParaRPr lang="en-US" sz="1400" dirty="0"/>
          </a:p>
        </p:txBody>
      </p:sp>
      <p:sp>
        <p:nvSpPr>
          <p:cNvPr id="8" name="Shape 6"/>
          <p:cNvSpPr/>
          <p:nvPr/>
        </p:nvSpPr>
        <p:spPr>
          <a:xfrm>
            <a:off x="5146119" y="2967844"/>
            <a:ext cx="4338042" cy="1609725"/>
          </a:xfrm>
          <a:prstGeom prst="roundRect">
            <a:avLst>
              <a:gd name="adj" fmla="val 1674"/>
            </a:avLst>
          </a:prstGeom>
          <a:solidFill>
            <a:srgbClr val="3C3C3A"/>
          </a:solidFill>
          <a:ln/>
        </p:spPr>
        <p:txBody>
          <a:bodyPr/>
          <a:lstStyle/>
          <a:p>
            <a:endParaRPr lang="es-AR"/>
          </a:p>
        </p:txBody>
      </p:sp>
      <p:sp>
        <p:nvSpPr>
          <p:cNvPr id="9" name="Text 7"/>
          <p:cNvSpPr/>
          <p:nvPr/>
        </p:nvSpPr>
        <p:spPr>
          <a:xfrm>
            <a:off x="5325666" y="3147391"/>
            <a:ext cx="2553176" cy="280630"/>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Bolsonaro's Trajectory</a:t>
            </a:r>
            <a:endParaRPr lang="en-US" sz="1750" dirty="0"/>
          </a:p>
        </p:txBody>
      </p:sp>
      <p:sp>
        <p:nvSpPr>
          <p:cNvPr id="10" name="Text 8"/>
          <p:cNvSpPr/>
          <p:nvPr/>
        </p:nvSpPr>
        <p:spPr>
          <a:xfrm>
            <a:off x="5325666" y="3535773"/>
            <a:ext cx="3978950" cy="862251"/>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Eleven parties in three decades, constant congressional conflict, and failed party creation epitomized partisan disarticulation</a:t>
            </a:r>
            <a:endParaRPr lang="en-US" sz="1400" dirty="0"/>
          </a:p>
        </p:txBody>
      </p:sp>
      <p:sp>
        <p:nvSpPr>
          <p:cNvPr id="11" name="Shape 9"/>
          <p:cNvSpPr/>
          <p:nvPr/>
        </p:nvSpPr>
        <p:spPr>
          <a:xfrm>
            <a:off x="9663708" y="2967844"/>
            <a:ext cx="4338042" cy="1609725"/>
          </a:xfrm>
          <a:prstGeom prst="roundRect">
            <a:avLst>
              <a:gd name="adj" fmla="val 1674"/>
            </a:avLst>
          </a:prstGeom>
          <a:solidFill>
            <a:srgbClr val="3C3C3A"/>
          </a:solidFill>
          <a:ln/>
        </p:spPr>
        <p:txBody>
          <a:bodyPr/>
          <a:lstStyle/>
          <a:p>
            <a:endParaRPr lang="es-AR"/>
          </a:p>
        </p:txBody>
      </p:sp>
      <p:sp>
        <p:nvSpPr>
          <p:cNvPr id="12" name="Text 10"/>
          <p:cNvSpPr/>
          <p:nvPr/>
        </p:nvSpPr>
        <p:spPr>
          <a:xfrm>
            <a:off x="9843254" y="3147391"/>
            <a:ext cx="2245400" cy="280630"/>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New Mobilization</a:t>
            </a:r>
            <a:endParaRPr lang="en-US" sz="1750" dirty="0"/>
          </a:p>
        </p:txBody>
      </p:sp>
      <p:sp>
        <p:nvSpPr>
          <p:cNvPr id="13" name="Text 11"/>
          <p:cNvSpPr/>
          <p:nvPr/>
        </p:nvSpPr>
        <p:spPr>
          <a:xfrm>
            <a:off x="9843254" y="3535773"/>
            <a:ext cx="3978950" cy="862251"/>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Social networks, evangelical churches, and direct affective appeals bypassed traditional representation machinery</a:t>
            </a:r>
            <a:endParaRPr lang="en-US" sz="1400" dirty="0"/>
          </a:p>
        </p:txBody>
      </p:sp>
      <p:sp>
        <p:nvSpPr>
          <p:cNvPr id="14" name="Text 12"/>
          <p:cNvSpPr/>
          <p:nvPr/>
        </p:nvSpPr>
        <p:spPr>
          <a:xfrm>
            <a:off x="628650" y="5175290"/>
            <a:ext cx="3855244" cy="336709"/>
          </a:xfrm>
          <a:prstGeom prst="rect">
            <a:avLst/>
          </a:prstGeom>
          <a:noFill/>
          <a:ln/>
        </p:spPr>
        <p:txBody>
          <a:bodyPr wrap="none" lIns="0" tIns="0" rIns="0" bIns="0" rtlCol="0" anchor="t"/>
          <a:lstStyle/>
          <a:p>
            <a:pPr marL="0" indent="0" algn="l">
              <a:lnSpc>
                <a:spcPts val="2650"/>
              </a:lnSpc>
              <a:buNone/>
            </a:pPr>
            <a:r>
              <a:rPr lang="en-US" sz="2100" dirty="0">
                <a:solidFill>
                  <a:srgbClr val="EDEDE8"/>
                </a:solidFill>
                <a:latin typeface="Tomorrow Semi Bold" pitchFamily="34" charset="0"/>
                <a:ea typeface="Tomorrow Semi Bold" pitchFamily="34" charset="-122"/>
                <a:cs typeface="Tomorrow Semi Bold" pitchFamily="34" charset="-120"/>
              </a:rPr>
              <a:t>Lula's PT: A Party of Memory</a:t>
            </a:r>
            <a:endParaRPr lang="en-US" sz="2100" dirty="0"/>
          </a:p>
        </p:txBody>
      </p:sp>
      <p:sp>
        <p:nvSpPr>
          <p:cNvPr id="15" name="Text 13"/>
          <p:cNvSpPr/>
          <p:nvPr/>
        </p:nvSpPr>
        <p:spPr>
          <a:xfrm>
            <a:off x="628650" y="5691545"/>
            <a:ext cx="6467475" cy="862251"/>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The PT stands as one of few surviving programmatic parties in Latin America. Its internal discipline and brand identity — </a:t>
            </a:r>
            <a:r>
              <a:rPr lang="en-US" sz="1400" i="1" dirty="0">
                <a:solidFill>
                  <a:srgbClr val="C9C9C0"/>
                </a:solidFill>
                <a:latin typeface="Tomorrow" pitchFamily="34" charset="0"/>
                <a:ea typeface="Tomorrow" pitchFamily="34" charset="-122"/>
                <a:cs typeface="Tomorrow" pitchFamily="34" charset="-120"/>
              </a:rPr>
              <a:t>petismo</a:t>
            </a:r>
            <a:r>
              <a:rPr lang="en-US" sz="1400" dirty="0">
                <a:solidFill>
                  <a:srgbClr val="C9C9C0"/>
                </a:solidFill>
                <a:latin typeface="Tomorrow" pitchFamily="34" charset="0"/>
                <a:ea typeface="Tomorrow" pitchFamily="34" charset="-122"/>
                <a:cs typeface="Tomorrow" pitchFamily="34" charset="-120"/>
              </a:rPr>
              <a:t> — gave Lula an enduring electoral base even after corruption scandals and imprisonment.</a:t>
            </a:r>
            <a:endParaRPr lang="en-US" sz="1400" dirty="0"/>
          </a:p>
        </p:txBody>
      </p:sp>
      <p:sp>
        <p:nvSpPr>
          <p:cNvPr id="16" name="Text 14"/>
          <p:cNvSpPr/>
          <p:nvPr/>
        </p:nvSpPr>
        <p:spPr>
          <a:xfrm>
            <a:off x="628650" y="6715363"/>
            <a:ext cx="6467475" cy="574834"/>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Yet this success reveals critical limits: the PT has become </a:t>
            </a:r>
            <a:r>
              <a:rPr lang="en-US" sz="1400" b="1" dirty="0">
                <a:solidFill>
                  <a:srgbClr val="C9C9C0"/>
                </a:solidFill>
                <a:latin typeface="Tomorrow" pitchFamily="34" charset="0"/>
                <a:ea typeface="Tomorrow" pitchFamily="34" charset="-122"/>
                <a:cs typeface="Tomorrow" pitchFamily="34" charset="-120"/>
              </a:rPr>
              <a:t>more capable of reactivating nostalgia than articulating new projects</a:t>
            </a:r>
            <a:r>
              <a:rPr lang="en-US" sz="1400" dirty="0">
                <a:solidFill>
                  <a:srgbClr val="C9C9C0"/>
                </a:solidFill>
                <a:latin typeface="Tomorrow" pitchFamily="34" charset="0"/>
                <a:ea typeface="Tomorrow" pitchFamily="34" charset="-122"/>
                <a:cs typeface="Tomorrow" pitchFamily="34" charset="-120"/>
              </a:rPr>
              <a:t>.</a:t>
            </a:r>
            <a:endParaRPr lang="en-US" sz="1400" dirty="0"/>
          </a:p>
        </p:txBody>
      </p:sp>
      <p:sp>
        <p:nvSpPr>
          <p:cNvPr id="17" name="Text 15"/>
          <p:cNvSpPr/>
          <p:nvPr/>
        </p:nvSpPr>
        <p:spPr>
          <a:xfrm>
            <a:off x="7541895" y="5175290"/>
            <a:ext cx="4344233" cy="336709"/>
          </a:xfrm>
          <a:prstGeom prst="rect">
            <a:avLst/>
          </a:prstGeom>
          <a:noFill/>
          <a:ln/>
        </p:spPr>
        <p:txBody>
          <a:bodyPr wrap="none" lIns="0" tIns="0" rIns="0" bIns="0" rtlCol="0" anchor="t"/>
          <a:lstStyle/>
          <a:p>
            <a:pPr marL="0" indent="0" algn="l">
              <a:lnSpc>
                <a:spcPts val="2650"/>
              </a:lnSpc>
              <a:buNone/>
            </a:pPr>
            <a:r>
              <a:rPr lang="en-US" sz="2100" dirty="0">
                <a:solidFill>
                  <a:srgbClr val="EDEDE8"/>
                </a:solidFill>
                <a:latin typeface="Tomorrow Semi Bold" pitchFamily="34" charset="0"/>
                <a:ea typeface="Tomorrow Semi Bold" pitchFamily="34" charset="-122"/>
                <a:cs typeface="Tomorrow Semi Bold" pitchFamily="34" charset="-120"/>
              </a:rPr>
              <a:t>Governance and Fragmentation</a:t>
            </a:r>
            <a:endParaRPr lang="en-US" sz="2100" dirty="0"/>
          </a:p>
        </p:txBody>
      </p:sp>
      <p:sp>
        <p:nvSpPr>
          <p:cNvPr id="18" name="Text 16"/>
          <p:cNvSpPr/>
          <p:nvPr/>
        </p:nvSpPr>
        <p:spPr>
          <a:xfrm>
            <a:off x="7541895" y="5691545"/>
            <a:ext cx="6467475" cy="862251"/>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Bolsonaro's legislative relationships were purely transactional, relying on the </a:t>
            </a:r>
            <a:r>
              <a:rPr lang="en-US" sz="1400" i="1" dirty="0">
                <a:solidFill>
                  <a:srgbClr val="C9C9C0"/>
                </a:solidFill>
                <a:latin typeface="Tomorrow" pitchFamily="34" charset="0"/>
                <a:ea typeface="Tomorrow" pitchFamily="34" charset="-122"/>
                <a:cs typeface="Tomorrow" pitchFamily="34" charset="-120"/>
              </a:rPr>
              <a:t>Centrão</a:t>
            </a:r>
            <a:r>
              <a:rPr lang="en-US" sz="1400" dirty="0">
                <a:solidFill>
                  <a:srgbClr val="C9C9C0"/>
                </a:solidFill>
                <a:latin typeface="Tomorrow" pitchFamily="34" charset="0"/>
                <a:ea typeface="Tomorrow" pitchFamily="34" charset="-122"/>
                <a:cs typeface="Tomorrow" pitchFamily="34" charset="-120"/>
              </a:rPr>
              <a:t> — ideologically fluid parties trading budgetary amendments for loyalty.</a:t>
            </a:r>
            <a:endParaRPr lang="en-US" sz="1400" dirty="0"/>
          </a:p>
        </p:txBody>
      </p:sp>
      <p:sp>
        <p:nvSpPr>
          <p:cNvPr id="19" name="Text 17"/>
          <p:cNvSpPr/>
          <p:nvPr/>
        </p:nvSpPr>
        <p:spPr>
          <a:xfrm>
            <a:off x="7541895" y="6715363"/>
            <a:ext cx="6467475" cy="862251"/>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This short-term coalition logic blurred accountability and deepened public cynicism about corruption and opportunism, transforming policy debates into identity battles.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1371" y="727234"/>
            <a:ext cx="5196245" cy="438745"/>
          </a:xfrm>
          <a:prstGeom prst="rect">
            <a:avLst/>
          </a:prstGeom>
          <a:noFill/>
          <a:ln/>
        </p:spPr>
        <p:txBody>
          <a:bodyPr wrap="none" lIns="0" tIns="0" rIns="0" bIns="0" rtlCol="0" anchor="t"/>
          <a:lstStyle/>
          <a:p>
            <a:pPr marL="0" indent="0" algn="l">
              <a:lnSpc>
                <a:spcPts val="3450"/>
              </a:lnSpc>
              <a:buNone/>
            </a:pPr>
            <a:r>
              <a:rPr lang="en-US" sz="3900" dirty="0">
                <a:solidFill>
                  <a:srgbClr val="EDEDE8"/>
                </a:solidFill>
                <a:latin typeface="Tomorrow Semi Bold" pitchFamily="34" charset="0"/>
                <a:ea typeface="Tomorrow Semi Bold" pitchFamily="34" charset="-122"/>
                <a:cs typeface="Tomorrow Semi Bold" pitchFamily="34" charset="-120"/>
              </a:rPr>
              <a:t>When Identity Replaces Trust</a:t>
            </a:r>
            <a:endParaRPr lang="en-US" sz="3900" dirty="0"/>
          </a:p>
        </p:txBody>
      </p:sp>
      <p:sp>
        <p:nvSpPr>
          <p:cNvPr id="3" name="Shape 1"/>
          <p:cNvSpPr/>
          <p:nvPr/>
        </p:nvSpPr>
        <p:spPr>
          <a:xfrm>
            <a:off x="491371" y="1446728"/>
            <a:ext cx="13647658" cy="1000006"/>
          </a:xfrm>
          <a:prstGeom prst="roundRect">
            <a:avLst>
              <a:gd name="adj" fmla="val 2106"/>
            </a:avLst>
          </a:prstGeom>
          <a:solidFill>
            <a:srgbClr val="272725"/>
          </a:solidFill>
          <a:ln/>
        </p:spPr>
        <p:txBody>
          <a:bodyPr/>
          <a:lstStyle/>
          <a:p>
            <a:endParaRPr lang="es-AR"/>
          </a:p>
        </p:txBody>
      </p:sp>
      <p:pic>
        <p:nvPicPr>
          <p:cNvPr id="4" name="Image 0" descr="preencoded.png"/>
          <p:cNvPicPr>
            <a:picLocks noChangeAspect="1"/>
          </p:cNvPicPr>
          <p:nvPr/>
        </p:nvPicPr>
        <p:blipFill>
          <a:blip r:embed="rId3"/>
          <a:stretch>
            <a:fillRect/>
          </a:stretch>
        </p:blipFill>
        <p:spPr>
          <a:xfrm>
            <a:off x="631746" y="1651278"/>
            <a:ext cx="263247" cy="210502"/>
          </a:xfrm>
          <a:prstGeom prst="rect">
            <a:avLst/>
          </a:prstGeom>
        </p:spPr>
      </p:pic>
      <p:sp>
        <p:nvSpPr>
          <p:cNvPr id="6" name="Text 3"/>
          <p:cNvSpPr/>
          <p:nvPr/>
        </p:nvSpPr>
        <p:spPr>
          <a:xfrm>
            <a:off x="1035368" y="1625084"/>
            <a:ext cx="12963287" cy="224552"/>
          </a:xfrm>
          <a:prstGeom prst="rect">
            <a:avLst/>
          </a:prstGeom>
          <a:noFill/>
          <a:ln/>
        </p:spPr>
        <p:txBody>
          <a:bodyPr wrap="square" lIns="0" tIns="0" rIns="0" bIns="0" rtlCol="0" anchor="t"/>
          <a:lstStyle/>
          <a:p>
            <a:pPr>
              <a:lnSpc>
                <a:spcPts val="2250"/>
              </a:lnSpc>
            </a:pPr>
            <a:r>
              <a:rPr lang="en-US" dirty="0">
                <a:solidFill>
                  <a:srgbClr val="C9C9C0"/>
                </a:solidFill>
                <a:latin typeface="Tomorrow" pitchFamily="34" charset="0"/>
              </a:rPr>
              <a:t>When programmatic parties weaken, affective identity fills the gap. Citizens continue to participate, but through emotional polarization rather than institutional confidence.</a:t>
            </a:r>
          </a:p>
        </p:txBody>
      </p:sp>
      <p:sp>
        <p:nvSpPr>
          <p:cNvPr id="7" name="Shape 4"/>
          <p:cNvSpPr/>
          <p:nvPr/>
        </p:nvSpPr>
        <p:spPr>
          <a:xfrm>
            <a:off x="491371" y="2604611"/>
            <a:ext cx="4455557" cy="2469635"/>
          </a:xfrm>
          <a:prstGeom prst="roundRect">
            <a:avLst>
              <a:gd name="adj" fmla="val 5678"/>
            </a:avLst>
          </a:prstGeom>
          <a:solidFill>
            <a:srgbClr val="1D1D1B"/>
          </a:solidFill>
          <a:ln w="15240">
            <a:solidFill>
              <a:srgbClr val="555553"/>
            </a:solidFill>
            <a:prstDash val="solid"/>
          </a:ln>
        </p:spPr>
        <p:txBody>
          <a:bodyPr/>
          <a:lstStyle/>
          <a:p>
            <a:endParaRPr lang="es-AR"/>
          </a:p>
        </p:txBody>
      </p:sp>
      <p:sp>
        <p:nvSpPr>
          <p:cNvPr id="8" name="Shape 5"/>
          <p:cNvSpPr/>
          <p:nvPr/>
        </p:nvSpPr>
        <p:spPr>
          <a:xfrm>
            <a:off x="476131" y="2604611"/>
            <a:ext cx="60960" cy="1288375"/>
          </a:xfrm>
          <a:prstGeom prst="roundRect">
            <a:avLst>
              <a:gd name="adj" fmla="val 34548"/>
            </a:avLst>
          </a:prstGeom>
          <a:solidFill>
            <a:srgbClr val="E1E1DF"/>
          </a:solidFill>
          <a:ln/>
        </p:spPr>
        <p:txBody>
          <a:bodyPr/>
          <a:lstStyle/>
          <a:p>
            <a:endParaRPr lang="es-AR"/>
          </a:p>
        </p:txBody>
      </p:sp>
      <p:sp>
        <p:nvSpPr>
          <p:cNvPr id="9" name="Text 6"/>
          <p:cNvSpPr/>
          <p:nvPr/>
        </p:nvSpPr>
        <p:spPr>
          <a:xfrm>
            <a:off x="692706" y="2760226"/>
            <a:ext cx="2180034" cy="219313"/>
          </a:xfrm>
          <a:prstGeom prst="rect">
            <a:avLst/>
          </a:prstGeom>
          <a:noFill/>
          <a:ln/>
        </p:spPr>
        <p:txBody>
          <a:bodyPr wrap="none" lIns="0" tIns="0" rIns="0" bIns="0" rtlCol="0" anchor="t"/>
          <a:lstStyle/>
          <a:p>
            <a:pPr marL="0" indent="0" algn="l">
              <a:buNone/>
            </a:pPr>
            <a:r>
              <a:rPr lang="en-US" sz="2000" dirty="0">
                <a:solidFill>
                  <a:srgbClr val="C9C9C0"/>
                </a:solidFill>
                <a:latin typeface="Tomorrow Semi Bold" pitchFamily="34" charset="0"/>
                <a:ea typeface="Tomorrow Semi Bold" pitchFamily="34" charset="-122"/>
                <a:cs typeface="Tomorrow Semi Bold" pitchFamily="34" charset="-120"/>
              </a:rPr>
              <a:t>Lula's "Party of Memory"</a:t>
            </a:r>
            <a:endParaRPr lang="en-US" sz="2000" dirty="0"/>
          </a:p>
        </p:txBody>
      </p:sp>
      <p:sp>
        <p:nvSpPr>
          <p:cNvPr id="10" name="Text 7"/>
          <p:cNvSpPr/>
          <p:nvPr/>
        </p:nvSpPr>
        <p:spPr>
          <a:xfrm>
            <a:off x="692706" y="3467207"/>
            <a:ext cx="4098608" cy="673656"/>
          </a:xfrm>
          <a:prstGeom prst="rect">
            <a:avLst/>
          </a:prstGeom>
          <a:noFill/>
          <a:ln/>
        </p:spPr>
        <p:txBody>
          <a:bodyPr wrap="square" lIns="0" tIns="0" rIns="0" bIns="0" rtlCol="0" anchor="t"/>
          <a:lstStyle/>
          <a:p>
            <a:pPr>
              <a:lnSpc>
                <a:spcPts val="2250"/>
              </a:lnSpc>
            </a:pPr>
            <a:r>
              <a:rPr lang="en-US" sz="1600" dirty="0">
                <a:solidFill>
                  <a:srgbClr val="C9C9C0"/>
                </a:solidFill>
                <a:latin typeface="Tomorrow" pitchFamily="34" charset="0"/>
              </a:rPr>
              <a:t>Mobilizes nostalgia for past achievements and workers' movement identity, offering continuity with the PT's founding ideals but limited vision for future transformation</a:t>
            </a:r>
          </a:p>
        </p:txBody>
      </p:sp>
      <p:sp>
        <p:nvSpPr>
          <p:cNvPr id="11" name="Shape 8"/>
          <p:cNvSpPr/>
          <p:nvPr/>
        </p:nvSpPr>
        <p:spPr>
          <a:xfrm>
            <a:off x="5087303" y="2604611"/>
            <a:ext cx="4455676" cy="2469635"/>
          </a:xfrm>
          <a:prstGeom prst="roundRect">
            <a:avLst>
              <a:gd name="adj" fmla="val 5678"/>
            </a:avLst>
          </a:prstGeom>
          <a:solidFill>
            <a:srgbClr val="1D1D1B"/>
          </a:solidFill>
          <a:ln w="15240">
            <a:solidFill>
              <a:srgbClr val="555553"/>
            </a:solidFill>
            <a:prstDash val="solid"/>
          </a:ln>
        </p:spPr>
        <p:txBody>
          <a:bodyPr/>
          <a:lstStyle/>
          <a:p>
            <a:endParaRPr lang="es-AR"/>
          </a:p>
        </p:txBody>
      </p:sp>
      <p:sp>
        <p:nvSpPr>
          <p:cNvPr id="12" name="Shape 9"/>
          <p:cNvSpPr/>
          <p:nvPr/>
        </p:nvSpPr>
        <p:spPr>
          <a:xfrm>
            <a:off x="5072063" y="2604611"/>
            <a:ext cx="60960" cy="1288375"/>
          </a:xfrm>
          <a:prstGeom prst="roundRect">
            <a:avLst>
              <a:gd name="adj" fmla="val 34548"/>
            </a:avLst>
          </a:prstGeom>
          <a:solidFill>
            <a:srgbClr val="E1E1DF"/>
          </a:solidFill>
          <a:ln/>
        </p:spPr>
        <p:txBody>
          <a:bodyPr/>
          <a:lstStyle/>
          <a:p>
            <a:endParaRPr lang="es-AR"/>
          </a:p>
        </p:txBody>
      </p:sp>
      <p:sp>
        <p:nvSpPr>
          <p:cNvPr id="13" name="Text 10"/>
          <p:cNvSpPr/>
          <p:nvPr/>
        </p:nvSpPr>
        <p:spPr>
          <a:xfrm>
            <a:off x="5288637" y="2760226"/>
            <a:ext cx="3546396" cy="219313"/>
          </a:xfrm>
          <a:prstGeom prst="rect">
            <a:avLst/>
          </a:prstGeom>
          <a:noFill/>
          <a:ln/>
        </p:spPr>
        <p:txBody>
          <a:bodyPr wrap="none" lIns="0" tIns="0" rIns="0" bIns="0" rtlCol="0" anchor="t"/>
          <a:lstStyle/>
          <a:p>
            <a:pPr marL="0" indent="0" algn="l">
              <a:buNone/>
            </a:pPr>
            <a:r>
              <a:rPr lang="en-US" sz="2000" dirty="0">
                <a:solidFill>
                  <a:srgbClr val="C9C9C0"/>
                </a:solidFill>
                <a:latin typeface="Tomorrow Semi Bold" pitchFamily="34" charset="0"/>
                <a:ea typeface="Tomorrow Semi Bold" pitchFamily="34" charset="-122"/>
                <a:cs typeface="Tomorrow Semi Bold" pitchFamily="34" charset="-120"/>
              </a:rPr>
              <a:t>Bolsonaro's "Movement of</a:t>
            </a:r>
          </a:p>
          <a:p>
            <a:pPr marL="0" indent="0" algn="l">
              <a:buNone/>
            </a:pPr>
            <a:r>
              <a:rPr lang="en-US" sz="2000" dirty="0">
                <a:solidFill>
                  <a:srgbClr val="C9C9C0"/>
                </a:solidFill>
                <a:latin typeface="Tomorrow Semi Bold" pitchFamily="34" charset="0"/>
                <a:ea typeface="Tomorrow Semi Bold" pitchFamily="34" charset="-122"/>
                <a:cs typeface="Tomorrow Semi Bold" pitchFamily="34" charset="-120"/>
              </a:rPr>
              <a:t> Resentment"</a:t>
            </a:r>
            <a:endParaRPr lang="en-US" sz="2000" dirty="0"/>
          </a:p>
        </p:txBody>
      </p:sp>
      <p:sp>
        <p:nvSpPr>
          <p:cNvPr id="14" name="Text 11"/>
          <p:cNvSpPr/>
          <p:nvPr/>
        </p:nvSpPr>
        <p:spPr>
          <a:xfrm>
            <a:off x="5288637" y="3467207"/>
            <a:ext cx="4098727" cy="673656"/>
          </a:xfrm>
          <a:prstGeom prst="rect">
            <a:avLst/>
          </a:prstGeom>
          <a:noFill/>
          <a:ln/>
        </p:spPr>
        <p:txBody>
          <a:bodyPr wrap="square" lIns="0" tIns="0" rIns="0" bIns="0" rtlCol="0" anchor="t"/>
          <a:lstStyle/>
          <a:p>
            <a:pPr>
              <a:lnSpc>
                <a:spcPts val="2250"/>
              </a:lnSpc>
            </a:pPr>
            <a:r>
              <a:rPr lang="en-US" sz="1600" dirty="0">
                <a:solidFill>
                  <a:srgbClr val="C9C9C0"/>
                </a:solidFill>
                <a:latin typeface="Tomorrow" pitchFamily="34" charset="0"/>
              </a:rPr>
              <a:t>Channels anti-establishment anger and cultural grievances, creating cohesion through opposition rather than programmatic proposals</a:t>
            </a:r>
          </a:p>
        </p:txBody>
      </p:sp>
      <p:sp>
        <p:nvSpPr>
          <p:cNvPr id="15" name="Shape 12"/>
          <p:cNvSpPr/>
          <p:nvPr/>
        </p:nvSpPr>
        <p:spPr>
          <a:xfrm>
            <a:off x="9683353" y="2604611"/>
            <a:ext cx="4455676" cy="2469635"/>
          </a:xfrm>
          <a:prstGeom prst="roundRect">
            <a:avLst>
              <a:gd name="adj" fmla="val 5678"/>
            </a:avLst>
          </a:prstGeom>
          <a:solidFill>
            <a:srgbClr val="1D1D1B"/>
          </a:solidFill>
          <a:ln w="15240">
            <a:solidFill>
              <a:srgbClr val="555553"/>
            </a:solidFill>
            <a:prstDash val="solid"/>
          </a:ln>
        </p:spPr>
        <p:txBody>
          <a:bodyPr/>
          <a:lstStyle/>
          <a:p>
            <a:endParaRPr lang="es-AR"/>
          </a:p>
        </p:txBody>
      </p:sp>
      <p:sp>
        <p:nvSpPr>
          <p:cNvPr id="16" name="Shape 13"/>
          <p:cNvSpPr/>
          <p:nvPr/>
        </p:nvSpPr>
        <p:spPr>
          <a:xfrm>
            <a:off x="9668113" y="2604611"/>
            <a:ext cx="60960" cy="1288375"/>
          </a:xfrm>
          <a:prstGeom prst="roundRect">
            <a:avLst>
              <a:gd name="adj" fmla="val 34548"/>
            </a:avLst>
          </a:prstGeom>
          <a:solidFill>
            <a:srgbClr val="E1E1DF"/>
          </a:solidFill>
          <a:ln/>
        </p:spPr>
        <p:txBody>
          <a:bodyPr/>
          <a:lstStyle/>
          <a:p>
            <a:endParaRPr lang="es-AR"/>
          </a:p>
        </p:txBody>
      </p:sp>
      <p:sp>
        <p:nvSpPr>
          <p:cNvPr id="17" name="Text 14"/>
          <p:cNvSpPr/>
          <p:nvPr/>
        </p:nvSpPr>
        <p:spPr>
          <a:xfrm>
            <a:off x="9884688" y="2760226"/>
            <a:ext cx="1754981" cy="219313"/>
          </a:xfrm>
          <a:prstGeom prst="rect">
            <a:avLst/>
          </a:prstGeom>
          <a:noFill/>
          <a:ln/>
        </p:spPr>
        <p:txBody>
          <a:bodyPr wrap="none" lIns="0" tIns="0" rIns="0" bIns="0" rtlCol="0" anchor="t"/>
          <a:lstStyle/>
          <a:p>
            <a:pPr marL="0" indent="0" algn="l">
              <a:buNone/>
            </a:pPr>
            <a:r>
              <a:rPr lang="en-US" sz="2000" dirty="0">
                <a:solidFill>
                  <a:srgbClr val="C9C9C0"/>
                </a:solidFill>
                <a:latin typeface="Tomorrow Semi Bold" pitchFamily="34" charset="0"/>
                <a:ea typeface="Tomorrow Semi Bold" pitchFamily="34" charset="-122"/>
                <a:cs typeface="Tomorrow Semi Bold" pitchFamily="34" charset="-120"/>
              </a:rPr>
              <a:t>The Mirror Effect</a:t>
            </a:r>
            <a:endParaRPr lang="en-US" sz="2000" dirty="0"/>
          </a:p>
        </p:txBody>
      </p:sp>
      <p:sp>
        <p:nvSpPr>
          <p:cNvPr id="18" name="Text 15"/>
          <p:cNvSpPr/>
          <p:nvPr/>
        </p:nvSpPr>
        <p:spPr>
          <a:xfrm>
            <a:off x="9884688" y="3467207"/>
            <a:ext cx="4098727" cy="673656"/>
          </a:xfrm>
          <a:prstGeom prst="rect">
            <a:avLst/>
          </a:prstGeom>
          <a:noFill/>
          <a:ln/>
        </p:spPr>
        <p:txBody>
          <a:bodyPr wrap="square" lIns="0" tIns="0" rIns="0" bIns="0" rtlCol="0" anchor="t"/>
          <a:lstStyle/>
          <a:p>
            <a:pPr>
              <a:lnSpc>
                <a:spcPts val="2250"/>
              </a:lnSpc>
            </a:pPr>
            <a:r>
              <a:rPr lang="en-US" sz="1600" dirty="0">
                <a:solidFill>
                  <a:srgbClr val="C9C9C0"/>
                </a:solidFill>
                <a:latin typeface="Tomorrow" pitchFamily="34" charset="0"/>
              </a:rPr>
              <a:t>Both mobilize passion and cultivate fierce loyalty. Neither rebuilds institutional trust or creates sustainable governance frameworks</a:t>
            </a:r>
          </a:p>
        </p:txBody>
      </p:sp>
      <p:sp>
        <p:nvSpPr>
          <p:cNvPr id="19" name="Text 16"/>
          <p:cNvSpPr/>
          <p:nvPr/>
        </p:nvSpPr>
        <p:spPr>
          <a:xfrm>
            <a:off x="476131" y="5206896"/>
            <a:ext cx="13647658" cy="449104"/>
          </a:xfrm>
          <a:prstGeom prst="rect">
            <a:avLst/>
          </a:prstGeom>
          <a:noFill/>
          <a:ln/>
        </p:spPr>
        <p:txBody>
          <a:bodyPr wrap="square" lIns="0" tIns="0" rIns="0" bIns="0" rtlCol="0" anchor="t"/>
          <a:lstStyle/>
          <a:p>
            <a:pPr>
              <a:lnSpc>
                <a:spcPts val="2250"/>
              </a:lnSpc>
            </a:pPr>
            <a:r>
              <a:rPr lang="en-US" sz="1600" dirty="0">
                <a:solidFill>
                  <a:srgbClr val="C9C9C0"/>
                </a:solidFill>
                <a:latin typeface="Tomorrow" pitchFamily="34" charset="0"/>
              </a:rPr>
              <a:t>This dynamic explains a recurring regional pattern: citizen support for democracy remains high in the abstract, yet support for democratic institutions remains profoundly fragile. Lula's narrow 2022 victory restored procedural legitimacy but did so without rebuilding the institutional bridges that make democratic governance sustainable.</a:t>
            </a:r>
          </a:p>
        </p:txBody>
      </p:sp>
      <p:pic>
        <p:nvPicPr>
          <p:cNvPr id="2050" name="Picture 2">
            <a:extLst>
              <a:ext uri="{FF2B5EF4-FFF2-40B4-BE49-F238E27FC236}">
                <a16:creationId xmlns:a16="http://schemas.microsoft.com/office/drawing/2014/main" id="{347CD2E5-D971-D0A2-BAC9-27C7E1BBB7A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4334" b="18523"/>
          <a:stretch>
            <a:fillRect/>
          </a:stretch>
        </p:blipFill>
        <p:spPr bwMode="auto">
          <a:xfrm>
            <a:off x="2239822" y="6212114"/>
            <a:ext cx="9644026" cy="20174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62294" y="518247"/>
            <a:ext cx="11641217" cy="416123"/>
          </a:xfrm>
          <a:prstGeom prst="rect">
            <a:avLst/>
          </a:prstGeom>
          <a:noFill/>
          <a:ln/>
        </p:spPr>
        <p:txBody>
          <a:bodyPr wrap="none" lIns="0" tIns="0" rIns="0" bIns="0" rtlCol="0" anchor="t"/>
          <a:lstStyle/>
          <a:p>
            <a:pPr>
              <a:lnSpc>
                <a:spcPts val="3250"/>
              </a:lnSpc>
            </a:pPr>
            <a:r>
              <a:rPr lang="en-US" sz="3600" dirty="0">
                <a:solidFill>
                  <a:srgbClr val="EDEDE8"/>
                </a:solidFill>
                <a:latin typeface="Tomorrow Semi Bold" pitchFamily="34" charset="0"/>
                <a:ea typeface="Tomorrow Semi Bold" pitchFamily="34" charset="-122"/>
                <a:cs typeface="Tomorrow Semi Bold" pitchFamily="34" charset="-120"/>
              </a:rPr>
              <a:t>Chile 2022: The Constitutional Moment and the Post-Partisan Dream</a:t>
            </a:r>
            <a:endParaRPr lang="en-US" sz="3600" dirty="0"/>
          </a:p>
        </p:txBody>
      </p:sp>
      <p:sp>
        <p:nvSpPr>
          <p:cNvPr id="3" name="Text 1"/>
          <p:cNvSpPr/>
          <p:nvPr/>
        </p:nvSpPr>
        <p:spPr>
          <a:xfrm>
            <a:off x="466011" y="835462"/>
            <a:ext cx="7578328" cy="332899"/>
          </a:xfrm>
          <a:prstGeom prst="rect">
            <a:avLst/>
          </a:prstGeom>
          <a:noFill/>
          <a:ln/>
        </p:spPr>
        <p:txBody>
          <a:bodyPr wrap="none" lIns="0" tIns="0" rIns="0" bIns="0" rtlCol="0" anchor="t"/>
          <a:lstStyle/>
          <a:p>
            <a:pPr marL="0" indent="0" algn="l">
              <a:lnSpc>
                <a:spcPts val="2600"/>
              </a:lnSpc>
              <a:buNone/>
            </a:pPr>
            <a:endParaRPr lang="en-US" sz="2050" dirty="0"/>
          </a:p>
        </p:txBody>
      </p:sp>
      <p:sp>
        <p:nvSpPr>
          <p:cNvPr id="4" name="Text 2"/>
          <p:cNvSpPr/>
          <p:nvPr/>
        </p:nvSpPr>
        <p:spPr>
          <a:xfrm>
            <a:off x="466011" y="1368028"/>
            <a:ext cx="13698379" cy="425768"/>
          </a:xfrm>
          <a:prstGeom prst="rect">
            <a:avLst/>
          </a:prstGeom>
          <a:noFill/>
          <a:ln/>
        </p:spPr>
        <p:txBody>
          <a:bodyPr wrap="square" lIns="0" tIns="0" rIns="0" bIns="0" rtlCol="0" anchor="t"/>
          <a:lstStyle/>
          <a:p>
            <a:pPr marL="0" indent="0" algn="l">
              <a:lnSpc>
                <a:spcPts val="1650"/>
              </a:lnSpc>
              <a:buNone/>
            </a:pPr>
            <a:r>
              <a:rPr lang="en-US" sz="1400" dirty="0">
                <a:solidFill>
                  <a:srgbClr val="C9C9C0"/>
                </a:solidFill>
                <a:latin typeface="Tomorrow" pitchFamily="34" charset="0"/>
                <a:ea typeface="Tomorrow" pitchFamily="34" charset="-122"/>
                <a:cs typeface="Tomorrow" pitchFamily="34" charset="-120"/>
              </a:rPr>
              <a:t>Chile entered 2022 with the promise of generational renewal. The Constitutional Convention and the Boric government emerged from a common impulse: to replace elite party politics with participatory, moralized politics.</a:t>
            </a:r>
            <a:endParaRPr lang="en-US" sz="1400" dirty="0"/>
          </a:p>
        </p:txBody>
      </p:sp>
      <p:sp>
        <p:nvSpPr>
          <p:cNvPr id="5" name="Text 3"/>
          <p:cNvSpPr/>
          <p:nvPr/>
        </p:nvSpPr>
        <p:spPr>
          <a:xfrm>
            <a:off x="466011" y="1943576"/>
            <a:ext cx="133112" cy="166449"/>
          </a:xfrm>
          <a:prstGeom prst="rect">
            <a:avLst/>
          </a:prstGeom>
          <a:noFill/>
          <a:ln/>
        </p:spPr>
        <p:txBody>
          <a:bodyPr wrap="none" lIns="0" tIns="0" rIns="0" bIns="0" rtlCol="0" anchor="t"/>
          <a:lstStyle/>
          <a:p>
            <a:pPr marL="0" indent="0" algn="l">
              <a:lnSpc>
                <a:spcPts val="1650"/>
              </a:lnSpc>
              <a:buNone/>
            </a:pPr>
            <a:r>
              <a:rPr lang="en-US" sz="1400" dirty="0">
                <a:solidFill>
                  <a:srgbClr val="C9C9C0"/>
                </a:solidFill>
                <a:latin typeface="Tomorrow Light" pitchFamily="34" charset="0"/>
                <a:ea typeface="Tomorrow Light" pitchFamily="34" charset="-122"/>
                <a:cs typeface="Tomorrow Light" pitchFamily="34" charset="-120"/>
              </a:rPr>
              <a:t>01</a:t>
            </a:r>
            <a:endParaRPr lang="en-US" sz="1400" dirty="0"/>
          </a:p>
        </p:txBody>
      </p:sp>
      <p:sp>
        <p:nvSpPr>
          <p:cNvPr id="6" name="Shape 4"/>
          <p:cNvSpPr/>
          <p:nvPr/>
        </p:nvSpPr>
        <p:spPr>
          <a:xfrm>
            <a:off x="466011" y="2154555"/>
            <a:ext cx="6782633" cy="15240"/>
          </a:xfrm>
          <a:prstGeom prst="rect">
            <a:avLst/>
          </a:prstGeom>
          <a:solidFill>
            <a:srgbClr val="E1E1DF"/>
          </a:solidFill>
          <a:ln/>
        </p:spPr>
        <p:txBody>
          <a:bodyPr/>
          <a:lstStyle/>
          <a:p>
            <a:endParaRPr lang="es-AR" sz="3200"/>
          </a:p>
        </p:txBody>
      </p:sp>
      <p:sp>
        <p:nvSpPr>
          <p:cNvPr id="7" name="Text 5"/>
          <p:cNvSpPr/>
          <p:nvPr/>
        </p:nvSpPr>
        <p:spPr>
          <a:xfrm>
            <a:off x="466011" y="2251591"/>
            <a:ext cx="1995249" cy="208002"/>
          </a:xfrm>
          <a:prstGeom prst="rect">
            <a:avLst/>
          </a:prstGeom>
          <a:noFill/>
          <a:ln/>
        </p:spPr>
        <p:txBody>
          <a:bodyPr wrap="none" lIns="0" tIns="0" rIns="0" bIns="0" rtlCol="0" anchor="t"/>
          <a:lstStyle/>
          <a:p>
            <a:pPr marL="0" indent="0" algn="l">
              <a:lnSpc>
                <a:spcPts val="1600"/>
              </a:lnSpc>
              <a:buNone/>
            </a:pPr>
            <a:r>
              <a:rPr lang="en-US" sz="2000" dirty="0">
                <a:solidFill>
                  <a:srgbClr val="C9C9C0"/>
                </a:solidFill>
                <a:latin typeface="Tomorrow Semi Bold" pitchFamily="34" charset="0"/>
                <a:ea typeface="Tomorrow Semi Bold" pitchFamily="34" charset="-122"/>
                <a:cs typeface="Tomorrow Semi Bold" pitchFamily="34" charset="-120"/>
              </a:rPr>
              <a:t>Institutional Innovation</a:t>
            </a:r>
            <a:endParaRPr lang="en-US" sz="2000" dirty="0"/>
          </a:p>
        </p:txBody>
      </p:sp>
      <p:sp>
        <p:nvSpPr>
          <p:cNvPr id="8" name="Text 6"/>
          <p:cNvSpPr/>
          <p:nvPr/>
        </p:nvSpPr>
        <p:spPr>
          <a:xfrm>
            <a:off x="466011" y="2539484"/>
            <a:ext cx="6782633" cy="425768"/>
          </a:xfrm>
          <a:prstGeom prst="rect">
            <a:avLst/>
          </a:prstGeom>
          <a:noFill/>
          <a:ln/>
        </p:spPr>
        <p:txBody>
          <a:bodyPr wrap="square" lIns="0" tIns="0" rIns="0" bIns="0" rtlCol="0" anchor="t"/>
          <a:lstStyle/>
          <a:p>
            <a:pPr marL="0" indent="0" algn="l">
              <a:lnSpc>
                <a:spcPts val="1650"/>
              </a:lnSpc>
              <a:buNone/>
            </a:pPr>
            <a:r>
              <a:rPr lang="en-US" sz="1400" dirty="0">
                <a:solidFill>
                  <a:srgbClr val="C9C9C0"/>
                </a:solidFill>
                <a:latin typeface="Tomorrow" pitchFamily="34" charset="0"/>
                <a:ea typeface="Tomorrow" pitchFamily="34" charset="-122"/>
                <a:cs typeface="Tomorrow" pitchFamily="34" charset="-120"/>
              </a:rPr>
              <a:t>Gender parity, reserved indigenous seats, open lists for independents — all designed to bypass traditional parties</a:t>
            </a:r>
            <a:endParaRPr lang="en-US" sz="1400" dirty="0"/>
          </a:p>
        </p:txBody>
      </p:sp>
      <p:sp>
        <p:nvSpPr>
          <p:cNvPr id="9" name="Text 7"/>
          <p:cNvSpPr/>
          <p:nvPr/>
        </p:nvSpPr>
        <p:spPr>
          <a:xfrm>
            <a:off x="7381756" y="1943576"/>
            <a:ext cx="133112" cy="166449"/>
          </a:xfrm>
          <a:prstGeom prst="rect">
            <a:avLst/>
          </a:prstGeom>
          <a:noFill/>
          <a:ln/>
        </p:spPr>
        <p:txBody>
          <a:bodyPr wrap="none" lIns="0" tIns="0" rIns="0" bIns="0" rtlCol="0" anchor="t"/>
          <a:lstStyle/>
          <a:p>
            <a:pPr marL="0" indent="0" algn="l">
              <a:lnSpc>
                <a:spcPts val="1650"/>
              </a:lnSpc>
              <a:buNone/>
            </a:pPr>
            <a:r>
              <a:rPr lang="en-US" sz="1400" dirty="0">
                <a:solidFill>
                  <a:srgbClr val="C9C9C0"/>
                </a:solidFill>
                <a:latin typeface="Tomorrow Light" pitchFamily="34" charset="0"/>
                <a:ea typeface="Tomorrow Light" pitchFamily="34" charset="-122"/>
                <a:cs typeface="Tomorrow Light" pitchFamily="34" charset="-120"/>
              </a:rPr>
              <a:t>02</a:t>
            </a:r>
            <a:endParaRPr lang="en-US" sz="1400" dirty="0"/>
          </a:p>
        </p:txBody>
      </p:sp>
      <p:sp>
        <p:nvSpPr>
          <p:cNvPr id="10" name="Shape 8"/>
          <p:cNvSpPr/>
          <p:nvPr/>
        </p:nvSpPr>
        <p:spPr>
          <a:xfrm>
            <a:off x="7381756" y="2154555"/>
            <a:ext cx="6782633" cy="15240"/>
          </a:xfrm>
          <a:prstGeom prst="rect">
            <a:avLst/>
          </a:prstGeom>
          <a:solidFill>
            <a:srgbClr val="E1E1DF"/>
          </a:solidFill>
          <a:ln/>
        </p:spPr>
        <p:txBody>
          <a:bodyPr/>
          <a:lstStyle/>
          <a:p>
            <a:endParaRPr lang="es-AR" sz="3200"/>
          </a:p>
        </p:txBody>
      </p:sp>
      <p:sp>
        <p:nvSpPr>
          <p:cNvPr id="11" name="Text 9"/>
          <p:cNvSpPr/>
          <p:nvPr/>
        </p:nvSpPr>
        <p:spPr>
          <a:xfrm>
            <a:off x="7381756" y="2251591"/>
            <a:ext cx="1664613" cy="208002"/>
          </a:xfrm>
          <a:prstGeom prst="rect">
            <a:avLst/>
          </a:prstGeom>
          <a:noFill/>
          <a:ln/>
        </p:spPr>
        <p:txBody>
          <a:bodyPr wrap="none" lIns="0" tIns="0" rIns="0" bIns="0" rtlCol="0" anchor="t"/>
          <a:lstStyle/>
          <a:p>
            <a:pPr marL="0" indent="0" algn="l">
              <a:lnSpc>
                <a:spcPts val="1600"/>
              </a:lnSpc>
              <a:buNone/>
            </a:pPr>
            <a:r>
              <a:rPr lang="en-US" sz="2000" dirty="0">
                <a:solidFill>
                  <a:srgbClr val="C9C9C0"/>
                </a:solidFill>
                <a:latin typeface="Tomorrow Semi Bold" pitchFamily="34" charset="0"/>
                <a:ea typeface="Tomorrow Semi Bold" pitchFamily="34" charset="-122"/>
                <a:cs typeface="Tomorrow Semi Bold" pitchFamily="34" charset="-120"/>
              </a:rPr>
              <a:t>The Hidden Cost</a:t>
            </a:r>
            <a:endParaRPr lang="en-US" sz="2000" dirty="0"/>
          </a:p>
        </p:txBody>
      </p:sp>
      <p:sp>
        <p:nvSpPr>
          <p:cNvPr id="12" name="Text 10"/>
          <p:cNvSpPr/>
          <p:nvPr/>
        </p:nvSpPr>
        <p:spPr>
          <a:xfrm>
            <a:off x="7381756" y="2539484"/>
            <a:ext cx="6782633" cy="212884"/>
          </a:xfrm>
          <a:prstGeom prst="rect">
            <a:avLst/>
          </a:prstGeom>
          <a:noFill/>
          <a:ln/>
        </p:spPr>
        <p:txBody>
          <a:bodyPr wrap="square" lIns="0" tIns="0" rIns="0" bIns="0" rtlCol="0" anchor="t"/>
          <a:lstStyle/>
          <a:p>
            <a:pPr>
              <a:lnSpc>
                <a:spcPts val="1650"/>
              </a:lnSpc>
            </a:pPr>
            <a:r>
              <a:rPr lang="en-US" sz="1400" dirty="0">
                <a:solidFill>
                  <a:srgbClr val="C9C9C0"/>
                </a:solidFill>
                <a:latin typeface="Tomorrow" pitchFamily="34" charset="0"/>
              </a:rPr>
              <a:t>Dismantling parties' mediating role in aggregating interests, filtering demands, and disciplining negotiation</a:t>
            </a:r>
          </a:p>
        </p:txBody>
      </p:sp>
      <p:sp>
        <p:nvSpPr>
          <p:cNvPr id="13" name="Text 11"/>
          <p:cNvSpPr/>
          <p:nvPr/>
        </p:nvSpPr>
        <p:spPr>
          <a:xfrm>
            <a:off x="466011" y="3198138"/>
            <a:ext cx="133112" cy="166449"/>
          </a:xfrm>
          <a:prstGeom prst="rect">
            <a:avLst/>
          </a:prstGeom>
          <a:noFill/>
          <a:ln/>
        </p:spPr>
        <p:txBody>
          <a:bodyPr wrap="none" lIns="0" tIns="0" rIns="0" bIns="0" rtlCol="0" anchor="t"/>
          <a:lstStyle/>
          <a:p>
            <a:pPr marL="0" indent="0" algn="l">
              <a:lnSpc>
                <a:spcPts val="1650"/>
              </a:lnSpc>
              <a:buNone/>
            </a:pPr>
            <a:r>
              <a:rPr lang="en-US" sz="1400" dirty="0">
                <a:solidFill>
                  <a:srgbClr val="C9C9C0"/>
                </a:solidFill>
                <a:latin typeface="Tomorrow Light" pitchFamily="34" charset="0"/>
                <a:ea typeface="Tomorrow Light" pitchFamily="34" charset="-122"/>
                <a:cs typeface="Tomorrow Light" pitchFamily="34" charset="-120"/>
              </a:rPr>
              <a:t>03</a:t>
            </a:r>
            <a:endParaRPr lang="en-US" sz="1400" dirty="0"/>
          </a:p>
        </p:txBody>
      </p:sp>
      <p:sp>
        <p:nvSpPr>
          <p:cNvPr id="14" name="Shape 12"/>
          <p:cNvSpPr/>
          <p:nvPr/>
        </p:nvSpPr>
        <p:spPr>
          <a:xfrm>
            <a:off x="466011" y="3409117"/>
            <a:ext cx="6782633" cy="15240"/>
          </a:xfrm>
          <a:prstGeom prst="rect">
            <a:avLst/>
          </a:prstGeom>
          <a:solidFill>
            <a:srgbClr val="E1E1DF"/>
          </a:solidFill>
          <a:ln/>
        </p:spPr>
        <p:txBody>
          <a:bodyPr/>
          <a:lstStyle/>
          <a:p>
            <a:endParaRPr lang="es-AR" sz="3200"/>
          </a:p>
        </p:txBody>
      </p:sp>
      <p:sp>
        <p:nvSpPr>
          <p:cNvPr id="15" name="Text 13"/>
          <p:cNvSpPr/>
          <p:nvPr/>
        </p:nvSpPr>
        <p:spPr>
          <a:xfrm>
            <a:off x="466011" y="3506153"/>
            <a:ext cx="1664613" cy="208002"/>
          </a:xfrm>
          <a:prstGeom prst="rect">
            <a:avLst/>
          </a:prstGeom>
          <a:noFill/>
          <a:ln/>
        </p:spPr>
        <p:txBody>
          <a:bodyPr wrap="none" lIns="0" tIns="0" rIns="0" bIns="0" rtlCol="0" anchor="t"/>
          <a:lstStyle/>
          <a:p>
            <a:pPr marL="0" indent="0" algn="l">
              <a:lnSpc>
                <a:spcPts val="1600"/>
              </a:lnSpc>
              <a:buNone/>
            </a:pPr>
            <a:r>
              <a:rPr lang="en-US" sz="2000" dirty="0">
                <a:solidFill>
                  <a:srgbClr val="C9C9C0"/>
                </a:solidFill>
                <a:latin typeface="Tomorrow Semi Bold" pitchFamily="34" charset="0"/>
                <a:ea typeface="Tomorrow Semi Bold" pitchFamily="34" charset="-122"/>
                <a:cs typeface="Tomorrow Semi Bold" pitchFamily="34" charset="-120"/>
              </a:rPr>
              <a:t>Atomization</a:t>
            </a:r>
            <a:endParaRPr lang="en-US" sz="2000" dirty="0"/>
          </a:p>
        </p:txBody>
      </p:sp>
      <p:sp>
        <p:nvSpPr>
          <p:cNvPr id="16" name="Text 14"/>
          <p:cNvSpPr/>
          <p:nvPr/>
        </p:nvSpPr>
        <p:spPr>
          <a:xfrm>
            <a:off x="466011" y="3794046"/>
            <a:ext cx="6782633" cy="425768"/>
          </a:xfrm>
          <a:prstGeom prst="rect">
            <a:avLst/>
          </a:prstGeom>
          <a:noFill/>
          <a:ln/>
        </p:spPr>
        <p:txBody>
          <a:bodyPr wrap="square" lIns="0" tIns="0" rIns="0" bIns="0" rtlCol="0" anchor="t"/>
          <a:lstStyle/>
          <a:p>
            <a:pPr marL="0" indent="0" algn="l">
              <a:lnSpc>
                <a:spcPts val="1650"/>
              </a:lnSpc>
              <a:buNone/>
            </a:pPr>
            <a:r>
              <a:rPr lang="en-US" sz="1400" dirty="0">
                <a:solidFill>
                  <a:srgbClr val="C9C9C0"/>
                </a:solidFill>
                <a:latin typeface="Tomorrow" pitchFamily="34" charset="0"/>
                <a:ea typeface="Tomorrow" pitchFamily="34" charset="-122"/>
                <a:cs typeface="Tomorrow" pitchFamily="34" charset="-120"/>
              </a:rPr>
              <a:t>Independent delegates pursued symbolic causes — animal rights, gastronomy, spirituality — disconnected from material priorities</a:t>
            </a:r>
            <a:endParaRPr lang="en-US" sz="1400" dirty="0"/>
          </a:p>
        </p:txBody>
      </p:sp>
      <p:sp>
        <p:nvSpPr>
          <p:cNvPr id="17" name="Text 15"/>
          <p:cNvSpPr/>
          <p:nvPr/>
        </p:nvSpPr>
        <p:spPr>
          <a:xfrm>
            <a:off x="7381756" y="3198138"/>
            <a:ext cx="133112" cy="166449"/>
          </a:xfrm>
          <a:prstGeom prst="rect">
            <a:avLst/>
          </a:prstGeom>
          <a:noFill/>
          <a:ln/>
        </p:spPr>
        <p:txBody>
          <a:bodyPr wrap="none" lIns="0" tIns="0" rIns="0" bIns="0" rtlCol="0" anchor="t"/>
          <a:lstStyle/>
          <a:p>
            <a:pPr marL="0" indent="0" algn="l">
              <a:lnSpc>
                <a:spcPts val="1650"/>
              </a:lnSpc>
              <a:buNone/>
            </a:pPr>
            <a:r>
              <a:rPr lang="en-US" sz="1400" dirty="0">
                <a:solidFill>
                  <a:srgbClr val="C9C9C0"/>
                </a:solidFill>
                <a:latin typeface="Tomorrow Light" pitchFamily="34" charset="0"/>
                <a:ea typeface="Tomorrow Light" pitchFamily="34" charset="-122"/>
                <a:cs typeface="Tomorrow Light" pitchFamily="34" charset="-120"/>
              </a:rPr>
              <a:t>04</a:t>
            </a:r>
            <a:endParaRPr lang="en-US" sz="1400" dirty="0"/>
          </a:p>
        </p:txBody>
      </p:sp>
      <p:sp>
        <p:nvSpPr>
          <p:cNvPr id="18" name="Shape 16"/>
          <p:cNvSpPr/>
          <p:nvPr/>
        </p:nvSpPr>
        <p:spPr>
          <a:xfrm>
            <a:off x="7381756" y="3409117"/>
            <a:ext cx="6782633" cy="15240"/>
          </a:xfrm>
          <a:prstGeom prst="rect">
            <a:avLst/>
          </a:prstGeom>
          <a:solidFill>
            <a:srgbClr val="E1E1DF"/>
          </a:solidFill>
          <a:ln/>
        </p:spPr>
        <p:txBody>
          <a:bodyPr/>
          <a:lstStyle/>
          <a:p>
            <a:endParaRPr lang="es-AR" sz="3200"/>
          </a:p>
        </p:txBody>
      </p:sp>
      <p:sp>
        <p:nvSpPr>
          <p:cNvPr id="19" name="Text 17"/>
          <p:cNvSpPr/>
          <p:nvPr/>
        </p:nvSpPr>
        <p:spPr>
          <a:xfrm>
            <a:off x="7381756" y="3506153"/>
            <a:ext cx="1664613" cy="208002"/>
          </a:xfrm>
          <a:prstGeom prst="rect">
            <a:avLst/>
          </a:prstGeom>
          <a:noFill/>
          <a:ln/>
        </p:spPr>
        <p:txBody>
          <a:bodyPr wrap="none" lIns="0" tIns="0" rIns="0" bIns="0" rtlCol="0" anchor="t"/>
          <a:lstStyle/>
          <a:p>
            <a:pPr marL="0" indent="0" algn="l">
              <a:lnSpc>
                <a:spcPts val="1600"/>
              </a:lnSpc>
              <a:buNone/>
            </a:pPr>
            <a:r>
              <a:rPr lang="en-US" sz="2000" dirty="0">
                <a:solidFill>
                  <a:srgbClr val="C9C9C0"/>
                </a:solidFill>
                <a:latin typeface="Tomorrow Semi Bold" pitchFamily="34" charset="0"/>
                <a:ea typeface="Tomorrow Semi Bold" pitchFamily="34" charset="-122"/>
                <a:cs typeface="Tomorrow Semi Bold" pitchFamily="34" charset="-120"/>
              </a:rPr>
              <a:t>Voter Rejection</a:t>
            </a:r>
            <a:endParaRPr lang="en-US" sz="2000" dirty="0"/>
          </a:p>
        </p:txBody>
      </p:sp>
      <p:sp>
        <p:nvSpPr>
          <p:cNvPr id="20" name="Text 18"/>
          <p:cNvSpPr/>
          <p:nvPr/>
        </p:nvSpPr>
        <p:spPr>
          <a:xfrm>
            <a:off x="7381756" y="3794046"/>
            <a:ext cx="6782633" cy="212884"/>
          </a:xfrm>
          <a:prstGeom prst="rect">
            <a:avLst/>
          </a:prstGeom>
          <a:noFill/>
          <a:ln/>
        </p:spPr>
        <p:txBody>
          <a:bodyPr wrap="square" lIns="0" tIns="0" rIns="0" bIns="0" rtlCol="0" anchor="t"/>
          <a:lstStyle/>
          <a:p>
            <a:pPr>
              <a:lnSpc>
                <a:spcPts val="1650"/>
              </a:lnSpc>
            </a:pPr>
            <a:r>
              <a:rPr lang="en-US" sz="1400" dirty="0">
                <a:solidFill>
                  <a:srgbClr val="C9C9C0"/>
                </a:solidFill>
                <a:latin typeface="Tomorrow" pitchFamily="34" charset="0"/>
              </a:rPr>
              <a:t>62% rejected the draft constitution, signaling rejection not just of text but of politics without organization</a:t>
            </a:r>
          </a:p>
        </p:txBody>
      </p:sp>
      <p:sp>
        <p:nvSpPr>
          <p:cNvPr id="22" name="Text 19"/>
          <p:cNvSpPr/>
          <p:nvPr/>
        </p:nvSpPr>
        <p:spPr>
          <a:xfrm>
            <a:off x="466011" y="4815948"/>
            <a:ext cx="4039195" cy="249674"/>
          </a:xfrm>
          <a:prstGeom prst="rect">
            <a:avLst/>
          </a:prstGeom>
          <a:noFill/>
          <a:ln/>
        </p:spPr>
        <p:txBody>
          <a:bodyPr wrap="none" lIns="0" tIns="0" rIns="0" bIns="0" rtlCol="0" anchor="t"/>
          <a:lstStyle/>
          <a:p>
            <a:pPr marL="0" indent="0" algn="l">
              <a:lnSpc>
                <a:spcPts val="1950"/>
              </a:lnSpc>
              <a:buNone/>
            </a:pPr>
            <a:r>
              <a:rPr lang="en-US" sz="2400" dirty="0">
                <a:solidFill>
                  <a:srgbClr val="EDEDE8"/>
                </a:solidFill>
                <a:latin typeface="Tomorrow Semi Bold" pitchFamily="34" charset="0"/>
                <a:ea typeface="Tomorrow Semi Bold" pitchFamily="34" charset="-122"/>
                <a:cs typeface="Tomorrow Semi Bold" pitchFamily="34" charset="-120"/>
              </a:rPr>
              <a:t>Boric's Coalition and Governance Limits</a:t>
            </a:r>
            <a:endParaRPr lang="en-US" sz="2400" dirty="0"/>
          </a:p>
        </p:txBody>
      </p:sp>
      <p:sp>
        <p:nvSpPr>
          <p:cNvPr id="23" name="Text 20"/>
          <p:cNvSpPr/>
          <p:nvPr/>
        </p:nvSpPr>
        <p:spPr>
          <a:xfrm>
            <a:off x="458391" y="5394840"/>
            <a:ext cx="5623095" cy="425768"/>
          </a:xfrm>
          <a:prstGeom prst="rect">
            <a:avLst/>
          </a:prstGeom>
          <a:noFill/>
          <a:ln/>
        </p:spPr>
        <p:txBody>
          <a:bodyPr wrap="square" lIns="0" tIns="0" rIns="0" bIns="0" rtlCol="0" anchor="t"/>
          <a:lstStyle/>
          <a:p>
            <a:pPr marL="0" indent="0" algn="l">
              <a:lnSpc>
                <a:spcPts val="1650"/>
              </a:lnSpc>
              <a:buNone/>
            </a:pPr>
            <a:r>
              <a:rPr lang="en-US" sz="1400" dirty="0">
                <a:solidFill>
                  <a:srgbClr val="C9C9C0"/>
                </a:solidFill>
                <a:latin typeface="Tomorrow" pitchFamily="34" charset="0"/>
                <a:ea typeface="Tomorrow" pitchFamily="34" charset="-122"/>
                <a:cs typeface="Tomorrow" pitchFamily="34" charset="-120"/>
              </a:rPr>
              <a:t>President Gabriel Boric faced a parallel dilemma. His coalition, </a:t>
            </a:r>
            <a:r>
              <a:rPr lang="en-US" sz="1400" i="1" dirty="0">
                <a:solidFill>
                  <a:srgbClr val="C9C9C0"/>
                </a:solidFill>
                <a:latin typeface="Tomorrow" pitchFamily="34" charset="0"/>
                <a:ea typeface="Tomorrow" pitchFamily="34" charset="-122"/>
                <a:cs typeface="Tomorrow" pitchFamily="34" charset="-120"/>
              </a:rPr>
              <a:t>Frente Amplio</a:t>
            </a:r>
            <a:r>
              <a:rPr lang="en-US" sz="1400" dirty="0">
                <a:solidFill>
                  <a:srgbClr val="C9C9C0"/>
                </a:solidFill>
                <a:latin typeface="Tomorrow" pitchFamily="34" charset="0"/>
                <a:ea typeface="Tomorrow" pitchFamily="34" charset="-122"/>
                <a:cs typeface="Tomorrow" pitchFamily="34" charset="-120"/>
              </a:rPr>
              <a:t>, emerged from student movements rather than party hierarchies. Its legitimacy derived from moral authority and generational freshness, not institutional experience.</a:t>
            </a:r>
            <a:endParaRPr lang="en-US" sz="1400" dirty="0"/>
          </a:p>
        </p:txBody>
      </p:sp>
      <p:sp>
        <p:nvSpPr>
          <p:cNvPr id="24" name="Text 21"/>
          <p:cNvSpPr/>
          <p:nvPr/>
        </p:nvSpPr>
        <p:spPr>
          <a:xfrm>
            <a:off x="466011" y="6594167"/>
            <a:ext cx="5746103" cy="425768"/>
          </a:xfrm>
          <a:prstGeom prst="rect">
            <a:avLst/>
          </a:prstGeom>
          <a:noFill/>
          <a:ln/>
        </p:spPr>
        <p:txBody>
          <a:bodyPr wrap="square" lIns="0" tIns="0" rIns="0" bIns="0" rtlCol="0" anchor="t"/>
          <a:lstStyle/>
          <a:p>
            <a:pPr marL="0" indent="0" algn="l">
              <a:lnSpc>
                <a:spcPts val="1650"/>
              </a:lnSpc>
              <a:buNone/>
            </a:pPr>
            <a:r>
              <a:rPr lang="en-US" sz="1400" b="1" dirty="0">
                <a:solidFill>
                  <a:srgbClr val="C9C9C0"/>
                </a:solidFill>
                <a:latin typeface="Tomorrow" pitchFamily="34" charset="0"/>
                <a:ea typeface="Tomorrow" pitchFamily="34" charset="-122"/>
                <a:cs typeface="Tomorrow" pitchFamily="34" charset="-120"/>
              </a:rPr>
              <a:t>The challenge:</a:t>
            </a:r>
            <a:r>
              <a:rPr lang="en-US" sz="1400" dirty="0">
                <a:solidFill>
                  <a:srgbClr val="C9C9C0"/>
                </a:solidFill>
                <a:latin typeface="Tomorrow" pitchFamily="34" charset="0"/>
                <a:ea typeface="Tomorrow" pitchFamily="34" charset="-122"/>
                <a:cs typeface="Tomorrow" pitchFamily="34" charset="-120"/>
              </a:rPr>
              <a:t> outsider structures proved ill-suited for governing a fragmented Congress and managing crises like inflation and the Mapuche conflict.</a:t>
            </a:r>
            <a:endParaRPr lang="en-US" sz="1400" dirty="0"/>
          </a:p>
        </p:txBody>
      </p:sp>
      <p:pic>
        <p:nvPicPr>
          <p:cNvPr id="3074" name="Picture 2">
            <a:extLst>
              <a:ext uri="{FF2B5EF4-FFF2-40B4-BE49-F238E27FC236}">
                <a16:creationId xmlns:a16="http://schemas.microsoft.com/office/drawing/2014/main" id="{6BBDFB50-30CB-1CA6-0E0E-345D177D0C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20" r="10309"/>
          <a:stretch>
            <a:fillRect/>
          </a:stretch>
        </p:blipFill>
        <p:spPr bwMode="auto">
          <a:xfrm>
            <a:off x="7448313" y="4437579"/>
            <a:ext cx="6369288" cy="3734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8394" y="494824"/>
            <a:ext cx="5930146" cy="436126"/>
          </a:xfrm>
          <a:prstGeom prst="rect">
            <a:avLst/>
          </a:prstGeom>
          <a:noFill/>
          <a:ln/>
        </p:spPr>
        <p:txBody>
          <a:bodyPr wrap="none" lIns="0" tIns="0" rIns="0" bIns="0" rtlCol="0" anchor="t"/>
          <a:lstStyle/>
          <a:p>
            <a:pPr marL="0" indent="0" algn="l">
              <a:lnSpc>
                <a:spcPts val="3400"/>
              </a:lnSpc>
              <a:buNone/>
            </a:pPr>
            <a:r>
              <a:rPr lang="en-US" sz="2700" dirty="0">
                <a:solidFill>
                  <a:srgbClr val="EDEDE8"/>
                </a:solidFill>
                <a:latin typeface="Tomorrow Semi Bold" pitchFamily="34" charset="0"/>
                <a:ea typeface="Tomorrow Semi Bold" pitchFamily="34" charset="-122"/>
                <a:cs typeface="Tomorrow Semi Bold" pitchFamily="34" charset="-120"/>
              </a:rPr>
              <a:t>From Euphoria to Disillusionment</a:t>
            </a:r>
            <a:endParaRPr lang="en-US" sz="2700" dirty="0"/>
          </a:p>
        </p:txBody>
      </p:sp>
      <p:sp>
        <p:nvSpPr>
          <p:cNvPr id="3" name="Shape 1"/>
          <p:cNvSpPr/>
          <p:nvPr/>
        </p:nvSpPr>
        <p:spPr>
          <a:xfrm>
            <a:off x="7307579" y="1210032"/>
            <a:ext cx="45719" cy="3819168"/>
          </a:xfrm>
          <a:prstGeom prst="roundRect">
            <a:avLst>
              <a:gd name="adj" fmla="val 137370"/>
            </a:avLst>
          </a:prstGeom>
          <a:solidFill>
            <a:srgbClr val="555553"/>
          </a:solidFill>
          <a:ln/>
        </p:spPr>
        <p:txBody>
          <a:bodyPr/>
          <a:lstStyle/>
          <a:p>
            <a:endParaRPr lang="es-AR" sz="2000"/>
          </a:p>
        </p:txBody>
      </p:sp>
      <p:sp>
        <p:nvSpPr>
          <p:cNvPr id="4" name="Shape 2"/>
          <p:cNvSpPr/>
          <p:nvPr/>
        </p:nvSpPr>
        <p:spPr>
          <a:xfrm>
            <a:off x="6754832" y="1359337"/>
            <a:ext cx="418624" cy="15240"/>
          </a:xfrm>
          <a:prstGeom prst="roundRect">
            <a:avLst>
              <a:gd name="adj" fmla="val 137370"/>
            </a:avLst>
          </a:prstGeom>
          <a:solidFill>
            <a:srgbClr val="555553"/>
          </a:solidFill>
          <a:ln/>
        </p:spPr>
        <p:txBody>
          <a:bodyPr/>
          <a:lstStyle/>
          <a:p>
            <a:endParaRPr lang="es-AR" sz="2800"/>
          </a:p>
        </p:txBody>
      </p:sp>
      <p:sp>
        <p:nvSpPr>
          <p:cNvPr id="5" name="Shape 3"/>
          <p:cNvSpPr/>
          <p:nvPr/>
        </p:nvSpPr>
        <p:spPr>
          <a:xfrm>
            <a:off x="7158216" y="1210032"/>
            <a:ext cx="313968" cy="313968"/>
          </a:xfrm>
          <a:prstGeom prst="roundRect">
            <a:avLst>
              <a:gd name="adj" fmla="val 6668"/>
            </a:avLst>
          </a:prstGeom>
          <a:solidFill>
            <a:srgbClr val="3C3C3A"/>
          </a:solidFill>
          <a:ln/>
        </p:spPr>
        <p:txBody>
          <a:bodyPr/>
          <a:lstStyle/>
          <a:p>
            <a:endParaRPr lang="es-AR" sz="2000"/>
          </a:p>
        </p:txBody>
      </p:sp>
      <p:sp>
        <p:nvSpPr>
          <p:cNvPr id="6" name="Text 4"/>
          <p:cNvSpPr/>
          <p:nvPr/>
        </p:nvSpPr>
        <p:spPr>
          <a:xfrm>
            <a:off x="7224659" y="1292960"/>
            <a:ext cx="209312" cy="261580"/>
          </a:xfrm>
          <a:prstGeom prst="rect">
            <a:avLst/>
          </a:prstGeom>
          <a:noFill/>
          <a:ln/>
        </p:spPr>
        <p:txBody>
          <a:bodyPr wrap="none" lIns="0" tIns="0" rIns="0" bIns="0" rtlCol="0" anchor="t"/>
          <a:lstStyle/>
          <a:p>
            <a:pPr marL="0" indent="0" algn="ctr">
              <a:lnSpc>
                <a:spcPts val="1600"/>
              </a:lnSpc>
              <a:buNone/>
            </a:pPr>
            <a:r>
              <a:rPr lang="en-US" dirty="0">
                <a:solidFill>
                  <a:srgbClr val="C9C9C0"/>
                </a:solidFill>
                <a:latin typeface="Tomorrow Semi Bold" pitchFamily="34" charset="0"/>
                <a:ea typeface="Tomorrow Semi Bold" pitchFamily="34" charset="-122"/>
                <a:cs typeface="Tomorrow Semi Bold" pitchFamily="34" charset="-120"/>
              </a:rPr>
              <a:t>1</a:t>
            </a:r>
            <a:endParaRPr lang="en-US" dirty="0"/>
          </a:p>
        </p:txBody>
      </p:sp>
      <p:sp>
        <p:nvSpPr>
          <p:cNvPr id="7" name="Text 5"/>
          <p:cNvSpPr/>
          <p:nvPr/>
        </p:nvSpPr>
        <p:spPr>
          <a:xfrm>
            <a:off x="4872871" y="1257895"/>
            <a:ext cx="1744504" cy="218003"/>
          </a:xfrm>
          <a:prstGeom prst="rect">
            <a:avLst/>
          </a:prstGeom>
          <a:noFill/>
          <a:ln/>
        </p:spPr>
        <p:txBody>
          <a:bodyPr wrap="none" lIns="0" tIns="0" rIns="0" bIns="0" rtlCol="0" anchor="t"/>
          <a:lstStyle/>
          <a:p>
            <a:pPr marL="0" indent="0" algn="r">
              <a:lnSpc>
                <a:spcPts val="1700"/>
              </a:lnSpc>
              <a:buNone/>
            </a:pPr>
            <a:r>
              <a:rPr lang="en-US" dirty="0">
                <a:solidFill>
                  <a:srgbClr val="C9C9C0"/>
                </a:solidFill>
                <a:latin typeface="Tomorrow Semi Bold" pitchFamily="34" charset="0"/>
                <a:ea typeface="Tomorrow Semi Bold" pitchFamily="34" charset="-122"/>
                <a:cs typeface="Tomorrow Semi Bold" pitchFamily="34" charset="-120"/>
              </a:rPr>
              <a:t>October 2019</a:t>
            </a:r>
            <a:endParaRPr lang="en-US" dirty="0"/>
          </a:p>
        </p:txBody>
      </p:sp>
      <p:sp>
        <p:nvSpPr>
          <p:cNvPr id="8" name="Text 6"/>
          <p:cNvSpPr/>
          <p:nvPr/>
        </p:nvSpPr>
        <p:spPr>
          <a:xfrm>
            <a:off x="488394" y="1559600"/>
            <a:ext cx="6128980" cy="223242"/>
          </a:xfrm>
          <a:prstGeom prst="rect">
            <a:avLst/>
          </a:prstGeom>
          <a:noFill/>
          <a:ln/>
        </p:spPr>
        <p:txBody>
          <a:bodyPr wrap="none" lIns="0" tIns="0" rIns="0" bIns="0" rtlCol="0" anchor="t"/>
          <a:lstStyle/>
          <a:p>
            <a:pPr marL="0" indent="0" algn="r">
              <a:lnSpc>
                <a:spcPts val="1750"/>
              </a:lnSpc>
              <a:buNone/>
            </a:pPr>
            <a:r>
              <a:rPr lang="en-US" sz="1400" dirty="0">
                <a:solidFill>
                  <a:srgbClr val="C9C9C0"/>
                </a:solidFill>
                <a:latin typeface="Tomorrow" pitchFamily="34" charset="0"/>
                <a:ea typeface="Tomorrow" pitchFamily="34" charset="-122"/>
                <a:cs typeface="Tomorrow" pitchFamily="34" charset="-120"/>
              </a:rPr>
              <a:t>Social explosion and protests demand new constitution</a:t>
            </a:r>
            <a:endParaRPr lang="en-US" sz="1400" dirty="0"/>
          </a:p>
        </p:txBody>
      </p:sp>
      <p:sp>
        <p:nvSpPr>
          <p:cNvPr id="9" name="Shape 7"/>
          <p:cNvSpPr/>
          <p:nvPr/>
        </p:nvSpPr>
        <p:spPr>
          <a:xfrm>
            <a:off x="7456944" y="2196584"/>
            <a:ext cx="418624" cy="15240"/>
          </a:xfrm>
          <a:prstGeom prst="roundRect">
            <a:avLst>
              <a:gd name="adj" fmla="val 137370"/>
            </a:avLst>
          </a:prstGeom>
          <a:solidFill>
            <a:srgbClr val="555553"/>
          </a:solidFill>
          <a:ln/>
        </p:spPr>
        <p:txBody>
          <a:bodyPr/>
          <a:lstStyle/>
          <a:p>
            <a:endParaRPr lang="es-AR" sz="2800"/>
          </a:p>
        </p:txBody>
      </p:sp>
      <p:sp>
        <p:nvSpPr>
          <p:cNvPr id="10" name="Shape 8"/>
          <p:cNvSpPr/>
          <p:nvPr/>
        </p:nvSpPr>
        <p:spPr>
          <a:xfrm>
            <a:off x="7158216" y="2047280"/>
            <a:ext cx="313968" cy="313968"/>
          </a:xfrm>
          <a:prstGeom prst="roundRect">
            <a:avLst>
              <a:gd name="adj" fmla="val 6668"/>
            </a:avLst>
          </a:prstGeom>
          <a:solidFill>
            <a:srgbClr val="3C3C3A"/>
          </a:solidFill>
          <a:ln/>
        </p:spPr>
        <p:txBody>
          <a:bodyPr/>
          <a:lstStyle/>
          <a:p>
            <a:endParaRPr lang="es-AR" sz="2000"/>
          </a:p>
        </p:txBody>
      </p:sp>
      <p:sp>
        <p:nvSpPr>
          <p:cNvPr id="11" name="Text 9"/>
          <p:cNvSpPr/>
          <p:nvPr/>
        </p:nvSpPr>
        <p:spPr>
          <a:xfrm>
            <a:off x="7210485" y="2140095"/>
            <a:ext cx="209312" cy="261580"/>
          </a:xfrm>
          <a:prstGeom prst="rect">
            <a:avLst/>
          </a:prstGeom>
          <a:noFill/>
          <a:ln/>
        </p:spPr>
        <p:txBody>
          <a:bodyPr wrap="none" lIns="0" tIns="0" rIns="0" bIns="0" rtlCol="0" anchor="t"/>
          <a:lstStyle/>
          <a:p>
            <a:pPr marL="0" indent="0" algn="ctr">
              <a:lnSpc>
                <a:spcPts val="1600"/>
              </a:lnSpc>
              <a:buNone/>
            </a:pPr>
            <a:r>
              <a:rPr lang="en-US" dirty="0">
                <a:solidFill>
                  <a:srgbClr val="C9C9C0"/>
                </a:solidFill>
                <a:latin typeface="Tomorrow Semi Bold" pitchFamily="34" charset="0"/>
                <a:ea typeface="Tomorrow Semi Bold" pitchFamily="34" charset="-122"/>
                <a:cs typeface="Tomorrow Semi Bold" pitchFamily="34" charset="-120"/>
              </a:rPr>
              <a:t>2</a:t>
            </a:r>
            <a:endParaRPr lang="en-US" dirty="0"/>
          </a:p>
        </p:txBody>
      </p:sp>
      <p:sp>
        <p:nvSpPr>
          <p:cNvPr id="12" name="Text 10"/>
          <p:cNvSpPr/>
          <p:nvPr/>
        </p:nvSpPr>
        <p:spPr>
          <a:xfrm>
            <a:off x="8013025" y="2095143"/>
            <a:ext cx="1744504" cy="218003"/>
          </a:xfrm>
          <a:prstGeom prst="rect">
            <a:avLst/>
          </a:prstGeom>
          <a:noFill/>
          <a:ln/>
        </p:spPr>
        <p:txBody>
          <a:bodyPr wrap="none" lIns="0" tIns="0" rIns="0" bIns="0" rtlCol="0" anchor="t"/>
          <a:lstStyle/>
          <a:p>
            <a:pPr marL="0" indent="0" algn="l">
              <a:lnSpc>
                <a:spcPts val="1700"/>
              </a:lnSpc>
              <a:buNone/>
            </a:pPr>
            <a:r>
              <a:rPr lang="en-US" dirty="0">
                <a:solidFill>
                  <a:srgbClr val="C9C9C0"/>
                </a:solidFill>
                <a:latin typeface="Tomorrow Semi Bold" pitchFamily="34" charset="0"/>
                <a:ea typeface="Tomorrow Semi Bold" pitchFamily="34" charset="-122"/>
                <a:cs typeface="Tomorrow Semi Bold" pitchFamily="34" charset="-120"/>
              </a:rPr>
              <a:t>May 2021</a:t>
            </a:r>
            <a:endParaRPr lang="en-US" dirty="0"/>
          </a:p>
        </p:txBody>
      </p:sp>
      <p:sp>
        <p:nvSpPr>
          <p:cNvPr id="13" name="Text 11"/>
          <p:cNvSpPr/>
          <p:nvPr/>
        </p:nvSpPr>
        <p:spPr>
          <a:xfrm>
            <a:off x="8013025" y="2396847"/>
            <a:ext cx="6128980" cy="223242"/>
          </a:xfrm>
          <a:prstGeom prst="rect">
            <a:avLst/>
          </a:prstGeom>
          <a:noFill/>
          <a:ln/>
        </p:spPr>
        <p:txBody>
          <a:bodyPr wrap="none" lIns="0" tIns="0" rIns="0" bIns="0" rtlCol="0" anchor="t"/>
          <a:lstStyle/>
          <a:p>
            <a:pPr marL="0" indent="0" algn="l">
              <a:lnSpc>
                <a:spcPts val="1750"/>
              </a:lnSpc>
              <a:buNone/>
            </a:pPr>
            <a:r>
              <a:rPr lang="en-US" sz="1400" dirty="0">
                <a:solidFill>
                  <a:srgbClr val="C9C9C0"/>
                </a:solidFill>
                <a:latin typeface="Tomorrow" pitchFamily="34" charset="0"/>
                <a:ea typeface="Tomorrow" pitchFamily="34" charset="-122"/>
                <a:cs typeface="Tomorrow" pitchFamily="34" charset="-120"/>
              </a:rPr>
              <a:t>Constitutional Convention elected with unprecedented participation</a:t>
            </a:r>
            <a:endParaRPr lang="en-US" sz="1400" dirty="0"/>
          </a:p>
        </p:txBody>
      </p:sp>
      <p:sp>
        <p:nvSpPr>
          <p:cNvPr id="14" name="Shape 12"/>
          <p:cNvSpPr/>
          <p:nvPr/>
        </p:nvSpPr>
        <p:spPr>
          <a:xfrm>
            <a:off x="6754832" y="2918222"/>
            <a:ext cx="418624" cy="15240"/>
          </a:xfrm>
          <a:prstGeom prst="roundRect">
            <a:avLst>
              <a:gd name="adj" fmla="val 137370"/>
            </a:avLst>
          </a:prstGeom>
          <a:solidFill>
            <a:srgbClr val="555553"/>
          </a:solidFill>
          <a:ln/>
        </p:spPr>
        <p:txBody>
          <a:bodyPr/>
          <a:lstStyle/>
          <a:p>
            <a:endParaRPr lang="es-AR" sz="2800"/>
          </a:p>
        </p:txBody>
      </p:sp>
      <p:sp>
        <p:nvSpPr>
          <p:cNvPr id="15" name="Shape 13"/>
          <p:cNvSpPr/>
          <p:nvPr/>
        </p:nvSpPr>
        <p:spPr>
          <a:xfrm>
            <a:off x="7158216" y="2768918"/>
            <a:ext cx="313968" cy="313968"/>
          </a:xfrm>
          <a:prstGeom prst="roundRect">
            <a:avLst>
              <a:gd name="adj" fmla="val 6668"/>
            </a:avLst>
          </a:prstGeom>
          <a:solidFill>
            <a:srgbClr val="3C3C3A"/>
          </a:solidFill>
          <a:ln/>
        </p:spPr>
        <p:txBody>
          <a:bodyPr/>
          <a:lstStyle/>
          <a:p>
            <a:endParaRPr lang="es-AR" sz="2000"/>
          </a:p>
        </p:txBody>
      </p:sp>
      <p:sp>
        <p:nvSpPr>
          <p:cNvPr id="16" name="Text 14"/>
          <p:cNvSpPr/>
          <p:nvPr/>
        </p:nvSpPr>
        <p:spPr>
          <a:xfrm>
            <a:off x="7210485" y="2833359"/>
            <a:ext cx="209312" cy="261580"/>
          </a:xfrm>
          <a:prstGeom prst="rect">
            <a:avLst/>
          </a:prstGeom>
          <a:noFill/>
          <a:ln/>
        </p:spPr>
        <p:txBody>
          <a:bodyPr wrap="none" lIns="0" tIns="0" rIns="0" bIns="0" rtlCol="0" anchor="t"/>
          <a:lstStyle/>
          <a:p>
            <a:pPr marL="0" indent="0" algn="ctr">
              <a:lnSpc>
                <a:spcPts val="1600"/>
              </a:lnSpc>
              <a:buNone/>
            </a:pPr>
            <a:r>
              <a:rPr lang="en-US" dirty="0">
                <a:solidFill>
                  <a:srgbClr val="C9C9C0"/>
                </a:solidFill>
                <a:latin typeface="Tomorrow Semi Bold" pitchFamily="34" charset="0"/>
                <a:ea typeface="Tomorrow Semi Bold" pitchFamily="34" charset="-122"/>
                <a:cs typeface="Tomorrow Semi Bold" pitchFamily="34" charset="-120"/>
              </a:rPr>
              <a:t>3</a:t>
            </a:r>
            <a:endParaRPr lang="en-US" dirty="0"/>
          </a:p>
        </p:txBody>
      </p:sp>
      <p:sp>
        <p:nvSpPr>
          <p:cNvPr id="17" name="Text 15"/>
          <p:cNvSpPr/>
          <p:nvPr/>
        </p:nvSpPr>
        <p:spPr>
          <a:xfrm>
            <a:off x="4872871" y="2816781"/>
            <a:ext cx="1744504" cy="218003"/>
          </a:xfrm>
          <a:prstGeom prst="rect">
            <a:avLst/>
          </a:prstGeom>
          <a:noFill/>
          <a:ln/>
        </p:spPr>
        <p:txBody>
          <a:bodyPr wrap="none" lIns="0" tIns="0" rIns="0" bIns="0" rtlCol="0" anchor="t"/>
          <a:lstStyle/>
          <a:p>
            <a:pPr marL="0" indent="0" algn="r">
              <a:lnSpc>
                <a:spcPts val="1700"/>
              </a:lnSpc>
              <a:buNone/>
            </a:pPr>
            <a:r>
              <a:rPr lang="en-US" dirty="0">
                <a:solidFill>
                  <a:srgbClr val="C9C9C0"/>
                </a:solidFill>
                <a:latin typeface="Tomorrow Semi Bold" pitchFamily="34" charset="0"/>
                <a:ea typeface="Tomorrow Semi Bold" pitchFamily="34" charset="-122"/>
                <a:cs typeface="Tomorrow Semi Bold" pitchFamily="34" charset="-120"/>
              </a:rPr>
              <a:t>March 2022</a:t>
            </a:r>
            <a:endParaRPr lang="en-US" dirty="0"/>
          </a:p>
        </p:txBody>
      </p:sp>
      <p:sp>
        <p:nvSpPr>
          <p:cNvPr id="18" name="Text 16"/>
          <p:cNvSpPr/>
          <p:nvPr/>
        </p:nvSpPr>
        <p:spPr>
          <a:xfrm>
            <a:off x="488394" y="3118485"/>
            <a:ext cx="6128980" cy="223242"/>
          </a:xfrm>
          <a:prstGeom prst="rect">
            <a:avLst/>
          </a:prstGeom>
          <a:noFill/>
          <a:ln/>
        </p:spPr>
        <p:txBody>
          <a:bodyPr wrap="none" lIns="0" tIns="0" rIns="0" bIns="0" rtlCol="0" anchor="t"/>
          <a:lstStyle/>
          <a:p>
            <a:pPr marL="0" indent="0" algn="r">
              <a:lnSpc>
                <a:spcPts val="1750"/>
              </a:lnSpc>
              <a:buNone/>
            </a:pPr>
            <a:r>
              <a:rPr lang="en-US" sz="1400" dirty="0">
                <a:solidFill>
                  <a:srgbClr val="C9C9C0"/>
                </a:solidFill>
                <a:latin typeface="Tomorrow" pitchFamily="34" charset="0"/>
                <a:ea typeface="Tomorrow" pitchFamily="34" charset="-122"/>
                <a:cs typeface="Tomorrow" pitchFamily="34" charset="-120"/>
              </a:rPr>
              <a:t>Boric inaugurated with promises of transformational change</a:t>
            </a:r>
            <a:endParaRPr lang="en-US" sz="1400" dirty="0"/>
          </a:p>
        </p:txBody>
      </p:sp>
      <p:sp>
        <p:nvSpPr>
          <p:cNvPr id="19" name="Shape 17"/>
          <p:cNvSpPr/>
          <p:nvPr/>
        </p:nvSpPr>
        <p:spPr>
          <a:xfrm>
            <a:off x="7456944" y="3639979"/>
            <a:ext cx="418624" cy="15240"/>
          </a:xfrm>
          <a:prstGeom prst="roundRect">
            <a:avLst>
              <a:gd name="adj" fmla="val 137370"/>
            </a:avLst>
          </a:prstGeom>
          <a:solidFill>
            <a:srgbClr val="555553"/>
          </a:solidFill>
          <a:ln/>
        </p:spPr>
        <p:txBody>
          <a:bodyPr/>
          <a:lstStyle/>
          <a:p>
            <a:endParaRPr lang="es-AR" sz="2800"/>
          </a:p>
        </p:txBody>
      </p:sp>
      <p:sp>
        <p:nvSpPr>
          <p:cNvPr id="20" name="Shape 18"/>
          <p:cNvSpPr/>
          <p:nvPr/>
        </p:nvSpPr>
        <p:spPr>
          <a:xfrm>
            <a:off x="7158216" y="3490674"/>
            <a:ext cx="313968" cy="313968"/>
          </a:xfrm>
          <a:prstGeom prst="roundRect">
            <a:avLst>
              <a:gd name="adj" fmla="val 6668"/>
            </a:avLst>
          </a:prstGeom>
          <a:solidFill>
            <a:srgbClr val="3C3C3A"/>
          </a:solidFill>
          <a:ln/>
        </p:spPr>
        <p:txBody>
          <a:bodyPr/>
          <a:lstStyle/>
          <a:p>
            <a:endParaRPr lang="es-AR" sz="2000"/>
          </a:p>
        </p:txBody>
      </p:sp>
      <p:sp>
        <p:nvSpPr>
          <p:cNvPr id="21" name="Text 19"/>
          <p:cNvSpPr/>
          <p:nvPr/>
        </p:nvSpPr>
        <p:spPr>
          <a:xfrm>
            <a:off x="7210485" y="3574911"/>
            <a:ext cx="209312" cy="261580"/>
          </a:xfrm>
          <a:prstGeom prst="rect">
            <a:avLst/>
          </a:prstGeom>
          <a:noFill/>
          <a:ln/>
        </p:spPr>
        <p:txBody>
          <a:bodyPr wrap="none" lIns="0" tIns="0" rIns="0" bIns="0" rtlCol="0" anchor="t"/>
          <a:lstStyle/>
          <a:p>
            <a:pPr marL="0" indent="0" algn="ctr">
              <a:lnSpc>
                <a:spcPts val="1600"/>
              </a:lnSpc>
              <a:buNone/>
            </a:pPr>
            <a:r>
              <a:rPr lang="en-US" dirty="0">
                <a:solidFill>
                  <a:srgbClr val="C9C9C0"/>
                </a:solidFill>
                <a:latin typeface="Tomorrow Semi Bold" pitchFamily="34" charset="0"/>
                <a:ea typeface="Tomorrow Semi Bold" pitchFamily="34" charset="-122"/>
                <a:cs typeface="Tomorrow Semi Bold" pitchFamily="34" charset="-120"/>
              </a:rPr>
              <a:t>4</a:t>
            </a:r>
            <a:endParaRPr lang="en-US" dirty="0"/>
          </a:p>
        </p:txBody>
      </p:sp>
      <p:sp>
        <p:nvSpPr>
          <p:cNvPr id="22" name="Text 20"/>
          <p:cNvSpPr/>
          <p:nvPr/>
        </p:nvSpPr>
        <p:spPr>
          <a:xfrm>
            <a:off x="8013025" y="3538538"/>
            <a:ext cx="1744504" cy="218003"/>
          </a:xfrm>
          <a:prstGeom prst="rect">
            <a:avLst/>
          </a:prstGeom>
          <a:noFill/>
          <a:ln/>
        </p:spPr>
        <p:txBody>
          <a:bodyPr wrap="none" lIns="0" tIns="0" rIns="0" bIns="0" rtlCol="0" anchor="t"/>
          <a:lstStyle/>
          <a:p>
            <a:pPr marL="0" indent="0" algn="l">
              <a:lnSpc>
                <a:spcPts val="1700"/>
              </a:lnSpc>
              <a:buNone/>
            </a:pPr>
            <a:r>
              <a:rPr lang="en-US" dirty="0">
                <a:solidFill>
                  <a:srgbClr val="C9C9C0"/>
                </a:solidFill>
                <a:latin typeface="Tomorrow Semi Bold" pitchFamily="34" charset="0"/>
                <a:ea typeface="Tomorrow Semi Bold" pitchFamily="34" charset="-122"/>
                <a:cs typeface="Tomorrow Semi Bold" pitchFamily="34" charset="-120"/>
              </a:rPr>
              <a:t>September 2022</a:t>
            </a:r>
            <a:endParaRPr lang="en-US" dirty="0"/>
          </a:p>
        </p:txBody>
      </p:sp>
      <p:sp>
        <p:nvSpPr>
          <p:cNvPr id="23" name="Text 21"/>
          <p:cNvSpPr/>
          <p:nvPr/>
        </p:nvSpPr>
        <p:spPr>
          <a:xfrm>
            <a:off x="8013025" y="3840242"/>
            <a:ext cx="6128980" cy="223242"/>
          </a:xfrm>
          <a:prstGeom prst="rect">
            <a:avLst/>
          </a:prstGeom>
          <a:noFill/>
          <a:ln/>
        </p:spPr>
        <p:txBody>
          <a:bodyPr wrap="none" lIns="0" tIns="0" rIns="0" bIns="0" rtlCol="0" anchor="t"/>
          <a:lstStyle/>
          <a:p>
            <a:pPr marL="0" indent="0" algn="l">
              <a:lnSpc>
                <a:spcPts val="1750"/>
              </a:lnSpc>
              <a:buNone/>
            </a:pPr>
            <a:r>
              <a:rPr lang="en-US" sz="1400" dirty="0">
                <a:solidFill>
                  <a:srgbClr val="C9C9C0"/>
                </a:solidFill>
                <a:latin typeface="Tomorrow" pitchFamily="34" charset="0"/>
                <a:ea typeface="Tomorrow" pitchFamily="34" charset="-122"/>
                <a:cs typeface="Tomorrow" pitchFamily="34" charset="-120"/>
              </a:rPr>
              <a:t>Constitution rejected by 62% — hopes collapse</a:t>
            </a:r>
            <a:endParaRPr lang="en-US" sz="1400" dirty="0"/>
          </a:p>
        </p:txBody>
      </p:sp>
      <p:sp>
        <p:nvSpPr>
          <p:cNvPr id="24" name="Shape 22"/>
          <p:cNvSpPr/>
          <p:nvPr/>
        </p:nvSpPr>
        <p:spPr>
          <a:xfrm>
            <a:off x="6754832" y="4361736"/>
            <a:ext cx="418624" cy="15240"/>
          </a:xfrm>
          <a:prstGeom prst="roundRect">
            <a:avLst>
              <a:gd name="adj" fmla="val 137370"/>
            </a:avLst>
          </a:prstGeom>
          <a:solidFill>
            <a:srgbClr val="555553"/>
          </a:solidFill>
          <a:ln/>
        </p:spPr>
        <p:txBody>
          <a:bodyPr/>
          <a:lstStyle/>
          <a:p>
            <a:endParaRPr lang="es-AR" sz="2800"/>
          </a:p>
        </p:txBody>
      </p:sp>
      <p:sp>
        <p:nvSpPr>
          <p:cNvPr id="25" name="Shape 23"/>
          <p:cNvSpPr/>
          <p:nvPr/>
        </p:nvSpPr>
        <p:spPr>
          <a:xfrm>
            <a:off x="7158216" y="4212431"/>
            <a:ext cx="313968" cy="313968"/>
          </a:xfrm>
          <a:prstGeom prst="roundRect">
            <a:avLst>
              <a:gd name="adj" fmla="val 6668"/>
            </a:avLst>
          </a:prstGeom>
          <a:solidFill>
            <a:srgbClr val="3C3C3A"/>
          </a:solidFill>
          <a:ln/>
        </p:spPr>
        <p:txBody>
          <a:bodyPr/>
          <a:lstStyle/>
          <a:p>
            <a:endParaRPr lang="es-AR" sz="2000"/>
          </a:p>
        </p:txBody>
      </p:sp>
      <p:sp>
        <p:nvSpPr>
          <p:cNvPr id="26" name="Text 24"/>
          <p:cNvSpPr/>
          <p:nvPr/>
        </p:nvSpPr>
        <p:spPr>
          <a:xfrm>
            <a:off x="7218163" y="4306549"/>
            <a:ext cx="209312" cy="261580"/>
          </a:xfrm>
          <a:prstGeom prst="rect">
            <a:avLst/>
          </a:prstGeom>
          <a:noFill/>
          <a:ln/>
        </p:spPr>
        <p:txBody>
          <a:bodyPr wrap="none" lIns="0" tIns="0" rIns="0" bIns="0" rtlCol="0" anchor="t"/>
          <a:lstStyle/>
          <a:p>
            <a:pPr marL="0" indent="0" algn="ctr">
              <a:lnSpc>
                <a:spcPts val="1600"/>
              </a:lnSpc>
              <a:buNone/>
            </a:pPr>
            <a:r>
              <a:rPr lang="en-US" dirty="0">
                <a:solidFill>
                  <a:srgbClr val="C9C9C0"/>
                </a:solidFill>
                <a:latin typeface="Tomorrow Semi Bold" pitchFamily="34" charset="0"/>
                <a:ea typeface="Tomorrow Semi Bold" pitchFamily="34" charset="-122"/>
                <a:cs typeface="Tomorrow Semi Bold" pitchFamily="34" charset="-120"/>
              </a:rPr>
              <a:t>5</a:t>
            </a:r>
            <a:endParaRPr lang="en-US" dirty="0"/>
          </a:p>
        </p:txBody>
      </p:sp>
      <p:sp>
        <p:nvSpPr>
          <p:cNvPr id="27" name="Text 25"/>
          <p:cNvSpPr/>
          <p:nvPr/>
        </p:nvSpPr>
        <p:spPr>
          <a:xfrm>
            <a:off x="4872871" y="4260294"/>
            <a:ext cx="1744504" cy="218003"/>
          </a:xfrm>
          <a:prstGeom prst="rect">
            <a:avLst/>
          </a:prstGeom>
          <a:noFill/>
          <a:ln/>
        </p:spPr>
        <p:txBody>
          <a:bodyPr wrap="none" lIns="0" tIns="0" rIns="0" bIns="0" rtlCol="0" anchor="t"/>
          <a:lstStyle/>
          <a:p>
            <a:pPr marL="0" indent="0" algn="r">
              <a:lnSpc>
                <a:spcPts val="1700"/>
              </a:lnSpc>
              <a:buNone/>
            </a:pPr>
            <a:r>
              <a:rPr lang="en-US" dirty="0">
                <a:solidFill>
                  <a:srgbClr val="C9C9C0"/>
                </a:solidFill>
                <a:latin typeface="Tomorrow Semi Bold" pitchFamily="34" charset="0"/>
                <a:ea typeface="Tomorrow Semi Bold" pitchFamily="34" charset="-122"/>
                <a:cs typeface="Tomorrow Semi Bold" pitchFamily="34" charset="-120"/>
              </a:rPr>
              <a:t>Late 2022</a:t>
            </a:r>
            <a:endParaRPr lang="en-US" dirty="0"/>
          </a:p>
        </p:txBody>
      </p:sp>
      <p:sp>
        <p:nvSpPr>
          <p:cNvPr id="28" name="Text 26"/>
          <p:cNvSpPr/>
          <p:nvPr/>
        </p:nvSpPr>
        <p:spPr>
          <a:xfrm>
            <a:off x="488394" y="4561999"/>
            <a:ext cx="6128980" cy="223242"/>
          </a:xfrm>
          <a:prstGeom prst="rect">
            <a:avLst/>
          </a:prstGeom>
          <a:noFill/>
          <a:ln/>
        </p:spPr>
        <p:txBody>
          <a:bodyPr wrap="none" lIns="0" tIns="0" rIns="0" bIns="0" rtlCol="0" anchor="t"/>
          <a:lstStyle/>
          <a:p>
            <a:pPr marL="0" indent="0" algn="r">
              <a:lnSpc>
                <a:spcPts val="1750"/>
              </a:lnSpc>
              <a:buNone/>
            </a:pPr>
            <a:r>
              <a:rPr lang="en-US" sz="1400" dirty="0">
                <a:solidFill>
                  <a:srgbClr val="C9C9C0"/>
                </a:solidFill>
                <a:latin typeface="Tomorrow" pitchFamily="34" charset="0"/>
                <a:ea typeface="Tomorrow" pitchFamily="34" charset="-122"/>
                <a:cs typeface="Tomorrow" pitchFamily="34" charset="-120"/>
              </a:rPr>
              <a:t>Pragmatic pivot to experienced politicians stabilizes but alienates base</a:t>
            </a:r>
            <a:endParaRPr lang="en-US" sz="1400" dirty="0"/>
          </a:p>
        </p:txBody>
      </p:sp>
      <p:sp>
        <p:nvSpPr>
          <p:cNvPr id="29" name="Shape 27"/>
          <p:cNvSpPr/>
          <p:nvPr/>
        </p:nvSpPr>
        <p:spPr>
          <a:xfrm>
            <a:off x="488394" y="5533787"/>
            <a:ext cx="13653611" cy="1047988"/>
          </a:xfrm>
          <a:prstGeom prst="roundRect">
            <a:avLst>
              <a:gd name="adj" fmla="val 1720"/>
            </a:avLst>
          </a:prstGeom>
          <a:solidFill>
            <a:srgbClr val="272725"/>
          </a:solidFill>
          <a:ln/>
        </p:spPr>
        <p:txBody>
          <a:bodyPr/>
          <a:lstStyle/>
          <a:p>
            <a:endParaRPr lang="es-AR" sz="2800"/>
          </a:p>
        </p:txBody>
      </p:sp>
      <p:pic>
        <p:nvPicPr>
          <p:cNvPr id="30" name="Image 0" descr="preencoded.png"/>
          <p:cNvPicPr>
            <a:picLocks noChangeAspect="1"/>
          </p:cNvPicPr>
          <p:nvPr/>
        </p:nvPicPr>
        <p:blipFill>
          <a:blip r:embed="rId3"/>
          <a:stretch>
            <a:fillRect/>
          </a:stretch>
        </p:blipFill>
        <p:spPr>
          <a:xfrm>
            <a:off x="627936" y="5738336"/>
            <a:ext cx="261580" cy="209312"/>
          </a:xfrm>
          <a:prstGeom prst="rect">
            <a:avLst/>
          </a:prstGeom>
        </p:spPr>
      </p:pic>
      <p:sp>
        <p:nvSpPr>
          <p:cNvPr id="32" name="Text 29"/>
          <p:cNvSpPr/>
          <p:nvPr/>
        </p:nvSpPr>
        <p:spPr>
          <a:xfrm>
            <a:off x="985480" y="5713421"/>
            <a:ext cx="12973407" cy="446484"/>
          </a:xfrm>
          <a:prstGeom prst="rect">
            <a:avLst/>
          </a:prstGeom>
          <a:noFill/>
          <a:ln/>
        </p:spPr>
        <p:txBody>
          <a:bodyPr wrap="square" lIns="0" tIns="0" rIns="0" bIns="0" rtlCol="0" anchor="t"/>
          <a:lstStyle/>
          <a:p>
            <a:pPr marL="0" indent="0" algn="l">
              <a:lnSpc>
                <a:spcPct val="150000"/>
              </a:lnSpc>
              <a:buNone/>
            </a:pPr>
            <a:r>
              <a:rPr lang="en-US" sz="1400" b="1" dirty="0">
                <a:solidFill>
                  <a:srgbClr val="FFFFFF"/>
                </a:solidFill>
                <a:latin typeface="Tomorrow" pitchFamily="34" charset="0"/>
                <a:ea typeface="Tomorrow" pitchFamily="34" charset="-122"/>
                <a:cs typeface="Tomorrow" pitchFamily="34" charset="-120"/>
              </a:rPr>
              <a:t>Political innovation without organizational backbone breeds volatility.</a:t>
            </a:r>
            <a:r>
              <a:rPr lang="en-US" sz="1400" dirty="0">
                <a:solidFill>
                  <a:srgbClr val="FFFFFF"/>
                </a:solidFill>
                <a:latin typeface="Tomorrow" pitchFamily="34" charset="0"/>
                <a:ea typeface="Tomorrow" pitchFamily="34" charset="-122"/>
                <a:cs typeface="Tomorrow" pitchFamily="34" charset="-120"/>
              </a:rPr>
              <a:t> Parties once derided as obsolete re-emerged as necessary for stability. Yet in the process, citizens grew profoundly disillusioned.</a:t>
            </a:r>
            <a:endParaRPr lang="en-US" sz="1400" dirty="0"/>
          </a:p>
        </p:txBody>
      </p:sp>
      <p:sp>
        <p:nvSpPr>
          <p:cNvPr id="33" name="Text 30"/>
          <p:cNvSpPr/>
          <p:nvPr/>
        </p:nvSpPr>
        <p:spPr>
          <a:xfrm>
            <a:off x="496014" y="6744668"/>
            <a:ext cx="13653611" cy="1047988"/>
          </a:xfrm>
          <a:prstGeom prst="rect">
            <a:avLst/>
          </a:prstGeom>
          <a:noFill/>
          <a:ln/>
        </p:spPr>
        <p:txBody>
          <a:bodyPr wrap="square" lIns="0" tIns="0" rIns="0" bIns="0" rtlCol="0" anchor="t"/>
          <a:lstStyle/>
          <a:p>
            <a:pPr marL="0" indent="0" algn="l">
              <a:lnSpc>
                <a:spcPct val="150000"/>
              </a:lnSpc>
              <a:buNone/>
            </a:pPr>
            <a:r>
              <a:rPr lang="en-US" sz="1400" dirty="0">
                <a:solidFill>
                  <a:srgbClr val="C9C9C0"/>
                </a:solidFill>
                <a:latin typeface="Tomorrow" pitchFamily="34" charset="0"/>
                <a:ea typeface="Tomorrow" pitchFamily="34" charset="-122"/>
                <a:cs typeface="Tomorrow" pitchFamily="34" charset="-120"/>
              </a:rPr>
              <a:t>Early missteps by ministers, internal rivalries, and inconsistent messaging revealed that </a:t>
            </a:r>
            <a:r>
              <a:rPr lang="en-US" sz="1400" b="1" dirty="0">
                <a:solidFill>
                  <a:srgbClr val="C9C9C0"/>
                </a:solidFill>
                <a:latin typeface="Tomorrow" pitchFamily="34" charset="0"/>
              </a:rPr>
              <a:t>moral legitimacy cannot replace bureaucratic competence</a:t>
            </a:r>
            <a:r>
              <a:rPr lang="en-US" sz="1400" dirty="0">
                <a:solidFill>
                  <a:srgbClr val="C9C9C0"/>
                </a:solidFill>
                <a:latin typeface="Tomorrow" pitchFamily="34" charset="0"/>
                <a:ea typeface="Tomorrow" pitchFamily="34" charset="-122"/>
                <a:cs typeface="Tomorrow" pitchFamily="34" charset="-120"/>
              </a:rPr>
              <a:t>. When the constitutional process collapsed, Boric had to turn to the older, more experienced </a:t>
            </a:r>
            <a:r>
              <a:rPr lang="en-US" sz="1400" i="1" dirty="0">
                <a:solidFill>
                  <a:srgbClr val="C9C9C0"/>
                </a:solidFill>
                <a:latin typeface="Tomorrow" pitchFamily="34" charset="0"/>
                <a:ea typeface="Tomorrow" pitchFamily="34" charset="-122"/>
                <a:cs typeface="Tomorrow" pitchFamily="34" charset="-120"/>
              </a:rPr>
              <a:t>Socialismo Democrático</a:t>
            </a:r>
            <a:r>
              <a:rPr lang="en-US" sz="1400" dirty="0">
                <a:solidFill>
                  <a:srgbClr val="C9C9C0"/>
                </a:solidFill>
                <a:latin typeface="Tomorrow" pitchFamily="34" charset="0"/>
                <a:ea typeface="Tomorrow" pitchFamily="34" charset="-122"/>
                <a:cs typeface="Tomorrow" pitchFamily="34" charset="-120"/>
              </a:rPr>
              <a:t> parties — the very establishment his generation sought to transcend.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38" name="Shape 6">
            <a:extLst>
              <a:ext uri="{FF2B5EF4-FFF2-40B4-BE49-F238E27FC236}">
                <a16:creationId xmlns:a16="http://schemas.microsoft.com/office/drawing/2014/main" id="{3F3AE505-0FE7-7E26-410F-D3B6B38CA000}"/>
              </a:ext>
            </a:extLst>
          </p:cNvPr>
          <p:cNvSpPr/>
          <p:nvPr/>
        </p:nvSpPr>
        <p:spPr>
          <a:xfrm>
            <a:off x="3786842" y="4568509"/>
            <a:ext cx="6918365" cy="1470921"/>
          </a:xfrm>
          <a:prstGeom prst="roundRect">
            <a:avLst>
              <a:gd name="adj" fmla="val 1813"/>
            </a:avLst>
          </a:prstGeom>
          <a:solidFill>
            <a:srgbClr val="3C3C3A"/>
          </a:solidFill>
          <a:ln/>
        </p:spPr>
        <p:txBody>
          <a:bodyPr/>
          <a:lstStyle/>
          <a:p>
            <a:pPr algn="ctr"/>
            <a:endParaRPr lang="es-AR" sz="4000"/>
          </a:p>
        </p:txBody>
      </p:sp>
      <p:sp>
        <p:nvSpPr>
          <p:cNvPr id="36" name="Shape 6">
            <a:extLst>
              <a:ext uri="{FF2B5EF4-FFF2-40B4-BE49-F238E27FC236}">
                <a16:creationId xmlns:a16="http://schemas.microsoft.com/office/drawing/2014/main" id="{7F8AB374-CDFD-8FBA-F55C-0062AB9C96AE}"/>
              </a:ext>
            </a:extLst>
          </p:cNvPr>
          <p:cNvSpPr/>
          <p:nvPr/>
        </p:nvSpPr>
        <p:spPr>
          <a:xfrm>
            <a:off x="400995" y="2803738"/>
            <a:ext cx="6918365" cy="1470921"/>
          </a:xfrm>
          <a:prstGeom prst="roundRect">
            <a:avLst>
              <a:gd name="adj" fmla="val 1813"/>
            </a:avLst>
          </a:prstGeom>
          <a:solidFill>
            <a:srgbClr val="3C3C3A"/>
          </a:solidFill>
          <a:ln/>
        </p:spPr>
        <p:txBody>
          <a:bodyPr/>
          <a:lstStyle/>
          <a:p>
            <a:pPr algn="ctr"/>
            <a:endParaRPr lang="es-AR" sz="4000"/>
          </a:p>
        </p:txBody>
      </p:sp>
      <p:sp>
        <p:nvSpPr>
          <p:cNvPr id="37" name="Shape 10">
            <a:extLst>
              <a:ext uri="{FF2B5EF4-FFF2-40B4-BE49-F238E27FC236}">
                <a16:creationId xmlns:a16="http://schemas.microsoft.com/office/drawing/2014/main" id="{44CB4D52-47C9-CD09-D5D9-2601666FE014}"/>
              </a:ext>
            </a:extLst>
          </p:cNvPr>
          <p:cNvSpPr/>
          <p:nvPr/>
        </p:nvSpPr>
        <p:spPr>
          <a:xfrm>
            <a:off x="7349840" y="2795846"/>
            <a:ext cx="6918365" cy="1472184"/>
          </a:xfrm>
          <a:prstGeom prst="rect">
            <a:avLst/>
          </a:prstGeom>
          <a:solidFill>
            <a:srgbClr val="3C3C3A"/>
          </a:solidFill>
          <a:ln/>
        </p:spPr>
        <p:txBody>
          <a:bodyPr/>
          <a:lstStyle/>
          <a:p>
            <a:pPr algn="ctr"/>
            <a:endParaRPr lang="es-AR" sz="4000"/>
          </a:p>
        </p:txBody>
      </p:sp>
      <p:sp>
        <p:nvSpPr>
          <p:cNvPr id="2" name="Text 0"/>
          <p:cNvSpPr/>
          <p:nvPr/>
        </p:nvSpPr>
        <p:spPr>
          <a:xfrm>
            <a:off x="396835" y="311825"/>
            <a:ext cx="6570583"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Comparative Reflection: Two Paths, One Crisis</a:t>
            </a:r>
            <a:endParaRPr lang="en-US" sz="2200" dirty="0"/>
          </a:p>
        </p:txBody>
      </p:sp>
      <p:sp>
        <p:nvSpPr>
          <p:cNvPr id="9" name="Shape 6"/>
          <p:cNvSpPr/>
          <p:nvPr/>
        </p:nvSpPr>
        <p:spPr>
          <a:xfrm>
            <a:off x="381595" y="1171673"/>
            <a:ext cx="6918365" cy="1470921"/>
          </a:xfrm>
          <a:prstGeom prst="roundRect">
            <a:avLst>
              <a:gd name="adj" fmla="val 1813"/>
            </a:avLst>
          </a:prstGeom>
          <a:solidFill>
            <a:srgbClr val="3C3C3A"/>
          </a:solidFill>
          <a:ln/>
        </p:spPr>
        <p:txBody>
          <a:bodyPr/>
          <a:lstStyle/>
          <a:p>
            <a:pPr algn="ctr"/>
            <a:endParaRPr lang="es-AR" sz="4000"/>
          </a:p>
        </p:txBody>
      </p:sp>
      <p:sp>
        <p:nvSpPr>
          <p:cNvPr id="10" name="Text 7"/>
          <p:cNvSpPr/>
          <p:nvPr/>
        </p:nvSpPr>
        <p:spPr>
          <a:xfrm>
            <a:off x="2990194" y="1501898"/>
            <a:ext cx="1701165" cy="212646"/>
          </a:xfrm>
          <a:prstGeom prst="rect">
            <a:avLst/>
          </a:prstGeom>
          <a:noFill/>
          <a:ln/>
        </p:spPr>
        <p:txBody>
          <a:bodyPr wrap="none" lIns="0" tIns="0" rIns="0" bIns="0" rtlCol="0" anchor="t"/>
          <a:lstStyle/>
          <a:p>
            <a:pPr marL="0" indent="0" algn="ctr">
              <a:lnSpc>
                <a:spcPts val="1650"/>
              </a:lnSpc>
              <a:buNone/>
            </a:pPr>
            <a:r>
              <a:rPr lang="en-US" sz="2800" dirty="0">
                <a:solidFill>
                  <a:srgbClr val="C9C9C0"/>
                </a:solidFill>
                <a:latin typeface="Tomorrow Semi Bold" pitchFamily="34" charset="0"/>
                <a:ea typeface="Tomorrow Semi Bold" pitchFamily="34" charset="-122"/>
                <a:cs typeface="Tomorrow Semi Bold" pitchFamily="34" charset="-120"/>
              </a:rPr>
              <a:t>Party System</a:t>
            </a:r>
            <a:endParaRPr lang="en-US" sz="2800" dirty="0"/>
          </a:p>
        </p:txBody>
      </p:sp>
      <p:sp>
        <p:nvSpPr>
          <p:cNvPr id="11" name="Text 8"/>
          <p:cNvSpPr/>
          <p:nvPr/>
        </p:nvSpPr>
        <p:spPr>
          <a:xfrm>
            <a:off x="494943" y="1932288"/>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Brazil:</a:t>
            </a:r>
            <a:r>
              <a:rPr lang="en-US" sz="1400" dirty="0">
                <a:solidFill>
                  <a:srgbClr val="C9C9C0"/>
                </a:solidFill>
                <a:latin typeface="Tomorrow" pitchFamily="34" charset="0"/>
                <a:ea typeface="Tomorrow" pitchFamily="34" charset="-122"/>
                <a:cs typeface="Tomorrow" pitchFamily="34" charset="-120"/>
              </a:rPr>
              <a:t> Hyper-fragmented, with only PT retaining coherence</a:t>
            </a:r>
            <a:endParaRPr lang="en-US" sz="1400" dirty="0"/>
          </a:p>
        </p:txBody>
      </p:sp>
      <p:sp>
        <p:nvSpPr>
          <p:cNvPr id="12" name="Text 9"/>
          <p:cNvSpPr/>
          <p:nvPr/>
        </p:nvSpPr>
        <p:spPr>
          <a:xfrm>
            <a:off x="494943" y="2363175"/>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Chile:</a:t>
            </a:r>
            <a:r>
              <a:rPr lang="en-US" sz="1400" dirty="0">
                <a:solidFill>
                  <a:srgbClr val="C9C9C0"/>
                </a:solidFill>
                <a:latin typeface="Tomorrow" pitchFamily="34" charset="0"/>
                <a:ea typeface="Tomorrow" pitchFamily="34" charset="-122"/>
                <a:cs typeface="Tomorrow" pitchFamily="34" charset="-120"/>
              </a:rPr>
              <a:t> Collapsing, replaced by independents and movement parties</a:t>
            </a:r>
            <a:endParaRPr lang="en-US" sz="1400" dirty="0"/>
          </a:p>
        </p:txBody>
      </p:sp>
      <p:sp>
        <p:nvSpPr>
          <p:cNvPr id="13" name="Shape 10"/>
          <p:cNvSpPr/>
          <p:nvPr/>
        </p:nvSpPr>
        <p:spPr>
          <a:xfrm>
            <a:off x="7330440" y="1163781"/>
            <a:ext cx="6918365" cy="1472184"/>
          </a:xfrm>
          <a:prstGeom prst="rect">
            <a:avLst/>
          </a:prstGeom>
          <a:solidFill>
            <a:srgbClr val="3C3C3A"/>
          </a:solidFill>
          <a:ln/>
        </p:spPr>
        <p:txBody>
          <a:bodyPr/>
          <a:lstStyle/>
          <a:p>
            <a:pPr algn="ctr"/>
            <a:endParaRPr lang="es-AR" sz="4000"/>
          </a:p>
        </p:txBody>
      </p:sp>
      <p:sp>
        <p:nvSpPr>
          <p:cNvPr id="14" name="Text 11"/>
          <p:cNvSpPr/>
          <p:nvPr/>
        </p:nvSpPr>
        <p:spPr>
          <a:xfrm>
            <a:off x="9985772" y="1501898"/>
            <a:ext cx="1730812" cy="212646"/>
          </a:xfrm>
          <a:prstGeom prst="rect">
            <a:avLst/>
          </a:prstGeom>
          <a:noFill/>
          <a:ln/>
        </p:spPr>
        <p:txBody>
          <a:bodyPr wrap="none" lIns="0" tIns="0" rIns="0" bIns="0" rtlCol="0" anchor="t"/>
          <a:lstStyle/>
          <a:p>
            <a:pPr marL="0" indent="0" algn="ctr">
              <a:lnSpc>
                <a:spcPts val="1650"/>
              </a:lnSpc>
              <a:buNone/>
            </a:pPr>
            <a:r>
              <a:rPr lang="en-US" sz="2800" dirty="0">
                <a:solidFill>
                  <a:srgbClr val="C9C9C0"/>
                </a:solidFill>
                <a:latin typeface="Tomorrow Semi Bold" pitchFamily="34" charset="0"/>
                <a:ea typeface="Tomorrow Semi Bold" pitchFamily="34" charset="-122"/>
                <a:cs typeface="Tomorrow Semi Bold" pitchFamily="34" charset="-120"/>
              </a:rPr>
              <a:t>Form of Polarization</a:t>
            </a:r>
            <a:endParaRPr lang="en-US" sz="2800" dirty="0"/>
          </a:p>
        </p:txBody>
      </p:sp>
      <p:sp>
        <p:nvSpPr>
          <p:cNvPr id="15" name="Text 12"/>
          <p:cNvSpPr/>
          <p:nvPr/>
        </p:nvSpPr>
        <p:spPr>
          <a:xfrm>
            <a:off x="7443788" y="1898980"/>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Brazil:</a:t>
            </a:r>
            <a:r>
              <a:rPr lang="en-US" sz="1400" dirty="0">
                <a:solidFill>
                  <a:srgbClr val="C9C9C0"/>
                </a:solidFill>
                <a:latin typeface="Tomorrow" pitchFamily="34" charset="0"/>
                <a:ea typeface="Tomorrow" pitchFamily="34" charset="-122"/>
                <a:cs typeface="Tomorrow" pitchFamily="34" charset="-120"/>
              </a:rPr>
              <a:t> Bipolar personalization (Lula vs. Bolsonaro)</a:t>
            </a:r>
            <a:endParaRPr lang="en-US" sz="1400" dirty="0"/>
          </a:p>
        </p:txBody>
      </p:sp>
      <p:sp>
        <p:nvSpPr>
          <p:cNvPr id="16" name="Text 13"/>
          <p:cNvSpPr/>
          <p:nvPr/>
        </p:nvSpPr>
        <p:spPr>
          <a:xfrm>
            <a:off x="7443788" y="2347793"/>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Chile:</a:t>
            </a:r>
            <a:r>
              <a:rPr lang="en-US" sz="1400" dirty="0">
                <a:solidFill>
                  <a:srgbClr val="C9C9C0"/>
                </a:solidFill>
                <a:latin typeface="Tomorrow" pitchFamily="34" charset="0"/>
                <a:ea typeface="Tomorrow" pitchFamily="34" charset="-122"/>
                <a:cs typeface="Tomorrow" pitchFamily="34" charset="-120"/>
              </a:rPr>
              <a:t> Institutional overreach and disconnection</a:t>
            </a:r>
            <a:endParaRPr lang="en-US" sz="1400" dirty="0"/>
          </a:p>
        </p:txBody>
      </p:sp>
      <p:sp>
        <p:nvSpPr>
          <p:cNvPr id="18" name="Text 15"/>
          <p:cNvSpPr/>
          <p:nvPr/>
        </p:nvSpPr>
        <p:spPr>
          <a:xfrm>
            <a:off x="2990195" y="3000160"/>
            <a:ext cx="1701165" cy="212646"/>
          </a:xfrm>
          <a:prstGeom prst="rect">
            <a:avLst/>
          </a:prstGeom>
          <a:noFill/>
          <a:ln/>
        </p:spPr>
        <p:txBody>
          <a:bodyPr wrap="none" lIns="0" tIns="0" rIns="0" bIns="0" rtlCol="0" anchor="t"/>
          <a:lstStyle/>
          <a:p>
            <a:pPr marL="0" indent="0" algn="ctr">
              <a:lnSpc>
                <a:spcPts val="1650"/>
              </a:lnSpc>
              <a:buNone/>
            </a:pPr>
            <a:r>
              <a:rPr lang="en-US" sz="2800" dirty="0">
                <a:solidFill>
                  <a:srgbClr val="C9C9C0"/>
                </a:solidFill>
                <a:latin typeface="Tomorrow Semi Bold" pitchFamily="34" charset="0"/>
                <a:ea typeface="Tomorrow Semi Bold" pitchFamily="34" charset="-122"/>
                <a:cs typeface="Tomorrow Semi Bold" pitchFamily="34" charset="-120"/>
              </a:rPr>
              <a:t>Governance Mode</a:t>
            </a:r>
            <a:endParaRPr lang="en-US" sz="2800" dirty="0"/>
          </a:p>
        </p:txBody>
      </p:sp>
      <p:sp>
        <p:nvSpPr>
          <p:cNvPr id="19" name="Text 16"/>
          <p:cNvSpPr/>
          <p:nvPr/>
        </p:nvSpPr>
        <p:spPr>
          <a:xfrm>
            <a:off x="494943" y="3263384"/>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Brazil:</a:t>
            </a:r>
            <a:r>
              <a:rPr lang="en-US" sz="1400" dirty="0">
                <a:solidFill>
                  <a:srgbClr val="C9C9C0"/>
                </a:solidFill>
                <a:latin typeface="Tomorrow" pitchFamily="34" charset="0"/>
                <a:ea typeface="Tomorrow" pitchFamily="34" charset="-122"/>
                <a:cs typeface="Tomorrow" pitchFamily="34" charset="-120"/>
              </a:rPr>
              <a:t> Transactional and clientelistic (Centrão)</a:t>
            </a:r>
            <a:endParaRPr lang="en-US" sz="1400" dirty="0"/>
          </a:p>
        </p:txBody>
      </p:sp>
      <p:sp>
        <p:nvSpPr>
          <p:cNvPr id="20" name="Text 17"/>
          <p:cNvSpPr/>
          <p:nvPr/>
        </p:nvSpPr>
        <p:spPr>
          <a:xfrm>
            <a:off x="494943" y="3512820"/>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Chile:</a:t>
            </a:r>
            <a:r>
              <a:rPr lang="en-US" sz="1400" dirty="0">
                <a:solidFill>
                  <a:srgbClr val="C9C9C0"/>
                </a:solidFill>
                <a:latin typeface="Tomorrow" pitchFamily="34" charset="0"/>
                <a:ea typeface="Tomorrow" pitchFamily="34" charset="-122"/>
                <a:cs typeface="Tomorrow" pitchFamily="34" charset="-120"/>
              </a:rPr>
              <a:t> Moral and generational (Frente Amplio)</a:t>
            </a:r>
            <a:endParaRPr lang="en-US" sz="1400" dirty="0"/>
          </a:p>
        </p:txBody>
      </p:sp>
      <p:sp>
        <p:nvSpPr>
          <p:cNvPr id="22" name="Text 19"/>
          <p:cNvSpPr/>
          <p:nvPr/>
        </p:nvSpPr>
        <p:spPr>
          <a:xfrm>
            <a:off x="9931836" y="3002508"/>
            <a:ext cx="1715572" cy="212646"/>
          </a:xfrm>
          <a:prstGeom prst="rect">
            <a:avLst/>
          </a:prstGeom>
          <a:noFill/>
          <a:ln/>
        </p:spPr>
        <p:txBody>
          <a:bodyPr wrap="none" lIns="0" tIns="0" rIns="0" bIns="0" rtlCol="0" anchor="t"/>
          <a:lstStyle/>
          <a:p>
            <a:pPr marL="0" indent="0" algn="ctr">
              <a:lnSpc>
                <a:spcPts val="1650"/>
              </a:lnSpc>
              <a:buNone/>
            </a:pPr>
            <a:r>
              <a:rPr lang="en-US" sz="2800" dirty="0">
                <a:solidFill>
                  <a:srgbClr val="C9C9C0"/>
                </a:solidFill>
                <a:latin typeface="Tomorrow Semi Bold" pitchFamily="34" charset="0"/>
                <a:ea typeface="Tomorrow Semi Bold" pitchFamily="34" charset="-122"/>
                <a:cs typeface="Tomorrow Semi Bold" pitchFamily="34" charset="-120"/>
              </a:rPr>
              <a:t>Citizen Relationship</a:t>
            </a:r>
            <a:endParaRPr lang="en-US" sz="2800" dirty="0"/>
          </a:p>
        </p:txBody>
      </p:sp>
      <p:sp>
        <p:nvSpPr>
          <p:cNvPr id="23" name="Text 20"/>
          <p:cNvSpPr/>
          <p:nvPr/>
        </p:nvSpPr>
        <p:spPr>
          <a:xfrm>
            <a:off x="7471670" y="3583533"/>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Brazil:</a:t>
            </a:r>
            <a:r>
              <a:rPr lang="en-US" sz="1400" dirty="0">
                <a:solidFill>
                  <a:srgbClr val="C9C9C0"/>
                </a:solidFill>
                <a:latin typeface="Tomorrow" pitchFamily="34" charset="0"/>
                <a:ea typeface="Tomorrow" pitchFamily="34" charset="-122"/>
                <a:cs typeface="Tomorrow" pitchFamily="34" charset="-120"/>
              </a:rPr>
              <a:t> Affective partisanship anchored in memory</a:t>
            </a:r>
            <a:endParaRPr lang="en-US" sz="1400" dirty="0"/>
          </a:p>
        </p:txBody>
      </p:sp>
      <p:sp>
        <p:nvSpPr>
          <p:cNvPr id="24" name="Text 21"/>
          <p:cNvSpPr/>
          <p:nvPr/>
        </p:nvSpPr>
        <p:spPr>
          <a:xfrm>
            <a:off x="7537735" y="3996354"/>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Chile:</a:t>
            </a:r>
            <a:r>
              <a:rPr lang="en-US" sz="1400" dirty="0">
                <a:solidFill>
                  <a:srgbClr val="C9C9C0"/>
                </a:solidFill>
                <a:latin typeface="Tomorrow" pitchFamily="34" charset="0"/>
                <a:ea typeface="Tomorrow" pitchFamily="34" charset="-122"/>
                <a:cs typeface="Tomorrow" pitchFamily="34" charset="-120"/>
              </a:rPr>
              <a:t> Participatory fatigue and disappointment</a:t>
            </a:r>
            <a:endParaRPr lang="en-US" sz="1400" dirty="0"/>
          </a:p>
        </p:txBody>
      </p:sp>
      <p:sp>
        <p:nvSpPr>
          <p:cNvPr id="26" name="Text 23"/>
          <p:cNvSpPr/>
          <p:nvPr/>
        </p:nvSpPr>
        <p:spPr>
          <a:xfrm>
            <a:off x="6326266" y="4979361"/>
            <a:ext cx="1701165" cy="212646"/>
          </a:xfrm>
          <a:prstGeom prst="rect">
            <a:avLst/>
          </a:prstGeom>
          <a:noFill/>
          <a:ln/>
        </p:spPr>
        <p:txBody>
          <a:bodyPr wrap="none" lIns="0" tIns="0" rIns="0" bIns="0" rtlCol="0" anchor="t"/>
          <a:lstStyle/>
          <a:p>
            <a:pPr marL="0" indent="0" algn="ctr">
              <a:lnSpc>
                <a:spcPts val="1650"/>
              </a:lnSpc>
              <a:buNone/>
            </a:pPr>
            <a:r>
              <a:rPr lang="en-US" sz="2800" dirty="0">
                <a:solidFill>
                  <a:srgbClr val="C9C9C0"/>
                </a:solidFill>
                <a:latin typeface="Tomorrow Semi Bold" pitchFamily="34" charset="0"/>
                <a:ea typeface="Tomorrow Semi Bold" pitchFamily="34" charset="-122"/>
                <a:cs typeface="Tomorrow Semi Bold" pitchFamily="34" charset="-120"/>
              </a:rPr>
              <a:t>Outcome</a:t>
            </a:r>
            <a:endParaRPr lang="en-US" sz="2800" dirty="0"/>
          </a:p>
        </p:txBody>
      </p:sp>
      <p:sp>
        <p:nvSpPr>
          <p:cNvPr id="27" name="Text 24"/>
          <p:cNvSpPr/>
          <p:nvPr/>
        </p:nvSpPr>
        <p:spPr>
          <a:xfrm>
            <a:off x="3840778" y="5259991"/>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Brazil:</a:t>
            </a:r>
            <a:r>
              <a:rPr lang="en-US" sz="1400" dirty="0">
                <a:solidFill>
                  <a:srgbClr val="C9C9C0"/>
                </a:solidFill>
                <a:latin typeface="Tomorrow" pitchFamily="34" charset="0"/>
                <a:ea typeface="Tomorrow" pitchFamily="34" charset="-122"/>
                <a:cs typeface="Tomorrow" pitchFamily="34" charset="-120"/>
              </a:rPr>
              <a:t> Competitive democracy with weak governability</a:t>
            </a:r>
            <a:endParaRPr lang="en-US" sz="1400" dirty="0"/>
          </a:p>
        </p:txBody>
      </p:sp>
      <p:sp>
        <p:nvSpPr>
          <p:cNvPr id="28" name="Text 25"/>
          <p:cNvSpPr/>
          <p:nvPr/>
        </p:nvSpPr>
        <p:spPr>
          <a:xfrm>
            <a:off x="3840778" y="5509427"/>
            <a:ext cx="6691670" cy="181451"/>
          </a:xfrm>
          <a:prstGeom prst="rect">
            <a:avLst/>
          </a:prstGeom>
          <a:noFill/>
          <a:ln/>
        </p:spPr>
        <p:txBody>
          <a:bodyPr wrap="none" lIns="0" tIns="0" rIns="0" bIns="0" rtlCol="0" anchor="t"/>
          <a:lstStyle/>
          <a:p>
            <a:pPr marL="0" indent="0" algn="ctr">
              <a:lnSpc>
                <a:spcPts val="1400"/>
              </a:lnSpc>
              <a:buNone/>
            </a:pPr>
            <a:r>
              <a:rPr lang="en-US" sz="1400" b="1" dirty="0">
                <a:solidFill>
                  <a:srgbClr val="C9C9C0"/>
                </a:solidFill>
                <a:latin typeface="Tomorrow" pitchFamily="34" charset="0"/>
                <a:ea typeface="Tomorrow" pitchFamily="34" charset="-122"/>
                <a:cs typeface="Tomorrow" pitchFamily="34" charset="-120"/>
              </a:rPr>
              <a:t>Chile:</a:t>
            </a:r>
            <a:r>
              <a:rPr lang="en-US" sz="1400" dirty="0">
                <a:solidFill>
                  <a:srgbClr val="C9C9C0"/>
                </a:solidFill>
                <a:latin typeface="Tomorrow" pitchFamily="34" charset="0"/>
                <a:ea typeface="Tomorrow" pitchFamily="34" charset="-122"/>
                <a:cs typeface="Tomorrow" pitchFamily="34" charset="-120"/>
              </a:rPr>
              <a:t> Stable democracy with eroded trust</a:t>
            </a:r>
            <a:endParaRPr lang="en-US" sz="1400" dirty="0"/>
          </a:p>
        </p:txBody>
      </p:sp>
      <p:sp>
        <p:nvSpPr>
          <p:cNvPr id="29" name="Text 26"/>
          <p:cNvSpPr/>
          <p:nvPr/>
        </p:nvSpPr>
        <p:spPr>
          <a:xfrm>
            <a:off x="566857" y="6392704"/>
            <a:ext cx="13666708" cy="362903"/>
          </a:xfrm>
          <a:prstGeom prst="rect">
            <a:avLst/>
          </a:prstGeom>
          <a:noFill/>
          <a:ln/>
        </p:spPr>
        <p:txBody>
          <a:bodyPr wrap="square" lIns="0" tIns="0" rIns="0" bIns="0" rtlCol="0" anchor="t"/>
          <a:lstStyle/>
          <a:p>
            <a:pPr marL="0" indent="0" algn="l">
              <a:lnSpc>
                <a:spcPts val="1400"/>
              </a:lnSpc>
              <a:buNone/>
            </a:pPr>
            <a:r>
              <a:rPr lang="en-US" sz="850" dirty="0">
                <a:solidFill>
                  <a:srgbClr val="C9C9C0"/>
                </a:solidFill>
                <a:latin typeface="Tomorrow" pitchFamily="34" charset="0"/>
                <a:ea typeface="Tomorrow" pitchFamily="34" charset="-122"/>
                <a:cs typeface="Tomorrow" pitchFamily="34" charset="-120"/>
              </a:rPr>
              <a:t>In both countries, citizen engagement persists but confidence in representation weakens. When parties lose credibility, citizens seek immediacy — a direct connection to leaders or causes. Yet these personalized or moralized links cannot sustain the long time horizons that governance requires.</a:t>
            </a:r>
            <a:endParaRPr lang="en-US" sz="850" dirty="0"/>
          </a:p>
        </p:txBody>
      </p:sp>
      <p:sp>
        <p:nvSpPr>
          <p:cNvPr id="30" name="Shape 27"/>
          <p:cNvSpPr/>
          <p:nvPr/>
        </p:nvSpPr>
        <p:spPr>
          <a:xfrm>
            <a:off x="396835" y="6265188"/>
            <a:ext cx="15240" cy="617934"/>
          </a:xfrm>
          <a:prstGeom prst="rect">
            <a:avLst/>
          </a:prstGeom>
          <a:solidFill>
            <a:srgbClr val="E1E1DF"/>
          </a:solidFill>
          <a:ln/>
        </p:spPr>
        <p:txBody>
          <a:bodyPr/>
          <a:lstStyle/>
          <a:p>
            <a:endParaRPr lang="es-AR"/>
          </a:p>
        </p:txBody>
      </p:sp>
      <p:sp>
        <p:nvSpPr>
          <p:cNvPr id="31" name="Text 28"/>
          <p:cNvSpPr/>
          <p:nvPr/>
        </p:nvSpPr>
        <p:spPr>
          <a:xfrm>
            <a:off x="396835" y="7123986"/>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EDEDE8"/>
                </a:solidFill>
                <a:latin typeface="Tomorrow Semi Bold" pitchFamily="34" charset="0"/>
                <a:ea typeface="Tomorrow Semi Bold" pitchFamily="34" charset="-122"/>
                <a:cs typeface="Tomorrow Semi Bold" pitchFamily="34" charset="-120"/>
              </a:rPr>
              <a:t>In Brazil</a:t>
            </a:r>
            <a:endParaRPr lang="en-US" sz="1100" dirty="0"/>
          </a:p>
        </p:txBody>
      </p:sp>
      <p:sp>
        <p:nvSpPr>
          <p:cNvPr id="32" name="Text 29"/>
          <p:cNvSpPr/>
          <p:nvPr/>
        </p:nvSpPr>
        <p:spPr>
          <a:xfrm>
            <a:off x="396835" y="7414498"/>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C9C9C0"/>
                </a:solidFill>
                <a:latin typeface="Tomorrow" pitchFamily="34" charset="0"/>
                <a:ea typeface="Tomorrow" pitchFamily="34" charset="-122"/>
                <a:cs typeface="Tomorrow" pitchFamily="34" charset="-120"/>
              </a:rPr>
              <a:t>Populism substitutes for institutions, creating passionate followings without building sustainable governance capacity</a:t>
            </a:r>
            <a:endParaRPr lang="en-US" sz="850" dirty="0"/>
          </a:p>
        </p:txBody>
      </p:sp>
      <p:sp>
        <p:nvSpPr>
          <p:cNvPr id="33" name="Text 30"/>
          <p:cNvSpPr/>
          <p:nvPr/>
        </p:nvSpPr>
        <p:spPr>
          <a:xfrm>
            <a:off x="7461171" y="7123986"/>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EDEDE8"/>
                </a:solidFill>
                <a:latin typeface="Tomorrow Semi Bold" pitchFamily="34" charset="0"/>
                <a:ea typeface="Tomorrow Semi Bold" pitchFamily="34" charset="-122"/>
                <a:cs typeface="Tomorrow Semi Bold" pitchFamily="34" charset="-120"/>
              </a:rPr>
              <a:t>In Chile</a:t>
            </a:r>
            <a:endParaRPr lang="en-US" sz="1100" dirty="0"/>
          </a:p>
        </p:txBody>
      </p:sp>
      <p:sp>
        <p:nvSpPr>
          <p:cNvPr id="34" name="Text 31"/>
          <p:cNvSpPr/>
          <p:nvPr/>
        </p:nvSpPr>
        <p:spPr>
          <a:xfrm>
            <a:off x="7461171" y="7414498"/>
            <a:ext cx="6780014" cy="181451"/>
          </a:xfrm>
          <a:prstGeom prst="rect">
            <a:avLst/>
          </a:prstGeom>
          <a:noFill/>
          <a:ln/>
        </p:spPr>
        <p:txBody>
          <a:bodyPr wrap="none" lIns="0" tIns="0" rIns="0" bIns="0" rtlCol="0" anchor="t"/>
          <a:lstStyle/>
          <a:p>
            <a:pPr marL="0" indent="0" algn="l">
              <a:lnSpc>
                <a:spcPts val="1400"/>
              </a:lnSpc>
              <a:buNone/>
            </a:pPr>
            <a:r>
              <a:rPr lang="en-US" sz="850" dirty="0">
                <a:solidFill>
                  <a:srgbClr val="C9C9C0"/>
                </a:solidFill>
                <a:latin typeface="Tomorrow" pitchFamily="34" charset="0"/>
                <a:ea typeface="Tomorrow" pitchFamily="34" charset="-122"/>
                <a:cs typeface="Tomorrow" pitchFamily="34" charset="-120"/>
              </a:rPr>
              <a:t>Activism exhausts itself without institutional support, leading from revolutionary enthusiasm to managerial pessimism</a:t>
            </a:r>
            <a:endParaRPr lang="en-US" sz="850" dirty="0"/>
          </a:p>
        </p:txBody>
      </p:sp>
      <p:sp>
        <p:nvSpPr>
          <p:cNvPr id="35" name="Text 32"/>
          <p:cNvSpPr/>
          <p:nvPr/>
        </p:nvSpPr>
        <p:spPr>
          <a:xfrm>
            <a:off x="396835" y="7825502"/>
            <a:ext cx="13836729" cy="181451"/>
          </a:xfrm>
          <a:prstGeom prst="rect">
            <a:avLst/>
          </a:prstGeom>
          <a:noFill/>
          <a:ln/>
        </p:spPr>
        <p:txBody>
          <a:bodyPr wrap="none" lIns="0" tIns="0" rIns="0" bIns="0" rtlCol="0" anchor="t"/>
          <a:lstStyle/>
          <a:p>
            <a:pPr marL="0" indent="0" algn="l">
              <a:lnSpc>
                <a:spcPts val="1400"/>
              </a:lnSpc>
              <a:buNone/>
            </a:pPr>
            <a:r>
              <a:rPr lang="en-US" sz="850" dirty="0">
                <a:solidFill>
                  <a:srgbClr val="C9C9C0"/>
                </a:solidFill>
                <a:latin typeface="Tomorrow" pitchFamily="34" charset="0"/>
                <a:ea typeface="Tomorrow" pitchFamily="34" charset="-122"/>
                <a:cs typeface="Tomorrow" pitchFamily="34" charset="-120"/>
              </a:rPr>
              <a:t>Both point to a regional paradox: </a:t>
            </a:r>
            <a:r>
              <a:rPr lang="en-US" sz="850" b="1" dirty="0">
                <a:solidFill>
                  <a:srgbClr val="C9C9C0"/>
                </a:solidFill>
                <a:latin typeface="Tomorrow" pitchFamily="34" charset="0"/>
                <a:ea typeface="Tomorrow" pitchFamily="34" charset="-122"/>
                <a:cs typeface="Tomorrow" pitchFamily="34" charset="-120"/>
              </a:rPr>
              <a:t>citizens continue to believe in democracy as an ideal, but not in its intermediaries</a:t>
            </a:r>
            <a:r>
              <a:rPr lang="en-US" sz="850" dirty="0">
                <a:solidFill>
                  <a:srgbClr val="C9C9C0"/>
                </a:solidFill>
                <a:latin typeface="Tomorrow" pitchFamily="34" charset="0"/>
                <a:ea typeface="Tomorrow" pitchFamily="34" charset="-122"/>
                <a:cs typeface="Tomorrow" pitchFamily="34" charset="-120"/>
              </a:rPr>
              <a: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3035" y="694730"/>
            <a:ext cx="12388453" cy="422315"/>
          </a:xfrm>
          <a:prstGeom prst="rect">
            <a:avLst/>
          </a:prstGeom>
          <a:noFill/>
          <a:ln/>
        </p:spPr>
        <p:txBody>
          <a:bodyPr wrap="none" lIns="0" tIns="0" rIns="0" bIns="0" rtlCol="0" anchor="t"/>
          <a:lstStyle/>
          <a:p>
            <a:pPr marL="0" indent="0" algn="l">
              <a:lnSpc>
                <a:spcPts val="3300"/>
              </a:lnSpc>
              <a:buNone/>
            </a:pPr>
            <a:r>
              <a:rPr lang="en-US" sz="3900" dirty="0">
                <a:solidFill>
                  <a:srgbClr val="EDEDE8"/>
                </a:solidFill>
                <a:latin typeface="Tomorrow Semi Bold" pitchFamily="34" charset="0"/>
                <a:ea typeface="Tomorrow Semi Bold" pitchFamily="34" charset="-122"/>
                <a:cs typeface="Tomorrow Semi Bold" pitchFamily="34" charset="-120"/>
              </a:rPr>
              <a:t>From Representation Crisis to Governance Crisis</a:t>
            </a:r>
            <a:endParaRPr lang="en-US" sz="3900" dirty="0"/>
          </a:p>
        </p:txBody>
      </p:sp>
      <p:sp>
        <p:nvSpPr>
          <p:cNvPr id="4" name="Shape 2"/>
          <p:cNvSpPr/>
          <p:nvPr/>
        </p:nvSpPr>
        <p:spPr>
          <a:xfrm>
            <a:off x="473035" y="1306692"/>
            <a:ext cx="4471273" cy="2160508"/>
          </a:xfrm>
          <a:prstGeom prst="roundRect">
            <a:avLst>
              <a:gd name="adj" fmla="val 938"/>
            </a:avLst>
          </a:prstGeom>
          <a:solidFill>
            <a:srgbClr val="1D1D1B"/>
          </a:solidFill>
          <a:ln w="15240">
            <a:solidFill>
              <a:srgbClr val="555553"/>
            </a:solidFill>
            <a:prstDash val="solid"/>
          </a:ln>
        </p:spPr>
        <p:txBody>
          <a:bodyPr/>
          <a:lstStyle/>
          <a:p>
            <a:endParaRPr lang="es-AR" sz="2800"/>
          </a:p>
        </p:txBody>
      </p:sp>
      <p:sp>
        <p:nvSpPr>
          <p:cNvPr id="5" name="Shape 3"/>
          <p:cNvSpPr/>
          <p:nvPr/>
        </p:nvSpPr>
        <p:spPr>
          <a:xfrm>
            <a:off x="488275" y="1321932"/>
            <a:ext cx="4440793" cy="405408"/>
          </a:xfrm>
          <a:prstGeom prst="roundRect">
            <a:avLst>
              <a:gd name="adj" fmla="val 490"/>
            </a:avLst>
          </a:prstGeom>
          <a:solidFill>
            <a:srgbClr val="3C3C3A"/>
          </a:solidFill>
          <a:ln/>
        </p:spPr>
        <p:txBody>
          <a:bodyPr/>
          <a:lstStyle/>
          <a:p>
            <a:endParaRPr lang="es-AR" sz="2800"/>
          </a:p>
        </p:txBody>
      </p:sp>
      <p:sp>
        <p:nvSpPr>
          <p:cNvPr id="6" name="Text 4"/>
          <p:cNvSpPr/>
          <p:nvPr/>
        </p:nvSpPr>
        <p:spPr>
          <a:xfrm>
            <a:off x="2607350" y="1447768"/>
            <a:ext cx="202644" cy="253365"/>
          </a:xfrm>
          <a:prstGeom prst="rect">
            <a:avLst/>
          </a:prstGeom>
          <a:noFill/>
          <a:ln/>
        </p:spPr>
        <p:txBody>
          <a:bodyPr wrap="none" lIns="0" tIns="0" rIns="0" bIns="0" rtlCol="0" anchor="t"/>
          <a:lstStyle/>
          <a:p>
            <a:pPr marL="0" indent="0" algn="l">
              <a:lnSpc>
                <a:spcPts val="1550"/>
              </a:lnSpc>
              <a:buNone/>
            </a:pPr>
            <a:r>
              <a:rPr lang="en-US" sz="2000" dirty="0">
                <a:solidFill>
                  <a:srgbClr val="C9C9C0"/>
                </a:solidFill>
                <a:latin typeface="Tomorrow Semi Bold" pitchFamily="34" charset="0"/>
                <a:ea typeface="Tomorrow Semi Bold" pitchFamily="34" charset="-122"/>
                <a:cs typeface="Tomorrow Semi Bold" pitchFamily="34" charset="-120"/>
              </a:rPr>
              <a:t>1</a:t>
            </a:r>
            <a:endParaRPr lang="en-US" sz="2000" dirty="0"/>
          </a:p>
        </p:txBody>
      </p:sp>
      <p:sp>
        <p:nvSpPr>
          <p:cNvPr id="7" name="Text 5"/>
          <p:cNvSpPr/>
          <p:nvPr/>
        </p:nvSpPr>
        <p:spPr>
          <a:xfrm>
            <a:off x="623411" y="1862475"/>
            <a:ext cx="1689497"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Citizen Disaffection</a:t>
            </a:r>
            <a:endParaRPr lang="en-US" dirty="0"/>
          </a:p>
        </p:txBody>
      </p:sp>
      <p:sp>
        <p:nvSpPr>
          <p:cNvPr id="9" name="Text 7"/>
          <p:cNvSpPr/>
          <p:nvPr/>
        </p:nvSpPr>
        <p:spPr>
          <a:xfrm>
            <a:off x="623411" y="2219199"/>
            <a:ext cx="4170521" cy="864870"/>
          </a:xfrm>
          <a:prstGeom prst="rect">
            <a:avLst/>
          </a:prstGeom>
          <a:noFill/>
          <a:ln/>
        </p:spPr>
        <p:txBody>
          <a:bodyPr wrap="squar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The gap between expectations and performance widens when party systems fail to translate social diversity into coherent policy. Citizens disengage not from politics itself, but from its institutional forms.</a:t>
            </a:r>
            <a:endParaRPr lang="en-US" sz="1400" dirty="0"/>
          </a:p>
        </p:txBody>
      </p:sp>
      <p:sp>
        <p:nvSpPr>
          <p:cNvPr id="10" name="Shape 8"/>
          <p:cNvSpPr/>
          <p:nvPr/>
        </p:nvSpPr>
        <p:spPr>
          <a:xfrm>
            <a:off x="5079444" y="1306692"/>
            <a:ext cx="4471392" cy="2160508"/>
          </a:xfrm>
          <a:prstGeom prst="roundRect">
            <a:avLst>
              <a:gd name="adj" fmla="val 938"/>
            </a:avLst>
          </a:prstGeom>
          <a:solidFill>
            <a:srgbClr val="1D1D1B"/>
          </a:solidFill>
          <a:ln w="15240">
            <a:solidFill>
              <a:srgbClr val="555553"/>
            </a:solidFill>
            <a:prstDash val="solid"/>
          </a:ln>
        </p:spPr>
        <p:txBody>
          <a:bodyPr/>
          <a:lstStyle/>
          <a:p>
            <a:endParaRPr lang="es-AR" sz="2800"/>
          </a:p>
        </p:txBody>
      </p:sp>
      <p:sp>
        <p:nvSpPr>
          <p:cNvPr id="11" name="Shape 9"/>
          <p:cNvSpPr/>
          <p:nvPr/>
        </p:nvSpPr>
        <p:spPr>
          <a:xfrm>
            <a:off x="5094684" y="1321932"/>
            <a:ext cx="4440912" cy="405408"/>
          </a:xfrm>
          <a:prstGeom prst="roundRect">
            <a:avLst>
              <a:gd name="adj" fmla="val 490"/>
            </a:avLst>
          </a:prstGeom>
          <a:solidFill>
            <a:srgbClr val="3C3C3A"/>
          </a:solidFill>
          <a:ln/>
        </p:spPr>
        <p:txBody>
          <a:bodyPr/>
          <a:lstStyle/>
          <a:p>
            <a:endParaRPr lang="es-AR" sz="2800"/>
          </a:p>
        </p:txBody>
      </p:sp>
      <p:sp>
        <p:nvSpPr>
          <p:cNvPr id="12" name="Text 10"/>
          <p:cNvSpPr/>
          <p:nvPr/>
        </p:nvSpPr>
        <p:spPr>
          <a:xfrm>
            <a:off x="7213759" y="1447768"/>
            <a:ext cx="202644" cy="253365"/>
          </a:xfrm>
          <a:prstGeom prst="rect">
            <a:avLst/>
          </a:prstGeom>
          <a:noFill/>
          <a:ln/>
        </p:spPr>
        <p:txBody>
          <a:bodyPr wrap="none" lIns="0" tIns="0" rIns="0" bIns="0" rtlCol="0" anchor="t"/>
          <a:lstStyle/>
          <a:p>
            <a:pPr marL="0" indent="0" algn="l">
              <a:lnSpc>
                <a:spcPts val="1550"/>
              </a:lnSpc>
              <a:buNone/>
            </a:pPr>
            <a:r>
              <a:rPr lang="en-US" sz="2000" dirty="0">
                <a:solidFill>
                  <a:srgbClr val="C9C9C0"/>
                </a:solidFill>
                <a:latin typeface="Tomorrow Semi Bold" pitchFamily="34" charset="0"/>
                <a:ea typeface="Tomorrow Semi Bold" pitchFamily="34" charset="-122"/>
                <a:cs typeface="Tomorrow Semi Bold" pitchFamily="34" charset="-120"/>
              </a:rPr>
              <a:t>2</a:t>
            </a:r>
            <a:endParaRPr lang="en-US" sz="2000" dirty="0"/>
          </a:p>
        </p:txBody>
      </p:sp>
      <p:sp>
        <p:nvSpPr>
          <p:cNvPr id="13" name="Text 11"/>
          <p:cNvSpPr/>
          <p:nvPr/>
        </p:nvSpPr>
        <p:spPr>
          <a:xfrm>
            <a:off x="5229820" y="1862475"/>
            <a:ext cx="1932027"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Delegative Democracy</a:t>
            </a:r>
            <a:endParaRPr lang="en-US" dirty="0"/>
          </a:p>
        </p:txBody>
      </p:sp>
      <p:sp>
        <p:nvSpPr>
          <p:cNvPr id="15" name="Text 13"/>
          <p:cNvSpPr/>
          <p:nvPr/>
        </p:nvSpPr>
        <p:spPr>
          <a:xfrm>
            <a:off x="5229820" y="2219199"/>
            <a:ext cx="4170640" cy="864870"/>
          </a:xfrm>
          <a:prstGeom prst="rect">
            <a:avLst/>
          </a:prstGeom>
          <a:noFill/>
          <a:ln/>
        </p:spPr>
        <p:txBody>
          <a:bodyPr wrap="squar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Presidents claim direct legitimacy from the people, bypassing parties and legislatures. This logic appears in both Bolsonaro's populism and Boric's moral voluntarism, creating governance without mediation.</a:t>
            </a:r>
            <a:endParaRPr lang="en-US" sz="1400" dirty="0"/>
          </a:p>
        </p:txBody>
      </p:sp>
      <p:sp>
        <p:nvSpPr>
          <p:cNvPr id="16" name="Shape 14"/>
          <p:cNvSpPr/>
          <p:nvPr/>
        </p:nvSpPr>
        <p:spPr>
          <a:xfrm>
            <a:off x="9685973" y="1306692"/>
            <a:ext cx="4471392" cy="2160508"/>
          </a:xfrm>
          <a:prstGeom prst="roundRect">
            <a:avLst>
              <a:gd name="adj" fmla="val 938"/>
            </a:avLst>
          </a:prstGeom>
          <a:solidFill>
            <a:srgbClr val="1D1D1B"/>
          </a:solidFill>
          <a:ln w="15240">
            <a:solidFill>
              <a:srgbClr val="555553"/>
            </a:solidFill>
            <a:prstDash val="solid"/>
          </a:ln>
        </p:spPr>
        <p:txBody>
          <a:bodyPr/>
          <a:lstStyle/>
          <a:p>
            <a:endParaRPr lang="es-AR" sz="2800"/>
          </a:p>
        </p:txBody>
      </p:sp>
      <p:sp>
        <p:nvSpPr>
          <p:cNvPr id="17" name="Shape 15"/>
          <p:cNvSpPr/>
          <p:nvPr/>
        </p:nvSpPr>
        <p:spPr>
          <a:xfrm>
            <a:off x="9701213" y="1321932"/>
            <a:ext cx="4440912" cy="405408"/>
          </a:xfrm>
          <a:prstGeom prst="roundRect">
            <a:avLst>
              <a:gd name="adj" fmla="val 490"/>
            </a:avLst>
          </a:prstGeom>
          <a:solidFill>
            <a:srgbClr val="3C3C3A"/>
          </a:solidFill>
          <a:ln/>
        </p:spPr>
        <p:txBody>
          <a:bodyPr/>
          <a:lstStyle/>
          <a:p>
            <a:endParaRPr lang="es-AR" sz="2800"/>
          </a:p>
        </p:txBody>
      </p:sp>
      <p:sp>
        <p:nvSpPr>
          <p:cNvPr id="18" name="Text 16"/>
          <p:cNvSpPr/>
          <p:nvPr/>
        </p:nvSpPr>
        <p:spPr>
          <a:xfrm>
            <a:off x="11820287" y="1447768"/>
            <a:ext cx="202644" cy="253365"/>
          </a:xfrm>
          <a:prstGeom prst="rect">
            <a:avLst/>
          </a:prstGeom>
          <a:noFill/>
          <a:ln/>
        </p:spPr>
        <p:txBody>
          <a:bodyPr wrap="none" lIns="0" tIns="0" rIns="0" bIns="0" rtlCol="0" anchor="t"/>
          <a:lstStyle/>
          <a:p>
            <a:pPr marL="0" indent="0" algn="l">
              <a:lnSpc>
                <a:spcPts val="1550"/>
              </a:lnSpc>
              <a:buNone/>
            </a:pPr>
            <a:r>
              <a:rPr lang="en-US" sz="2000" dirty="0">
                <a:solidFill>
                  <a:srgbClr val="C9C9C0"/>
                </a:solidFill>
                <a:latin typeface="Tomorrow Semi Bold" pitchFamily="34" charset="0"/>
                <a:ea typeface="Tomorrow Semi Bold" pitchFamily="34" charset="-122"/>
                <a:cs typeface="Tomorrow Semi Bold" pitchFamily="34" charset="-120"/>
              </a:rPr>
              <a:t>3</a:t>
            </a:r>
            <a:endParaRPr lang="en-US" sz="2000" dirty="0"/>
          </a:p>
        </p:txBody>
      </p:sp>
      <p:sp>
        <p:nvSpPr>
          <p:cNvPr id="19" name="Text 17"/>
          <p:cNvSpPr/>
          <p:nvPr/>
        </p:nvSpPr>
        <p:spPr>
          <a:xfrm>
            <a:off x="9836348" y="1862475"/>
            <a:ext cx="1819394"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Affective Polarization</a:t>
            </a:r>
            <a:endParaRPr lang="en-US" dirty="0"/>
          </a:p>
        </p:txBody>
      </p:sp>
      <p:sp>
        <p:nvSpPr>
          <p:cNvPr id="21" name="Text 19"/>
          <p:cNvSpPr/>
          <p:nvPr/>
        </p:nvSpPr>
        <p:spPr>
          <a:xfrm>
            <a:off x="9836348" y="2219199"/>
            <a:ext cx="4170640" cy="864870"/>
          </a:xfrm>
          <a:prstGeom prst="rect">
            <a:avLst/>
          </a:prstGeom>
          <a:noFill/>
          <a:ln/>
        </p:spPr>
        <p:txBody>
          <a:bodyPr wrap="squar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Emotional attachment replaces institutional confidence. Citizens define themselves "against" others rather than "within" a collective project, transforming democracy into a zero-sum arena.</a:t>
            </a:r>
            <a:endParaRPr lang="en-US" sz="1400" dirty="0"/>
          </a:p>
        </p:txBody>
      </p:sp>
      <p:sp>
        <p:nvSpPr>
          <p:cNvPr id="22" name="Shape 20"/>
          <p:cNvSpPr/>
          <p:nvPr/>
        </p:nvSpPr>
        <p:spPr>
          <a:xfrm>
            <a:off x="473035" y="3753510"/>
            <a:ext cx="13684329" cy="24408"/>
          </a:xfrm>
          <a:prstGeom prst="rect">
            <a:avLst/>
          </a:prstGeom>
          <a:solidFill>
            <a:srgbClr val="C9C9C0">
              <a:alpha val="50000"/>
            </a:srgbClr>
          </a:solidFill>
          <a:ln/>
        </p:spPr>
        <p:txBody>
          <a:bodyPr/>
          <a:lstStyle/>
          <a:p>
            <a:endParaRPr lang="es-AR" sz="2800"/>
          </a:p>
        </p:txBody>
      </p:sp>
      <p:sp>
        <p:nvSpPr>
          <p:cNvPr id="23" name="Text 21"/>
          <p:cNvSpPr/>
          <p:nvPr/>
        </p:nvSpPr>
        <p:spPr>
          <a:xfrm>
            <a:off x="488275" y="4031575"/>
            <a:ext cx="13684329" cy="432435"/>
          </a:xfrm>
          <a:prstGeom prst="rect">
            <a:avLst/>
          </a:prstGeom>
          <a:noFill/>
          <a:ln/>
        </p:spPr>
        <p:txBody>
          <a:bodyPr wrap="squar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These dynamics redefine the nature of citizen support: </a:t>
            </a:r>
            <a:r>
              <a:rPr lang="en-US" sz="1400" b="1" dirty="0">
                <a:solidFill>
                  <a:srgbClr val="C9C9C0"/>
                </a:solidFill>
                <a:latin typeface="Tomorrow" pitchFamily="34" charset="0"/>
              </a:rPr>
              <a:t>participation remains high, but patience and trust are thin. </a:t>
            </a:r>
            <a:r>
              <a:rPr lang="en-US" sz="1400" dirty="0">
                <a:solidFill>
                  <a:srgbClr val="C9C9C0"/>
                </a:solidFill>
                <a:latin typeface="Tomorrow" pitchFamily="34" charset="0"/>
              </a:rPr>
              <a:t>Without credible parties and effective governance, citizens oscillate between populist enthusiasm and technocratic resignation.</a:t>
            </a:r>
          </a:p>
        </p:txBody>
      </p:sp>
      <p:pic>
        <p:nvPicPr>
          <p:cNvPr id="24" name="Image 0" descr="preencoded.png"/>
          <p:cNvPicPr>
            <a:picLocks noChangeAspect="1"/>
          </p:cNvPicPr>
          <p:nvPr/>
        </p:nvPicPr>
        <p:blipFill>
          <a:blip r:embed="rId3"/>
          <a:stretch>
            <a:fillRect/>
          </a:stretch>
        </p:blipFill>
        <p:spPr>
          <a:xfrm>
            <a:off x="473035" y="4896445"/>
            <a:ext cx="6842165" cy="540544"/>
          </a:xfrm>
          <a:prstGeom prst="rect">
            <a:avLst/>
          </a:prstGeom>
        </p:spPr>
      </p:pic>
      <p:sp>
        <p:nvSpPr>
          <p:cNvPr id="25" name="Text 22"/>
          <p:cNvSpPr/>
          <p:nvPr/>
        </p:nvSpPr>
        <p:spPr>
          <a:xfrm>
            <a:off x="608171" y="5572125"/>
            <a:ext cx="1689497"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High Participation</a:t>
            </a:r>
            <a:endParaRPr lang="en-US" dirty="0"/>
          </a:p>
        </p:txBody>
      </p:sp>
      <p:sp>
        <p:nvSpPr>
          <p:cNvPr id="26" name="Text 23"/>
          <p:cNvSpPr/>
          <p:nvPr/>
        </p:nvSpPr>
        <p:spPr>
          <a:xfrm>
            <a:off x="608171" y="5864304"/>
            <a:ext cx="6571893" cy="216218"/>
          </a:xfrm>
          <a:prstGeom prst="rect">
            <a:avLst/>
          </a:prstGeom>
          <a:noFill/>
          <a:ln/>
        </p:spPr>
        <p:txBody>
          <a:bodyPr wrap="non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Citizens continue voting, protesting, debating</a:t>
            </a:r>
            <a:endParaRPr lang="en-US" sz="1400" dirty="0"/>
          </a:p>
        </p:txBody>
      </p:sp>
      <p:pic>
        <p:nvPicPr>
          <p:cNvPr id="27" name="Image 1" descr="preencoded.png"/>
          <p:cNvPicPr>
            <a:picLocks noChangeAspect="1"/>
          </p:cNvPicPr>
          <p:nvPr/>
        </p:nvPicPr>
        <p:blipFill>
          <a:blip r:embed="rId4"/>
          <a:stretch>
            <a:fillRect/>
          </a:stretch>
        </p:blipFill>
        <p:spPr>
          <a:xfrm>
            <a:off x="7315200" y="4896445"/>
            <a:ext cx="6842165" cy="540544"/>
          </a:xfrm>
          <a:prstGeom prst="rect">
            <a:avLst/>
          </a:prstGeom>
        </p:spPr>
      </p:pic>
      <p:sp>
        <p:nvSpPr>
          <p:cNvPr id="28" name="Text 24"/>
          <p:cNvSpPr/>
          <p:nvPr/>
        </p:nvSpPr>
        <p:spPr>
          <a:xfrm>
            <a:off x="7450336" y="5572125"/>
            <a:ext cx="1689497"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Weak Mediation</a:t>
            </a:r>
            <a:endParaRPr lang="en-US" dirty="0"/>
          </a:p>
        </p:txBody>
      </p:sp>
      <p:sp>
        <p:nvSpPr>
          <p:cNvPr id="29" name="Text 25"/>
          <p:cNvSpPr/>
          <p:nvPr/>
        </p:nvSpPr>
        <p:spPr>
          <a:xfrm>
            <a:off x="7450336" y="5864304"/>
            <a:ext cx="6571893" cy="216218"/>
          </a:xfrm>
          <a:prstGeom prst="rect">
            <a:avLst/>
          </a:prstGeom>
          <a:noFill/>
          <a:ln/>
        </p:spPr>
        <p:txBody>
          <a:bodyPr wrap="non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Parties fail to connect demands to governance</a:t>
            </a:r>
            <a:endParaRPr lang="en-US" sz="1400" dirty="0"/>
          </a:p>
        </p:txBody>
      </p:sp>
      <p:pic>
        <p:nvPicPr>
          <p:cNvPr id="30" name="Image 2" descr="preencoded.png"/>
          <p:cNvPicPr>
            <a:picLocks noChangeAspect="1"/>
          </p:cNvPicPr>
          <p:nvPr/>
        </p:nvPicPr>
        <p:blipFill>
          <a:blip r:embed="rId5"/>
          <a:stretch>
            <a:fillRect/>
          </a:stretch>
        </p:blipFill>
        <p:spPr>
          <a:xfrm>
            <a:off x="473035" y="6215658"/>
            <a:ext cx="6842165" cy="540544"/>
          </a:xfrm>
          <a:prstGeom prst="rect">
            <a:avLst/>
          </a:prstGeom>
        </p:spPr>
      </p:pic>
      <p:sp>
        <p:nvSpPr>
          <p:cNvPr id="31" name="Text 26"/>
          <p:cNvSpPr/>
          <p:nvPr/>
        </p:nvSpPr>
        <p:spPr>
          <a:xfrm>
            <a:off x="608171" y="6891337"/>
            <a:ext cx="1689497"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Eroded Trust</a:t>
            </a:r>
            <a:endParaRPr lang="en-US" dirty="0"/>
          </a:p>
        </p:txBody>
      </p:sp>
      <p:sp>
        <p:nvSpPr>
          <p:cNvPr id="32" name="Text 27"/>
          <p:cNvSpPr/>
          <p:nvPr/>
        </p:nvSpPr>
        <p:spPr>
          <a:xfrm>
            <a:off x="608171" y="7183517"/>
            <a:ext cx="6571893" cy="216218"/>
          </a:xfrm>
          <a:prstGeom prst="rect">
            <a:avLst/>
          </a:prstGeom>
          <a:noFill/>
          <a:ln/>
        </p:spPr>
        <p:txBody>
          <a:bodyPr wrap="non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Institutions lose legitimacy despite democratic procedures</a:t>
            </a:r>
            <a:endParaRPr lang="en-US" sz="1400" dirty="0"/>
          </a:p>
        </p:txBody>
      </p:sp>
      <p:pic>
        <p:nvPicPr>
          <p:cNvPr id="33" name="Image 3" descr="preencoded.png"/>
          <p:cNvPicPr>
            <a:picLocks noChangeAspect="1"/>
          </p:cNvPicPr>
          <p:nvPr/>
        </p:nvPicPr>
        <p:blipFill>
          <a:blip r:embed="rId6"/>
          <a:stretch>
            <a:fillRect/>
          </a:stretch>
        </p:blipFill>
        <p:spPr>
          <a:xfrm>
            <a:off x="7315200" y="6215658"/>
            <a:ext cx="6842165" cy="540544"/>
          </a:xfrm>
          <a:prstGeom prst="rect">
            <a:avLst/>
          </a:prstGeom>
        </p:spPr>
      </p:pic>
      <p:sp>
        <p:nvSpPr>
          <p:cNvPr id="34" name="Text 28"/>
          <p:cNvSpPr/>
          <p:nvPr/>
        </p:nvSpPr>
        <p:spPr>
          <a:xfrm>
            <a:off x="7450336" y="6891337"/>
            <a:ext cx="1689497" cy="211098"/>
          </a:xfrm>
          <a:prstGeom prst="rect">
            <a:avLst/>
          </a:prstGeom>
          <a:noFill/>
          <a:ln/>
        </p:spPr>
        <p:txBody>
          <a:bodyPr wrap="none" lIns="0" tIns="0" rIns="0" bIns="0" rtlCol="0" anchor="t"/>
          <a:lstStyle/>
          <a:p>
            <a:pPr marL="0" indent="0" algn="l">
              <a:lnSpc>
                <a:spcPts val="1650"/>
              </a:lnSpc>
              <a:buNone/>
            </a:pPr>
            <a:r>
              <a:rPr lang="en-US" dirty="0">
                <a:solidFill>
                  <a:srgbClr val="C9C9C0"/>
                </a:solidFill>
                <a:latin typeface="Tomorrow Semi Bold" pitchFamily="34" charset="0"/>
                <a:ea typeface="Tomorrow Semi Bold" pitchFamily="34" charset="-122"/>
                <a:cs typeface="Tomorrow Semi Bold" pitchFamily="34" charset="-120"/>
              </a:rPr>
              <a:t>Cyclical Crisis</a:t>
            </a:r>
            <a:endParaRPr lang="en-US" dirty="0"/>
          </a:p>
        </p:txBody>
      </p:sp>
      <p:sp>
        <p:nvSpPr>
          <p:cNvPr id="35" name="Text 29"/>
          <p:cNvSpPr/>
          <p:nvPr/>
        </p:nvSpPr>
        <p:spPr>
          <a:xfrm>
            <a:off x="7450336" y="7183517"/>
            <a:ext cx="6571893" cy="216218"/>
          </a:xfrm>
          <a:prstGeom prst="rect">
            <a:avLst/>
          </a:prstGeom>
          <a:noFill/>
          <a:ln/>
        </p:spPr>
        <p:txBody>
          <a:bodyPr wrap="none" lIns="0" tIns="0" rIns="0" bIns="0" rtlCol="0" anchor="t"/>
          <a:lstStyle/>
          <a:p>
            <a:pPr marL="0" indent="0" algn="l">
              <a:lnSpc>
                <a:spcPts val="1700"/>
              </a:lnSpc>
              <a:buNone/>
            </a:pPr>
            <a:r>
              <a:rPr lang="en-US" sz="1400" dirty="0">
                <a:solidFill>
                  <a:srgbClr val="C9C9C0"/>
                </a:solidFill>
                <a:latin typeface="Tomorrow" pitchFamily="34" charset="0"/>
                <a:ea typeface="Tomorrow" pitchFamily="34" charset="-122"/>
                <a:cs typeface="Tomorrow" pitchFamily="34" charset="-120"/>
              </a:rPr>
              <a:t>Oscillation between enthusiasm and resignation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0658" y="506611"/>
            <a:ext cx="7522488" cy="447080"/>
          </a:xfrm>
          <a:prstGeom prst="rect">
            <a:avLst/>
          </a:prstGeom>
          <a:noFill/>
          <a:ln/>
        </p:spPr>
        <p:txBody>
          <a:bodyPr wrap="none" lIns="0" tIns="0" rIns="0" bIns="0" rtlCol="0" anchor="t"/>
          <a:lstStyle/>
          <a:p>
            <a:pPr marL="0" indent="0" algn="l">
              <a:lnSpc>
                <a:spcPts val="3500"/>
              </a:lnSpc>
              <a:buNone/>
            </a:pPr>
            <a:r>
              <a:rPr lang="en-US" sz="3900" dirty="0">
                <a:solidFill>
                  <a:srgbClr val="EDEDE8"/>
                </a:solidFill>
                <a:latin typeface="Tomorrow Semi Bold" pitchFamily="34" charset="0"/>
                <a:ea typeface="Tomorrow Semi Bold" pitchFamily="34" charset="-122"/>
                <a:cs typeface="Tomorrow Semi Bold" pitchFamily="34" charset="-120"/>
              </a:rPr>
              <a:t>Conclusion: After the Cycle of Disaffection</a:t>
            </a:r>
            <a:endParaRPr lang="en-US" sz="3900" dirty="0"/>
          </a:p>
        </p:txBody>
      </p:sp>
      <p:sp>
        <p:nvSpPr>
          <p:cNvPr id="3" name="Text 1"/>
          <p:cNvSpPr/>
          <p:nvPr/>
        </p:nvSpPr>
        <p:spPr>
          <a:xfrm>
            <a:off x="500658" y="1239798"/>
            <a:ext cx="13629084" cy="457914"/>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If we zoom out, Latin America's recent experience is not of democratic collapse but of </a:t>
            </a:r>
            <a:r>
              <a:rPr lang="en-US" sz="1400" b="1" dirty="0">
                <a:solidFill>
                  <a:srgbClr val="C9C9C0"/>
                </a:solidFill>
                <a:latin typeface="Tomorrow" pitchFamily="34" charset="0"/>
                <a:ea typeface="Tomorrow" pitchFamily="34" charset="-122"/>
                <a:cs typeface="Tomorrow" pitchFamily="34" charset="-120"/>
              </a:rPr>
              <a:t>democratic fatigue</a:t>
            </a:r>
            <a:r>
              <a:rPr lang="en-US" sz="1400" dirty="0">
                <a:solidFill>
                  <a:srgbClr val="C9C9C0"/>
                </a:solidFill>
                <a:latin typeface="Tomorrow" pitchFamily="34" charset="0"/>
                <a:ea typeface="Tomorrow" pitchFamily="34" charset="-122"/>
                <a:cs typeface="Tomorrow" pitchFamily="34" charset="-120"/>
              </a:rPr>
              <a:t>. Citizens are still voting, protesting, debating — but increasingly against something rather than for something.</a:t>
            </a:r>
            <a:endParaRPr lang="en-US" sz="1400" dirty="0"/>
          </a:p>
        </p:txBody>
      </p:sp>
      <p:sp>
        <p:nvSpPr>
          <p:cNvPr id="4" name="Shape 2"/>
          <p:cNvSpPr/>
          <p:nvPr/>
        </p:nvSpPr>
        <p:spPr>
          <a:xfrm>
            <a:off x="500658" y="1991566"/>
            <a:ext cx="6742986" cy="1053108"/>
          </a:xfrm>
          <a:prstGeom prst="roundRect">
            <a:avLst>
              <a:gd name="adj" fmla="val 2038"/>
            </a:avLst>
          </a:prstGeom>
          <a:solidFill>
            <a:srgbClr val="3C3C3A"/>
          </a:solidFill>
          <a:ln/>
        </p:spPr>
        <p:txBody>
          <a:bodyPr/>
          <a:lstStyle/>
          <a:p>
            <a:endParaRPr lang="es-AR" sz="2400"/>
          </a:p>
        </p:txBody>
      </p:sp>
      <p:sp>
        <p:nvSpPr>
          <p:cNvPr id="5" name="Text 3"/>
          <p:cNvSpPr/>
          <p:nvPr/>
        </p:nvSpPr>
        <p:spPr>
          <a:xfrm>
            <a:off x="643652" y="2134560"/>
            <a:ext cx="2338507" cy="223480"/>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Where Governance Works</a:t>
            </a:r>
            <a:endParaRPr lang="en-US" dirty="0"/>
          </a:p>
        </p:txBody>
      </p:sp>
      <p:sp>
        <p:nvSpPr>
          <p:cNvPr id="6" name="Text 4"/>
          <p:cNvSpPr/>
          <p:nvPr/>
        </p:nvSpPr>
        <p:spPr>
          <a:xfrm>
            <a:off x="643652" y="2443765"/>
            <a:ext cx="6456998" cy="457914"/>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Uruguay and Costa Rica: party systems still mediate expectations, creating stability through institutional trust</a:t>
            </a:r>
            <a:endParaRPr lang="en-US" sz="1400" dirty="0"/>
          </a:p>
        </p:txBody>
      </p:sp>
      <p:sp>
        <p:nvSpPr>
          <p:cNvPr id="7" name="Shape 5"/>
          <p:cNvSpPr/>
          <p:nvPr/>
        </p:nvSpPr>
        <p:spPr>
          <a:xfrm>
            <a:off x="7386638" y="1991566"/>
            <a:ext cx="6743105" cy="1053108"/>
          </a:xfrm>
          <a:prstGeom prst="roundRect">
            <a:avLst>
              <a:gd name="adj" fmla="val 2038"/>
            </a:avLst>
          </a:prstGeom>
          <a:solidFill>
            <a:srgbClr val="3C3C3A"/>
          </a:solidFill>
          <a:ln/>
        </p:spPr>
        <p:txBody>
          <a:bodyPr/>
          <a:lstStyle/>
          <a:p>
            <a:endParaRPr lang="es-AR" sz="2400"/>
          </a:p>
        </p:txBody>
      </p:sp>
      <p:sp>
        <p:nvSpPr>
          <p:cNvPr id="8" name="Text 6"/>
          <p:cNvSpPr/>
          <p:nvPr/>
        </p:nvSpPr>
        <p:spPr>
          <a:xfrm>
            <a:off x="7529632" y="2134560"/>
            <a:ext cx="2382798" cy="223480"/>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Where Governance Underperforms</a:t>
            </a:r>
            <a:endParaRPr lang="en-US" dirty="0"/>
          </a:p>
        </p:txBody>
      </p:sp>
      <p:sp>
        <p:nvSpPr>
          <p:cNvPr id="9" name="Text 7"/>
          <p:cNvSpPr/>
          <p:nvPr/>
        </p:nvSpPr>
        <p:spPr>
          <a:xfrm>
            <a:off x="7529632" y="2443765"/>
            <a:ext cx="6457117" cy="457914"/>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Brazil and Chile: citizens swing between the charisma of leaders and the moral urgency of movements</a:t>
            </a:r>
            <a:endParaRPr lang="en-US" sz="1400" dirty="0"/>
          </a:p>
        </p:txBody>
      </p:sp>
      <p:sp>
        <p:nvSpPr>
          <p:cNvPr id="10" name="Shape 8"/>
          <p:cNvSpPr/>
          <p:nvPr/>
        </p:nvSpPr>
        <p:spPr>
          <a:xfrm>
            <a:off x="500658" y="3205527"/>
            <a:ext cx="13629084" cy="1018937"/>
          </a:xfrm>
          <a:prstGeom prst="roundRect">
            <a:avLst>
              <a:gd name="adj" fmla="val 2106"/>
            </a:avLst>
          </a:prstGeom>
          <a:solidFill>
            <a:srgbClr val="272725"/>
          </a:solidFill>
          <a:ln/>
        </p:spPr>
        <p:txBody>
          <a:bodyPr/>
          <a:lstStyle/>
          <a:p>
            <a:endParaRPr lang="es-AR" sz="2400"/>
          </a:p>
        </p:txBody>
      </p:sp>
      <p:pic>
        <p:nvPicPr>
          <p:cNvPr id="11" name="Image 0" descr="preencoded.png"/>
          <p:cNvPicPr>
            <a:picLocks noChangeAspect="1"/>
          </p:cNvPicPr>
          <p:nvPr/>
        </p:nvPicPr>
        <p:blipFill>
          <a:blip r:embed="rId3"/>
          <a:stretch>
            <a:fillRect/>
          </a:stretch>
        </p:blipFill>
        <p:spPr>
          <a:xfrm>
            <a:off x="643652" y="3409838"/>
            <a:ext cx="268248" cy="214551"/>
          </a:xfrm>
          <a:prstGeom prst="rect">
            <a:avLst/>
          </a:prstGeom>
        </p:spPr>
      </p:pic>
      <p:sp>
        <p:nvSpPr>
          <p:cNvPr id="13" name="Text 10"/>
          <p:cNvSpPr/>
          <p:nvPr/>
        </p:nvSpPr>
        <p:spPr>
          <a:xfrm>
            <a:off x="1054894" y="3415494"/>
            <a:ext cx="12931854" cy="228957"/>
          </a:xfrm>
          <a:prstGeom prst="rect">
            <a:avLst/>
          </a:prstGeom>
          <a:noFill/>
          <a:ln/>
        </p:spPr>
        <p:txBody>
          <a:bodyPr wrap="square" lIns="0" tIns="0" rIns="0" bIns="0" rtlCol="0" anchor="t"/>
          <a:lstStyle/>
          <a:p>
            <a:pPr>
              <a:lnSpc>
                <a:spcPts val="1800"/>
              </a:lnSpc>
            </a:pPr>
            <a:r>
              <a:rPr lang="en-US" sz="1400" dirty="0">
                <a:solidFill>
                  <a:srgbClr val="C9C9C0"/>
                </a:solidFill>
                <a:latin typeface="Tomorrow" pitchFamily="34" charset="0"/>
              </a:rPr>
              <a:t>Democracy's endurance no longer guarantees its vitality. Competitive elections and civil liberties persist, but the connective tissue between citizens and governance continues to fray.</a:t>
            </a:r>
          </a:p>
        </p:txBody>
      </p:sp>
      <p:sp>
        <p:nvSpPr>
          <p:cNvPr id="16" name="Shape 13"/>
          <p:cNvSpPr/>
          <p:nvPr/>
        </p:nvSpPr>
        <p:spPr>
          <a:xfrm>
            <a:off x="715208" y="5033371"/>
            <a:ext cx="4233029" cy="142994"/>
          </a:xfrm>
          <a:prstGeom prst="roundRect">
            <a:avLst>
              <a:gd name="adj" fmla="val 15008"/>
            </a:avLst>
          </a:prstGeom>
          <a:solidFill>
            <a:srgbClr val="3C3C3A"/>
          </a:solidFill>
          <a:ln/>
        </p:spPr>
        <p:txBody>
          <a:bodyPr/>
          <a:lstStyle/>
          <a:p>
            <a:endParaRPr lang="es-AR" sz="2400"/>
          </a:p>
        </p:txBody>
      </p:sp>
      <p:sp>
        <p:nvSpPr>
          <p:cNvPr id="17" name="Shape 14"/>
          <p:cNvSpPr/>
          <p:nvPr/>
        </p:nvSpPr>
        <p:spPr>
          <a:xfrm>
            <a:off x="500658" y="4890377"/>
            <a:ext cx="429101" cy="429101"/>
          </a:xfrm>
          <a:prstGeom prst="roundRect">
            <a:avLst>
              <a:gd name="adj" fmla="val 106548"/>
            </a:avLst>
          </a:prstGeom>
          <a:solidFill>
            <a:srgbClr val="3C3C3A"/>
          </a:solidFill>
          <a:ln/>
        </p:spPr>
        <p:txBody>
          <a:bodyPr/>
          <a:lstStyle/>
          <a:p>
            <a:endParaRPr lang="es-AR" sz="2400"/>
          </a:p>
        </p:txBody>
      </p:sp>
      <p:pic>
        <p:nvPicPr>
          <p:cNvPr id="18" name="Image 1" descr="preencoded.png"/>
          <p:cNvPicPr>
            <a:picLocks noChangeAspect="1"/>
          </p:cNvPicPr>
          <p:nvPr/>
        </p:nvPicPr>
        <p:blipFill>
          <a:blip r:embed="rId4"/>
          <a:stretch>
            <a:fillRect/>
          </a:stretch>
        </p:blipFill>
        <p:spPr>
          <a:xfrm>
            <a:off x="607933" y="4970863"/>
            <a:ext cx="214551" cy="268248"/>
          </a:xfrm>
          <a:prstGeom prst="rect">
            <a:avLst/>
          </a:prstGeom>
        </p:spPr>
      </p:pic>
      <p:sp>
        <p:nvSpPr>
          <p:cNvPr id="19" name="Text 15"/>
          <p:cNvSpPr/>
          <p:nvPr/>
        </p:nvSpPr>
        <p:spPr>
          <a:xfrm>
            <a:off x="643652" y="5462472"/>
            <a:ext cx="2545318" cy="223480"/>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Institutional Reconstruction</a:t>
            </a:r>
            <a:endParaRPr lang="en-US" dirty="0"/>
          </a:p>
        </p:txBody>
      </p:sp>
      <p:sp>
        <p:nvSpPr>
          <p:cNvPr id="20" name="Text 16"/>
          <p:cNvSpPr/>
          <p:nvPr/>
        </p:nvSpPr>
        <p:spPr>
          <a:xfrm>
            <a:off x="643652" y="5771678"/>
            <a:ext cx="4161711" cy="457914"/>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Parties must rebuild capacity to aggregate interests and filter demands</a:t>
            </a:r>
            <a:endParaRPr lang="en-US" sz="1400" dirty="0"/>
          </a:p>
        </p:txBody>
      </p:sp>
      <p:sp>
        <p:nvSpPr>
          <p:cNvPr id="21" name="Shape 17"/>
          <p:cNvSpPr/>
          <p:nvPr/>
        </p:nvSpPr>
        <p:spPr>
          <a:xfrm>
            <a:off x="5305901" y="4818821"/>
            <a:ext cx="4233029" cy="142994"/>
          </a:xfrm>
          <a:prstGeom prst="roundRect">
            <a:avLst>
              <a:gd name="adj" fmla="val 15008"/>
            </a:avLst>
          </a:prstGeom>
          <a:solidFill>
            <a:srgbClr val="3C3C3A"/>
          </a:solidFill>
          <a:ln/>
        </p:spPr>
        <p:txBody>
          <a:bodyPr/>
          <a:lstStyle/>
          <a:p>
            <a:endParaRPr lang="es-AR" sz="2400"/>
          </a:p>
        </p:txBody>
      </p:sp>
      <p:sp>
        <p:nvSpPr>
          <p:cNvPr id="22" name="Shape 18"/>
          <p:cNvSpPr/>
          <p:nvPr/>
        </p:nvSpPr>
        <p:spPr>
          <a:xfrm>
            <a:off x="5091351" y="4675827"/>
            <a:ext cx="429101" cy="429101"/>
          </a:xfrm>
          <a:prstGeom prst="roundRect">
            <a:avLst>
              <a:gd name="adj" fmla="val 106548"/>
            </a:avLst>
          </a:prstGeom>
          <a:solidFill>
            <a:srgbClr val="3C3C3A"/>
          </a:solidFill>
          <a:ln/>
        </p:spPr>
        <p:txBody>
          <a:bodyPr/>
          <a:lstStyle/>
          <a:p>
            <a:endParaRPr lang="es-AR" sz="2400"/>
          </a:p>
        </p:txBody>
      </p:sp>
      <p:pic>
        <p:nvPicPr>
          <p:cNvPr id="23" name="Image 2" descr="preencoded.png"/>
          <p:cNvPicPr>
            <a:picLocks noChangeAspect="1"/>
          </p:cNvPicPr>
          <p:nvPr/>
        </p:nvPicPr>
        <p:blipFill>
          <a:blip r:embed="rId5"/>
          <a:stretch>
            <a:fillRect/>
          </a:stretch>
        </p:blipFill>
        <p:spPr>
          <a:xfrm>
            <a:off x="5198626" y="4756313"/>
            <a:ext cx="214551" cy="268248"/>
          </a:xfrm>
          <a:prstGeom prst="rect">
            <a:avLst/>
          </a:prstGeom>
        </p:spPr>
      </p:pic>
      <p:sp>
        <p:nvSpPr>
          <p:cNvPr id="24" name="Text 19"/>
          <p:cNvSpPr/>
          <p:nvPr/>
        </p:nvSpPr>
        <p:spPr>
          <a:xfrm>
            <a:off x="5234345" y="5247922"/>
            <a:ext cx="1988820" cy="223480"/>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Mediation Restoration</a:t>
            </a:r>
            <a:endParaRPr lang="en-US" dirty="0"/>
          </a:p>
        </p:txBody>
      </p:sp>
      <p:sp>
        <p:nvSpPr>
          <p:cNvPr id="25" name="Text 20"/>
          <p:cNvSpPr/>
          <p:nvPr/>
        </p:nvSpPr>
        <p:spPr>
          <a:xfrm>
            <a:off x="5234345" y="5557127"/>
            <a:ext cx="4161711" cy="457914"/>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Reconnecting citizen expectations to governance realities through transparent processes</a:t>
            </a:r>
            <a:endParaRPr lang="en-US" sz="1400" dirty="0"/>
          </a:p>
        </p:txBody>
      </p:sp>
      <p:sp>
        <p:nvSpPr>
          <p:cNvPr id="26" name="Shape 21"/>
          <p:cNvSpPr/>
          <p:nvPr/>
        </p:nvSpPr>
        <p:spPr>
          <a:xfrm>
            <a:off x="9896594" y="4604270"/>
            <a:ext cx="4233029" cy="142994"/>
          </a:xfrm>
          <a:prstGeom prst="roundRect">
            <a:avLst>
              <a:gd name="adj" fmla="val 15008"/>
            </a:avLst>
          </a:prstGeom>
          <a:solidFill>
            <a:srgbClr val="3C3C3A"/>
          </a:solidFill>
          <a:ln/>
        </p:spPr>
        <p:txBody>
          <a:bodyPr/>
          <a:lstStyle/>
          <a:p>
            <a:endParaRPr lang="es-AR" sz="2400"/>
          </a:p>
        </p:txBody>
      </p:sp>
      <p:sp>
        <p:nvSpPr>
          <p:cNvPr id="27" name="Shape 22"/>
          <p:cNvSpPr/>
          <p:nvPr/>
        </p:nvSpPr>
        <p:spPr>
          <a:xfrm>
            <a:off x="9682043" y="4461276"/>
            <a:ext cx="429101" cy="429101"/>
          </a:xfrm>
          <a:prstGeom prst="roundRect">
            <a:avLst>
              <a:gd name="adj" fmla="val 106548"/>
            </a:avLst>
          </a:prstGeom>
          <a:solidFill>
            <a:srgbClr val="3C3C3A"/>
          </a:solidFill>
          <a:ln/>
        </p:spPr>
        <p:txBody>
          <a:bodyPr/>
          <a:lstStyle/>
          <a:p>
            <a:endParaRPr lang="es-AR" sz="2400"/>
          </a:p>
        </p:txBody>
      </p:sp>
      <p:pic>
        <p:nvPicPr>
          <p:cNvPr id="28" name="Image 3" descr="preencoded.png"/>
          <p:cNvPicPr>
            <a:picLocks noChangeAspect="1"/>
          </p:cNvPicPr>
          <p:nvPr/>
        </p:nvPicPr>
        <p:blipFill>
          <a:blip r:embed="rId6"/>
          <a:stretch>
            <a:fillRect/>
          </a:stretch>
        </p:blipFill>
        <p:spPr>
          <a:xfrm>
            <a:off x="9789319" y="4541762"/>
            <a:ext cx="214551" cy="268248"/>
          </a:xfrm>
          <a:prstGeom prst="rect">
            <a:avLst/>
          </a:prstGeom>
        </p:spPr>
      </p:pic>
      <p:sp>
        <p:nvSpPr>
          <p:cNvPr id="29" name="Text 23"/>
          <p:cNvSpPr/>
          <p:nvPr/>
        </p:nvSpPr>
        <p:spPr>
          <a:xfrm>
            <a:off x="9825038" y="5033371"/>
            <a:ext cx="1788319" cy="223480"/>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Trust Rebuilding</a:t>
            </a:r>
            <a:endParaRPr lang="en-US" dirty="0"/>
          </a:p>
        </p:txBody>
      </p:sp>
      <p:sp>
        <p:nvSpPr>
          <p:cNvPr id="30" name="Text 24"/>
          <p:cNvSpPr/>
          <p:nvPr/>
        </p:nvSpPr>
        <p:spPr>
          <a:xfrm>
            <a:off x="9825038" y="5342577"/>
            <a:ext cx="4161711" cy="457914"/>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Demonstrating that democratic institutions can deliver responsive, accountable governance</a:t>
            </a:r>
            <a:endParaRPr lang="en-US" sz="1400" dirty="0"/>
          </a:p>
        </p:txBody>
      </p:sp>
      <p:sp>
        <p:nvSpPr>
          <p:cNvPr id="31" name="Text 25"/>
          <p:cNvSpPr/>
          <p:nvPr/>
        </p:nvSpPr>
        <p:spPr>
          <a:xfrm>
            <a:off x="500658" y="6989802"/>
            <a:ext cx="13629084" cy="733068"/>
          </a:xfrm>
          <a:prstGeom prst="rect">
            <a:avLst/>
          </a:prstGeom>
          <a:noFill/>
          <a:ln/>
        </p:spPr>
        <p:txBody>
          <a:bodyPr wrap="square" lIns="0" tIns="0" rIns="0" bIns="0" rtlCol="0" anchor="t"/>
          <a:lstStyle/>
          <a:p>
            <a:pPr marL="0" indent="0" algn="l">
              <a:lnSpc>
                <a:spcPct val="150000"/>
              </a:lnSpc>
              <a:buNone/>
            </a:pPr>
            <a:r>
              <a:rPr lang="en-US" sz="1400" dirty="0">
                <a:solidFill>
                  <a:srgbClr val="C9C9C0"/>
                </a:solidFill>
                <a:latin typeface="Tomorrow" pitchFamily="34" charset="0"/>
                <a:ea typeface="Tomorrow" pitchFamily="34" charset="-122"/>
                <a:cs typeface="Tomorrow" pitchFamily="34" charset="-120"/>
              </a:rPr>
              <a:t>For the region — and for us as analysts — the path forward requires recognizing that </a:t>
            </a:r>
            <a:r>
              <a:rPr lang="en-US" sz="1400" b="1" dirty="0">
                <a:solidFill>
                  <a:srgbClr val="E1E1DF"/>
                </a:solidFill>
                <a:latin typeface="Tomorrow" pitchFamily="34" charset="0"/>
                <a:ea typeface="Tomorrow" pitchFamily="34" charset="-122"/>
                <a:cs typeface="Tomorrow" pitchFamily="34" charset="-120"/>
              </a:rPr>
              <a:t>democratic infrastructure matters as much as democratic ideals</a:t>
            </a:r>
            <a:r>
              <a:rPr lang="en-US" sz="1400" dirty="0">
                <a:solidFill>
                  <a:srgbClr val="C9C9C0"/>
                </a:solidFill>
                <a:latin typeface="Tomorrow" pitchFamily="34" charset="0"/>
                <a:ea typeface="Tomorrow" pitchFamily="34" charset="-122"/>
                <a:cs typeface="Tomorrow" pitchFamily="34" charset="-120"/>
              </a:rPr>
              <a:t>. Only by rebuilding the mediating institutions that connect everyday struggles to policy outcomes can Latin American democracies move from survival to genuine vitality.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1377</Words>
  <Application>Microsoft Office PowerPoint</Application>
  <PresentationFormat>Personalizado</PresentationFormat>
  <Paragraphs>127</Paragraphs>
  <Slides>8</Slides>
  <Notes>8</Notes>
  <HiddenSlides>1</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Tomorrow Semi Bold</vt:lpstr>
      <vt:lpstr>Calibri</vt:lpstr>
      <vt:lpstr>Tomorrow</vt:lpstr>
      <vt:lpstr>Tomorrow Light</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Claudio Alberto Robelo Guzman</cp:lastModifiedBy>
  <cp:revision>8</cp:revision>
  <dcterms:created xsi:type="dcterms:W3CDTF">2025-10-10T19:30:47Z</dcterms:created>
  <dcterms:modified xsi:type="dcterms:W3CDTF">2025-10-10T22:49:04Z</dcterms:modified>
</cp:coreProperties>
</file>