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64" r:id="rId4"/>
    <p:sldId id="258" r:id="rId5"/>
    <p:sldId id="265" r:id="rId6"/>
    <p:sldId id="259" r:id="rId7"/>
    <p:sldId id="263" r:id="rId8"/>
    <p:sldId id="260" r:id="rId9"/>
    <p:sldId id="261" r:id="rId10"/>
    <p:sldId id="262" r:id="rId11"/>
  </p:sldIdLst>
  <p:sldSz cx="14630400" cy="8229600"/>
  <p:notesSz cx="8229600" cy="14630400"/>
  <p:embeddedFontLst>
    <p:embeddedFont>
      <p:font typeface="Tomorrow" panose="020B0604020202020204" charset="0"/>
      <p:regular r:id="rId13"/>
    </p:embeddedFont>
    <p:embeddedFont>
      <p:font typeface="Tomorrow Semi Bold" panose="020B0604020202020204" charset="0"/>
      <p:regular r:id="rId14"/>
    </p:embeddedFont>
  </p:embeddedFontLst>
  <p:defaultText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76245" autoAdjust="0"/>
  </p:normalViewPr>
  <p:slideViewPr>
    <p:cSldViewPr snapToGrid="0" snapToObjects="1">
      <p:cViewPr>
        <p:scale>
          <a:sx n="50" d="100"/>
          <a:sy n="50" d="100"/>
        </p:scale>
        <p:origin x="1074"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434038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C9C9C0"/>
                </a:solidFill>
                <a:latin typeface="Tomorrow" pitchFamily="34" charset="0"/>
              </a:rPr>
              <a:t>Like the </a:t>
            </a:r>
            <a:r>
              <a:rPr lang="en-US" sz="1200" dirty="0" err="1">
                <a:solidFill>
                  <a:srgbClr val="C9C9C0"/>
                </a:solidFill>
                <a:latin typeface="Tomorrow" pitchFamily="34" charset="0"/>
              </a:rPr>
              <a:t>franja</a:t>
            </a:r>
            <a:r>
              <a:rPr lang="en-US" sz="1200" dirty="0">
                <a:solidFill>
                  <a:srgbClr val="C9C9C0"/>
                </a:solidFill>
                <a:latin typeface="Tomorrow" pitchFamily="34" charset="0"/>
              </a:rPr>
              <a:t> del No, viral campaigns can pierce censorship and coordinate collective action—witness movements such as #NiUnaMenos or protests in defense of democracy across the region. Yet, echoing Montesinos's logic, digital platforms can also fragment publics, spread disinformation, and algorithmically target individuals with personalized propaganda.</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rgbClr val="C9C9C0"/>
                </a:solidFill>
                <a:latin typeface="Tomorrow" pitchFamily="34" charset="0"/>
              </a:rPr>
              <a:t>Key Takeaway:</a:t>
            </a:r>
            <a:r>
              <a:rPr lang="en-US" sz="1200" dirty="0">
                <a:solidFill>
                  <a:srgbClr val="C9C9C0"/>
                </a:solidFill>
                <a:latin typeface="Tomorrow" pitchFamily="34" charset="0"/>
              </a:rPr>
              <a:t> Television once unified the public sphere; social media risks dividing it into isolated echo chambers. Yet the fundamental principle remains unchanged: democratic survival requires citizens to share a common informational space where truth can challenge power.</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hape 1">
            <a:extLst>
              <a:ext uri="{FF2B5EF4-FFF2-40B4-BE49-F238E27FC236}">
                <a16:creationId xmlns:a16="http://schemas.microsoft.com/office/drawing/2014/main" id="{D8EF9A1E-80E3-C055-DC69-E5E683ACE483}"/>
              </a:ext>
            </a:extLst>
          </p:cNvPr>
          <p:cNvSpPr/>
          <p:nvPr userDrawn="1"/>
        </p:nvSpPr>
        <p:spPr>
          <a:xfrm>
            <a:off x="0" y="0"/>
            <a:ext cx="14630400" cy="8229600"/>
          </a:xfrm>
          <a:prstGeom prst="rect">
            <a:avLst/>
          </a:prstGeom>
          <a:solidFill>
            <a:srgbClr val="1D1D1B"/>
          </a:solidFill>
          <a:ln/>
        </p:spPr>
        <p:txBody>
          <a:bodyPr/>
          <a:lstStyle/>
          <a:p>
            <a:endParaRPr lang="es-AR"/>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10.jpeg"/><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nvSpPr>
        <p:spPr>
          <a:xfrm>
            <a:off x="565191" y="854749"/>
            <a:ext cx="5905500" cy="1860233"/>
          </a:xfrm>
          <a:prstGeom prst="rect">
            <a:avLst/>
          </a:prstGeom>
          <a:noFill/>
          <a:ln/>
        </p:spPr>
        <p:txBody>
          <a:bodyPr wrap="square" lIns="0" tIns="0" rIns="0" bIns="0" rtlCol="0" anchor="t"/>
          <a:lstStyle/>
          <a:p>
            <a:pPr marL="0" indent="0" algn="l">
              <a:lnSpc>
                <a:spcPts val="4850"/>
              </a:lnSpc>
              <a:buNone/>
            </a:pPr>
            <a:r>
              <a:rPr lang="en-US" sz="3900" dirty="0">
                <a:solidFill>
                  <a:srgbClr val="EDEDE8"/>
                </a:solidFill>
                <a:latin typeface="Tomorrow Semi Bold" pitchFamily="34" charset="0"/>
                <a:ea typeface="Tomorrow Semi Bold" pitchFamily="34" charset="-122"/>
                <a:cs typeface="Tomorrow Semi Bold" pitchFamily="34" charset="-120"/>
              </a:rPr>
              <a:t>Media, Power, and the Subversion or Restoration of Democracy in Latin America</a:t>
            </a:r>
            <a:endParaRPr lang="en-US" sz="3900" dirty="0"/>
          </a:p>
        </p:txBody>
      </p:sp>
      <p:sp>
        <p:nvSpPr>
          <p:cNvPr id="4" name="Text 1"/>
          <p:cNvSpPr/>
          <p:nvPr/>
        </p:nvSpPr>
        <p:spPr>
          <a:xfrm>
            <a:off x="565191" y="3787379"/>
            <a:ext cx="4921210" cy="635079"/>
          </a:xfrm>
          <a:prstGeom prst="rect">
            <a:avLst/>
          </a:prstGeom>
          <a:noFill/>
          <a:ln/>
        </p:spPr>
        <p:txBody>
          <a:bodyPr wrap="square" lIns="0" tIns="0" rIns="0" bIns="0" rtlCol="0" anchor="t"/>
          <a:lstStyle/>
          <a:p>
            <a:pPr marL="0" indent="0" algn="l">
              <a:lnSpc>
                <a:spcPts val="2500"/>
              </a:lnSpc>
              <a:buNone/>
            </a:pPr>
            <a:r>
              <a:rPr lang="en-US" sz="1550" dirty="0">
                <a:solidFill>
                  <a:srgbClr val="C9C9C0"/>
                </a:solidFill>
                <a:latin typeface="Tomorrow" pitchFamily="34" charset="0"/>
                <a:ea typeface="Tomorrow" pitchFamily="34" charset="-122"/>
                <a:cs typeface="Tomorrow" pitchFamily="34" charset="-120"/>
              </a:rPr>
              <a:t>We explore how television shaped political reality and determined democratic outcomes across Latin America from the 1970s through the 1990s.</a:t>
            </a:r>
          </a:p>
          <a:p>
            <a:pPr marL="0" indent="0" algn="l">
              <a:lnSpc>
                <a:spcPts val="2500"/>
              </a:lnSpc>
              <a:buNone/>
            </a:pPr>
            <a:endParaRPr lang="en-US" sz="1550" dirty="0">
              <a:solidFill>
                <a:srgbClr val="C9C9C0"/>
              </a:solidFill>
              <a:latin typeface="Tomorrow" pitchFamily="34" charset="0"/>
              <a:ea typeface="Tomorrow" pitchFamily="34" charset="-122"/>
              <a:cs typeface="Tomorrow" pitchFamily="34" charset="-120"/>
            </a:endParaRPr>
          </a:p>
          <a:p>
            <a:pPr marL="0" indent="0" algn="l">
              <a:lnSpc>
                <a:spcPts val="2500"/>
              </a:lnSpc>
              <a:buNone/>
            </a:pPr>
            <a:r>
              <a:rPr lang="en-US" sz="1550" dirty="0">
                <a:solidFill>
                  <a:srgbClr val="C9C9C0"/>
                </a:solidFill>
                <a:latin typeface="Tomorrow" pitchFamily="34" charset="0"/>
                <a:ea typeface="Tomorrow" pitchFamily="34" charset="-122"/>
                <a:cs typeface="Tomorrow" pitchFamily="34" charset="-120"/>
              </a:rPr>
              <a:t>In one case, television was corrupted and silenced to maintain a façade of democracy; in the other, it became the channel through which democracy reawakened.</a:t>
            </a:r>
            <a:endParaRPr lang="en-US" sz="1550" dirty="0"/>
          </a:p>
        </p:txBody>
      </p:sp>
      <p:pic>
        <p:nvPicPr>
          <p:cNvPr id="1026" name="Picture 2">
            <a:extLst>
              <a:ext uri="{FF2B5EF4-FFF2-40B4-BE49-F238E27FC236}">
                <a16:creationId xmlns:a16="http://schemas.microsoft.com/office/drawing/2014/main" id="{F1F680BB-F230-835F-A4AE-11AF61C2D05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0477" r="13255"/>
          <a:stretch>
            <a:fillRect/>
          </a:stretch>
        </p:blipFill>
        <p:spPr bwMode="auto">
          <a:xfrm>
            <a:off x="6604041" y="879515"/>
            <a:ext cx="7792504" cy="586668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749975"/>
            <a:ext cx="13042821" cy="1240155"/>
          </a:xfrm>
          <a:prstGeom prst="rect">
            <a:avLst/>
          </a:prstGeom>
          <a:noFill/>
          <a:ln/>
        </p:spPr>
        <p:txBody>
          <a:bodyPr wrap="square" lIns="0" tIns="0" rIns="0" bIns="0" rtlCol="0" anchor="t"/>
          <a:lstStyle/>
          <a:p>
            <a:pPr marL="0" indent="0" algn="l">
              <a:lnSpc>
                <a:spcPts val="4850"/>
              </a:lnSpc>
              <a:buNone/>
            </a:pPr>
            <a:r>
              <a:rPr lang="en-US" sz="3900" dirty="0">
                <a:solidFill>
                  <a:srgbClr val="EDEDE8"/>
                </a:solidFill>
                <a:latin typeface="Tomorrow Semi Bold" pitchFamily="34" charset="0"/>
                <a:ea typeface="Tomorrow Semi Bold" pitchFamily="34" charset="-122"/>
                <a:cs typeface="Tomorrow Semi Bold" pitchFamily="34" charset="-120"/>
              </a:rPr>
              <a:t>Setting the Stage: Television and the Politics of Visibility</a:t>
            </a:r>
            <a:endParaRPr lang="en-US" sz="3900" dirty="0"/>
          </a:p>
        </p:txBody>
      </p:sp>
      <p:sp>
        <p:nvSpPr>
          <p:cNvPr id="3" name="Text 1"/>
          <p:cNvSpPr/>
          <p:nvPr/>
        </p:nvSpPr>
        <p:spPr>
          <a:xfrm>
            <a:off x="793790" y="2236400"/>
            <a:ext cx="7632025" cy="1905238"/>
          </a:xfrm>
          <a:prstGeom prst="rect">
            <a:avLst/>
          </a:prstGeom>
          <a:noFill/>
          <a:ln/>
        </p:spPr>
        <p:txBody>
          <a:bodyPr wrap="square" lIns="0" tIns="0" rIns="0" bIns="0" rtlCol="0" anchor="t"/>
          <a:lstStyle/>
          <a:p>
            <a:pPr marL="0" indent="0" algn="l">
              <a:lnSpc>
                <a:spcPts val="2500"/>
              </a:lnSpc>
              <a:buNone/>
            </a:pPr>
            <a:r>
              <a:rPr lang="en-US" sz="1550" dirty="0">
                <a:solidFill>
                  <a:srgbClr val="C9C9C0"/>
                </a:solidFill>
                <a:latin typeface="Tomorrow" pitchFamily="34" charset="0"/>
                <a:ea typeface="Tomorrow" pitchFamily="34" charset="-122"/>
                <a:cs typeface="Tomorrow" pitchFamily="34" charset="-120"/>
              </a:rPr>
              <a:t>From the 1970s through the democratic wave of the 1990s, mass media became the most powerful tool for shaping political reality in Latin America. Radio and print had long mediated the public sphere, but television transformed the scale and immediacy of communication. It could reach millions simultaneously, transmit emotion as well as information, and—crucially—link rulers to citizens without the mediation of parties or institutions.</a:t>
            </a:r>
            <a:endParaRPr lang="en-US" sz="1550" dirty="0"/>
          </a:p>
        </p:txBody>
      </p:sp>
      <p:sp>
        <p:nvSpPr>
          <p:cNvPr id="4" name="Text 2"/>
          <p:cNvSpPr/>
          <p:nvPr/>
        </p:nvSpPr>
        <p:spPr>
          <a:xfrm>
            <a:off x="793790" y="4702612"/>
            <a:ext cx="7632025" cy="1587698"/>
          </a:xfrm>
          <a:prstGeom prst="rect">
            <a:avLst/>
          </a:prstGeom>
          <a:noFill/>
          <a:ln/>
        </p:spPr>
        <p:txBody>
          <a:bodyPr wrap="square" lIns="0" tIns="0" rIns="0" bIns="0" rtlCol="0" anchor="t"/>
          <a:lstStyle/>
          <a:p>
            <a:pPr marL="0" indent="0" algn="l">
              <a:lnSpc>
                <a:spcPts val="2500"/>
              </a:lnSpc>
              <a:buNone/>
            </a:pPr>
            <a:r>
              <a:rPr lang="en-US" sz="1550" dirty="0">
                <a:solidFill>
                  <a:srgbClr val="C9C9C0"/>
                </a:solidFill>
                <a:latin typeface="Tomorrow" pitchFamily="34" charset="0"/>
                <a:ea typeface="Tomorrow" pitchFamily="34" charset="-122"/>
                <a:cs typeface="Tomorrow" pitchFamily="34" charset="-120"/>
              </a:rPr>
              <a:t>Authoritarian rulers quickly understood that whoever controlled television could control the narrative of legitimacy. Likewise, democratic reformers learned that even limited access to the airwaves could erode the walls of fear and censorship. The cases of Peru under Alberto Fujimori and Vladimiro Montesinos, and Chile under Augusto Pinochet, illustrate two sides of this same coin.</a:t>
            </a:r>
            <a:endParaRPr lang="en-US" sz="1550" dirty="0"/>
          </a:p>
        </p:txBody>
      </p:sp>
      <p:sp>
        <p:nvSpPr>
          <p:cNvPr id="8" name="Text 5"/>
          <p:cNvSpPr/>
          <p:nvPr/>
        </p:nvSpPr>
        <p:spPr>
          <a:xfrm>
            <a:off x="793790" y="6692146"/>
            <a:ext cx="13042821" cy="635079"/>
          </a:xfrm>
          <a:prstGeom prst="rect">
            <a:avLst/>
          </a:prstGeom>
          <a:noFill/>
          <a:ln/>
        </p:spPr>
        <p:txBody>
          <a:bodyPr wrap="square" lIns="0" tIns="0" rIns="0" bIns="0" rtlCol="0" anchor="t"/>
          <a:lstStyle/>
          <a:p>
            <a:pPr marL="0" indent="0" algn="l">
              <a:lnSpc>
                <a:spcPts val="2500"/>
              </a:lnSpc>
              <a:buNone/>
            </a:pPr>
            <a:r>
              <a:rPr lang="en-US" sz="1550" dirty="0">
                <a:solidFill>
                  <a:srgbClr val="C9C9C0"/>
                </a:solidFill>
                <a:latin typeface="Tomorrow" pitchFamily="34" charset="0"/>
                <a:ea typeface="Tomorrow" pitchFamily="34" charset="-122"/>
                <a:cs typeface="Tomorrow" pitchFamily="34" charset="-120"/>
              </a:rPr>
              <a:t>Understanding how these media dynamics unfolded allows us to see why the control—or liberation—of television often determines whether democratic institutions endure or collapse.</a:t>
            </a:r>
            <a:endParaRPr lang="en-US" sz="1550" dirty="0"/>
          </a:p>
        </p:txBody>
      </p:sp>
      <p:pic>
        <p:nvPicPr>
          <p:cNvPr id="2052" name="Picture 4">
            <a:extLst>
              <a:ext uri="{FF2B5EF4-FFF2-40B4-BE49-F238E27FC236}">
                <a16:creationId xmlns:a16="http://schemas.microsoft.com/office/drawing/2014/main" id="{D5F60ADA-3706-9F98-35F5-213C4FDA685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4000" r="12200"/>
          <a:stretch>
            <a:fillRect/>
          </a:stretch>
        </p:blipFill>
        <p:spPr bwMode="auto">
          <a:xfrm>
            <a:off x="8572500" y="1522452"/>
            <a:ext cx="5848350" cy="480230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7BA7572A-AD0A-D005-D6A2-A5EF55B8B8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4630400" cy="8229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053981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57939" y="627221"/>
            <a:ext cx="12715280" cy="513993"/>
          </a:xfrm>
          <a:prstGeom prst="rect">
            <a:avLst/>
          </a:prstGeom>
          <a:noFill/>
          <a:ln/>
        </p:spPr>
        <p:txBody>
          <a:bodyPr wrap="none" lIns="0" tIns="0" rIns="0" bIns="0" rtlCol="0" anchor="t"/>
          <a:lstStyle/>
          <a:p>
            <a:pPr marL="0" indent="0" algn="l">
              <a:lnSpc>
                <a:spcPts val="4000"/>
              </a:lnSpc>
              <a:buNone/>
            </a:pPr>
            <a:r>
              <a:rPr lang="en-US" sz="3200" dirty="0">
                <a:solidFill>
                  <a:srgbClr val="EDEDE8"/>
                </a:solidFill>
                <a:latin typeface="Tomorrow Semi Bold" pitchFamily="34" charset="0"/>
                <a:ea typeface="Tomorrow Semi Bold" pitchFamily="34" charset="-122"/>
                <a:cs typeface="Tomorrow Semi Bold" pitchFamily="34" charset="-120"/>
              </a:rPr>
              <a:t>The Peruvian Case: Montesinos and the Market for Corruption</a:t>
            </a:r>
            <a:endParaRPr lang="en-US" sz="3200" dirty="0"/>
          </a:p>
        </p:txBody>
      </p:sp>
      <p:sp>
        <p:nvSpPr>
          <p:cNvPr id="3" name="Text 1"/>
          <p:cNvSpPr/>
          <p:nvPr/>
        </p:nvSpPr>
        <p:spPr>
          <a:xfrm>
            <a:off x="657939" y="1470184"/>
            <a:ext cx="164425" cy="205621"/>
          </a:xfrm>
          <a:prstGeom prst="rect">
            <a:avLst/>
          </a:prstGeom>
          <a:noFill/>
          <a:ln/>
        </p:spPr>
        <p:txBody>
          <a:bodyPr wrap="none" lIns="0" tIns="0" rIns="0" bIns="0" rtlCol="0" anchor="t"/>
          <a:lstStyle/>
          <a:p>
            <a:pPr marL="0" indent="0" algn="l">
              <a:lnSpc>
                <a:spcPts val="2050"/>
              </a:lnSpc>
              <a:buNone/>
            </a:pPr>
            <a:r>
              <a:rPr lang="en-US" dirty="0">
                <a:solidFill>
                  <a:srgbClr val="C9C9C0"/>
                </a:solidFill>
                <a:latin typeface="Tomorrow Light" pitchFamily="34" charset="0"/>
                <a:ea typeface="Tomorrow Light" pitchFamily="34" charset="-122"/>
                <a:cs typeface="Tomorrow Light" pitchFamily="34" charset="-120"/>
              </a:rPr>
              <a:t>01</a:t>
            </a:r>
            <a:endParaRPr lang="en-US" dirty="0"/>
          </a:p>
        </p:txBody>
      </p:sp>
      <p:sp>
        <p:nvSpPr>
          <p:cNvPr id="4" name="Shape 2"/>
          <p:cNvSpPr/>
          <p:nvPr/>
        </p:nvSpPr>
        <p:spPr>
          <a:xfrm>
            <a:off x="657939" y="1726883"/>
            <a:ext cx="6574988" cy="22860"/>
          </a:xfrm>
          <a:prstGeom prst="rect">
            <a:avLst/>
          </a:prstGeom>
          <a:solidFill>
            <a:srgbClr val="E1E1DF"/>
          </a:solidFill>
          <a:ln/>
        </p:spPr>
        <p:txBody>
          <a:bodyPr/>
          <a:lstStyle/>
          <a:p>
            <a:endParaRPr lang="es-AR"/>
          </a:p>
        </p:txBody>
      </p:sp>
      <p:sp>
        <p:nvSpPr>
          <p:cNvPr id="5" name="Text 3"/>
          <p:cNvSpPr/>
          <p:nvPr/>
        </p:nvSpPr>
        <p:spPr>
          <a:xfrm>
            <a:off x="657939" y="1854756"/>
            <a:ext cx="2623304" cy="256937"/>
          </a:xfrm>
          <a:prstGeom prst="rect">
            <a:avLst/>
          </a:prstGeom>
          <a:noFill/>
          <a:ln/>
        </p:spPr>
        <p:txBody>
          <a:bodyPr wrap="none" lIns="0" tIns="0" rIns="0" bIns="0" rtlCol="0" anchor="t"/>
          <a:lstStyle/>
          <a:p>
            <a:pPr marL="0" indent="0" algn="l">
              <a:lnSpc>
                <a:spcPts val="2000"/>
              </a:lnSpc>
              <a:buNone/>
            </a:pPr>
            <a:r>
              <a:rPr lang="en-US" sz="2000" b="1" dirty="0">
                <a:solidFill>
                  <a:srgbClr val="C9C9C0"/>
                </a:solidFill>
                <a:latin typeface="Tomorrow Semi Bold" pitchFamily="34" charset="0"/>
                <a:ea typeface="Tomorrow Semi Bold" pitchFamily="34" charset="-122"/>
                <a:cs typeface="Tomorrow Semi Bold" pitchFamily="34" charset="-120"/>
              </a:rPr>
              <a:t>Power Behind the Throne</a:t>
            </a:r>
            <a:endParaRPr lang="en-US" sz="2000" b="1" dirty="0"/>
          </a:p>
        </p:txBody>
      </p:sp>
      <p:sp>
        <p:nvSpPr>
          <p:cNvPr id="6" name="Text 4"/>
          <p:cNvSpPr/>
          <p:nvPr/>
        </p:nvSpPr>
        <p:spPr>
          <a:xfrm>
            <a:off x="657939" y="2210395"/>
            <a:ext cx="6574988" cy="1579483"/>
          </a:xfrm>
          <a:prstGeom prst="rect">
            <a:avLst/>
          </a:prstGeom>
          <a:noFill/>
          <a:ln/>
        </p:spPr>
        <p:txBody>
          <a:bodyPr wrap="square" lIns="0" tIns="0" rIns="0" bIns="0" rtlCol="0" anchor="t"/>
          <a:lstStyle/>
          <a:p>
            <a:pPr marL="0" indent="0" algn="l">
              <a:lnSpc>
                <a:spcPts val="2050"/>
              </a:lnSpc>
              <a:buNone/>
            </a:pPr>
            <a:r>
              <a:rPr lang="en-US" sz="1550" dirty="0">
                <a:solidFill>
                  <a:srgbClr val="C9C9C0"/>
                </a:solidFill>
                <a:latin typeface="Tomorrow" pitchFamily="34" charset="0"/>
                <a:ea typeface="Tomorrow" pitchFamily="34" charset="-122"/>
                <a:cs typeface="Tomorrow" pitchFamily="34" charset="-120"/>
              </a:rPr>
              <a:t>When Fujimori came to power in 1990, Peru was a nation in disarray: hyperinflation, insurgency, and discredited political parties. Into this vacuum stepped Vladimiro Montesinos, a disgraced ex-officer who became the de facto architect of government as head of the National Intelligence Service (SIN). Montesinos grasped a fundamental truth about modern authoritarianism: it is not always imposed by force, but by buying the appearance of consent.</a:t>
            </a:r>
            <a:endParaRPr lang="en-US" sz="1550" dirty="0"/>
          </a:p>
        </p:txBody>
      </p:sp>
      <p:sp>
        <p:nvSpPr>
          <p:cNvPr id="7" name="Text 5"/>
          <p:cNvSpPr/>
          <p:nvPr/>
        </p:nvSpPr>
        <p:spPr>
          <a:xfrm>
            <a:off x="7397353" y="1470184"/>
            <a:ext cx="164425" cy="205621"/>
          </a:xfrm>
          <a:prstGeom prst="rect">
            <a:avLst/>
          </a:prstGeom>
          <a:noFill/>
          <a:ln/>
        </p:spPr>
        <p:txBody>
          <a:bodyPr wrap="none" lIns="0" tIns="0" rIns="0" bIns="0" rtlCol="0" anchor="t"/>
          <a:lstStyle/>
          <a:p>
            <a:pPr marL="0" indent="0" algn="l">
              <a:lnSpc>
                <a:spcPts val="2050"/>
              </a:lnSpc>
              <a:buNone/>
            </a:pPr>
            <a:r>
              <a:rPr lang="en-US" dirty="0">
                <a:solidFill>
                  <a:srgbClr val="C9C9C0"/>
                </a:solidFill>
                <a:latin typeface="Tomorrow Light" pitchFamily="34" charset="0"/>
                <a:ea typeface="Tomorrow Light" pitchFamily="34" charset="-122"/>
                <a:cs typeface="Tomorrow Light" pitchFamily="34" charset="-120"/>
              </a:rPr>
              <a:t>02</a:t>
            </a:r>
            <a:endParaRPr lang="en-US" dirty="0"/>
          </a:p>
        </p:txBody>
      </p:sp>
      <p:sp>
        <p:nvSpPr>
          <p:cNvPr id="8" name="Shape 6"/>
          <p:cNvSpPr/>
          <p:nvPr/>
        </p:nvSpPr>
        <p:spPr>
          <a:xfrm>
            <a:off x="7397353" y="1726883"/>
            <a:ext cx="6575108" cy="22860"/>
          </a:xfrm>
          <a:prstGeom prst="rect">
            <a:avLst/>
          </a:prstGeom>
          <a:solidFill>
            <a:srgbClr val="E1E1DF"/>
          </a:solidFill>
          <a:ln/>
        </p:spPr>
        <p:txBody>
          <a:bodyPr/>
          <a:lstStyle/>
          <a:p>
            <a:endParaRPr lang="es-AR"/>
          </a:p>
        </p:txBody>
      </p:sp>
      <p:sp>
        <p:nvSpPr>
          <p:cNvPr id="9" name="Text 7"/>
          <p:cNvSpPr/>
          <p:nvPr/>
        </p:nvSpPr>
        <p:spPr>
          <a:xfrm>
            <a:off x="7397353" y="1854756"/>
            <a:ext cx="4723090" cy="256937"/>
          </a:xfrm>
          <a:prstGeom prst="rect">
            <a:avLst/>
          </a:prstGeom>
          <a:noFill/>
          <a:ln/>
        </p:spPr>
        <p:txBody>
          <a:bodyPr wrap="none" lIns="0" tIns="0" rIns="0" bIns="0" rtlCol="0" anchor="t"/>
          <a:lstStyle/>
          <a:p>
            <a:pPr marL="0" indent="0" algn="l">
              <a:lnSpc>
                <a:spcPts val="2000"/>
              </a:lnSpc>
              <a:buNone/>
            </a:pPr>
            <a:r>
              <a:rPr lang="en-US" sz="2000" b="1" dirty="0">
                <a:solidFill>
                  <a:srgbClr val="C9C9C0"/>
                </a:solidFill>
                <a:latin typeface="Tomorrow Semi Bold" pitchFamily="34" charset="0"/>
                <a:ea typeface="Tomorrow Semi Bold" pitchFamily="34" charset="-122"/>
                <a:cs typeface="Tomorrow Semi Bold" pitchFamily="34" charset="-120"/>
              </a:rPr>
              <a:t>Lies, Videotapes, and the Price of Compliance</a:t>
            </a:r>
            <a:endParaRPr lang="en-US" sz="2000" b="1" dirty="0"/>
          </a:p>
        </p:txBody>
      </p:sp>
      <p:sp>
        <p:nvSpPr>
          <p:cNvPr id="10" name="Text 8"/>
          <p:cNvSpPr/>
          <p:nvPr/>
        </p:nvSpPr>
        <p:spPr>
          <a:xfrm>
            <a:off x="7397353" y="2210395"/>
            <a:ext cx="6575108" cy="1842730"/>
          </a:xfrm>
          <a:prstGeom prst="rect">
            <a:avLst/>
          </a:prstGeom>
          <a:noFill/>
          <a:ln/>
        </p:spPr>
        <p:txBody>
          <a:bodyPr wrap="square" lIns="0" tIns="0" rIns="0" bIns="0" rtlCol="0" anchor="t"/>
          <a:lstStyle/>
          <a:p>
            <a:pPr marL="0" indent="0" algn="l">
              <a:lnSpc>
                <a:spcPts val="2050"/>
              </a:lnSpc>
              <a:buNone/>
            </a:pPr>
            <a:r>
              <a:rPr lang="en-US" sz="1550" dirty="0">
                <a:solidFill>
                  <a:srgbClr val="C9C9C0"/>
                </a:solidFill>
                <a:latin typeface="Tomorrow" pitchFamily="34" charset="0"/>
                <a:ea typeface="Tomorrow" pitchFamily="34" charset="-122"/>
                <a:cs typeface="Tomorrow" pitchFamily="34" charset="-120"/>
              </a:rPr>
              <a:t>Montesinos's genius and eventual downfall lay in his obsession with documentation. He demanded written receipts for bribes and filmed his transactions—the now infamous </a:t>
            </a:r>
            <a:r>
              <a:rPr lang="en-US" sz="1550" i="1" dirty="0">
                <a:solidFill>
                  <a:srgbClr val="C9C9C0"/>
                </a:solidFill>
                <a:latin typeface="Tomorrow" pitchFamily="34" charset="0"/>
                <a:ea typeface="Tomorrow" pitchFamily="34" charset="-122"/>
                <a:cs typeface="Tomorrow" pitchFamily="34" charset="-120"/>
              </a:rPr>
              <a:t>vladivideos</a:t>
            </a:r>
            <a:r>
              <a:rPr lang="en-US" sz="1550" dirty="0">
                <a:solidFill>
                  <a:srgbClr val="C9C9C0"/>
                </a:solidFill>
                <a:latin typeface="Tomorrow" pitchFamily="34" charset="0"/>
                <a:ea typeface="Tomorrow" pitchFamily="34" charset="-122"/>
                <a:cs typeface="Tomorrow" pitchFamily="34" charset="-120"/>
              </a:rPr>
              <a:t>. By analyzing these tapes, McMillan and Zoido revealed a the political economy of </a:t>
            </a:r>
            <a:r>
              <a:rPr lang="en-US" sz="1550" dirty="0">
                <a:solidFill>
                  <a:srgbClr val="C9C9C0"/>
                </a:solidFill>
                <a:latin typeface="Tomorrow" pitchFamily="34" charset="0"/>
              </a:rPr>
              <a:t>corruption</a:t>
            </a:r>
            <a:r>
              <a:rPr lang="en-US" sz="1550" b="1" dirty="0">
                <a:solidFill>
                  <a:srgbClr val="C9C9C0"/>
                </a:solidFill>
                <a:latin typeface="Tomorrow" pitchFamily="34" charset="0"/>
              </a:rPr>
              <a:t>: television was the most expensive institution to capture</a:t>
            </a:r>
            <a:r>
              <a:rPr lang="en-US" sz="1550" dirty="0">
                <a:solidFill>
                  <a:srgbClr val="C9C9C0"/>
                </a:solidFill>
                <a:latin typeface="Tomorrow" pitchFamily="34" charset="0"/>
              </a:rPr>
              <a:t>. A single TV channel cost Montesinos more than all opposition </a:t>
            </a:r>
            <a:r>
              <a:rPr lang="en-US" sz="1550" dirty="0">
                <a:solidFill>
                  <a:srgbClr val="C9C9C0"/>
                </a:solidFill>
                <a:latin typeface="Tomorrow" pitchFamily="34" charset="0"/>
                <a:ea typeface="Tomorrow" pitchFamily="34" charset="-122"/>
                <a:cs typeface="Tomorrow" pitchFamily="34" charset="-120"/>
              </a:rPr>
              <a:t>politicians combined, confirming that media, not parliament, was the regime's real check on power.</a:t>
            </a:r>
            <a:endParaRPr lang="en-US" sz="1550" dirty="0"/>
          </a:p>
        </p:txBody>
      </p:sp>
      <p:sp>
        <p:nvSpPr>
          <p:cNvPr id="11" name="Text 9"/>
          <p:cNvSpPr/>
          <p:nvPr/>
        </p:nvSpPr>
        <p:spPr>
          <a:xfrm>
            <a:off x="657939" y="4889539"/>
            <a:ext cx="164425" cy="205621"/>
          </a:xfrm>
          <a:prstGeom prst="rect">
            <a:avLst/>
          </a:prstGeom>
          <a:noFill/>
          <a:ln/>
        </p:spPr>
        <p:txBody>
          <a:bodyPr wrap="none" lIns="0" tIns="0" rIns="0" bIns="0" rtlCol="0" anchor="t"/>
          <a:lstStyle/>
          <a:p>
            <a:pPr marL="0" indent="0" algn="l">
              <a:lnSpc>
                <a:spcPts val="2050"/>
              </a:lnSpc>
              <a:buNone/>
            </a:pPr>
            <a:r>
              <a:rPr lang="en-US" dirty="0">
                <a:solidFill>
                  <a:srgbClr val="C9C9C0"/>
                </a:solidFill>
                <a:latin typeface="Tomorrow Light" pitchFamily="34" charset="0"/>
                <a:ea typeface="Tomorrow Light" pitchFamily="34" charset="-122"/>
                <a:cs typeface="Tomorrow Light" pitchFamily="34" charset="-120"/>
              </a:rPr>
              <a:t>03</a:t>
            </a:r>
            <a:endParaRPr lang="en-US" dirty="0"/>
          </a:p>
        </p:txBody>
      </p:sp>
      <p:sp>
        <p:nvSpPr>
          <p:cNvPr id="12" name="Shape 10"/>
          <p:cNvSpPr/>
          <p:nvPr/>
        </p:nvSpPr>
        <p:spPr>
          <a:xfrm>
            <a:off x="657939" y="5146237"/>
            <a:ext cx="6574988" cy="22860"/>
          </a:xfrm>
          <a:prstGeom prst="rect">
            <a:avLst/>
          </a:prstGeom>
          <a:solidFill>
            <a:srgbClr val="E1E1DF"/>
          </a:solidFill>
          <a:ln/>
        </p:spPr>
        <p:txBody>
          <a:bodyPr/>
          <a:lstStyle/>
          <a:p>
            <a:endParaRPr lang="es-AR"/>
          </a:p>
        </p:txBody>
      </p:sp>
      <p:sp>
        <p:nvSpPr>
          <p:cNvPr id="13" name="Text 11"/>
          <p:cNvSpPr/>
          <p:nvPr/>
        </p:nvSpPr>
        <p:spPr>
          <a:xfrm>
            <a:off x="657939" y="5274111"/>
            <a:ext cx="2399467" cy="256937"/>
          </a:xfrm>
          <a:prstGeom prst="rect">
            <a:avLst/>
          </a:prstGeom>
          <a:noFill/>
          <a:ln/>
        </p:spPr>
        <p:txBody>
          <a:bodyPr wrap="none" lIns="0" tIns="0" rIns="0" bIns="0" rtlCol="0" anchor="t"/>
          <a:lstStyle/>
          <a:p>
            <a:pPr marL="0" indent="0" algn="l">
              <a:lnSpc>
                <a:spcPts val="2000"/>
              </a:lnSpc>
              <a:buNone/>
            </a:pPr>
            <a:r>
              <a:rPr lang="en-US" sz="2000" b="1" dirty="0">
                <a:solidFill>
                  <a:srgbClr val="C9C9C0"/>
                </a:solidFill>
                <a:latin typeface="Tomorrow Semi Bold" pitchFamily="34" charset="0"/>
                <a:ea typeface="Tomorrow Semi Bold" pitchFamily="34" charset="-122"/>
                <a:cs typeface="Tomorrow Semi Bold" pitchFamily="34" charset="-120"/>
              </a:rPr>
              <a:t>Mechanisms of Control</a:t>
            </a:r>
            <a:endParaRPr lang="en-US" sz="2000" b="1" dirty="0"/>
          </a:p>
        </p:txBody>
      </p:sp>
      <p:sp>
        <p:nvSpPr>
          <p:cNvPr id="14" name="Text 12"/>
          <p:cNvSpPr/>
          <p:nvPr/>
        </p:nvSpPr>
        <p:spPr>
          <a:xfrm>
            <a:off x="657939" y="5629750"/>
            <a:ext cx="6574988" cy="1579483"/>
          </a:xfrm>
          <a:prstGeom prst="rect">
            <a:avLst/>
          </a:prstGeom>
          <a:noFill/>
          <a:ln/>
        </p:spPr>
        <p:txBody>
          <a:bodyPr wrap="square" lIns="0" tIns="0" rIns="0" bIns="0" rtlCol="0" anchor="t"/>
          <a:lstStyle/>
          <a:p>
            <a:pPr marL="0" indent="0" algn="l">
              <a:lnSpc>
                <a:spcPts val="2050"/>
              </a:lnSpc>
              <a:buNone/>
            </a:pPr>
            <a:r>
              <a:rPr lang="en-US" sz="1550" dirty="0">
                <a:solidFill>
                  <a:srgbClr val="C9C9C0"/>
                </a:solidFill>
                <a:latin typeface="Tomorrow" pitchFamily="34" charset="0"/>
                <a:ea typeface="Tomorrow" pitchFamily="34" charset="-122"/>
                <a:cs typeface="Tomorrow" pitchFamily="34" charset="-120"/>
              </a:rPr>
              <a:t>Montesinos created a system of perpetual dependency. Monthly payments ensured loyalty, while videotaped evidence served as blackmail. Violence was used sparingly; the true coercion was psychological and informational. Through these networks, he merged executive, legislative, and judicial powers under the veneer of legality—an echo of Madison's warning that such accumulation is the "very definition of tyranny."</a:t>
            </a:r>
            <a:endParaRPr lang="en-US" sz="1550" dirty="0"/>
          </a:p>
        </p:txBody>
      </p:sp>
      <p:sp>
        <p:nvSpPr>
          <p:cNvPr id="15" name="Text 13"/>
          <p:cNvSpPr/>
          <p:nvPr/>
        </p:nvSpPr>
        <p:spPr>
          <a:xfrm>
            <a:off x="7397353" y="4889539"/>
            <a:ext cx="164425" cy="205621"/>
          </a:xfrm>
          <a:prstGeom prst="rect">
            <a:avLst/>
          </a:prstGeom>
          <a:noFill/>
          <a:ln/>
        </p:spPr>
        <p:txBody>
          <a:bodyPr wrap="none" lIns="0" tIns="0" rIns="0" bIns="0" rtlCol="0" anchor="t"/>
          <a:lstStyle/>
          <a:p>
            <a:pPr marL="0" indent="0" algn="l">
              <a:lnSpc>
                <a:spcPts val="2050"/>
              </a:lnSpc>
              <a:buNone/>
            </a:pPr>
            <a:r>
              <a:rPr lang="en-US" dirty="0">
                <a:solidFill>
                  <a:srgbClr val="C9C9C0"/>
                </a:solidFill>
                <a:latin typeface="Tomorrow Light" pitchFamily="34" charset="0"/>
                <a:ea typeface="Tomorrow Light" pitchFamily="34" charset="-122"/>
                <a:cs typeface="Tomorrow Light" pitchFamily="34" charset="-120"/>
              </a:rPr>
              <a:t>04</a:t>
            </a:r>
            <a:endParaRPr lang="en-US" dirty="0"/>
          </a:p>
        </p:txBody>
      </p:sp>
      <p:sp>
        <p:nvSpPr>
          <p:cNvPr id="16" name="Shape 14"/>
          <p:cNvSpPr/>
          <p:nvPr/>
        </p:nvSpPr>
        <p:spPr>
          <a:xfrm>
            <a:off x="7397353" y="5146237"/>
            <a:ext cx="6575108" cy="22860"/>
          </a:xfrm>
          <a:prstGeom prst="rect">
            <a:avLst/>
          </a:prstGeom>
          <a:solidFill>
            <a:srgbClr val="E1E1DF"/>
          </a:solidFill>
          <a:ln/>
        </p:spPr>
        <p:txBody>
          <a:bodyPr/>
          <a:lstStyle/>
          <a:p>
            <a:endParaRPr lang="es-AR"/>
          </a:p>
        </p:txBody>
      </p:sp>
      <p:sp>
        <p:nvSpPr>
          <p:cNvPr id="17" name="Text 15"/>
          <p:cNvSpPr/>
          <p:nvPr/>
        </p:nvSpPr>
        <p:spPr>
          <a:xfrm>
            <a:off x="7397353" y="5274111"/>
            <a:ext cx="2854523" cy="256937"/>
          </a:xfrm>
          <a:prstGeom prst="rect">
            <a:avLst/>
          </a:prstGeom>
          <a:noFill/>
          <a:ln/>
        </p:spPr>
        <p:txBody>
          <a:bodyPr wrap="none" lIns="0" tIns="0" rIns="0" bIns="0" rtlCol="0" anchor="t"/>
          <a:lstStyle/>
          <a:p>
            <a:pPr marL="0" indent="0" algn="l">
              <a:lnSpc>
                <a:spcPts val="2000"/>
              </a:lnSpc>
              <a:buNone/>
            </a:pPr>
            <a:r>
              <a:rPr lang="en-US" sz="2000" b="1" dirty="0">
                <a:solidFill>
                  <a:srgbClr val="C9C9C0"/>
                </a:solidFill>
                <a:latin typeface="Tomorrow Semi Bold" pitchFamily="34" charset="0"/>
                <a:ea typeface="Tomorrow Semi Bold" pitchFamily="34" charset="-122"/>
                <a:cs typeface="Tomorrow Semi Bold" pitchFamily="34" charset="-120"/>
              </a:rPr>
              <a:t>Collapse Through Exposure</a:t>
            </a:r>
            <a:endParaRPr lang="en-US" sz="2000" b="1" dirty="0"/>
          </a:p>
        </p:txBody>
      </p:sp>
      <p:sp>
        <p:nvSpPr>
          <p:cNvPr id="18" name="Text 16"/>
          <p:cNvSpPr/>
          <p:nvPr/>
        </p:nvSpPr>
        <p:spPr>
          <a:xfrm>
            <a:off x="7397353" y="5629750"/>
            <a:ext cx="6575108" cy="1052989"/>
          </a:xfrm>
          <a:prstGeom prst="rect">
            <a:avLst/>
          </a:prstGeom>
          <a:noFill/>
          <a:ln/>
        </p:spPr>
        <p:txBody>
          <a:bodyPr wrap="square" lIns="0" tIns="0" rIns="0" bIns="0" rtlCol="0" anchor="t"/>
          <a:lstStyle/>
          <a:p>
            <a:pPr marL="0" indent="0" algn="l">
              <a:lnSpc>
                <a:spcPts val="2050"/>
              </a:lnSpc>
              <a:buNone/>
            </a:pPr>
            <a:r>
              <a:rPr lang="en-US" sz="1550" dirty="0">
                <a:solidFill>
                  <a:srgbClr val="C9C9C0"/>
                </a:solidFill>
                <a:latin typeface="Tomorrow" pitchFamily="34" charset="0"/>
                <a:ea typeface="Tomorrow" pitchFamily="34" charset="-122"/>
                <a:cs typeface="Tomorrow" pitchFamily="34" charset="-120"/>
              </a:rPr>
              <a:t>In 2000, a single videotape showing Montesinos bribing a congressman for $15,000 triggered the regime's implosion. Fujimori fled to Japan; Montesinos was arrested and tried. The downfall revealed a paradox of informational control: the same medium used to suppress truth became the instrument of exposure.</a:t>
            </a:r>
            <a:endParaRPr lang="en-US" sz="15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a:extLst>
              <a:ext uri="{FF2B5EF4-FFF2-40B4-BE49-F238E27FC236}">
                <a16:creationId xmlns:a16="http://schemas.microsoft.com/office/drawing/2014/main" id="{714B4603-C74C-C9EB-69DC-20F595237D8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74838" y="0"/>
            <a:ext cx="10879137" cy="8229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648265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82811" y="536138"/>
            <a:ext cx="12289274" cy="455414"/>
          </a:xfrm>
          <a:prstGeom prst="rect">
            <a:avLst/>
          </a:prstGeom>
          <a:noFill/>
          <a:ln/>
        </p:spPr>
        <p:txBody>
          <a:bodyPr wrap="none" lIns="0" tIns="0" rIns="0" bIns="0" rtlCol="0" anchor="t"/>
          <a:lstStyle/>
          <a:p>
            <a:pPr marL="0" indent="0" algn="l">
              <a:lnSpc>
                <a:spcPts val="3550"/>
              </a:lnSpc>
              <a:buNone/>
            </a:pPr>
            <a:r>
              <a:rPr lang="en-US" sz="2850" dirty="0">
                <a:solidFill>
                  <a:srgbClr val="EDEDE8"/>
                </a:solidFill>
                <a:latin typeface="Tomorrow Semi Bold" pitchFamily="34" charset="0"/>
                <a:ea typeface="Tomorrow Semi Bold" pitchFamily="34" charset="-122"/>
                <a:cs typeface="Tomorrow Semi Bold" pitchFamily="34" charset="-120"/>
              </a:rPr>
              <a:t>The Chilean Case: Television and the Democratic Defeat of Pinochet</a:t>
            </a:r>
            <a:endParaRPr lang="en-US" sz="2850" dirty="0"/>
          </a:p>
        </p:txBody>
      </p:sp>
      <p:sp>
        <p:nvSpPr>
          <p:cNvPr id="3" name="Shape 1"/>
          <p:cNvSpPr/>
          <p:nvPr/>
        </p:nvSpPr>
        <p:spPr>
          <a:xfrm>
            <a:off x="7307579" y="1282898"/>
            <a:ext cx="45719" cy="6697320"/>
          </a:xfrm>
          <a:prstGeom prst="roundRect">
            <a:avLst>
              <a:gd name="adj" fmla="val 143430"/>
            </a:avLst>
          </a:prstGeom>
          <a:solidFill>
            <a:srgbClr val="555553"/>
          </a:solidFill>
          <a:ln/>
        </p:spPr>
        <p:txBody>
          <a:bodyPr/>
          <a:lstStyle/>
          <a:p>
            <a:endParaRPr lang="es-AR"/>
          </a:p>
        </p:txBody>
      </p:sp>
      <p:sp>
        <p:nvSpPr>
          <p:cNvPr id="4" name="Shape 2"/>
          <p:cNvSpPr/>
          <p:nvPr/>
        </p:nvSpPr>
        <p:spPr>
          <a:xfrm>
            <a:off x="6729472" y="1439108"/>
            <a:ext cx="437078" cy="15240"/>
          </a:xfrm>
          <a:prstGeom prst="roundRect">
            <a:avLst>
              <a:gd name="adj" fmla="val 143430"/>
            </a:avLst>
          </a:prstGeom>
          <a:solidFill>
            <a:srgbClr val="555553"/>
          </a:solidFill>
          <a:ln/>
        </p:spPr>
        <p:txBody>
          <a:bodyPr/>
          <a:lstStyle/>
          <a:p>
            <a:endParaRPr lang="es-AR"/>
          </a:p>
        </p:txBody>
      </p:sp>
      <p:sp>
        <p:nvSpPr>
          <p:cNvPr id="5" name="Shape 3"/>
          <p:cNvSpPr/>
          <p:nvPr/>
        </p:nvSpPr>
        <p:spPr>
          <a:xfrm>
            <a:off x="7151310" y="1282898"/>
            <a:ext cx="327779" cy="327779"/>
          </a:xfrm>
          <a:prstGeom prst="roundRect">
            <a:avLst>
              <a:gd name="adj" fmla="val 6669"/>
            </a:avLst>
          </a:prstGeom>
          <a:solidFill>
            <a:srgbClr val="3C3C3A"/>
          </a:solidFill>
          <a:ln/>
        </p:spPr>
        <p:txBody>
          <a:bodyPr/>
          <a:lstStyle/>
          <a:p>
            <a:endParaRPr lang="es-AR"/>
          </a:p>
        </p:txBody>
      </p:sp>
      <p:sp>
        <p:nvSpPr>
          <p:cNvPr id="6" name="Text 4"/>
          <p:cNvSpPr/>
          <p:nvPr/>
        </p:nvSpPr>
        <p:spPr>
          <a:xfrm>
            <a:off x="7205901" y="1360039"/>
            <a:ext cx="218480" cy="273129"/>
          </a:xfrm>
          <a:prstGeom prst="rect">
            <a:avLst/>
          </a:prstGeom>
          <a:noFill/>
          <a:ln/>
        </p:spPr>
        <p:txBody>
          <a:bodyPr wrap="none" lIns="0" tIns="0" rIns="0" bIns="0" rtlCol="0" anchor="t"/>
          <a:lstStyle/>
          <a:p>
            <a:pPr marL="0" indent="0" algn="ctr">
              <a:lnSpc>
                <a:spcPts val="1700"/>
              </a:lnSpc>
              <a:buNone/>
            </a:pPr>
            <a:r>
              <a:rPr lang="en-US" sz="1700" dirty="0">
                <a:solidFill>
                  <a:srgbClr val="C9C9C0"/>
                </a:solidFill>
                <a:latin typeface="Tomorrow Semi Bold" pitchFamily="34" charset="0"/>
                <a:ea typeface="Tomorrow Semi Bold" pitchFamily="34" charset="-122"/>
                <a:cs typeface="Tomorrow Semi Bold" pitchFamily="34" charset="-120"/>
              </a:rPr>
              <a:t>1</a:t>
            </a:r>
            <a:endParaRPr lang="en-US" sz="1700" dirty="0"/>
          </a:p>
        </p:txBody>
      </p:sp>
      <p:sp>
        <p:nvSpPr>
          <p:cNvPr id="7" name="Text 5"/>
          <p:cNvSpPr/>
          <p:nvPr/>
        </p:nvSpPr>
        <p:spPr>
          <a:xfrm>
            <a:off x="3688437" y="1332905"/>
            <a:ext cx="2898219" cy="227648"/>
          </a:xfrm>
          <a:prstGeom prst="rect">
            <a:avLst/>
          </a:prstGeom>
          <a:noFill/>
          <a:ln/>
        </p:spPr>
        <p:txBody>
          <a:bodyPr wrap="none" lIns="0" tIns="0" rIns="0" bIns="0" rtlCol="0" anchor="t"/>
          <a:lstStyle/>
          <a:p>
            <a:pPr marL="0" indent="0" algn="r">
              <a:lnSpc>
                <a:spcPts val="1750"/>
              </a:lnSpc>
              <a:buNone/>
            </a:pPr>
            <a:r>
              <a:rPr lang="en-US" dirty="0">
                <a:solidFill>
                  <a:srgbClr val="C9C9C0"/>
                </a:solidFill>
                <a:latin typeface="Tomorrow Semi Bold" pitchFamily="34" charset="0"/>
                <a:ea typeface="Tomorrow Semi Bold" pitchFamily="34" charset="-122"/>
                <a:cs typeface="Tomorrow Semi Bold" pitchFamily="34" charset="-120"/>
              </a:rPr>
              <a:t>Context and the 1988 Plebiscite</a:t>
            </a:r>
            <a:endParaRPr lang="en-US" dirty="0"/>
          </a:p>
        </p:txBody>
      </p:sp>
      <p:sp>
        <p:nvSpPr>
          <p:cNvPr id="8" name="Text 6"/>
          <p:cNvSpPr/>
          <p:nvPr/>
        </p:nvSpPr>
        <p:spPr>
          <a:xfrm>
            <a:off x="582811" y="1647944"/>
            <a:ext cx="6003846" cy="1398746"/>
          </a:xfrm>
          <a:prstGeom prst="rect">
            <a:avLst/>
          </a:prstGeom>
          <a:noFill/>
          <a:ln/>
        </p:spPr>
        <p:txBody>
          <a:bodyPr wrap="square" lIns="0" tIns="0" rIns="0" bIns="0" rtlCol="0" anchor="t"/>
          <a:lstStyle/>
          <a:p>
            <a:pPr marL="0" indent="0" algn="r">
              <a:lnSpc>
                <a:spcPts val="1800"/>
              </a:lnSpc>
              <a:buNone/>
            </a:pPr>
            <a:r>
              <a:rPr lang="en-US" sz="1400" dirty="0">
                <a:solidFill>
                  <a:srgbClr val="C9C9C0"/>
                </a:solidFill>
                <a:latin typeface="Tomorrow" pitchFamily="34" charset="0"/>
                <a:ea typeface="Tomorrow" pitchFamily="34" charset="-122"/>
                <a:cs typeface="Tomorrow" pitchFamily="34" charset="-120"/>
              </a:rPr>
              <a:t>Chile's seventeen-year dictatorship sought to blend repression with constitutionalism. The 1980 constitution scheduled a plebiscite in 1988 to determine whether General Augusto Pinochet would rule for another eight years. Confident of victory, the regime permitted opposition access to television for fifteen minutes per night during the campaign. That space—the </a:t>
            </a:r>
            <a:r>
              <a:rPr lang="en-US" sz="1400" i="1" dirty="0">
                <a:solidFill>
                  <a:srgbClr val="C9C9C0"/>
                </a:solidFill>
                <a:latin typeface="Tomorrow" pitchFamily="34" charset="0"/>
                <a:ea typeface="Tomorrow" pitchFamily="34" charset="-122"/>
                <a:cs typeface="Tomorrow" pitchFamily="34" charset="-120"/>
              </a:rPr>
              <a:t>franja del No</a:t>
            </a:r>
            <a:r>
              <a:rPr lang="en-US" sz="1400" dirty="0">
                <a:solidFill>
                  <a:srgbClr val="C9C9C0"/>
                </a:solidFill>
                <a:latin typeface="Tomorrow" pitchFamily="34" charset="0"/>
                <a:ea typeface="Tomorrow" pitchFamily="34" charset="-122"/>
                <a:cs typeface="Tomorrow" pitchFamily="34" charset="-120"/>
              </a:rPr>
              <a:t>—became a turning point in Latin American political communication.</a:t>
            </a:r>
            <a:endParaRPr lang="en-US" sz="1400" dirty="0"/>
          </a:p>
        </p:txBody>
      </p:sp>
      <p:sp>
        <p:nvSpPr>
          <p:cNvPr id="9" name="Shape 7"/>
          <p:cNvSpPr/>
          <p:nvPr/>
        </p:nvSpPr>
        <p:spPr>
          <a:xfrm>
            <a:off x="7463850" y="2961658"/>
            <a:ext cx="437078" cy="15240"/>
          </a:xfrm>
          <a:prstGeom prst="roundRect">
            <a:avLst>
              <a:gd name="adj" fmla="val 143430"/>
            </a:avLst>
          </a:prstGeom>
          <a:solidFill>
            <a:srgbClr val="555553"/>
          </a:solidFill>
          <a:ln/>
        </p:spPr>
        <p:txBody>
          <a:bodyPr/>
          <a:lstStyle/>
          <a:p>
            <a:endParaRPr lang="es-AR"/>
          </a:p>
        </p:txBody>
      </p:sp>
      <p:sp>
        <p:nvSpPr>
          <p:cNvPr id="10" name="Shape 8"/>
          <p:cNvSpPr/>
          <p:nvPr/>
        </p:nvSpPr>
        <p:spPr>
          <a:xfrm>
            <a:off x="7151310" y="2805448"/>
            <a:ext cx="327779" cy="327779"/>
          </a:xfrm>
          <a:prstGeom prst="roundRect">
            <a:avLst>
              <a:gd name="adj" fmla="val 6669"/>
            </a:avLst>
          </a:prstGeom>
          <a:solidFill>
            <a:srgbClr val="3C3C3A"/>
          </a:solidFill>
          <a:ln/>
        </p:spPr>
        <p:txBody>
          <a:bodyPr/>
          <a:lstStyle/>
          <a:p>
            <a:endParaRPr lang="es-AR"/>
          </a:p>
        </p:txBody>
      </p:sp>
      <p:sp>
        <p:nvSpPr>
          <p:cNvPr id="11" name="Text 9"/>
          <p:cNvSpPr/>
          <p:nvPr/>
        </p:nvSpPr>
        <p:spPr>
          <a:xfrm>
            <a:off x="7205901" y="2882589"/>
            <a:ext cx="218480" cy="273129"/>
          </a:xfrm>
          <a:prstGeom prst="rect">
            <a:avLst/>
          </a:prstGeom>
          <a:noFill/>
          <a:ln/>
        </p:spPr>
        <p:txBody>
          <a:bodyPr wrap="none" lIns="0" tIns="0" rIns="0" bIns="0" rtlCol="0" anchor="t"/>
          <a:lstStyle/>
          <a:p>
            <a:pPr marL="0" indent="0" algn="ctr">
              <a:lnSpc>
                <a:spcPts val="1700"/>
              </a:lnSpc>
              <a:buNone/>
            </a:pPr>
            <a:r>
              <a:rPr lang="en-US" sz="1700" dirty="0">
                <a:solidFill>
                  <a:srgbClr val="C9C9C0"/>
                </a:solidFill>
                <a:latin typeface="Tomorrow Semi Bold" pitchFamily="34" charset="0"/>
                <a:ea typeface="Tomorrow Semi Bold" pitchFamily="34" charset="-122"/>
                <a:cs typeface="Tomorrow Semi Bold" pitchFamily="34" charset="-120"/>
              </a:rPr>
              <a:t>2</a:t>
            </a:r>
            <a:endParaRPr lang="en-US" sz="1700" dirty="0"/>
          </a:p>
        </p:txBody>
      </p:sp>
      <p:sp>
        <p:nvSpPr>
          <p:cNvPr id="12" name="Text 10"/>
          <p:cNvSpPr/>
          <p:nvPr/>
        </p:nvSpPr>
        <p:spPr>
          <a:xfrm>
            <a:off x="8043743" y="2855455"/>
            <a:ext cx="1933456" cy="227648"/>
          </a:xfrm>
          <a:prstGeom prst="rect">
            <a:avLst/>
          </a:prstGeom>
          <a:noFill/>
          <a:ln/>
        </p:spPr>
        <p:txBody>
          <a:bodyPr wrap="none" lIns="0" tIns="0" rIns="0" bIns="0" rtlCol="0" anchor="t"/>
          <a:lstStyle/>
          <a:p>
            <a:pPr marL="0" indent="0" algn="l">
              <a:lnSpc>
                <a:spcPts val="1750"/>
              </a:lnSpc>
              <a:buNone/>
            </a:pPr>
            <a:r>
              <a:rPr lang="en-US" dirty="0">
                <a:solidFill>
                  <a:srgbClr val="C9C9C0"/>
                </a:solidFill>
                <a:latin typeface="Tomorrow Semi Bold" pitchFamily="34" charset="0"/>
                <a:ea typeface="Tomorrow Semi Bold" pitchFamily="34" charset="-122"/>
                <a:cs typeface="Tomorrow Semi Bold" pitchFamily="34" charset="-120"/>
              </a:rPr>
              <a:t>The Campaign of Joy</a:t>
            </a:r>
            <a:endParaRPr lang="en-US" dirty="0"/>
          </a:p>
        </p:txBody>
      </p:sp>
      <p:sp>
        <p:nvSpPr>
          <p:cNvPr id="13" name="Text 11"/>
          <p:cNvSpPr/>
          <p:nvPr/>
        </p:nvSpPr>
        <p:spPr>
          <a:xfrm>
            <a:off x="8043743" y="3170494"/>
            <a:ext cx="6003846" cy="1165622"/>
          </a:xfrm>
          <a:prstGeom prst="rect">
            <a:avLst/>
          </a:prstGeom>
          <a:noFill/>
          <a:ln/>
        </p:spPr>
        <p:txBody>
          <a:bodyPr wrap="square" lIns="0" tIns="0" rIns="0" bIns="0" rtlCol="0" anchor="t"/>
          <a:lstStyle/>
          <a:p>
            <a:pPr marL="0" indent="0" algn="l">
              <a:lnSpc>
                <a:spcPts val="1800"/>
              </a:lnSpc>
              <a:buNone/>
            </a:pPr>
            <a:r>
              <a:rPr lang="en-US" sz="1400" dirty="0">
                <a:solidFill>
                  <a:srgbClr val="C9C9C0"/>
                </a:solidFill>
                <a:latin typeface="Tomorrow" pitchFamily="34" charset="0"/>
                <a:ea typeface="Tomorrow" pitchFamily="34" charset="-122"/>
                <a:cs typeface="Tomorrow" pitchFamily="34" charset="-120"/>
              </a:rPr>
              <a:t>The opposition's broadcast offered humor, music, and hope under the slogan </a:t>
            </a:r>
            <a:r>
              <a:rPr lang="en-US" sz="1400" dirty="0">
                <a:solidFill>
                  <a:srgbClr val="E1E1DF"/>
                </a:solidFill>
                <a:latin typeface="Tomorrow" pitchFamily="34" charset="0"/>
                <a:ea typeface="Tomorrow" pitchFamily="34" charset="-122"/>
                <a:cs typeface="Tomorrow" pitchFamily="34" charset="-120"/>
              </a:rPr>
              <a:t>"Chile, la alegría ya viene"</a:t>
            </a:r>
            <a:r>
              <a:rPr lang="en-US" sz="1400" dirty="0">
                <a:solidFill>
                  <a:srgbClr val="C9C9C0"/>
                </a:solidFill>
                <a:latin typeface="Tomorrow" pitchFamily="34" charset="0"/>
                <a:ea typeface="Tomorrow" pitchFamily="34" charset="-122"/>
                <a:cs typeface="Tomorrow" pitchFamily="34" charset="-120"/>
              </a:rPr>
              <a:t> (Chile, joy is coming). In contrast to the regime's fear-based messages, the franja portrayed ordinary Chileans envisioning a democratic future. It personalized politics, showing not ideology but everyday life. For millions, it was their first glimpse of dissent not framed as chaos or subversion.</a:t>
            </a:r>
            <a:endParaRPr lang="en-US" sz="1400" dirty="0"/>
          </a:p>
        </p:txBody>
      </p:sp>
      <p:sp>
        <p:nvSpPr>
          <p:cNvPr id="14" name="Shape 12"/>
          <p:cNvSpPr/>
          <p:nvPr/>
        </p:nvSpPr>
        <p:spPr>
          <a:xfrm>
            <a:off x="6729472" y="4608153"/>
            <a:ext cx="437078" cy="15240"/>
          </a:xfrm>
          <a:prstGeom prst="roundRect">
            <a:avLst>
              <a:gd name="adj" fmla="val 143430"/>
            </a:avLst>
          </a:prstGeom>
          <a:solidFill>
            <a:srgbClr val="555553"/>
          </a:solidFill>
          <a:ln/>
        </p:spPr>
        <p:txBody>
          <a:bodyPr/>
          <a:lstStyle/>
          <a:p>
            <a:endParaRPr lang="es-AR"/>
          </a:p>
        </p:txBody>
      </p:sp>
      <p:sp>
        <p:nvSpPr>
          <p:cNvPr id="15" name="Shape 13"/>
          <p:cNvSpPr/>
          <p:nvPr/>
        </p:nvSpPr>
        <p:spPr>
          <a:xfrm>
            <a:off x="7151310" y="4451943"/>
            <a:ext cx="327779" cy="327779"/>
          </a:xfrm>
          <a:prstGeom prst="roundRect">
            <a:avLst>
              <a:gd name="adj" fmla="val 6669"/>
            </a:avLst>
          </a:prstGeom>
          <a:solidFill>
            <a:srgbClr val="3C3C3A"/>
          </a:solidFill>
          <a:ln/>
        </p:spPr>
        <p:txBody>
          <a:bodyPr/>
          <a:lstStyle/>
          <a:p>
            <a:endParaRPr lang="es-AR"/>
          </a:p>
        </p:txBody>
      </p:sp>
      <p:sp>
        <p:nvSpPr>
          <p:cNvPr id="16" name="Text 14"/>
          <p:cNvSpPr/>
          <p:nvPr/>
        </p:nvSpPr>
        <p:spPr>
          <a:xfrm>
            <a:off x="7205901" y="4529084"/>
            <a:ext cx="218480" cy="273129"/>
          </a:xfrm>
          <a:prstGeom prst="rect">
            <a:avLst/>
          </a:prstGeom>
          <a:noFill/>
          <a:ln/>
        </p:spPr>
        <p:txBody>
          <a:bodyPr wrap="none" lIns="0" tIns="0" rIns="0" bIns="0" rtlCol="0" anchor="t"/>
          <a:lstStyle/>
          <a:p>
            <a:pPr marL="0" indent="0" algn="ctr">
              <a:lnSpc>
                <a:spcPts val="1700"/>
              </a:lnSpc>
              <a:buNone/>
            </a:pPr>
            <a:r>
              <a:rPr lang="en-US" sz="1700" dirty="0">
                <a:solidFill>
                  <a:srgbClr val="C9C9C0"/>
                </a:solidFill>
                <a:latin typeface="Tomorrow Semi Bold" pitchFamily="34" charset="0"/>
                <a:ea typeface="Tomorrow Semi Bold" pitchFamily="34" charset="-122"/>
                <a:cs typeface="Tomorrow Semi Bold" pitchFamily="34" charset="-120"/>
              </a:rPr>
              <a:t>3</a:t>
            </a:r>
            <a:endParaRPr lang="en-US" sz="1700" dirty="0"/>
          </a:p>
        </p:txBody>
      </p:sp>
      <p:sp>
        <p:nvSpPr>
          <p:cNvPr id="17" name="Text 15"/>
          <p:cNvSpPr/>
          <p:nvPr/>
        </p:nvSpPr>
        <p:spPr>
          <a:xfrm>
            <a:off x="3775234" y="4501950"/>
            <a:ext cx="2811423" cy="227648"/>
          </a:xfrm>
          <a:prstGeom prst="rect">
            <a:avLst/>
          </a:prstGeom>
          <a:noFill/>
          <a:ln/>
        </p:spPr>
        <p:txBody>
          <a:bodyPr wrap="none" lIns="0" tIns="0" rIns="0" bIns="0" rtlCol="0" anchor="t"/>
          <a:lstStyle/>
          <a:p>
            <a:pPr marL="0" indent="0" algn="r">
              <a:lnSpc>
                <a:spcPts val="1750"/>
              </a:lnSpc>
              <a:buNone/>
            </a:pPr>
            <a:r>
              <a:rPr lang="en-US" dirty="0">
                <a:solidFill>
                  <a:srgbClr val="C9C9C0"/>
                </a:solidFill>
                <a:latin typeface="Tomorrow Semi Bold" pitchFamily="34" charset="0"/>
                <a:ea typeface="Tomorrow Semi Bold" pitchFamily="34" charset="-122"/>
                <a:cs typeface="Tomorrow Semi Bold" pitchFamily="34" charset="-120"/>
              </a:rPr>
              <a:t>Measuring Television's Impact</a:t>
            </a:r>
            <a:endParaRPr lang="en-US" dirty="0"/>
          </a:p>
        </p:txBody>
      </p:sp>
      <p:sp>
        <p:nvSpPr>
          <p:cNvPr id="18" name="Text 16"/>
          <p:cNvSpPr/>
          <p:nvPr/>
        </p:nvSpPr>
        <p:spPr>
          <a:xfrm>
            <a:off x="582811" y="4816989"/>
            <a:ext cx="6003846" cy="1398746"/>
          </a:xfrm>
          <a:prstGeom prst="rect">
            <a:avLst/>
          </a:prstGeom>
          <a:noFill/>
          <a:ln/>
        </p:spPr>
        <p:txBody>
          <a:bodyPr wrap="square" lIns="0" tIns="0" rIns="0" bIns="0" rtlCol="0" anchor="t"/>
          <a:lstStyle/>
          <a:p>
            <a:pPr marL="0" indent="0" algn="r">
              <a:lnSpc>
                <a:spcPts val="1800"/>
              </a:lnSpc>
              <a:buNone/>
            </a:pPr>
            <a:r>
              <a:rPr lang="en-US" sz="1400" dirty="0">
                <a:solidFill>
                  <a:srgbClr val="C9C9C0"/>
                </a:solidFill>
                <a:latin typeface="Tomorrow" pitchFamily="34" charset="0"/>
                <a:ea typeface="Tomorrow" pitchFamily="34" charset="-122"/>
                <a:cs typeface="Tomorrow" pitchFamily="34" charset="-120"/>
              </a:rPr>
              <a:t>Using survey and voting data, González and Prem (2018) find that greater access to television increased opposition votes by about two percentage points per standard deviation of exposure, even after controlling for prior political leanings and socioeconomic variables. Crucially, radio exposure had no similar effect, showing that it was not media penetration per se, but the visual, emotional impact of television that moved voters.</a:t>
            </a:r>
            <a:endParaRPr lang="en-US" sz="1400" dirty="0"/>
          </a:p>
        </p:txBody>
      </p:sp>
      <p:sp>
        <p:nvSpPr>
          <p:cNvPr id="19" name="Shape 17"/>
          <p:cNvSpPr/>
          <p:nvPr/>
        </p:nvSpPr>
        <p:spPr>
          <a:xfrm>
            <a:off x="7463850" y="6300683"/>
            <a:ext cx="437078" cy="15240"/>
          </a:xfrm>
          <a:prstGeom prst="roundRect">
            <a:avLst>
              <a:gd name="adj" fmla="val 143430"/>
            </a:avLst>
          </a:prstGeom>
          <a:solidFill>
            <a:srgbClr val="555553"/>
          </a:solidFill>
          <a:ln/>
        </p:spPr>
        <p:txBody>
          <a:bodyPr/>
          <a:lstStyle/>
          <a:p>
            <a:endParaRPr lang="es-AR"/>
          </a:p>
        </p:txBody>
      </p:sp>
      <p:sp>
        <p:nvSpPr>
          <p:cNvPr id="20" name="Shape 18"/>
          <p:cNvSpPr/>
          <p:nvPr/>
        </p:nvSpPr>
        <p:spPr>
          <a:xfrm>
            <a:off x="7151310" y="6144473"/>
            <a:ext cx="327779" cy="327779"/>
          </a:xfrm>
          <a:prstGeom prst="roundRect">
            <a:avLst>
              <a:gd name="adj" fmla="val 6669"/>
            </a:avLst>
          </a:prstGeom>
          <a:solidFill>
            <a:srgbClr val="3C3C3A"/>
          </a:solidFill>
          <a:ln/>
        </p:spPr>
        <p:txBody>
          <a:bodyPr/>
          <a:lstStyle/>
          <a:p>
            <a:endParaRPr lang="es-AR"/>
          </a:p>
        </p:txBody>
      </p:sp>
      <p:sp>
        <p:nvSpPr>
          <p:cNvPr id="21" name="Text 19"/>
          <p:cNvSpPr/>
          <p:nvPr/>
        </p:nvSpPr>
        <p:spPr>
          <a:xfrm>
            <a:off x="7205901" y="6221613"/>
            <a:ext cx="218480" cy="273129"/>
          </a:xfrm>
          <a:prstGeom prst="rect">
            <a:avLst/>
          </a:prstGeom>
          <a:noFill/>
          <a:ln/>
        </p:spPr>
        <p:txBody>
          <a:bodyPr wrap="none" lIns="0" tIns="0" rIns="0" bIns="0" rtlCol="0" anchor="t"/>
          <a:lstStyle/>
          <a:p>
            <a:pPr marL="0" indent="0" algn="ctr">
              <a:lnSpc>
                <a:spcPts val="1700"/>
              </a:lnSpc>
              <a:buNone/>
            </a:pPr>
            <a:r>
              <a:rPr lang="en-US" sz="1700" dirty="0">
                <a:solidFill>
                  <a:srgbClr val="C9C9C0"/>
                </a:solidFill>
                <a:latin typeface="Tomorrow Semi Bold" pitchFamily="34" charset="0"/>
                <a:ea typeface="Tomorrow Semi Bold" pitchFamily="34" charset="-122"/>
                <a:cs typeface="Tomorrow Semi Bold" pitchFamily="34" charset="-120"/>
              </a:rPr>
              <a:t>4</a:t>
            </a:r>
            <a:endParaRPr lang="en-US" sz="1700" dirty="0"/>
          </a:p>
        </p:txBody>
      </p:sp>
      <p:sp>
        <p:nvSpPr>
          <p:cNvPr id="22" name="Text 20"/>
          <p:cNvSpPr/>
          <p:nvPr/>
        </p:nvSpPr>
        <p:spPr>
          <a:xfrm>
            <a:off x="8043743" y="6194479"/>
            <a:ext cx="2662476" cy="227648"/>
          </a:xfrm>
          <a:prstGeom prst="rect">
            <a:avLst/>
          </a:prstGeom>
          <a:noFill/>
          <a:ln/>
        </p:spPr>
        <p:txBody>
          <a:bodyPr wrap="none" lIns="0" tIns="0" rIns="0" bIns="0" rtlCol="0" anchor="t"/>
          <a:lstStyle/>
          <a:p>
            <a:pPr marL="0" indent="0" algn="l">
              <a:lnSpc>
                <a:spcPts val="1750"/>
              </a:lnSpc>
              <a:buNone/>
            </a:pPr>
            <a:r>
              <a:rPr lang="en-US" dirty="0">
                <a:solidFill>
                  <a:srgbClr val="C9C9C0"/>
                </a:solidFill>
                <a:latin typeface="Tomorrow Semi Bold" pitchFamily="34" charset="0"/>
                <a:ea typeface="Tomorrow Semi Bold" pitchFamily="34" charset="-122"/>
                <a:cs typeface="Tomorrow Semi Bold" pitchFamily="34" charset="-120"/>
              </a:rPr>
              <a:t>Television as a Public Sphere</a:t>
            </a:r>
            <a:endParaRPr lang="en-US" dirty="0"/>
          </a:p>
        </p:txBody>
      </p:sp>
      <p:sp>
        <p:nvSpPr>
          <p:cNvPr id="23" name="Text 21"/>
          <p:cNvSpPr/>
          <p:nvPr/>
        </p:nvSpPr>
        <p:spPr>
          <a:xfrm>
            <a:off x="8043743" y="6509518"/>
            <a:ext cx="6003846" cy="1165622"/>
          </a:xfrm>
          <a:prstGeom prst="rect">
            <a:avLst/>
          </a:prstGeom>
          <a:noFill/>
          <a:ln/>
        </p:spPr>
        <p:txBody>
          <a:bodyPr wrap="square" lIns="0" tIns="0" rIns="0" bIns="0" rtlCol="0" anchor="t"/>
          <a:lstStyle/>
          <a:p>
            <a:pPr marL="0" indent="0" algn="l">
              <a:lnSpc>
                <a:spcPts val="1800"/>
              </a:lnSpc>
              <a:buNone/>
            </a:pPr>
            <a:r>
              <a:rPr lang="en-US" sz="1400" dirty="0">
                <a:solidFill>
                  <a:srgbClr val="C9C9C0"/>
                </a:solidFill>
                <a:latin typeface="Tomorrow" pitchFamily="34" charset="0"/>
                <a:ea typeface="Tomorrow" pitchFamily="34" charset="-122"/>
                <a:cs typeface="Tomorrow" pitchFamily="34" charset="-120"/>
              </a:rPr>
              <a:t>The franja temporarily shattered the regime's information monopoly. It created a shared national conversation, blending political argument with cultural performance. The campaign's success reflected not only its message but its capacity to unify a fragmented opposition, showing that cooperation, not polarization, could defeat authoritarianism.</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4" name="Text 22"/>
          <p:cNvSpPr/>
          <p:nvPr/>
        </p:nvSpPr>
        <p:spPr>
          <a:xfrm>
            <a:off x="582811" y="6249472"/>
            <a:ext cx="4366855" cy="480774"/>
          </a:xfrm>
          <a:prstGeom prst="rect">
            <a:avLst/>
          </a:prstGeom>
          <a:noFill/>
          <a:ln/>
        </p:spPr>
        <p:txBody>
          <a:bodyPr wrap="none" lIns="0" tIns="0" rIns="0" bIns="0" rtlCol="0" anchor="t"/>
          <a:lstStyle/>
          <a:p>
            <a:pPr marL="0" indent="0" algn="ctr">
              <a:lnSpc>
                <a:spcPts val="3750"/>
              </a:lnSpc>
              <a:buNone/>
            </a:pPr>
            <a:r>
              <a:rPr lang="en-US" sz="3750" dirty="0">
                <a:solidFill>
                  <a:srgbClr val="C9C9C0"/>
                </a:solidFill>
                <a:latin typeface="Tomorrow Semi Bold" pitchFamily="34" charset="0"/>
                <a:ea typeface="Tomorrow Semi Bold" pitchFamily="34" charset="-122"/>
                <a:cs typeface="Tomorrow Semi Bold" pitchFamily="34" charset="-120"/>
              </a:rPr>
              <a:t>10-13%</a:t>
            </a:r>
            <a:endParaRPr lang="en-US" sz="3750" dirty="0"/>
          </a:p>
        </p:txBody>
      </p:sp>
      <p:sp>
        <p:nvSpPr>
          <p:cNvPr id="25" name="Text 23"/>
          <p:cNvSpPr/>
          <p:nvPr/>
        </p:nvSpPr>
        <p:spPr>
          <a:xfrm>
            <a:off x="1855470" y="6912173"/>
            <a:ext cx="1821537" cy="227648"/>
          </a:xfrm>
          <a:prstGeom prst="rect">
            <a:avLst/>
          </a:prstGeom>
          <a:noFill/>
          <a:ln/>
        </p:spPr>
        <p:txBody>
          <a:bodyPr wrap="none" lIns="0" tIns="0" rIns="0" bIns="0" rtlCol="0" anchor="t"/>
          <a:lstStyle/>
          <a:p>
            <a:pPr marL="0" indent="0" algn="ctr">
              <a:lnSpc>
                <a:spcPts val="1750"/>
              </a:lnSpc>
              <a:buNone/>
            </a:pPr>
            <a:r>
              <a:rPr lang="en-US" sz="1400" dirty="0">
                <a:solidFill>
                  <a:srgbClr val="C9C9C0"/>
                </a:solidFill>
                <a:latin typeface="Tomorrow Semi Bold" pitchFamily="34" charset="0"/>
                <a:ea typeface="Tomorrow Semi Bold" pitchFamily="34" charset="-122"/>
                <a:cs typeface="Tomorrow Semi Bold" pitchFamily="34" charset="-120"/>
              </a:rPr>
              <a:t>Voter Persuasion</a:t>
            </a:r>
            <a:endParaRPr lang="en-US" sz="1400" dirty="0"/>
          </a:p>
        </p:txBody>
      </p:sp>
      <p:sp>
        <p:nvSpPr>
          <p:cNvPr id="26" name="Text 24"/>
          <p:cNvSpPr/>
          <p:nvPr/>
        </p:nvSpPr>
        <p:spPr>
          <a:xfrm>
            <a:off x="582811" y="7227213"/>
            <a:ext cx="4366855" cy="466249"/>
          </a:xfrm>
          <a:prstGeom prst="rect">
            <a:avLst/>
          </a:prstGeom>
          <a:noFill/>
          <a:ln/>
        </p:spPr>
        <p:txBody>
          <a:bodyPr wrap="square" lIns="0" tIns="0" rIns="0" bIns="0" rtlCol="0" anchor="t"/>
          <a:lstStyle/>
          <a:p>
            <a:pPr marL="0" indent="0" algn="ctr">
              <a:lnSpc>
                <a:spcPts val="1800"/>
              </a:lnSpc>
              <a:buNone/>
            </a:pPr>
            <a:r>
              <a:rPr lang="en-US" sz="1100" dirty="0">
                <a:solidFill>
                  <a:srgbClr val="C9C9C0"/>
                </a:solidFill>
                <a:latin typeface="Tomorrow" pitchFamily="34" charset="0"/>
                <a:ea typeface="Tomorrow" pitchFamily="34" charset="-122"/>
                <a:cs typeface="Tomorrow" pitchFamily="34" charset="-120"/>
              </a:rPr>
              <a:t>Estimated percentage of exposed viewers who switched to the "No" option after watching the opposition broadcasts.</a:t>
            </a:r>
            <a:endParaRPr lang="en-US" sz="1100" dirty="0"/>
          </a:p>
        </p:txBody>
      </p:sp>
      <p:sp>
        <p:nvSpPr>
          <p:cNvPr id="27" name="Text 25"/>
          <p:cNvSpPr/>
          <p:nvPr/>
        </p:nvSpPr>
        <p:spPr>
          <a:xfrm>
            <a:off x="5131713" y="6249472"/>
            <a:ext cx="4366855" cy="480774"/>
          </a:xfrm>
          <a:prstGeom prst="rect">
            <a:avLst/>
          </a:prstGeom>
          <a:noFill/>
          <a:ln/>
        </p:spPr>
        <p:txBody>
          <a:bodyPr wrap="none" lIns="0" tIns="0" rIns="0" bIns="0" rtlCol="0" anchor="t"/>
          <a:lstStyle/>
          <a:p>
            <a:pPr marL="0" indent="0" algn="ctr">
              <a:lnSpc>
                <a:spcPts val="3750"/>
              </a:lnSpc>
              <a:buNone/>
            </a:pPr>
            <a:r>
              <a:rPr lang="en-US" sz="3750" dirty="0">
                <a:solidFill>
                  <a:srgbClr val="C9C9C0"/>
                </a:solidFill>
                <a:latin typeface="Tomorrow Semi Bold" pitchFamily="34" charset="0"/>
                <a:ea typeface="Tomorrow Semi Bold" pitchFamily="34" charset="-122"/>
                <a:cs typeface="Tomorrow Semi Bold" pitchFamily="34" charset="-120"/>
              </a:rPr>
              <a:t>2%</a:t>
            </a:r>
            <a:endParaRPr lang="en-US" sz="3750" dirty="0"/>
          </a:p>
        </p:txBody>
      </p:sp>
      <p:sp>
        <p:nvSpPr>
          <p:cNvPr id="28" name="Text 26"/>
          <p:cNvSpPr/>
          <p:nvPr/>
        </p:nvSpPr>
        <p:spPr>
          <a:xfrm>
            <a:off x="6404372" y="6912173"/>
            <a:ext cx="1821537" cy="227648"/>
          </a:xfrm>
          <a:prstGeom prst="rect">
            <a:avLst/>
          </a:prstGeom>
          <a:noFill/>
          <a:ln/>
        </p:spPr>
        <p:txBody>
          <a:bodyPr wrap="none" lIns="0" tIns="0" rIns="0" bIns="0" rtlCol="0" anchor="t"/>
          <a:lstStyle/>
          <a:p>
            <a:pPr marL="0" indent="0" algn="ctr">
              <a:lnSpc>
                <a:spcPts val="1750"/>
              </a:lnSpc>
              <a:buNone/>
            </a:pPr>
            <a:r>
              <a:rPr lang="en-US" sz="1400" dirty="0">
                <a:solidFill>
                  <a:srgbClr val="C9C9C0"/>
                </a:solidFill>
                <a:latin typeface="Tomorrow Semi Bold" pitchFamily="34" charset="0"/>
                <a:ea typeface="Tomorrow Semi Bold" pitchFamily="34" charset="-122"/>
                <a:cs typeface="Tomorrow Semi Bold" pitchFamily="34" charset="-120"/>
              </a:rPr>
              <a:t>Vote Increase</a:t>
            </a:r>
            <a:endParaRPr lang="en-US" sz="1400" dirty="0"/>
          </a:p>
        </p:txBody>
      </p:sp>
      <p:sp>
        <p:nvSpPr>
          <p:cNvPr id="29" name="Text 27"/>
          <p:cNvSpPr/>
          <p:nvPr/>
        </p:nvSpPr>
        <p:spPr>
          <a:xfrm>
            <a:off x="5131713" y="7227213"/>
            <a:ext cx="4366855" cy="466249"/>
          </a:xfrm>
          <a:prstGeom prst="rect">
            <a:avLst/>
          </a:prstGeom>
          <a:noFill/>
          <a:ln/>
        </p:spPr>
        <p:txBody>
          <a:bodyPr wrap="square" lIns="0" tIns="0" rIns="0" bIns="0" rtlCol="0" anchor="t"/>
          <a:lstStyle/>
          <a:p>
            <a:pPr marL="0" indent="0" algn="ctr">
              <a:lnSpc>
                <a:spcPts val="1800"/>
              </a:lnSpc>
              <a:buNone/>
            </a:pPr>
            <a:r>
              <a:rPr lang="en-US" sz="1100" dirty="0">
                <a:solidFill>
                  <a:srgbClr val="C9C9C0"/>
                </a:solidFill>
                <a:latin typeface="Tomorrow" pitchFamily="34" charset="0"/>
                <a:ea typeface="Tomorrow" pitchFamily="34" charset="-122"/>
                <a:cs typeface="Tomorrow" pitchFamily="34" charset="-120"/>
              </a:rPr>
              <a:t>Percentage point increase in opposition votes per standard deviation of television exposure.</a:t>
            </a:r>
            <a:endParaRPr lang="en-US" sz="1100" dirty="0"/>
          </a:p>
        </p:txBody>
      </p:sp>
      <p:sp>
        <p:nvSpPr>
          <p:cNvPr id="30" name="Text 28"/>
          <p:cNvSpPr/>
          <p:nvPr/>
        </p:nvSpPr>
        <p:spPr>
          <a:xfrm>
            <a:off x="9680615" y="6249472"/>
            <a:ext cx="4366855" cy="480774"/>
          </a:xfrm>
          <a:prstGeom prst="rect">
            <a:avLst/>
          </a:prstGeom>
          <a:noFill/>
          <a:ln/>
        </p:spPr>
        <p:txBody>
          <a:bodyPr wrap="none" lIns="0" tIns="0" rIns="0" bIns="0" rtlCol="0" anchor="t"/>
          <a:lstStyle/>
          <a:p>
            <a:pPr marL="0" indent="0" algn="ctr">
              <a:lnSpc>
                <a:spcPts val="3750"/>
              </a:lnSpc>
              <a:buNone/>
            </a:pPr>
            <a:r>
              <a:rPr lang="en-US" sz="3750" dirty="0">
                <a:solidFill>
                  <a:srgbClr val="C9C9C0"/>
                </a:solidFill>
                <a:latin typeface="Tomorrow Semi Bold" pitchFamily="34" charset="0"/>
                <a:ea typeface="Tomorrow Semi Bold" pitchFamily="34" charset="-122"/>
                <a:cs typeface="Tomorrow Semi Bold" pitchFamily="34" charset="-120"/>
              </a:rPr>
              <a:t>15</a:t>
            </a:r>
            <a:endParaRPr lang="en-US" sz="3750" dirty="0"/>
          </a:p>
        </p:txBody>
      </p:sp>
      <p:sp>
        <p:nvSpPr>
          <p:cNvPr id="31" name="Text 29"/>
          <p:cNvSpPr/>
          <p:nvPr/>
        </p:nvSpPr>
        <p:spPr>
          <a:xfrm>
            <a:off x="10953274" y="6912173"/>
            <a:ext cx="1821537" cy="227648"/>
          </a:xfrm>
          <a:prstGeom prst="rect">
            <a:avLst/>
          </a:prstGeom>
          <a:noFill/>
          <a:ln/>
        </p:spPr>
        <p:txBody>
          <a:bodyPr wrap="none" lIns="0" tIns="0" rIns="0" bIns="0" rtlCol="0" anchor="t"/>
          <a:lstStyle/>
          <a:p>
            <a:pPr marL="0" indent="0" algn="ctr">
              <a:lnSpc>
                <a:spcPts val="1750"/>
              </a:lnSpc>
              <a:buNone/>
            </a:pPr>
            <a:r>
              <a:rPr lang="en-US" sz="1400" dirty="0">
                <a:solidFill>
                  <a:srgbClr val="C9C9C0"/>
                </a:solidFill>
                <a:latin typeface="Tomorrow Semi Bold" pitchFamily="34" charset="0"/>
                <a:ea typeface="Tomorrow Semi Bold" pitchFamily="34" charset="-122"/>
                <a:cs typeface="Tomorrow Semi Bold" pitchFamily="34" charset="-120"/>
              </a:rPr>
              <a:t>Minutes Per Night</a:t>
            </a:r>
            <a:endParaRPr lang="en-US" sz="1400" dirty="0"/>
          </a:p>
        </p:txBody>
      </p:sp>
      <p:sp>
        <p:nvSpPr>
          <p:cNvPr id="32" name="Text 30"/>
          <p:cNvSpPr/>
          <p:nvPr/>
        </p:nvSpPr>
        <p:spPr>
          <a:xfrm>
            <a:off x="9680615" y="7227213"/>
            <a:ext cx="4366855" cy="466249"/>
          </a:xfrm>
          <a:prstGeom prst="rect">
            <a:avLst/>
          </a:prstGeom>
          <a:noFill/>
          <a:ln/>
        </p:spPr>
        <p:txBody>
          <a:bodyPr wrap="square" lIns="0" tIns="0" rIns="0" bIns="0" rtlCol="0" anchor="t"/>
          <a:lstStyle/>
          <a:p>
            <a:pPr marL="0" indent="0" algn="ctr">
              <a:lnSpc>
                <a:spcPts val="1800"/>
              </a:lnSpc>
              <a:buNone/>
            </a:pPr>
            <a:r>
              <a:rPr lang="en-US" sz="1100" dirty="0">
                <a:solidFill>
                  <a:srgbClr val="C9C9C0"/>
                </a:solidFill>
                <a:latin typeface="Tomorrow" pitchFamily="34" charset="0"/>
                <a:ea typeface="Tomorrow" pitchFamily="34" charset="-122"/>
                <a:cs typeface="Tomorrow" pitchFamily="34" charset="-120"/>
              </a:rPr>
              <a:t>Daily airtime granted to the opposition during the campaign period—enough to change history.</a:t>
            </a:r>
            <a:endParaRPr lang="en-US" sz="1100" dirty="0"/>
          </a:p>
        </p:txBody>
      </p:sp>
    </p:spTree>
    <p:extLst>
      <p:ext uri="{BB962C8B-B14F-4D97-AF65-F5344CB8AC3E}">
        <p14:creationId xmlns:p14="http://schemas.microsoft.com/office/powerpoint/2010/main" val="27539921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80799" y="876062"/>
            <a:ext cx="13268801" cy="1063704"/>
          </a:xfrm>
          <a:prstGeom prst="rect">
            <a:avLst/>
          </a:prstGeom>
          <a:noFill/>
          <a:ln/>
        </p:spPr>
        <p:txBody>
          <a:bodyPr wrap="square" lIns="0" tIns="0" rIns="0" bIns="0" rtlCol="0" anchor="t"/>
          <a:lstStyle/>
          <a:p>
            <a:pPr marL="0" indent="0" algn="l">
              <a:lnSpc>
                <a:spcPts val="4150"/>
              </a:lnSpc>
              <a:buNone/>
            </a:pPr>
            <a:r>
              <a:rPr lang="en-US" sz="3350" dirty="0">
                <a:solidFill>
                  <a:srgbClr val="EDEDE8"/>
                </a:solidFill>
                <a:latin typeface="Tomorrow Semi Bold" pitchFamily="34" charset="0"/>
                <a:ea typeface="Tomorrow Semi Bold" pitchFamily="34" charset="-122"/>
                <a:cs typeface="Tomorrow Semi Bold" pitchFamily="34" charset="-120"/>
              </a:rPr>
              <a:t>Comparative Reflections: Two Media Regimes, Two Logics of Power</a:t>
            </a:r>
            <a:endParaRPr lang="en-US" sz="3350" dirty="0"/>
          </a:p>
        </p:txBody>
      </p:sp>
      <p:sp>
        <p:nvSpPr>
          <p:cNvPr id="3" name="Text 1"/>
          <p:cNvSpPr/>
          <p:nvPr/>
        </p:nvSpPr>
        <p:spPr>
          <a:xfrm>
            <a:off x="680799" y="1766663"/>
            <a:ext cx="3501390" cy="319088"/>
          </a:xfrm>
          <a:prstGeom prst="rect">
            <a:avLst/>
          </a:prstGeom>
          <a:noFill/>
          <a:ln/>
        </p:spPr>
        <p:txBody>
          <a:bodyPr wrap="none" lIns="0" tIns="0" rIns="0" bIns="0" rtlCol="0" anchor="t"/>
          <a:lstStyle/>
          <a:p>
            <a:pPr marL="0" indent="0" algn="l">
              <a:lnSpc>
                <a:spcPts val="2500"/>
              </a:lnSpc>
              <a:buNone/>
            </a:pPr>
            <a:r>
              <a:rPr lang="en-US" sz="2000" dirty="0">
                <a:solidFill>
                  <a:srgbClr val="EDEDE8"/>
                </a:solidFill>
                <a:latin typeface="Tomorrow Semi Bold" pitchFamily="34" charset="0"/>
                <a:ea typeface="Tomorrow Semi Bold" pitchFamily="34" charset="-122"/>
                <a:cs typeface="Tomorrow Semi Bold" pitchFamily="34" charset="-120"/>
              </a:rPr>
              <a:t>Peru: Television as Weapon</a:t>
            </a:r>
            <a:endParaRPr lang="en-US" sz="2000" dirty="0"/>
          </a:p>
        </p:txBody>
      </p:sp>
      <p:sp>
        <p:nvSpPr>
          <p:cNvPr id="4" name="Text 2"/>
          <p:cNvSpPr/>
          <p:nvPr/>
        </p:nvSpPr>
        <p:spPr>
          <a:xfrm>
            <a:off x="742056" y="2425354"/>
            <a:ext cx="6426756" cy="2183097"/>
          </a:xfrm>
          <a:prstGeom prst="rect">
            <a:avLst/>
          </a:prstGeom>
          <a:noFill/>
          <a:ln/>
        </p:spPr>
        <p:txBody>
          <a:bodyPr wrap="square" lIns="0" tIns="0" rIns="0" bIns="0" rtlCol="0" anchor="t"/>
          <a:lstStyle/>
          <a:p>
            <a:pPr marL="285750" indent="-285750">
              <a:lnSpc>
                <a:spcPts val="2100"/>
              </a:lnSpc>
              <a:buFont typeface="Arial" panose="020B0604020202020204" pitchFamily="34" charset="0"/>
              <a:buChar char="•"/>
            </a:pPr>
            <a:r>
              <a:rPr lang="en-US" sz="1550" dirty="0">
                <a:solidFill>
                  <a:srgbClr val="C9C9C0"/>
                </a:solidFill>
                <a:latin typeface="Tomorrow" pitchFamily="34" charset="0"/>
              </a:rPr>
              <a:t>Television was the pillar of authoritarian stability</a:t>
            </a:r>
          </a:p>
          <a:p>
            <a:pPr marL="285750" indent="-285750">
              <a:lnSpc>
                <a:spcPts val="2100"/>
              </a:lnSpc>
              <a:buFont typeface="Arial" panose="020B0604020202020204" pitchFamily="34" charset="0"/>
              <a:buChar char="•"/>
            </a:pPr>
            <a:r>
              <a:rPr lang="en-US" sz="1550" dirty="0">
                <a:solidFill>
                  <a:srgbClr val="C9C9C0"/>
                </a:solidFill>
                <a:latin typeface="Tomorrow" pitchFamily="34" charset="0"/>
              </a:rPr>
              <a:t>Montesinos recognized that capturing it was more efficient than censoring it</a:t>
            </a:r>
          </a:p>
          <a:p>
            <a:pPr marL="285750" indent="-285750">
              <a:lnSpc>
                <a:spcPts val="2100"/>
              </a:lnSpc>
              <a:buFont typeface="Arial" panose="020B0604020202020204" pitchFamily="34" charset="0"/>
              <a:buChar char="•"/>
            </a:pPr>
            <a:r>
              <a:rPr lang="en-US" sz="1550" dirty="0">
                <a:solidFill>
                  <a:srgbClr val="C9C9C0"/>
                </a:solidFill>
                <a:latin typeface="Tomorrow" pitchFamily="34" charset="0"/>
                <a:ea typeface="Tomorrow" pitchFamily="34" charset="-122"/>
                <a:cs typeface="Tomorrow" pitchFamily="34" charset="-120"/>
              </a:rPr>
              <a:t>By bribing broadcasters, he neutralized public scrutiny and fabricated consensus</a:t>
            </a:r>
          </a:p>
          <a:p>
            <a:pPr marL="285750" indent="-285750">
              <a:lnSpc>
                <a:spcPts val="2100"/>
              </a:lnSpc>
              <a:buFont typeface="Arial" panose="020B0604020202020204" pitchFamily="34" charset="0"/>
              <a:buChar char="•"/>
            </a:pPr>
            <a:r>
              <a:rPr lang="en-US" sz="1550" dirty="0">
                <a:solidFill>
                  <a:srgbClr val="C9C9C0"/>
                </a:solidFill>
                <a:latin typeface="Tomorrow" pitchFamily="34" charset="0"/>
                <a:ea typeface="Tomorrow" pitchFamily="34" charset="-122"/>
                <a:cs typeface="Tomorrow" pitchFamily="34" charset="-120"/>
              </a:rPr>
              <a:t>The regime's strength lay in secrecy, transaction, and control of narrative</a:t>
            </a:r>
          </a:p>
          <a:p>
            <a:pPr marL="285750" indent="-285750">
              <a:lnSpc>
                <a:spcPts val="2100"/>
              </a:lnSpc>
              <a:buFont typeface="Arial" panose="020B0604020202020204" pitchFamily="34" charset="0"/>
              <a:buChar char="•"/>
            </a:pPr>
            <a:r>
              <a:rPr lang="en-US" sz="1550" dirty="0">
                <a:solidFill>
                  <a:srgbClr val="C9C9C0"/>
                </a:solidFill>
                <a:latin typeface="Tomorrow" pitchFamily="34" charset="0"/>
                <a:ea typeface="Tomorrow" pitchFamily="34" charset="-122"/>
                <a:cs typeface="Tomorrow" pitchFamily="34" charset="-120"/>
              </a:rPr>
              <a:t>Used television to suppress pluralism and monopolize information flows</a:t>
            </a:r>
            <a:endParaRPr lang="en-US" sz="1550" dirty="0"/>
          </a:p>
          <a:p>
            <a:pPr marL="285750" indent="-285750">
              <a:lnSpc>
                <a:spcPts val="2100"/>
              </a:lnSpc>
              <a:buFont typeface="Arial" panose="020B0604020202020204" pitchFamily="34" charset="0"/>
              <a:buChar char="•"/>
            </a:pPr>
            <a:endParaRPr lang="en-US" sz="1550" dirty="0"/>
          </a:p>
          <a:p>
            <a:pPr marL="285750" indent="-285750">
              <a:lnSpc>
                <a:spcPts val="2100"/>
              </a:lnSpc>
              <a:buFont typeface="Arial" panose="020B0604020202020204" pitchFamily="34" charset="0"/>
              <a:buChar char="•"/>
            </a:pPr>
            <a:endParaRPr lang="en-US" sz="1550" dirty="0"/>
          </a:p>
          <a:p>
            <a:pPr marL="285750" indent="-285750">
              <a:lnSpc>
                <a:spcPts val="2100"/>
              </a:lnSpc>
              <a:buFont typeface="Arial" panose="020B0604020202020204" pitchFamily="34" charset="0"/>
              <a:buChar char="•"/>
            </a:pPr>
            <a:endParaRPr lang="en-US" sz="1550" dirty="0">
              <a:solidFill>
                <a:srgbClr val="C9C9C0"/>
              </a:solidFill>
              <a:latin typeface="Tomorrow" pitchFamily="34" charset="0"/>
            </a:endParaRPr>
          </a:p>
          <a:p>
            <a:pPr marL="285750" indent="-285750">
              <a:lnSpc>
                <a:spcPts val="2100"/>
              </a:lnSpc>
              <a:buFont typeface="Arial" panose="020B0604020202020204" pitchFamily="34" charset="0"/>
              <a:buChar char="•"/>
            </a:pPr>
            <a:endParaRPr lang="en-US" sz="1550" dirty="0">
              <a:solidFill>
                <a:srgbClr val="C9C9C0"/>
              </a:solidFill>
              <a:latin typeface="Tomorrow" pitchFamily="34" charset="0"/>
            </a:endParaRPr>
          </a:p>
        </p:txBody>
      </p:sp>
      <p:sp>
        <p:nvSpPr>
          <p:cNvPr id="9" name="Text 7"/>
          <p:cNvSpPr/>
          <p:nvPr/>
        </p:nvSpPr>
        <p:spPr>
          <a:xfrm>
            <a:off x="7530465" y="1766663"/>
            <a:ext cx="3812500" cy="319088"/>
          </a:xfrm>
          <a:prstGeom prst="rect">
            <a:avLst/>
          </a:prstGeom>
          <a:noFill/>
          <a:ln/>
        </p:spPr>
        <p:txBody>
          <a:bodyPr wrap="none" lIns="0" tIns="0" rIns="0" bIns="0" rtlCol="0" anchor="t"/>
          <a:lstStyle/>
          <a:p>
            <a:pPr marL="0" indent="0" algn="l">
              <a:lnSpc>
                <a:spcPts val="2500"/>
              </a:lnSpc>
              <a:buNone/>
            </a:pPr>
            <a:r>
              <a:rPr lang="en-US" sz="2000" dirty="0">
                <a:solidFill>
                  <a:srgbClr val="EDEDE8"/>
                </a:solidFill>
                <a:latin typeface="Tomorrow Semi Bold" pitchFamily="34" charset="0"/>
                <a:ea typeface="Tomorrow Semi Bold" pitchFamily="34" charset="-122"/>
                <a:cs typeface="Tomorrow Semi Bold" pitchFamily="34" charset="-120"/>
              </a:rPr>
              <a:t>Chile: Television as Liberation</a:t>
            </a:r>
            <a:endParaRPr lang="en-US" sz="2000" dirty="0"/>
          </a:p>
        </p:txBody>
      </p:sp>
      <p:sp>
        <p:nvSpPr>
          <p:cNvPr id="15" name="Shape 13"/>
          <p:cNvSpPr/>
          <p:nvPr/>
        </p:nvSpPr>
        <p:spPr>
          <a:xfrm>
            <a:off x="680799" y="5086096"/>
            <a:ext cx="13268801" cy="28813"/>
          </a:xfrm>
          <a:prstGeom prst="rect">
            <a:avLst/>
          </a:prstGeom>
          <a:solidFill>
            <a:srgbClr val="C9C9C0">
              <a:alpha val="50000"/>
            </a:srgbClr>
          </a:solidFill>
          <a:ln/>
        </p:spPr>
        <p:txBody>
          <a:bodyPr/>
          <a:lstStyle/>
          <a:p>
            <a:endParaRPr lang="es-AR"/>
          </a:p>
        </p:txBody>
      </p:sp>
      <p:sp>
        <p:nvSpPr>
          <p:cNvPr id="16" name="Shape 14"/>
          <p:cNvSpPr/>
          <p:nvPr/>
        </p:nvSpPr>
        <p:spPr>
          <a:xfrm>
            <a:off x="680799" y="5555693"/>
            <a:ext cx="6549271" cy="2154283"/>
          </a:xfrm>
          <a:prstGeom prst="roundRect">
            <a:avLst>
              <a:gd name="adj" fmla="val 1420"/>
            </a:avLst>
          </a:prstGeom>
          <a:solidFill>
            <a:srgbClr val="3C3C3A"/>
          </a:solidFill>
          <a:ln/>
        </p:spPr>
        <p:txBody>
          <a:bodyPr/>
          <a:lstStyle/>
          <a:p>
            <a:endParaRPr lang="es-AR"/>
          </a:p>
        </p:txBody>
      </p:sp>
      <p:sp>
        <p:nvSpPr>
          <p:cNvPr id="17" name="Text 15"/>
          <p:cNvSpPr/>
          <p:nvPr/>
        </p:nvSpPr>
        <p:spPr>
          <a:xfrm>
            <a:off x="850940" y="5725835"/>
            <a:ext cx="3404235" cy="265867"/>
          </a:xfrm>
          <a:prstGeom prst="rect">
            <a:avLst/>
          </a:prstGeom>
          <a:noFill/>
          <a:ln/>
        </p:spPr>
        <p:txBody>
          <a:bodyPr wrap="none" lIns="0" tIns="0" rIns="0" bIns="0" rtlCol="0" anchor="t"/>
          <a:lstStyle/>
          <a:p>
            <a:pPr marL="0" indent="0" algn="l">
              <a:lnSpc>
                <a:spcPts val="2050"/>
              </a:lnSpc>
              <a:buNone/>
            </a:pPr>
            <a:r>
              <a:rPr lang="en-US" sz="1650" b="1" dirty="0">
                <a:solidFill>
                  <a:srgbClr val="C9C9C0"/>
                </a:solidFill>
                <a:latin typeface="Tomorrow Semi Bold" pitchFamily="34" charset="0"/>
                <a:ea typeface="Tomorrow Semi Bold" pitchFamily="34" charset="-122"/>
                <a:cs typeface="Tomorrow Semi Bold" pitchFamily="34" charset="-120"/>
              </a:rPr>
              <a:t>The Dual Nature of Media Power</a:t>
            </a:r>
            <a:endParaRPr lang="en-US" sz="1650" b="1" dirty="0"/>
          </a:p>
        </p:txBody>
      </p:sp>
      <p:sp>
        <p:nvSpPr>
          <p:cNvPr id="18" name="Text 16"/>
          <p:cNvSpPr/>
          <p:nvPr/>
        </p:nvSpPr>
        <p:spPr>
          <a:xfrm>
            <a:off x="850940" y="6093738"/>
            <a:ext cx="6208990" cy="1089660"/>
          </a:xfrm>
          <a:prstGeom prst="rect">
            <a:avLst/>
          </a:prstGeom>
          <a:noFill/>
          <a:ln/>
        </p:spPr>
        <p:txBody>
          <a:bodyPr wrap="square" lIns="0" tIns="0" rIns="0" bIns="0" rtlCol="0" anchor="t"/>
          <a:lstStyle/>
          <a:p>
            <a:pPr marL="0" indent="0" algn="l">
              <a:lnSpc>
                <a:spcPts val="2100"/>
              </a:lnSpc>
              <a:buNone/>
            </a:pPr>
            <a:r>
              <a:rPr lang="en-US" sz="1600" dirty="0">
                <a:solidFill>
                  <a:srgbClr val="C9C9C0"/>
                </a:solidFill>
                <a:latin typeface="Tomorrow" pitchFamily="34" charset="0"/>
                <a:ea typeface="Tomorrow" pitchFamily="34" charset="-122"/>
                <a:cs typeface="Tomorrow" pitchFamily="34" charset="-120"/>
              </a:rPr>
              <a:t>Television can be a weapon of manipulation or a stage for liberation, depending on who holds the microphone and what message is broadcast. Both cases expose the fragility of institutional checks in presidential systems when information flows are monopolized.</a:t>
            </a:r>
            <a:endParaRPr lang="en-US" sz="1600" dirty="0"/>
          </a:p>
        </p:txBody>
      </p:sp>
      <p:sp>
        <p:nvSpPr>
          <p:cNvPr id="19" name="Shape 17"/>
          <p:cNvSpPr/>
          <p:nvPr/>
        </p:nvSpPr>
        <p:spPr>
          <a:xfrm>
            <a:off x="7400211" y="5555693"/>
            <a:ext cx="6549390" cy="2154283"/>
          </a:xfrm>
          <a:prstGeom prst="roundRect">
            <a:avLst>
              <a:gd name="adj" fmla="val 1420"/>
            </a:avLst>
          </a:prstGeom>
          <a:solidFill>
            <a:srgbClr val="3C3C3A"/>
          </a:solidFill>
          <a:ln/>
        </p:spPr>
        <p:txBody>
          <a:bodyPr/>
          <a:lstStyle/>
          <a:p>
            <a:endParaRPr lang="es-AR"/>
          </a:p>
        </p:txBody>
      </p:sp>
      <p:sp>
        <p:nvSpPr>
          <p:cNvPr id="20" name="Text 18"/>
          <p:cNvSpPr/>
          <p:nvPr/>
        </p:nvSpPr>
        <p:spPr>
          <a:xfrm>
            <a:off x="7570351" y="5725835"/>
            <a:ext cx="4980861" cy="265867"/>
          </a:xfrm>
          <a:prstGeom prst="rect">
            <a:avLst/>
          </a:prstGeom>
          <a:noFill/>
          <a:ln/>
        </p:spPr>
        <p:txBody>
          <a:bodyPr wrap="none" lIns="0" tIns="0" rIns="0" bIns="0" rtlCol="0" anchor="t"/>
          <a:lstStyle/>
          <a:p>
            <a:pPr marL="0" indent="0" algn="l">
              <a:lnSpc>
                <a:spcPts val="2050"/>
              </a:lnSpc>
              <a:buNone/>
            </a:pPr>
            <a:r>
              <a:rPr lang="en-US" sz="1650" b="1" dirty="0">
                <a:solidFill>
                  <a:srgbClr val="C9C9C0"/>
                </a:solidFill>
                <a:latin typeface="Tomorrow Semi Bold" pitchFamily="34" charset="0"/>
                <a:ea typeface="Tomorrow Semi Bold" pitchFamily="34" charset="-122"/>
                <a:cs typeface="Tomorrow Semi Bold" pitchFamily="34" charset="-120"/>
              </a:rPr>
              <a:t>Executive Dominance Destroys Accountability</a:t>
            </a:r>
            <a:endParaRPr lang="en-US" sz="1650" b="1" dirty="0"/>
          </a:p>
        </p:txBody>
      </p:sp>
      <p:sp>
        <p:nvSpPr>
          <p:cNvPr id="21" name="Text 19"/>
          <p:cNvSpPr/>
          <p:nvPr/>
        </p:nvSpPr>
        <p:spPr>
          <a:xfrm>
            <a:off x="7570351" y="6093738"/>
            <a:ext cx="6209109" cy="1089660"/>
          </a:xfrm>
          <a:prstGeom prst="rect">
            <a:avLst/>
          </a:prstGeom>
          <a:noFill/>
          <a:ln/>
        </p:spPr>
        <p:txBody>
          <a:bodyPr wrap="square" lIns="0" tIns="0" rIns="0" bIns="0" rtlCol="0" anchor="t"/>
          <a:lstStyle/>
          <a:p>
            <a:pPr marL="0" indent="0" algn="l">
              <a:lnSpc>
                <a:spcPts val="2100"/>
              </a:lnSpc>
              <a:buNone/>
            </a:pPr>
            <a:r>
              <a:rPr lang="en-US" sz="1600" dirty="0">
                <a:solidFill>
                  <a:srgbClr val="C9C9C0"/>
                </a:solidFill>
                <a:latin typeface="Tomorrow" pitchFamily="34" charset="0"/>
                <a:ea typeface="Tomorrow" pitchFamily="34" charset="-122"/>
                <a:cs typeface="Tomorrow" pitchFamily="34" charset="-120"/>
              </a:rPr>
              <a:t>In Peru, the executive's covert dominance over other branches destroyed accountability through bribery and information control. In Chile, Pinochet's constitution codified executive dominance, but a moment of communicative pluralism allowed democratic forces to prevail.</a:t>
            </a:r>
            <a:endParaRPr lang="en-US" sz="1600" dirty="0"/>
          </a:p>
        </p:txBody>
      </p:sp>
      <p:sp>
        <p:nvSpPr>
          <p:cNvPr id="23" name="Text 2">
            <a:extLst>
              <a:ext uri="{FF2B5EF4-FFF2-40B4-BE49-F238E27FC236}">
                <a16:creationId xmlns:a16="http://schemas.microsoft.com/office/drawing/2014/main" id="{9E9EADF1-5669-5B60-11E8-BBC994B323DD}"/>
              </a:ext>
            </a:extLst>
          </p:cNvPr>
          <p:cNvSpPr/>
          <p:nvPr/>
        </p:nvSpPr>
        <p:spPr>
          <a:xfrm>
            <a:off x="7591722" y="2446571"/>
            <a:ext cx="6426756" cy="2183097"/>
          </a:xfrm>
          <a:prstGeom prst="rect">
            <a:avLst/>
          </a:prstGeom>
          <a:noFill/>
          <a:ln/>
        </p:spPr>
        <p:txBody>
          <a:bodyPr wrap="square" lIns="0" tIns="0" rIns="0" bIns="0" rtlCol="0" anchor="t"/>
          <a:lstStyle/>
          <a:p>
            <a:pPr marL="285750" indent="-285750">
              <a:lnSpc>
                <a:spcPts val="2100"/>
              </a:lnSpc>
              <a:buFont typeface="Arial" panose="020B0604020202020204" pitchFamily="34" charset="0"/>
              <a:buChar char="•"/>
            </a:pPr>
            <a:r>
              <a:rPr lang="en-US" sz="1550" dirty="0">
                <a:solidFill>
                  <a:srgbClr val="C9C9C0"/>
                </a:solidFill>
                <a:latin typeface="Tomorrow" pitchFamily="34" charset="0"/>
              </a:rPr>
              <a:t>Television became the catalyst of democratic awakening</a:t>
            </a:r>
          </a:p>
          <a:p>
            <a:pPr marL="285750" indent="-285750">
              <a:lnSpc>
                <a:spcPts val="2100"/>
              </a:lnSpc>
              <a:buFont typeface="Arial" panose="020B0604020202020204" pitchFamily="34" charset="0"/>
              <a:buChar char="•"/>
            </a:pPr>
            <a:r>
              <a:rPr lang="en-US" sz="1550" dirty="0">
                <a:solidFill>
                  <a:srgbClr val="C9C9C0"/>
                </a:solidFill>
                <a:latin typeface="Tomorrow" pitchFamily="34" charset="0"/>
              </a:rPr>
              <a:t>The </a:t>
            </a:r>
            <a:r>
              <a:rPr lang="en-US" sz="1550" i="1" dirty="0">
                <a:solidFill>
                  <a:srgbClr val="C9C9C0"/>
                </a:solidFill>
                <a:latin typeface="Tomorrow" pitchFamily="34" charset="0"/>
              </a:rPr>
              <a:t>Franja del No </a:t>
            </a:r>
            <a:r>
              <a:rPr lang="en-US" sz="1550" dirty="0">
                <a:solidFill>
                  <a:srgbClr val="C9C9C0"/>
                </a:solidFill>
                <a:latin typeface="Tomorrow" pitchFamily="34" charset="0"/>
              </a:rPr>
              <a:t>bypassed fear and reframed the meaning of citizenship</a:t>
            </a:r>
          </a:p>
          <a:p>
            <a:pPr marL="285750" indent="-285750">
              <a:lnSpc>
                <a:spcPts val="2100"/>
              </a:lnSpc>
              <a:buFont typeface="Arial" panose="020B0604020202020204" pitchFamily="34" charset="0"/>
              <a:buChar char="•"/>
            </a:pPr>
            <a:r>
              <a:rPr lang="en-US" sz="1550" dirty="0">
                <a:solidFill>
                  <a:srgbClr val="C9C9C0"/>
                </a:solidFill>
                <a:latin typeface="Tomorrow" pitchFamily="34" charset="0"/>
                <a:ea typeface="Tomorrow" pitchFamily="34" charset="-122"/>
                <a:cs typeface="Tomorrow" pitchFamily="34" charset="-120"/>
              </a:rPr>
              <a:t>Opposition used it to re-humanize politics and create shared conversation</a:t>
            </a:r>
          </a:p>
          <a:p>
            <a:pPr marL="285750" indent="-285750">
              <a:lnSpc>
                <a:spcPts val="2100"/>
              </a:lnSpc>
              <a:buFont typeface="Arial" panose="020B0604020202020204" pitchFamily="34" charset="0"/>
              <a:buChar char="•"/>
            </a:pPr>
            <a:r>
              <a:rPr lang="en-US" sz="1550" dirty="0">
                <a:solidFill>
                  <a:srgbClr val="C9C9C0"/>
                </a:solidFill>
                <a:latin typeface="Tomorrow" pitchFamily="34" charset="0"/>
                <a:ea typeface="Tomorrow" pitchFamily="34" charset="-122"/>
                <a:cs typeface="Tomorrow" pitchFamily="34" charset="-120"/>
              </a:rPr>
              <a:t>A carefully controlled institutional opening allowed citizens to reclaim sovereignty</a:t>
            </a:r>
          </a:p>
          <a:p>
            <a:pPr marL="285750" indent="-285750">
              <a:lnSpc>
                <a:spcPts val="2100"/>
              </a:lnSpc>
              <a:buFont typeface="Arial" panose="020B0604020202020204" pitchFamily="34" charset="0"/>
              <a:buChar char="•"/>
            </a:pPr>
            <a:r>
              <a:rPr lang="en-US" sz="1550" dirty="0">
                <a:solidFill>
                  <a:srgbClr val="C9C9C0"/>
                </a:solidFill>
                <a:latin typeface="Tomorrow" pitchFamily="34" charset="0"/>
                <a:ea typeface="Tomorrow" pitchFamily="34" charset="-122"/>
                <a:cs typeface="Tomorrow" pitchFamily="34" charset="-120"/>
              </a:rPr>
              <a:t>Demonstrated that even partial media liberalization can trigger democratic change</a:t>
            </a:r>
          </a:p>
          <a:p>
            <a:pPr marL="285750" indent="-285750">
              <a:lnSpc>
                <a:spcPts val="2100"/>
              </a:lnSpc>
              <a:buFont typeface="Arial" panose="020B0604020202020204" pitchFamily="34" charset="0"/>
              <a:buChar char="•"/>
            </a:pPr>
            <a:endParaRPr lang="en-US" sz="1550" dirty="0"/>
          </a:p>
          <a:p>
            <a:pPr marL="285750" indent="-285750">
              <a:lnSpc>
                <a:spcPts val="2100"/>
              </a:lnSpc>
              <a:buFont typeface="Arial" panose="020B0604020202020204" pitchFamily="34" charset="0"/>
              <a:buChar char="•"/>
            </a:pPr>
            <a:endParaRPr lang="en-US" sz="1550" dirty="0"/>
          </a:p>
          <a:p>
            <a:pPr marL="285750" indent="-285750">
              <a:lnSpc>
                <a:spcPts val="2100"/>
              </a:lnSpc>
              <a:buFont typeface="Arial" panose="020B0604020202020204" pitchFamily="34" charset="0"/>
              <a:buChar char="•"/>
            </a:pPr>
            <a:endParaRPr lang="en-US" sz="1550" dirty="0">
              <a:solidFill>
                <a:srgbClr val="C9C9C0"/>
              </a:solidFill>
              <a:latin typeface="Tomorrow" pitchFamily="34" charset="0"/>
            </a:endParaRPr>
          </a:p>
          <a:p>
            <a:pPr marL="285750" indent="-285750">
              <a:lnSpc>
                <a:spcPts val="2100"/>
              </a:lnSpc>
              <a:buFont typeface="Arial" panose="020B0604020202020204" pitchFamily="34" charset="0"/>
              <a:buChar char="•"/>
            </a:pPr>
            <a:endParaRPr lang="en-US" sz="1550" dirty="0">
              <a:solidFill>
                <a:srgbClr val="C9C9C0"/>
              </a:solidFill>
              <a:latin typeface="Tomorrow"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90920" y="613053"/>
            <a:ext cx="13248561" cy="1079421"/>
          </a:xfrm>
          <a:prstGeom prst="rect">
            <a:avLst/>
          </a:prstGeom>
          <a:noFill/>
          <a:ln/>
        </p:spPr>
        <p:txBody>
          <a:bodyPr wrap="square" lIns="0" tIns="0" rIns="0" bIns="0" rtlCol="0" anchor="t"/>
          <a:lstStyle/>
          <a:p>
            <a:pPr marL="0" indent="0" algn="l">
              <a:lnSpc>
                <a:spcPts val="4250"/>
              </a:lnSpc>
              <a:buNone/>
            </a:pPr>
            <a:r>
              <a:rPr lang="en-US" sz="3400" dirty="0">
                <a:solidFill>
                  <a:srgbClr val="EDEDE8"/>
                </a:solidFill>
                <a:latin typeface="Tomorrow Semi Bold" pitchFamily="34" charset="0"/>
                <a:ea typeface="Tomorrow Semi Bold" pitchFamily="34" charset="-122"/>
                <a:cs typeface="Tomorrow Semi Bold" pitchFamily="34" charset="-120"/>
              </a:rPr>
              <a:t>Institutions, Media, and the Logic of Authoritarian Durability</a:t>
            </a:r>
            <a:endParaRPr lang="en-US" sz="3400" dirty="0"/>
          </a:p>
        </p:txBody>
      </p:sp>
      <p:sp>
        <p:nvSpPr>
          <p:cNvPr id="3" name="Shape 1"/>
          <p:cNvSpPr/>
          <p:nvPr/>
        </p:nvSpPr>
        <p:spPr>
          <a:xfrm>
            <a:off x="690920" y="1638872"/>
            <a:ext cx="4301014" cy="5068179"/>
          </a:xfrm>
          <a:prstGeom prst="roundRect">
            <a:avLst>
              <a:gd name="adj" fmla="val 602"/>
            </a:avLst>
          </a:prstGeom>
          <a:solidFill>
            <a:srgbClr val="3C3C3A"/>
          </a:solidFill>
          <a:ln/>
        </p:spPr>
        <p:txBody>
          <a:bodyPr/>
          <a:lstStyle/>
          <a:p>
            <a:endParaRPr lang="es-AR"/>
          </a:p>
        </p:txBody>
      </p:sp>
      <p:sp>
        <p:nvSpPr>
          <p:cNvPr id="4" name="Shape 2"/>
          <p:cNvSpPr/>
          <p:nvPr/>
        </p:nvSpPr>
        <p:spPr>
          <a:xfrm>
            <a:off x="863560" y="1811513"/>
            <a:ext cx="518160" cy="518160"/>
          </a:xfrm>
          <a:prstGeom prst="roundRect">
            <a:avLst>
              <a:gd name="adj" fmla="val 17645294"/>
            </a:avLst>
          </a:prstGeom>
          <a:solidFill>
            <a:srgbClr val="E1E1DF"/>
          </a:solidFill>
          <a:ln/>
        </p:spPr>
        <p:txBody>
          <a:bodyPr/>
          <a:lstStyle/>
          <a:p>
            <a:endParaRPr lang="es-AR"/>
          </a:p>
        </p:txBody>
      </p:sp>
      <p:pic>
        <p:nvPicPr>
          <p:cNvPr id="5" name="Image 0" descr="preencoded.png"/>
          <p:cNvPicPr>
            <a:picLocks noChangeAspect="1"/>
          </p:cNvPicPr>
          <p:nvPr/>
        </p:nvPicPr>
        <p:blipFill>
          <a:blip r:embed="rId3"/>
          <a:stretch>
            <a:fillRect/>
          </a:stretch>
        </p:blipFill>
        <p:spPr>
          <a:xfrm>
            <a:off x="1006078" y="1924861"/>
            <a:ext cx="233124" cy="291465"/>
          </a:xfrm>
          <a:prstGeom prst="rect">
            <a:avLst/>
          </a:prstGeom>
        </p:spPr>
      </p:pic>
      <p:sp>
        <p:nvSpPr>
          <p:cNvPr id="6" name="Text 3"/>
          <p:cNvSpPr/>
          <p:nvPr/>
        </p:nvSpPr>
        <p:spPr>
          <a:xfrm>
            <a:off x="863560" y="2502314"/>
            <a:ext cx="3955733" cy="539829"/>
          </a:xfrm>
          <a:prstGeom prst="rect">
            <a:avLst/>
          </a:prstGeom>
          <a:noFill/>
          <a:ln/>
        </p:spPr>
        <p:txBody>
          <a:bodyPr wrap="square" lIns="0" tIns="0" rIns="0" bIns="0" rtlCol="0" anchor="t"/>
          <a:lstStyle/>
          <a:p>
            <a:pPr marL="0" indent="0" algn="l">
              <a:lnSpc>
                <a:spcPts val="2100"/>
              </a:lnSpc>
              <a:buNone/>
            </a:pPr>
            <a:r>
              <a:rPr lang="en-US" sz="1700" b="1" dirty="0">
                <a:solidFill>
                  <a:srgbClr val="C9C9C0"/>
                </a:solidFill>
                <a:latin typeface="Tomorrow Semi Bold" pitchFamily="34" charset="0"/>
                <a:ea typeface="Tomorrow Semi Bold" pitchFamily="34" charset="-122"/>
                <a:cs typeface="Tomorrow Semi Bold" pitchFamily="34" charset="-120"/>
              </a:rPr>
              <a:t>Executive Predominance and Institutional Capture</a:t>
            </a:r>
            <a:endParaRPr lang="en-US" sz="1700" b="1" dirty="0"/>
          </a:p>
        </p:txBody>
      </p:sp>
      <p:sp>
        <p:nvSpPr>
          <p:cNvPr id="7" name="Text 4"/>
          <p:cNvSpPr/>
          <p:nvPr/>
        </p:nvSpPr>
        <p:spPr>
          <a:xfrm>
            <a:off x="863560" y="3145728"/>
            <a:ext cx="3955733" cy="2487097"/>
          </a:xfrm>
          <a:prstGeom prst="rect">
            <a:avLst/>
          </a:prstGeom>
          <a:noFill/>
          <a:ln/>
        </p:spPr>
        <p:txBody>
          <a:bodyPr wrap="square" lIns="0" tIns="0" rIns="0" bIns="0" rtlCol="0" anchor="t"/>
          <a:lstStyle/>
          <a:p>
            <a:pPr marL="0" indent="0" algn="l">
              <a:lnSpc>
                <a:spcPts val="2150"/>
              </a:lnSpc>
              <a:buNone/>
            </a:pPr>
            <a:r>
              <a:rPr lang="en-US" sz="1550" dirty="0">
                <a:solidFill>
                  <a:srgbClr val="C9C9C0"/>
                </a:solidFill>
                <a:latin typeface="Tomorrow" pitchFamily="34" charset="0"/>
                <a:ea typeface="Tomorrow" pitchFamily="34" charset="-122"/>
                <a:cs typeface="Tomorrow" pitchFamily="34" charset="-120"/>
              </a:rPr>
              <a:t>These cases embody the perils of unchecked presidentialism. Montesinos's network blurred constitutional boundaries, while Pinochet's constitution codified executive dominance. Both neutralized the legislature and judiciary—one through bribery, the other through design. The readings confirm patterns we've seen in executive–legislative relations throughout the course.</a:t>
            </a:r>
            <a:endParaRPr lang="en-US" sz="1550" dirty="0"/>
          </a:p>
        </p:txBody>
      </p:sp>
      <p:sp>
        <p:nvSpPr>
          <p:cNvPr id="8" name="Shape 5"/>
          <p:cNvSpPr/>
          <p:nvPr/>
        </p:nvSpPr>
        <p:spPr>
          <a:xfrm>
            <a:off x="5194697" y="1638872"/>
            <a:ext cx="4301133" cy="5068179"/>
          </a:xfrm>
          <a:prstGeom prst="roundRect">
            <a:avLst>
              <a:gd name="adj" fmla="val 602"/>
            </a:avLst>
          </a:prstGeom>
          <a:solidFill>
            <a:srgbClr val="3C3C3A"/>
          </a:solidFill>
          <a:ln/>
        </p:spPr>
        <p:txBody>
          <a:bodyPr/>
          <a:lstStyle/>
          <a:p>
            <a:endParaRPr lang="es-AR"/>
          </a:p>
        </p:txBody>
      </p:sp>
      <p:sp>
        <p:nvSpPr>
          <p:cNvPr id="9" name="Shape 6"/>
          <p:cNvSpPr/>
          <p:nvPr/>
        </p:nvSpPr>
        <p:spPr>
          <a:xfrm>
            <a:off x="5337215" y="1811513"/>
            <a:ext cx="518160" cy="518160"/>
          </a:xfrm>
          <a:prstGeom prst="roundRect">
            <a:avLst>
              <a:gd name="adj" fmla="val 17645294"/>
            </a:avLst>
          </a:prstGeom>
          <a:solidFill>
            <a:srgbClr val="E1E1DF"/>
          </a:solidFill>
          <a:ln/>
        </p:spPr>
        <p:txBody>
          <a:bodyPr/>
          <a:lstStyle/>
          <a:p>
            <a:endParaRPr lang="es-AR"/>
          </a:p>
        </p:txBody>
      </p:sp>
      <p:pic>
        <p:nvPicPr>
          <p:cNvPr id="10" name="Image 1" descr="preencoded.png"/>
          <p:cNvPicPr>
            <a:picLocks noChangeAspect="1"/>
          </p:cNvPicPr>
          <p:nvPr/>
        </p:nvPicPr>
        <p:blipFill>
          <a:blip r:embed="rId4"/>
          <a:stretch>
            <a:fillRect/>
          </a:stretch>
        </p:blipFill>
        <p:spPr>
          <a:xfrm>
            <a:off x="5479733" y="1924861"/>
            <a:ext cx="233124" cy="291465"/>
          </a:xfrm>
          <a:prstGeom prst="rect">
            <a:avLst/>
          </a:prstGeom>
        </p:spPr>
      </p:pic>
      <p:sp>
        <p:nvSpPr>
          <p:cNvPr id="11" name="Text 7"/>
          <p:cNvSpPr/>
          <p:nvPr/>
        </p:nvSpPr>
        <p:spPr>
          <a:xfrm>
            <a:off x="5337215" y="2502314"/>
            <a:ext cx="3955852" cy="539829"/>
          </a:xfrm>
          <a:prstGeom prst="rect">
            <a:avLst/>
          </a:prstGeom>
          <a:noFill/>
          <a:ln/>
        </p:spPr>
        <p:txBody>
          <a:bodyPr wrap="square" lIns="0" tIns="0" rIns="0" bIns="0" rtlCol="0" anchor="t"/>
          <a:lstStyle/>
          <a:p>
            <a:pPr marL="0" indent="0" algn="l">
              <a:lnSpc>
                <a:spcPts val="2100"/>
              </a:lnSpc>
              <a:buNone/>
            </a:pPr>
            <a:r>
              <a:rPr lang="en-US" sz="1700" b="1" dirty="0">
                <a:solidFill>
                  <a:srgbClr val="C9C9C0"/>
                </a:solidFill>
                <a:latin typeface="Tomorrow Semi Bold" pitchFamily="34" charset="0"/>
                <a:ea typeface="Tomorrow Semi Bold" pitchFamily="34" charset="-122"/>
                <a:cs typeface="Tomorrow Semi Bold" pitchFamily="34" charset="-120"/>
              </a:rPr>
              <a:t>Media as Informational Infrastructure</a:t>
            </a:r>
            <a:endParaRPr lang="en-US" sz="1700" b="1" dirty="0"/>
          </a:p>
        </p:txBody>
      </p:sp>
      <p:sp>
        <p:nvSpPr>
          <p:cNvPr id="12" name="Text 8"/>
          <p:cNvSpPr/>
          <p:nvPr/>
        </p:nvSpPr>
        <p:spPr>
          <a:xfrm>
            <a:off x="5337215" y="3007555"/>
            <a:ext cx="3955852" cy="2763441"/>
          </a:xfrm>
          <a:prstGeom prst="rect">
            <a:avLst/>
          </a:prstGeom>
          <a:noFill/>
          <a:ln/>
        </p:spPr>
        <p:txBody>
          <a:bodyPr wrap="square" lIns="0" tIns="0" rIns="0" bIns="0" rtlCol="0" anchor="t"/>
          <a:lstStyle/>
          <a:p>
            <a:pPr marL="0" indent="0" algn="l">
              <a:lnSpc>
                <a:spcPts val="2150"/>
              </a:lnSpc>
              <a:buNone/>
            </a:pPr>
            <a:r>
              <a:rPr lang="en-US" sz="1550" dirty="0">
                <a:solidFill>
                  <a:srgbClr val="C9C9C0"/>
                </a:solidFill>
                <a:latin typeface="Tomorrow" pitchFamily="34" charset="0"/>
                <a:ea typeface="Tomorrow" pitchFamily="34" charset="-122"/>
                <a:cs typeface="Tomorrow" pitchFamily="34" charset="-120"/>
              </a:rPr>
              <a:t>Mass media operates as a fourth branch of government. When independent, it sustains vertical accountability; when captured, it consolidates executive rule. Montesinos paid most to neutralize television precisely because it was the only institution capable of influencing public opinion outside his control. The Chilean experience shows that even partial media liberalization can trigger democratic change once citizens encounter alternative narratives.</a:t>
            </a:r>
            <a:endParaRPr lang="en-US" sz="1550" dirty="0"/>
          </a:p>
        </p:txBody>
      </p:sp>
      <p:sp>
        <p:nvSpPr>
          <p:cNvPr id="13" name="Shape 9"/>
          <p:cNvSpPr/>
          <p:nvPr/>
        </p:nvSpPr>
        <p:spPr>
          <a:xfrm>
            <a:off x="9638348" y="1638872"/>
            <a:ext cx="4301014" cy="5068179"/>
          </a:xfrm>
          <a:prstGeom prst="roundRect">
            <a:avLst>
              <a:gd name="adj" fmla="val 602"/>
            </a:avLst>
          </a:prstGeom>
          <a:solidFill>
            <a:srgbClr val="3C3C3A"/>
          </a:solidFill>
          <a:ln/>
        </p:spPr>
        <p:txBody>
          <a:bodyPr/>
          <a:lstStyle/>
          <a:p>
            <a:endParaRPr lang="es-AR"/>
          </a:p>
        </p:txBody>
      </p:sp>
      <p:sp>
        <p:nvSpPr>
          <p:cNvPr id="14" name="Shape 10"/>
          <p:cNvSpPr/>
          <p:nvPr/>
        </p:nvSpPr>
        <p:spPr>
          <a:xfrm>
            <a:off x="9810988" y="1811513"/>
            <a:ext cx="518160" cy="518160"/>
          </a:xfrm>
          <a:prstGeom prst="roundRect">
            <a:avLst>
              <a:gd name="adj" fmla="val 17645294"/>
            </a:avLst>
          </a:prstGeom>
          <a:solidFill>
            <a:srgbClr val="E1E1DF"/>
          </a:solidFill>
          <a:ln/>
        </p:spPr>
        <p:txBody>
          <a:bodyPr/>
          <a:lstStyle/>
          <a:p>
            <a:endParaRPr lang="es-AR"/>
          </a:p>
        </p:txBody>
      </p:sp>
      <p:pic>
        <p:nvPicPr>
          <p:cNvPr id="15" name="Image 2" descr="preencoded.png"/>
          <p:cNvPicPr>
            <a:picLocks noChangeAspect="1"/>
          </p:cNvPicPr>
          <p:nvPr/>
        </p:nvPicPr>
        <p:blipFill>
          <a:blip r:embed="rId5"/>
          <a:stretch>
            <a:fillRect/>
          </a:stretch>
        </p:blipFill>
        <p:spPr>
          <a:xfrm>
            <a:off x="9953506" y="1924861"/>
            <a:ext cx="233124" cy="291465"/>
          </a:xfrm>
          <a:prstGeom prst="rect">
            <a:avLst/>
          </a:prstGeom>
        </p:spPr>
      </p:pic>
      <p:sp>
        <p:nvSpPr>
          <p:cNvPr id="16" name="Text 11"/>
          <p:cNvSpPr/>
          <p:nvPr/>
        </p:nvSpPr>
        <p:spPr>
          <a:xfrm>
            <a:off x="9810988" y="2502314"/>
            <a:ext cx="2874050" cy="269915"/>
          </a:xfrm>
          <a:prstGeom prst="rect">
            <a:avLst/>
          </a:prstGeom>
          <a:noFill/>
          <a:ln/>
        </p:spPr>
        <p:txBody>
          <a:bodyPr wrap="none" lIns="0" tIns="0" rIns="0" bIns="0" rtlCol="0" anchor="t"/>
          <a:lstStyle/>
          <a:p>
            <a:pPr marL="0" indent="0" algn="l">
              <a:lnSpc>
                <a:spcPts val="2100"/>
              </a:lnSpc>
              <a:buNone/>
            </a:pPr>
            <a:r>
              <a:rPr lang="en-US" sz="1700" b="1" dirty="0">
                <a:solidFill>
                  <a:srgbClr val="C9C9C0"/>
                </a:solidFill>
                <a:latin typeface="Tomorrow Semi Bold" pitchFamily="34" charset="0"/>
                <a:ea typeface="Tomorrow Semi Bold" pitchFamily="34" charset="-122"/>
                <a:cs typeface="Tomorrow Semi Bold" pitchFamily="34" charset="-120"/>
              </a:rPr>
              <a:t>Legitimacy and Resilience</a:t>
            </a:r>
            <a:endParaRPr lang="en-US" sz="1700" b="1" dirty="0"/>
          </a:p>
        </p:txBody>
      </p:sp>
      <p:sp>
        <p:nvSpPr>
          <p:cNvPr id="17" name="Text 12"/>
          <p:cNvSpPr/>
          <p:nvPr/>
        </p:nvSpPr>
        <p:spPr>
          <a:xfrm>
            <a:off x="9811107" y="3040405"/>
            <a:ext cx="3955733" cy="2487097"/>
          </a:xfrm>
          <a:prstGeom prst="rect">
            <a:avLst/>
          </a:prstGeom>
          <a:noFill/>
          <a:ln/>
        </p:spPr>
        <p:txBody>
          <a:bodyPr wrap="square" lIns="0" tIns="0" rIns="0" bIns="0" rtlCol="0" anchor="t"/>
          <a:lstStyle/>
          <a:p>
            <a:pPr marL="0" indent="0" algn="l">
              <a:lnSpc>
                <a:spcPts val="2150"/>
              </a:lnSpc>
              <a:buNone/>
            </a:pPr>
            <a:r>
              <a:rPr lang="en-US" sz="1550" dirty="0">
                <a:solidFill>
                  <a:srgbClr val="C9C9C0"/>
                </a:solidFill>
                <a:latin typeface="Tomorrow" pitchFamily="34" charset="0"/>
                <a:ea typeface="Tomorrow" pitchFamily="34" charset="-122"/>
                <a:cs typeface="Tomorrow" pitchFamily="34" charset="-120"/>
              </a:rPr>
              <a:t>From the perspective of the "legitimacy and resilience" framework, Peru's regime depended on performance legitimacy—economic recovery and security—reinforced by propaganda. Chile's depended on institutional legitimacy, claiming constitutional order and stability</a:t>
            </a:r>
            <a:r>
              <a:rPr lang="en-US" sz="1550" dirty="0">
                <a:solidFill>
                  <a:srgbClr val="C9C9C0"/>
                </a:solidFill>
                <a:latin typeface="Tomorrow" pitchFamily="34" charset="0"/>
              </a:rPr>
              <a:t>. Both were undone when informational legitimacy collapsed: when citizens stopped believing the official story.</a:t>
            </a:r>
          </a:p>
        </p:txBody>
      </p:sp>
      <p:sp>
        <p:nvSpPr>
          <p:cNvPr id="18" name="Text 13"/>
          <p:cNvSpPr/>
          <p:nvPr/>
        </p:nvSpPr>
        <p:spPr>
          <a:xfrm>
            <a:off x="1006078" y="7134701"/>
            <a:ext cx="12989481" cy="552688"/>
          </a:xfrm>
          <a:prstGeom prst="rect">
            <a:avLst/>
          </a:prstGeom>
          <a:noFill/>
          <a:ln/>
        </p:spPr>
        <p:txBody>
          <a:bodyPr wrap="square" lIns="0" tIns="0" rIns="0" bIns="0" rtlCol="0" anchor="t"/>
          <a:lstStyle/>
          <a:p>
            <a:pPr marL="0" indent="0" algn="l">
              <a:lnSpc>
                <a:spcPts val="2150"/>
              </a:lnSpc>
              <a:buNone/>
            </a:pPr>
            <a:r>
              <a:rPr lang="en-US" sz="1350" dirty="0">
                <a:solidFill>
                  <a:srgbClr val="C9C9C0"/>
                </a:solidFill>
                <a:latin typeface="Tomorrow" pitchFamily="34" charset="0"/>
                <a:ea typeface="Tomorrow" pitchFamily="34" charset="-122"/>
                <a:cs typeface="Tomorrow" pitchFamily="34" charset="-120"/>
              </a:rPr>
              <a:t>Democracy depends not just on formal institutions, but on the informational infrastructure that allows citizens to hold power accountable. When that infrastructure is captured or corrupted, even constitutional democracies can become authoritarian facades.</a:t>
            </a:r>
            <a:endParaRPr lang="en-US" sz="1350" dirty="0"/>
          </a:p>
        </p:txBody>
      </p:sp>
      <p:sp>
        <p:nvSpPr>
          <p:cNvPr id="19" name="Shape 14"/>
          <p:cNvSpPr/>
          <p:nvPr/>
        </p:nvSpPr>
        <p:spPr>
          <a:xfrm>
            <a:off x="727213" y="7050643"/>
            <a:ext cx="22860" cy="941308"/>
          </a:xfrm>
          <a:prstGeom prst="rect">
            <a:avLst/>
          </a:prstGeom>
          <a:solidFill>
            <a:srgbClr val="E1E1DF"/>
          </a:solidFill>
          <a:ln/>
        </p:spPr>
        <p:txBody>
          <a:bodyPr/>
          <a:lstStyle/>
          <a:p>
            <a:endParaRPr lang="es-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08980" y="563851"/>
            <a:ext cx="11214140" cy="319445"/>
          </a:xfrm>
          <a:prstGeom prst="rect">
            <a:avLst/>
          </a:prstGeom>
          <a:noFill/>
          <a:ln/>
        </p:spPr>
        <p:txBody>
          <a:bodyPr wrap="none" lIns="0" tIns="0" rIns="0" bIns="0" rtlCol="0" anchor="t"/>
          <a:lstStyle/>
          <a:p>
            <a:pPr marL="0" indent="0" algn="l">
              <a:lnSpc>
                <a:spcPts val="2500"/>
              </a:lnSpc>
              <a:buNone/>
            </a:pPr>
            <a:r>
              <a:rPr lang="en-US" sz="3400" dirty="0">
                <a:solidFill>
                  <a:srgbClr val="EDEDE8"/>
                </a:solidFill>
                <a:latin typeface="Tomorrow Semi Bold" pitchFamily="34" charset="0"/>
                <a:ea typeface="Tomorrow Semi Bold" pitchFamily="34" charset="-122"/>
                <a:cs typeface="Tomorrow Semi Bold" pitchFamily="34" charset="-120"/>
              </a:rPr>
              <a:t>From Television to Social Media</a:t>
            </a:r>
            <a:endParaRPr lang="en-US" sz="3400" dirty="0"/>
          </a:p>
        </p:txBody>
      </p:sp>
      <p:sp>
        <p:nvSpPr>
          <p:cNvPr id="4" name="Text 2"/>
          <p:cNvSpPr/>
          <p:nvPr/>
        </p:nvSpPr>
        <p:spPr>
          <a:xfrm>
            <a:off x="2088767" y="3036848"/>
            <a:ext cx="7484626" cy="490776"/>
          </a:xfrm>
          <a:prstGeom prst="rect">
            <a:avLst/>
          </a:prstGeom>
          <a:noFill/>
          <a:ln/>
        </p:spPr>
        <p:txBody>
          <a:bodyPr wrap="square" lIns="0" tIns="0" rIns="0" bIns="0" rtlCol="0" anchor="t"/>
          <a:lstStyle/>
          <a:p>
            <a:pPr>
              <a:lnSpc>
                <a:spcPts val="2150"/>
              </a:lnSpc>
            </a:pPr>
            <a:endParaRPr lang="en-US" sz="1550" dirty="0">
              <a:solidFill>
                <a:srgbClr val="C9C9C0"/>
              </a:solidFill>
              <a:latin typeface="Tomorrow" pitchFamily="34" charset="0"/>
            </a:endParaRPr>
          </a:p>
        </p:txBody>
      </p:sp>
      <p:pic>
        <p:nvPicPr>
          <p:cNvPr id="6" name="Image 1" descr="preencoded.png"/>
          <p:cNvPicPr>
            <a:picLocks noChangeAspect="1"/>
          </p:cNvPicPr>
          <p:nvPr/>
        </p:nvPicPr>
        <p:blipFill>
          <a:blip r:embed="rId3"/>
          <a:stretch>
            <a:fillRect/>
          </a:stretch>
        </p:blipFill>
        <p:spPr>
          <a:xfrm>
            <a:off x="408980" y="1315890"/>
            <a:ext cx="6906220" cy="408980"/>
          </a:xfrm>
          <a:prstGeom prst="rect">
            <a:avLst/>
          </a:prstGeom>
        </p:spPr>
      </p:pic>
      <p:sp>
        <p:nvSpPr>
          <p:cNvPr id="7" name="Text 3"/>
          <p:cNvSpPr/>
          <p:nvPr/>
        </p:nvSpPr>
        <p:spPr>
          <a:xfrm>
            <a:off x="511135" y="1827025"/>
            <a:ext cx="1278374" cy="159782"/>
          </a:xfrm>
          <a:prstGeom prst="rect">
            <a:avLst/>
          </a:prstGeom>
          <a:noFill/>
          <a:ln/>
        </p:spPr>
        <p:txBody>
          <a:bodyPr wrap="none" lIns="0" tIns="0" rIns="0" bIns="0" rtlCol="0" anchor="t"/>
          <a:lstStyle/>
          <a:p>
            <a:pPr marL="0" indent="0" algn="l">
              <a:lnSpc>
                <a:spcPts val="1250"/>
              </a:lnSpc>
              <a:buNone/>
            </a:pPr>
            <a:r>
              <a:rPr lang="en-US" dirty="0">
                <a:solidFill>
                  <a:srgbClr val="C9C9C0"/>
                </a:solidFill>
                <a:latin typeface="Tomorrow Semi Bold" pitchFamily="34" charset="0"/>
                <a:ea typeface="Tomorrow Semi Bold" pitchFamily="34" charset="-122"/>
                <a:cs typeface="Tomorrow Semi Bold" pitchFamily="34" charset="-120"/>
              </a:rPr>
              <a:t>Television Era</a:t>
            </a:r>
            <a:endParaRPr lang="en-US" dirty="0"/>
          </a:p>
        </p:txBody>
      </p:sp>
      <p:sp>
        <p:nvSpPr>
          <p:cNvPr id="8" name="Text 4"/>
          <p:cNvSpPr/>
          <p:nvPr/>
        </p:nvSpPr>
        <p:spPr>
          <a:xfrm>
            <a:off x="511135" y="2048124"/>
            <a:ext cx="6701909" cy="163592"/>
          </a:xfrm>
          <a:prstGeom prst="rect">
            <a:avLst/>
          </a:prstGeom>
          <a:noFill/>
          <a:ln/>
        </p:spPr>
        <p:txBody>
          <a:bodyPr wrap="square" lIns="0" tIns="0" rIns="0" bIns="0" rtlCol="0" anchor="t"/>
          <a:lstStyle/>
          <a:p>
            <a:pPr>
              <a:lnSpc>
                <a:spcPts val="2150"/>
              </a:lnSpc>
            </a:pPr>
            <a:r>
              <a:rPr lang="en-US" sz="1550" dirty="0">
                <a:solidFill>
                  <a:srgbClr val="C9C9C0"/>
                </a:solidFill>
                <a:latin typeface="Tomorrow" pitchFamily="34" charset="0"/>
              </a:rPr>
              <a:t>Concentrated communication in few powerful channels. Unified the public sphere. Control meant capturing broadcasters.</a:t>
            </a:r>
          </a:p>
        </p:txBody>
      </p:sp>
      <p:pic>
        <p:nvPicPr>
          <p:cNvPr id="9" name="Image 2" descr="preencoded.png"/>
          <p:cNvPicPr>
            <a:picLocks noChangeAspect="1"/>
          </p:cNvPicPr>
          <p:nvPr/>
        </p:nvPicPr>
        <p:blipFill>
          <a:blip r:embed="rId4"/>
          <a:stretch>
            <a:fillRect/>
          </a:stretch>
        </p:blipFill>
        <p:spPr>
          <a:xfrm>
            <a:off x="7315200" y="1315890"/>
            <a:ext cx="6906220" cy="408980"/>
          </a:xfrm>
          <a:prstGeom prst="rect">
            <a:avLst/>
          </a:prstGeom>
        </p:spPr>
      </p:pic>
      <p:sp>
        <p:nvSpPr>
          <p:cNvPr id="10" name="Text 5"/>
          <p:cNvSpPr/>
          <p:nvPr/>
        </p:nvSpPr>
        <p:spPr>
          <a:xfrm>
            <a:off x="7417356" y="1827025"/>
            <a:ext cx="1278374" cy="159782"/>
          </a:xfrm>
          <a:prstGeom prst="rect">
            <a:avLst/>
          </a:prstGeom>
          <a:noFill/>
          <a:ln/>
        </p:spPr>
        <p:txBody>
          <a:bodyPr wrap="none" lIns="0" tIns="0" rIns="0" bIns="0" rtlCol="0" anchor="t"/>
          <a:lstStyle/>
          <a:p>
            <a:pPr marL="0" indent="0" algn="l">
              <a:lnSpc>
                <a:spcPts val="1250"/>
              </a:lnSpc>
              <a:buNone/>
            </a:pPr>
            <a:r>
              <a:rPr lang="en-US" dirty="0">
                <a:solidFill>
                  <a:srgbClr val="C9C9C0"/>
                </a:solidFill>
                <a:latin typeface="Tomorrow Semi Bold" pitchFamily="34" charset="0"/>
                <a:ea typeface="Tomorrow Semi Bold" pitchFamily="34" charset="-122"/>
                <a:cs typeface="Tomorrow Semi Bold" pitchFamily="34" charset="-120"/>
              </a:rPr>
              <a:t>Social Media Era</a:t>
            </a:r>
            <a:endParaRPr lang="en-US" dirty="0"/>
          </a:p>
        </p:txBody>
      </p:sp>
      <p:sp>
        <p:nvSpPr>
          <p:cNvPr id="11" name="Text 6"/>
          <p:cNvSpPr/>
          <p:nvPr/>
        </p:nvSpPr>
        <p:spPr>
          <a:xfrm>
            <a:off x="7417356" y="2048124"/>
            <a:ext cx="6701909" cy="163592"/>
          </a:xfrm>
          <a:prstGeom prst="rect">
            <a:avLst/>
          </a:prstGeom>
          <a:noFill/>
          <a:ln/>
        </p:spPr>
        <p:txBody>
          <a:bodyPr wrap="square" lIns="0" tIns="0" rIns="0" bIns="0" rtlCol="0" anchor="t"/>
          <a:lstStyle/>
          <a:p>
            <a:pPr>
              <a:lnSpc>
                <a:spcPts val="2150"/>
              </a:lnSpc>
            </a:pPr>
            <a:r>
              <a:rPr lang="en-US" sz="1550" dirty="0">
                <a:solidFill>
                  <a:srgbClr val="C9C9C0"/>
                </a:solidFill>
                <a:latin typeface="Tomorrow" pitchFamily="34" charset="0"/>
              </a:rPr>
              <a:t>Infinite channels of communication. Risks fragmenting publics into echo chambers. Control means algorithmic manipulation.</a:t>
            </a:r>
          </a:p>
        </p:txBody>
      </p:sp>
      <p:sp>
        <p:nvSpPr>
          <p:cNvPr id="12" name="Shape 7"/>
          <p:cNvSpPr/>
          <p:nvPr/>
        </p:nvSpPr>
        <p:spPr>
          <a:xfrm>
            <a:off x="408980" y="2912192"/>
            <a:ext cx="13812441" cy="20360"/>
          </a:xfrm>
          <a:prstGeom prst="rect">
            <a:avLst/>
          </a:prstGeom>
          <a:solidFill>
            <a:srgbClr val="C9C9C0">
              <a:alpha val="50000"/>
            </a:srgbClr>
          </a:solidFill>
          <a:ln/>
        </p:spPr>
        <p:txBody>
          <a:bodyPr/>
          <a:lstStyle/>
          <a:p>
            <a:endParaRPr lang="es-AR"/>
          </a:p>
        </p:txBody>
      </p:sp>
      <p:sp>
        <p:nvSpPr>
          <p:cNvPr id="13" name="Text 8"/>
          <p:cNvSpPr/>
          <p:nvPr/>
        </p:nvSpPr>
        <p:spPr>
          <a:xfrm>
            <a:off x="408980" y="4017111"/>
            <a:ext cx="7167477" cy="881777"/>
          </a:xfrm>
          <a:prstGeom prst="rect">
            <a:avLst/>
          </a:prstGeom>
          <a:noFill/>
          <a:ln/>
        </p:spPr>
        <p:txBody>
          <a:bodyPr wrap="square" lIns="0" tIns="0" rIns="0" bIns="0" rtlCol="0" anchor="t"/>
          <a:lstStyle/>
          <a:p>
            <a:pPr marL="0" indent="0" algn="l">
              <a:lnSpc>
                <a:spcPts val="3450"/>
              </a:lnSpc>
              <a:buNone/>
            </a:pPr>
            <a:r>
              <a:rPr lang="en-US" sz="2750" dirty="0">
                <a:solidFill>
                  <a:srgbClr val="EDEDE8"/>
                </a:solidFill>
                <a:latin typeface="Tomorrow Semi Bold" pitchFamily="34" charset="0"/>
                <a:ea typeface="Tomorrow Semi Bold" pitchFamily="34" charset="-122"/>
                <a:cs typeface="Tomorrow Semi Bold" pitchFamily="34" charset="-120"/>
              </a:rPr>
              <a:t>The difference lies not in the technology itself but in who controls the flow of messages</a:t>
            </a:r>
            <a:endParaRPr lang="en-US" sz="2750" dirty="0"/>
          </a:p>
        </p:txBody>
      </p:sp>
      <p:sp>
        <p:nvSpPr>
          <p:cNvPr id="14" name="Text 9"/>
          <p:cNvSpPr/>
          <p:nvPr/>
        </p:nvSpPr>
        <p:spPr>
          <a:xfrm>
            <a:off x="408980" y="5091421"/>
            <a:ext cx="6676311" cy="436249"/>
          </a:xfrm>
          <a:prstGeom prst="rect">
            <a:avLst/>
          </a:prstGeom>
          <a:noFill/>
          <a:ln/>
        </p:spPr>
        <p:txBody>
          <a:bodyPr wrap="square" lIns="0" tIns="0" rIns="0" bIns="0" rtlCol="0" anchor="t"/>
          <a:lstStyle/>
          <a:p>
            <a:pPr>
              <a:lnSpc>
                <a:spcPts val="2150"/>
              </a:lnSpc>
            </a:pPr>
            <a:r>
              <a:rPr lang="en-US" sz="1550" dirty="0">
                <a:solidFill>
                  <a:srgbClr val="C9C9C0"/>
                </a:solidFill>
                <a:latin typeface="Tomorrow" pitchFamily="34" charset="0"/>
              </a:rPr>
              <a:t>Democracy depends on transparency, credible information, and institutions capable of resisting capture—whatever the medium through which power communicates. The lessons from Peru and Chile remain vital: whether through television broadcasts or viral tweets, the battle for democracy is ultimately a battle for the narratives that shape how citizens understand their world and their power within it.</a:t>
            </a:r>
          </a:p>
        </p:txBody>
      </p:sp>
      <p:sp>
        <p:nvSpPr>
          <p:cNvPr id="17" name="Text 11"/>
          <p:cNvSpPr/>
          <p:nvPr/>
        </p:nvSpPr>
        <p:spPr>
          <a:xfrm>
            <a:off x="741045" y="7267712"/>
            <a:ext cx="13378220" cy="327184"/>
          </a:xfrm>
          <a:prstGeom prst="rect">
            <a:avLst/>
          </a:prstGeom>
          <a:noFill/>
          <a:ln/>
        </p:spPr>
        <p:txBody>
          <a:bodyPr wrap="square" lIns="0" tIns="0" rIns="0" bIns="0" rtlCol="0" anchor="t"/>
          <a:lstStyle/>
          <a:p>
            <a:pPr>
              <a:lnSpc>
                <a:spcPts val="2150"/>
              </a:lnSpc>
            </a:pPr>
            <a:endParaRPr lang="en-US" sz="1550" dirty="0">
              <a:solidFill>
                <a:srgbClr val="C9C9C0"/>
              </a:solidFill>
              <a:latin typeface="Tomorrow" pitchFamily="34" charset="0"/>
            </a:endParaRPr>
          </a:p>
        </p:txBody>
      </p:sp>
      <p:pic>
        <p:nvPicPr>
          <p:cNvPr id="5122" name="Picture 2">
            <a:extLst>
              <a:ext uri="{FF2B5EF4-FFF2-40B4-BE49-F238E27FC236}">
                <a16:creationId xmlns:a16="http://schemas.microsoft.com/office/drawing/2014/main" id="{5CEB1B9C-0111-CF6E-AEBD-71EB79845FB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004215" y="3370396"/>
            <a:ext cx="6115050" cy="405454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234</TotalTime>
  <Words>1586</Words>
  <Application>Microsoft Office PowerPoint</Application>
  <PresentationFormat>Personalizado</PresentationFormat>
  <Paragraphs>88</Paragraphs>
  <Slides>10</Slides>
  <Notes>7</Notes>
  <HiddenSlides>1</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10</vt:i4>
      </vt:variant>
    </vt:vector>
  </HeadingPairs>
  <TitlesOfParts>
    <vt:vector size="16" baseType="lpstr">
      <vt:lpstr>Tomorrow</vt:lpstr>
      <vt:lpstr>Tomorrow Light</vt:lpstr>
      <vt:lpstr>Arial</vt:lpstr>
      <vt:lpstr>Tomorrow Semi Bold</vt:lpstr>
      <vt:lpstr>Calibri</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Claudio Alberto Robelo Guzman</cp:lastModifiedBy>
  <cp:revision>7</cp:revision>
  <dcterms:created xsi:type="dcterms:W3CDTF">2025-10-07T14:11:57Z</dcterms:created>
  <dcterms:modified xsi:type="dcterms:W3CDTF">2025-10-09T22:36:06Z</dcterms:modified>
</cp:coreProperties>
</file>