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1"/>
  </p:notesMasterIdLst>
  <p:sldIdLst>
    <p:sldId id="256" r:id="rId5"/>
    <p:sldId id="257"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304" r:id="rId22"/>
    <p:sldId id="274" r:id="rId23"/>
    <p:sldId id="275" r:id="rId24"/>
    <p:sldId id="276" r:id="rId25"/>
    <p:sldId id="277" r:id="rId26"/>
    <p:sldId id="278" r:id="rId27"/>
    <p:sldId id="305" r:id="rId28"/>
    <p:sldId id="279" r:id="rId29"/>
    <p:sldId id="280" r:id="rId30"/>
    <p:sldId id="281" r:id="rId31"/>
    <p:sldId id="282" r:id="rId32"/>
    <p:sldId id="283" r:id="rId33"/>
    <p:sldId id="284" r:id="rId34"/>
    <p:sldId id="285" r:id="rId35"/>
    <p:sldId id="286" r:id="rId36"/>
    <p:sldId id="287" r:id="rId37"/>
    <p:sldId id="288" r:id="rId38"/>
    <p:sldId id="289" r:id="rId39"/>
    <p:sldId id="291" r:id="rId40"/>
    <p:sldId id="306" r:id="rId41"/>
    <p:sldId id="290" r:id="rId42"/>
    <p:sldId id="309" r:id="rId43"/>
    <p:sldId id="310" r:id="rId44"/>
    <p:sldId id="292" r:id="rId45"/>
    <p:sldId id="293" r:id="rId46"/>
    <p:sldId id="294" r:id="rId47"/>
    <p:sldId id="295" r:id="rId48"/>
    <p:sldId id="296" r:id="rId49"/>
    <p:sldId id="325" r:id="rId5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7200"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4400"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1600"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8800"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FD47F4-D62F-29E1-A4A5-60559B0A1BD1}" name="Kopp, Katherine" initials="KK" userId="S::kkopp@wwnorton.com::8975c588-54e8-41b7-a546-07e477ad4a5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FB843C-86DA-2C42-A9E2-CB0DD8855697}" v="4" dt="2024-06-06T18:19:53.8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68"/>
    <p:restoredTop sz="82857"/>
  </p:normalViewPr>
  <p:slideViewPr>
    <p:cSldViewPr>
      <p:cViewPr varScale="1">
        <p:scale>
          <a:sx n="100" d="100"/>
          <a:sy n="100" d="100"/>
        </p:scale>
        <p:origin x="200"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latin typeface="Calibri" charset="0"/>
              </a:defRPr>
            </a:lvl1pPr>
          </a:lstStyle>
          <a:p>
            <a:pPr>
              <a:defRPr/>
            </a:pPr>
            <a:fld id="{38BC054C-7A6B-A247-8963-CEA4FC13470C}" type="datetime1">
              <a:rPr lang="en-US" altLang="en-US"/>
              <a:pPr>
                <a:defRPr/>
              </a:pPr>
              <a:t>6/6/24</a:t>
            </a:fld>
            <a:endParaRPr lang="en-US" alt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charset="0"/>
              </a:defRPr>
            </a:lvl1pPr>
          </a:lstStyle>
          <a:p>
            <a:pPr>
              <a:defRPr/>
            </a:pPr>
            <a:fld id="{93CC0671-AB8D-AC4D-981B-9788C3A529EF}" type="slidenum">
              <a:rPr lang="en-US" altLang="en-US"/>
              <a:pPr>
                <a:defRPr/>
              </a:pPr>
              <a:t>‹#›</a:t>
            </a:fld>
            <a:endParaRPr lang="en-US" altLang="en-US" dirty="0"/>
          </a:p>
        </p:txBody>
      </p:sp>
    </p:spTree>
    <p:extLst>
      <p:ext uri="{BB962C8B-B14F-4D97-AF65-F5344CB8AC3E}">
        <p14:creationId xmlns:p14="http://schemas.microsoft.com/office/powerpoint/2010/main" val="9387918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43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43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92F2F4D-9A2B-CB40-B0DC-37BE5C54AC80}" type="slidenum">
              <a:rPr lang="en-US" altLang="en-US"/>
              <a:pPr>
                <a:spcBef>
                  <a:spcPct val="0"/>
                </a:spcBef>
              </a:pPr>
              <a:t>1</a:t>
            </a:fld>
            <a:endParaRPr lang="en-US" altLang="en-US" dirty="0"/>
          </a:p>
        </p:txBody>
      </p:sp>
    </p:spTree>
    <p:extLst>
      <p:ext uri="{BB962C8B-B14F-4D97-AF65-F5344CB8AC3E}">
        <p14:creationId xmlns:p14="http://schemas.microsoft.com/office/powerpoint/2010/main" val="1908878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63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63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72A05FC-D224-714F-95DB-D20BF4098165}" type="slidenum">
              <a:rPr lang="en-US" altLang="en-US"/>
              <a:pPr>
                <a:spcBef>
                  <a:spcPct val="0"/>
                </a:spcBef>
              </a:pPr>
              <a:t>2</a:t>
            </a:fld>
            <a:endParaRPr lang="en-US" altLang="en-US" dirty="0"/>
          </a:p>
        </p:txBody>
      </p:sp>
    </p:spTree>
    <p:extLst>
      <p:ext uri="{BB962C8B-B14F-4D97-AF65-F5344CB8AC3E}">
        <p14:creationId xmlns:p14="http://schemas.microsoft.com/office/powerpoint/2010/main" val="684884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84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184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14C06E9-C82C-8340-AE83-2073C799836F}" type="slidenum">
              <a:rPr lang="en-US" altLang="en-US"/>
              <a:pPr>
                <a:spcBef>
                  <a:spcPct val="0"/>
                </a:spcBef>
              </a:pPr>
              <a:t>3</a:t>
            </a:fld>
            <a:endParaRPr lang="en-US" altLang="en-US" dirty="0"/>
          </a:p>
        </p:txBody>
      </p:sp>
    </p:spTree>
    <p:extLst>
      <p:ext uri="{BB962C8B-B14F-4D97-AF65-F5344CB8AC3E}">
        <p14:creationId xmlns:p14="http://schemas.microsoft.com/office/powerpoint/2010/main" val="341006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04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048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6945923-1E96-444B-B38C-9C88C0BA2B4E}" type="slidenum">
              <a:rPr lang="en-US" altLang="en-US"/>
              <a:pPr>
                <a:spcBef>
                  <a:spcPct val="0"/>
                </a:spcBef>
              </a:pPr>
              <a:t>4</a:t>
            </a:fld>
            <a:endParaRPr lang="en-US" altLang="en-US" dirty="0"/>
          </a:p>
        </p:txBody>
      </p:sp>
    </p:spTree>
    <p:extLst>
      <p:ext uri="{BB962C8B-B14F-4D97-AF65-F5344CB8AC3E}">
        <p14:creationId xmlns:p14="http://schemas.microsoft.com/office/powerpoint/2010/main" val="1811522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253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253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D701ED7F-31CD-2D48-B82F-DB866D15DF68}" type="slidenum">
              <a:rPr lang="en-US" altLang="en-US"/>
              <a:pPr>
                <a:spcBef>
                  <a:spcPct val="0"/>
                </a:spcBef>
              </a:pPr>
              <a:t>5</a:t>
            </a:fld>
            <a:endParaRPr lang="en-US" altLang="en-US" dirty="0"/>
          </a:p>
        </p:txBody>
      </p:sp>
    </p:spTree>
    <p:extLst>
      <p:ext uri="{BB962C8B-B14F-4D97-AF65-F5344CB8AC3E}">
        <p14:creationId xmlns:p14="http://schemas.microsoft.com/office/powerpoint/2010/main" val="13811452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45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457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587EE0F-761D-2145-BD14-1E829BF3D8B0}" type="slidenum">
              <a:rPr lang="en-US" altLang="en-US"/>
              <a:pPr>
                <a:spcBef>
                  <a:spcPct val="0"/>
                </a:spcBef>
              </a:pPr>
              <a:t>6</a:t>
            </a:fld>
            <a:endParaRPr lang="en-US" altLang="en-US" dirty="0"/>
          </a:p>
        </p:txBody>
      </p:sp>
    </p:spTree>
    <p:extLst>
      <p:ext uri="{BB962C8B-B14F-4D97-AF65-F5344CB8AC3E}">
        <p14:creationId xmlns:p14="http://schemas.microsoft.com/office/powerpoint/2010/main" val="756820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662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662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B484D739-CEED-3B4A-8AA3-2AD82260E4F4}" type="slidenum">
              <a:rPr lang="en-US" altLang="en-US"/>
              <a:pPr>
                <a:spcBef>
                  <a:spcPct val="0"/>
                </a:spcBef>
              </a:pPr>
              <a:t>7</a:t>
            </a:fld>
            <a:endParaRPr lang="en-US" altLang="en-US" dirty="0"/>
          </a:p>
        </p:txBody>
      </p:sp>
    </p:spTree>
    <p:extLst>
      <p:ext uri="{BB962C8B-B14F-4D97-AF65-F5344CB8AC3E}">
        <p14:creationId xmlns:p14="http://schemas.microsoft.com/office/powerpoint/2010/main" val="342451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86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867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E209290C-FEFC-E54F-9A1E-FA96FC7403AE}" type="slidenum">
              <a:rPr lang="en-US" altLang="en-US"/>
              <a:pPr>
                <a:spcBef>
                  <a:spcPct val="0"/>
                </a:spcBef>
              </a:pPr>
              <a:t>8</a:t>
            </a:fld>
            <a:endParaRPr lang="en-US" altLang="en-US" dirty="0"/>
          </a:p>
        </p:txBody>
      </p:sp>
    </p:spTree>
    <p:extLst>
      <p:ext uri="{BB962C8B-B14F-4D97-AF65-F5344CB8AC3E}">
        <p14:creationId xmlns:p14="http://schemas.microsoft.com/office/powerpoint/2010/main" val="334539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07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072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B6CC4E09-AD6A-D742-81FC-AACBD001358A}" type="slidenum">
              <a:rPr lang="en-US" altLang="en-US"/>
              <a:pPr>
                <a:spcBef>
                  <a:spcPct val="0"/>
                </a:spcBef>
              </a:pPr>
              <a:t>9</a:t>
            </a:fld>
            <a:endParaRPr lang="en-US" altLang="en-US" dirty="0"/>
          </a:p>
        </p:txBody>
      </p:sp>
    </p:spTree>
    <p:extLst>
      <p:ext uri="{BB962C8B-B14F-4D97-AF65-F5344CB8AC3E}">
        <p14:creationId xmlns:p14="http://schemas.microsoft.com/office/powerpoint/2010/main" val="495188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277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277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52CE5E28-C9A9-404C-8004-88408E897388}" type="slidenum">
              <a:rPr lang="en-US" altLang="en-US"/>
              <a:pPr>
                <a:spcBef>
                  <a:spcPct val="0"/>
                </a:spcBef>
              </a:pPr>
              <a:t>10</a:t>
            </a:fld>
            <a:endParaRPr lang="en-US" altLang="en-US" dirty="0"/>
          </a:p>
        </p:txBody>
      </p:sp>
    </p:spTree>
    <p:extLst>
      <p:ext uri="{BB962C8B-B14F-4D97-AF65-F5344CB8AC3E}">
        <p14:creationId xmlns:p14="http://schemas.microsoft.com/office/powerpoint/2010/main" val="1137130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48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481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894F59E0-53BC-5F4E-922A-4D59AAEE87F9}" type="slidenum">
              <a:rPr lang="en-US" altLang="en-US"/>
              <a:pPr>
                <a:spcBef>
                  <a:spcPct val="0"/>
                </a:spcBef>
              </a:pPr>
              <a:t>11</a:t>
            </a:fld>
            <a:endParaRPr lang="en-US" altLang="en-US" dirty="0"/>
          </a:p>
        </p:txBody>
      </p:sp>
    </p:spTree>
    <p:extLst>
      <p:ext uri="{BB962C8B-B14F-4D97-AF65-F5344CB8AC3E}">
        <p14:creationId xmlns:p14="http://schemas.microsoft.com/office/powerpoint/2010/main" val="1291708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68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68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B8F903A3-D579-F042-8BFE-BAE8715AEAF7}" type="slidenum">
              <a:rPr lang="en-US" altLang="en-US"/>
              <a:pPr>
                <a:spcBef>
                  <a:spcPct val="0"/>
                </a:spcBef>
              </a:pPr>
              <a:t>12</a:t>
            </a:fld>
            <a:endParaRPr lang="en-US" altLang="en-US" dirty="0"/>
          </a:p>
        </p:txBody>
      </p:sp>
    </p:spTree>
    <p:extLst>
      <p:ext uri="{BB962C8B-B14F-4D97-AF65-F5344CB8AC3E}">
        <p14:creationId xmlns:p14="http://schemas.microsoft.com/office/powerpoint/2010/main" val="8331602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891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37874055-757B-C848-830E-A465ED43421C}" type="slidenum">
              <a:rPr lang="en-US" altLang="en-US"/>
              <a:pPr>
                <a:spcBef>
                  <a:spcPct val="0"/>
                </a:spcBef>
              </a:pPr>
              <a:t>13</a:t>
            </a:fld>
            <a:endParaRPr lang="en-US" altLang="en-US" dirty="0"/>
          </a:p>
        </p:txBody>
      </p:sp>
    </p:spTree>
    <p:extLst>
      <p:ext uri="{BB962C8B-B14F-4D97-AF65-F5344CB8AC3E}">
        <p14:creationId xmlns:p14="http://schemas.microsoft.com/office/powerpoint/2010/main" val="1330472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09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09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4D856CCD-B0B2-4648-847E-FB85A5C62C16}" type="slidenum">
              <a:rPr lang="en-US" altLang="en-US"/>
              <a:pPr>
                <a:spcBef>
                  <a:spcPct val="0"/>
                </a:spcBef>
              </a:pPr>
              <a:t>14</a:t>
            </a:fld>
            <a:endParaRPr lang="en-US" altLang="en-US" dirty="0"/>
          </a:p>
        </p:txBody>
      </p:sp>
    </p:spTree>
    <p:extLst>
      <p:ext uri="{BB962C8B-B14F-4D97-AF65-F5344CB8AC3E}">
        <p14:creationId xmlns:p14="http://schemas.microsoft.com/office/powerpoint/2010/main" val="1655171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30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301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7938FC61-0DB2-C445-81EE-4DBF7752460B}" type="slidenum">
              <a:rPr lang="en-US" altLang="en-US"/>
              <a:pPr>
                <a:spcBef>
                  <a:spcPct val="0"/>
                </a:spcBef>
              </a:pPr>
              <a:t>15</a:t>
            </a:fld>
            <a:endParaRPr lang="en-US" altLang="en-US" dirty="0"/>
          </a:p>
        </p:txBody>
      </p:sp>
    </p:spTree>
    <p:extLst>
      <p:ext uri="{BB962C8B-B14F-4D97-AF65-F5344CB8AC3E}">
        <p14:creationId xmlns:p14="http://schemas.microsoft.com/office/powerpoint/2010/main" val="21139730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50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505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AD78B9AD-ED60-F048-BCE4-307C1108B5D6}" type="slidenum">
              <a:rPr lang="en-US" altLang="en-US"/>
              <a:pPr>
                <a:spcBef>
                  <a:spcPct val="0"/>
                </a:spcBef>
              </a:pPr>
              <a:t>16</a:t>
            </a:fld>
            <a:endParaRPr lang="en-US" altLang="en-US" dirty="0"/>
          </a:p>
        </p:txBody>
      </p:sp>
    </p:spTree>
    <p:extLst>
      <p:ext uri="{BB962C8B-B14F-4D97-AF65-F5344CB8AC3E}">
        <p14:creationId xmlns:p14="http://schemas.microsoft.com/office/powerpoint/2010/main" val="15755449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71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71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72AA6E84-C448-F64F-B87D-BF822E5C35CF}" type="slidenum">
              <a:rPr lang="en-US" altLang="en-US"/>
              <a:pPr>
                <a:spcBef>
                  <a:spcPct val="0"/>
                </a:spcBef>
              </a:pPr>
              <a:t>17</a:t>
            </a:fld>
            <a:endParaRPr lang="en-US" altLang="en-US" dirty="0"/>
          </a:p>
        </p:txBody>
      </p:sp>
    </p:spTree>
    <p:extLst>
      <p:ext uri="{BB962C8B-B14F-4D97-AF65-F5344CB8AC3E}">
        <p14:creationId xmlns:p14="http://schemas.microsoft.com/office/powerpoint/2010/main" val="17107920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MOTHERS OF THE PLAZA DE MAYO</a:t>
            </a:r>
            <a:r>
              <a:rPr lang="en-US" dirty="0"/>
              <a:t>. The return of</a:t>
            </a:r>
            <a:r>
              <a:rPr lang="en-US" i="1" dirty="0"/>
              <a:t> </a:t>
            </a:r>
            <a:r>
              <a:rPr lang="en-US" i="1" dirty="0" err="1"/>
              <a:t>niños</a:t>
            </a:r>
            <a:r>
              <a:rPr lang="en-US" i="1" dirty="0"/>
              <a:t> </a:t>
            </a:r>
            <a:r>
              <a:rPr lang="en-US" i="1" dirty="0" err="1"/>
              <a:t>desaparecidos</a:t>
            </a:r>
            <a:r>
              <a:rPr lang="en-US" dirty="0"/>
              <a:t>, “disappeared children,” is what these Buenos Aires protestors demanded, day after day, in front of the presidential palace during the 1980s. Carrying banners and poster-size photos of the children whom they wanted back alive, the courageous mothers had to settle more often for news of their children’s abduction and clandestine murder by the Argentine military during its “dirty war” against Marxist guerrillas called </a:t>
            </a:r>
            <a:r>
              <a:rPr lang="en-US" dirty="0" err="1"/>
              <a:t>Montoneros</a:t>
            </a:r>
            <a:r>
              <a:rPr lang="en-US" dirty="0"/>
              <a:t>. </a:t>
            </a:r>
            <a:r>
              <a:rPr lang="en-US" i="1" dirty="0"/>
              <a:t>Photograph by Enrique Shore, </a:t>
            </a:r>
            <a:r>
              <a:rPr lang="en-US" i="1" dirty="0" err="1"/>
              <a:t>Woodfin</a:t>
            </a:r>
            <a:r>
              <a:rPr lang="en-US" i="1" dirty="0"/>
              <a:t> Camp and Associates Inc.</a:t>
            </a:r>
          </a:p>
        </p:txBody>
      </p:sp>
      <p:sp>
        <p:nvSpPr>
          <p:cNvPr id="4" name="Slide Number Placeholder 3"/>
          <p:cNvSpPr>
            <a:spLocks noGrp="1"/>
          </p:cNvSpPr>
          <p:nvPr>
            <p:ph type="sldNum" sz="quarter" idx="10"/>
          </p:nvPr>
        </p:nvSpPr>
        <p:spPr/>
        <p:txBody>
          <a:bodyPr/>
          <a:lstStyle/>
          <a:p>
            <a:fld id="{C9CDF101-C185-844F-9839-0B79CB8E1A4A}" type="slidenum">
              <a:rPr lang="en-US" smtClean="0"/>
              <a:pPr/>
              <a:t>18</a:t>
            </a:fld>
            <a:endParaRPr lang="en-US"/>
          </a:p>
        </p:txBody>
      </p:sp>
    </p:spTree>
    <p:extLst>
      <p:ext uri="{BB962C8B-B14F-4D97-AF65-F5344CB8AC3E}">
        <p14:creationId xmlns:p14="http://schemas.microsoft.com/office/powerpoint/2010/main" val="2099708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915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915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B18E7638-38B5-2440-B1B6-CF966EF00369}" type="slidenum">
              <a:rPr lang="en-US" altLang="en-US"/>
              <a:pPr>
                <a:spcBef>
                  <a:spcPct val="0"/>
                </a:spcBef>
              </a:pPr>
              <a:t>19</a:t>
            </a:fld>
            <a:endParaRPr lang="en-US" altLang="en-US" dirty="0"/>
          </a:p>
        </p:txBody>
      </p:sp>
    </p:spTree>
    <p:extLst>
      <p:ext uri="{BB962C8B-B14F-4D97-AF65-F5344CB8AC3E}">
        <p14:creationId xmlns:p14="http://schemas.microsoft.com/office/powerpoint/2010/main" val="6228800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120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120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0F631488-00F1-9F4C-83F4-4EC13136943B}" type="slidenum">
              <a:rPr lang="en-US" altLang="en-US"/>
              <a:pPr>
                <a:spcBef>
                  <a:spcPct val="0"/>
                </a:spcBef>
              </a:pPr>
              <a:t>20</a:t>
            </a:fld>
            <a:endParaRPr lang="en-US" altLang="en-US" dirty="0"/>
          </a:p>
        </p:txBody>
      </p:sp>
    </p:spTree>
    <p:extLst>
      <p:ext uri="{BB962C8B-B14F-4D97-AF65-F5344CB8AC3E}">
        <p14:creationId xmlns:p14="http://schemas.microsoft.com/office/powerpoint/2010/main" val="19094695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325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325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90E49C6C-8E48-D643-980A-8CA244D10E41}" type="slidenum">
              <a:rPr lang="en-US" altLang="en-US"/>
              <a:pPr>
                <a:spcBef>
                  <a:spcPct val="0"/>
                </a:spcBef>
              </a:pPr>
              <a:t>21</a:t>
            </a:fld>
            <a:endParaRPr lang="en-US" altLang="en-US" dirty="0"/>
          </a:p>
        </p:txBody>
      </p:sp>
    </p:spTree>
    <p:extLst>
      <p:ext uri="{BB962C8B-B14F-4D97-AF65-F5344CB8AC3E}">
        <p14:creationId xmlns:p14="http://schemas.microsoft.com/office/powerpoint/2010/main" val="4595094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529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529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0A1807AE-6CEC-7948-98E2-5450BB6313DB}" type="slidenum">
              <a:rPr lang="en-US" altLang="en-US"/>
              <a:pPr>
                <a:spcBef>
                  <a:spcPct val="0"/>
                </a:spcBef>
              </a:pPr>
              <a:t>22</a:t>
            </a:fld>
            <a:endParaRPr lang="en-US" altLang="en-US" dirty="0"/>
          </a:p>
        </p:txBody>
      </p:sp>
    </p:spTree>
    <p:extLst>
      <p:ext uri="{BB962C8B-B14F-4D97-AF65-F5344CB8AC3E}">
        <p14:creationId xmlns:p14="http://schemas.microsoft.com/office/powerpoint/2010/main" val="624131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73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73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949635F0-10E6-1747-8456-D5A9D1D0E295}" type="slidenum">
              <a:rPr lang="en-US" altLang="en-US"/>
              <a:pPr>
                <a:spcBef>
                  <a:spcPct val="0"/>
                </a:spcBef>
              </a:pPr>
              <a:t>23</a:t>
            </a:fld>
            <a:endParaRPr lang="en-US" altLang="en-US" dirty="0"/>
          </a:p>
        </p:txBody>
      </p:sp>
    </p:spTree>
    <p:extLst>
      <p:ext uri="{BB962C8B-B14F-4D97-AF65-F5344CB8AC3E}">
        <p14:creationId xmlns:p14="http://schemas.microsoft.com/office/powerpoint/2010/main" val="14686272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THE CHILEAN COUP</a:t>
            </a:r>
            <a:r>
              <a:rPr lang="en-US" dirty="0"/>
              <a:t>. Positioned on a rooftop, Chilean soldiers fire on the palace of government during the military overthrow of President Salvador </a:t>
            </a:r>
            <a:r>
              <a:rPr lang="en-US" dirty="0" err="1"/>
              <a:t>Allende</a:t>
            </a:r>
            <a:r>
              <a:rPr lang="en-US" dirty="0"/>
              <a:t> in 1973. The coup leader, General Augusto Pinochet, took over Chile with US support. </a:t>
            </a:r>
            <a:r>
              <a:rPr lang="en-US" i="1" dirty="0"/>
              <a:t>OFF/AFP/Getty Images/</a:t>
            </a:r>
            <a:r>
              <a:rPr lang="en-US" i="1" dirty="0" err="1"/>
              <a:t>Newscom</a:t>
            </a:r>
            <a:r>
              <a:rPr lang="en-US" i="1" dirty="0"/>
              <a:t>.</a:t>
            </a:r>
          </a:p>
        </p:txBody>
      </p:sp>
      <p:sp>
        <p:nvSpPr>
          <p:cNvPr id="4" name="Slide Number Placeholder 3"/>
          <p:cNvSpPr>
            <a:spLocks noGrp="1"/>
          </p:cNvSpPr>
          <p:nvPr>
            <p:ph type="sldNum" sz="quarter" idx="10"/>
          </p:nvPr>
        </p:nvSpPr>
        <p:spPr/>
        <p:txBody>
          <a:bodyPr/>
          <a:lstStyle/>
          <a:p>
            <a:fld id="{C9CDF101-C185-844F-9839-0B79CB8E1A4A}" type="slidenum">
              <a:rPr lang="en-US" smtClean="0"/>
              <a:pPr/>
              <a:t>24</a:t>
            </a:fld>
            <a:endParaRPr lang="en-US"/>
          </a:p>
        </p:txBody>
      </p:sp>
    </p:spTree>
    <p:extLst>
      <p:ext uri="{BB962C8B-B14F-4D97-AF65-F5344CB8AC3E}">
        <p14:creationId xmlns:p14="http://schemas.microsoft.com/office/powerpoint/2010/main" val="18850539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939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939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02AE00F7-6D97-0240-A0BF-9E7A6F4B756E}" type="slidenum">
              <a:rPr lang="en-US" altLang="en-US"/>
              <a:pPr>
                <a:spcBef>
                  <a:spcPct val="0"/>
                </a:spcBef>
              </a:pPr>
              <a:t>25</a:t>
            </a:fld>
            <a:endParaRPr lang="en-US" altLang="en-US" dirty="0"/>
          </a:p>
        </p:txBody>
      </p:sp>
    </p:spTree>
    <p:extLst>
      <p:ext uri="{BB962C8B-B14F-4D97-AF65-F5344CB8AC3E}">
        <p14:creationId xmlns:p14="http://schemas.microsoft.com/office/powerpoint/2010/main" val="406143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14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14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33CB1687-924E-CA41-B3FF-A3EA4CFB013E}" type="slidenum">
              <a:rPr lang="en-US" altLang="en-US"/>
              <a:pPr>
                <a:spcBef>
                  <a:spcPct val="0"/>
                </a:spcBef>
              </a:pPr>
              <a:t>26</a:t>
            </a:fld>
            <a:endParaRPr lang="en-US" altLang="en-US" dirty="0"/>
          </a:p>
        </p:txBody>
      </p:sp>
    </p:spTree>
    <p:extLst>
      <p:ext uri="{BB962C8B-B14F-4D97-AF65-F5344CB8AC3E}">
        <p14:creationId xmlns:p14="http://schemas.microsoft.com/office/powerpoint/2010/main" val="18523584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349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349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3A5F0A95-ED80-F442-AE1A-E0B6C1FE302E}" type="slidenum">
              <a:rPr lang="en-US" altLang="en-US"/>
              <a:pPr>
                <a:spcBef>
                  <a:spcPct val="0"/>
                </a:spcBef>
              </a:pPr>
              <a:t>27</a:t>
            </a:fld>
            <a:endParaRPr lang="en-US" altLang="en-US" dirty="0"/>
          </a:p>
        </p:txBody>
      </p:sp>
    </p:spTree>
    <p:extLst>
      <p:ext uri="{BB962C8B-B14F-4D97-AF65-F5344CB8AC3E}">
        <p14:creationId xmlns:p14="http://schemas.microsoft.com/office/powerpoint/2010/main" val="5181562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55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D66CEFEE-A824-AE46-9F5B-5F81B380EE60}" type="slidenum">
              <a:rPr lang="en-US" altLang="en-US"/>
              <a:pPr>
                <a:spcBef>
                  <a:spcPct val="0"/>
                </a:spcBef>
              </a:pPr>
              <a:t>28</a:t>
            </a:fld>
            <a:endParaRPr lang="en-US" altLang="en-US" dirty="0"/>
          </a:p>
        </p:txBody>
      </p:sp>
    </p:spTree>
    <p:extLst>
      <p:ext uri="{BB962C8B-B14F-4D97-AF65-F5344CB8AC3E}">
        <p14:creationId xmlns:p14="http://schemas.microsoft.com/office/powerpoint/2010/main" val="6057370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75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75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EFD2EC10-FC9B-2344-8D5C-50B971D9D8A4}" type="slidenum">
              <a:rPr lang="en-US" altLang="en-US"/>
              <a:pPr>
                <a:spcBef>
                  <a:spcPct val="0"/>
                </a:spcBef>
              </a:pPr>
              <a:t>29</a:t>
            </a:fld>
            <a:endParaRPr lang="en-US" altLang="en-US" dirty="0"/>
          </a:p>
        </p:txBody>
      </p:sp>
    </p:spTree>
    <p:extLst>
      <p:ext uri="{BB962C8B-B14F-4D97-AF65-F5344CB8AC3E}">
        <p14:creationId xmlns:p14="http://schemas.microsoft.com/office/powerpoint/2010/main" val="15508688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96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96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BD092D3-89BF-D645-A174-9A3918257331}" type="slidenum">
              <a:rPr lang="en-US" altLang="en-US"/>
              <a:pPr>
                <a:spcBef>
                  <a:spcPct val="0"/>
                </a:spcBef>
              </a:pPr>
              <a:t>30</a:t>
            </a:fld>
            <a:endParaRPr lang="en-US" altLang="en-US" dirty="0"/>
          </a:p>
        </p:txBody>
      </p:sp>
    </p:spTree>
    <p:extLst>
      <p:ext uri="{BB962C8B-B14F-4D97-AF65-F5344CB8AC3E}">
        <p14:creationId xmlns:p14="http://schemas.microsoft.com/office/powerpoint/2010/main" val="14443265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16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7168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194FDAA3-DA2C-2344-9457-0891FFAAC6EE}" type="slidenum">
              <a:rPr lang="en-US" altLang="en-US"/>
              <a:pPr>
                <a:spcBef>
                  <a:spcPct val="0"/>
                </a:spcBef>
              </a:pPr>
              <a:t>31</a:t>
            </a:fld>
            <a:endParaRPr lang="en-US" altLang="en-US" dirty="0"/>
          </a:p>
        </p:txBody>
      </p:sp>
    </p:spTree>
    <p:extLst>
      <p:ext uri="{BB962C8B-B14F-4D97-AF65-F5344CB8AC3E}">
        <p14:creationId xmlns:p14="http://schemas.microsoft.com/office/powerpoint/2010/main" val="17887646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373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7373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94ABAB20-8C10-1A41-82ED-193AF925C559}" type="slidenum">
              <a:rPr lang="en-US" altLang="en-US"/>
              <a:pPr>
                <a:spcBef>
                  <a:spcPct val="0"/>
                </a:spcBef>
              </a:pPr>
              <a:t>32</a:t>
            </a:fld>
            <a:endParaRPr lang="en-US" altLang="en-US" dirty="0"/>
          </a:p>
        </p:txBody>
      </p:sp>
    </p:spTree>
    <p:extLst>
      <p:ext uri="{BB962C8B-B14F-4D97-AF65-F5344CB8AC3E}">
        <p14:creationId xmlns:p14="http://schemas.microsoft.com/office/powerpoint/2010/main" val="11439150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57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7577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5BFBD4EC-BE20-CB4F-B369-6CA0637515D3}" type="slidenum">
              <a:rPr lang="en-US" altLang="en-US"/>
              <a:pPr>
                <a:spcBef>
                  <a:spcPct val="0"/>
                </a:spcBef>
              </a:pPr>
              <a:t>33</a:t>
            </a:fld>
            <a:endParaRPr lang="en-US" altLang="en-US" dirty="0"/>
          </a:p>
        </p:txBody>
      </p:sp>
    </p:spTree>
    <p:extLst>
      <p:ext uri="{BB962C8B-B14F-4D97-AF65-F5344CB8AC3E}">
        <p14:creationId xmlns:p14="http://schemas.microsoft.com/office/powerpoint/2010/main" val="15058642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782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7782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C4F7BF52-813B-994F-9E18-2B6735FF9850}" type="slidenum">
              <a:rPr lang="en-US" altLang="en-US"/>
              <a:pPr>
                <a:spcBef>
                  <a:spcPct val="0"/>
                </a:spcBef>
              </a:pPr>
              <a:t>34</a:t>
            </a:fld>
            <a:endParaRPr lang="en-US" altLang="en-US" dirty="0"/>
          </a:p>
        </p:txBody>
      </p:sp>
    </p:spTree>
    <p:extLst>
      <p:ext uri="{BB962C8B-B14F-4D97-AF65-F5344CB8AC3E}">
        <p14:creationId xmlns:p14="http://schemas.microsoft.com/office/powerpoint/2010/main" val="9662412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98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7987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EC4FFA74-A680-3147-9CF2-39FCC5A3C720}" type="slidenum">
              <a:rPr lang="en-US" altLang="en-US"/>
              <a:pPr>
                <a:spcBef>
                  <a:spcPct val="0"/>
                </a:spcBef>
              </a:pPr>
              <a:t>35</a:t>
            </a:fld>
            <a:endParaRPr lang="en-US" altLang="en-US" dirty="0"/>
          </a:p>
        </p:txBody>
      </p:sp>
    </p:spTree>
    <p:extLst>
      <p:ext uri="{BB962C8B-B14F-4D97-AF65-F5344CB8AC3E}">
        <p14:creationId xmlns:p14="http://schemas.microsoft.com/office/powerpoint/2010/main" val="3460728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819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8192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79B94B2-D730-EC46-9571-88870689B408}" type="slidenum">
              <a:rPr lang="en-US" altLang="en-US"/>
              <a:pPr>
                <a:spcBef>
                  <a:spcPct val="0"/>
                </a:spcBef>
              </a:pPr>
              <a:t>36</a:t>
            </a:fld>
            <a:endParaRPr lang="en-US" altLang="en-US" dirty="0"/>
          </a:p>
        </p:txBody>
      </p:sp>
    </p:spTree>
    <p:extLst>
      <p:ext uri="{BB962C8B-B14F-4D97-AF65-F5344CB8AC3E}">
        <p14:creationId xmlns:p14="http://schemas.microsoft.com/office/powerpoint/2010/main" val="10604553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SALVADORAN GUERRILLA</a:t>
            </a:r>
            <a:r>
              <a:rPr lang="en-US" dirty="0"/>
              <a:t>. An FMLN fighter, one of many women in the guerrilla ranks, stands guard in 1983. On the wall behind her is one of the revolutionary slogans that covered walls all over Latin America from the 1960s through the 1980s. </a:t>
            </a:r>
            <a:r>
              <a:rPr lang="en-US" i="1" dirty="0"/>
              <a:t>Photograph by Ivan </a:t>
            </a:r>
            <a:r>
              <a:rPr lang="en-US" i="1" dirty="0" err="1"/>
              <a:t>Montecino</a:t>
            </a:r>
            <a:r>
              <a:rPr lang="en-US" i="1" dirty="0"/>
              <a:t>; image by </a:t>
            </a:r>
            <a:r>
              <a:rPr lang="en-US" i="1" dirty="0" err="1"/>
              <a:t>Bettmann</a:t>
            </a:r>
            <a:r>
              <a:rPr lang="en-US" i="1" dirty="0"/>
              <a:t>/CORBIS.</a:t>
            </a:r>
          </a:p>
        </p:txBody>
      </p:sp>
      <p:sp>
        <p:nvSpPr>
          <p:cNvPr id="4" name="Slide Number Placeholder 3"/>
          <p:cNvSpPr>
            <a:spLocks noGrp="1"/>
          </p:cNvSpPr>
          <p:nvPr>
            <p:ph type="sldNum" sz="quarter" idx="10"/>
          </p:nvPr>
        </p:nvSpPr>
        <p:spPr/>
        <p:txBody>
          <a:bodyPr/>
          <a:lstStyle/>
          <a:p>
            <a:fld id="{C9CDF101-C185-844F-9839-0B79CB8E1A4A}" type="slidenum">
              <a:rPr lang="en-US" smtClean="0"/>
              <a:pPr/>
              <a:t>37</a:t>
            </a:fld>
            <a:endParaRPr lang="en-US"/>
          </a:p>
        </p:txBody>
      </p:sp>
    </p:spTree>
    <p:extLst>
      <p:ext uri="{BB962C8B-B14F-4D97-AF65-F5344CB8AC3E}">
        <p14:creationId xmlns:p14="http://schemas.microsoft.com/office/powerpoint/2010/main" val="4582097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8397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8397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8A7E54CA-3855-A542-BA81-930AD8C5E5F5}" type="slidenum">
              <a:rPr lang="en-US" altLang="en-US"/>
              <a:pPr>
                <a:spcBef>
                  <a:spcPct val="0"/>
                </a:spcBef>
              </a:pPr>
              <a:t>38</a:t>
            </a:fld>
            <a:endParaRPr lang="en-US" altLang="en-US" dirty="0"/>
          </a:p>
        </p:txBody>
      </p:sp>
    </p:spTree>
    <p:extLst>
      <p:ext uri="{BB962C8B-B14F-4D97-AF65-F5344CB8AC3E}">
        <p14:creationId xmlns:p14="http://schemas.microsoft.com/office/powerpoint/2010/main" val="11068356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48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481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32BF813A-7138-E84E-BA09-D9FC828E17B2}" type="slidenum">
              <a:rPr lang="en-US" altLang="en-US"/>
              <a:pPr>
                <a:spcBef>
                  <a:spcPct val="0"/>
                </a:spcBef>
              </a:pPr>
              <a:t>39</a:t>
            </a:fld>
            <a:endParaRPr lang="en-US" altLang="en-US" dirty="0"/>
          </a:p>
        </p:txBody>
      </p:sp>
    </p:spTree>
    <p:extLst>
      <p:ext uri="{BB962C8B-B14F-4D97-AF65-F5344CB8AC3E}">
        <p14:creationId xmlns:p14="http://schemas.microsoft.com/office/powerpoint/2010/main" val="5046876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277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277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46663E92-2B19-AD41-AA0E-48AA07113C69}" type="slidenum">
              <a:rPr lang="en-US" altLang="en-US"/>
              <a:pPr>
                <a:spcBef>
                  <a:spcPct val="0"/>
                </a:spcBef>
              </a:pPr>
              <a:t>40</a:t>
            </a:fld>
            <a:endParaRPr lang="en-US" altLang="en-US" dirty="0"/>
          </a:p>
        </p:txBody>
      </p:sp>
    </p:spTree>
    <p:extLst>
      <p:ext uri="{BB962C8B-B14F-4D97-AF65-F5344CB8AC3E}">
        <p14:creationId xmlns:p14="http://schemas.microsoft.com/office/powerpoint/2010/main" val="17208790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860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8601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C2DC318E-F913-BE41-902F-C7AB324EC612}" type="slidenum">
              <a:rPr lang="en-US" altLang="en-US"/>
              <a:pPr>
                <a:spcBef>
                  <a:spcPct val="0"/>
                </a:spcBef>
              </a:pPr>
              <a:t>41</a:t>
            </a:fld>
            <a:endParaRPr lang="en-US" altLang="en-US" dirty="0"/>
          </a:p>
        </p:txBody>
      </p:sp>
    </p:spTree>
    <p:extLst>
      <p:ext uri="{BB962C8B-B14F-4D97-AF65-F5344CB8AC3E}">
        <p14:creationId xmlns:p14="http://schemas.microsoft.com/office/powerpoint/2010/main" val="10830494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880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880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08EC4669-C389-3F48-A86C-85B4CE06D542}" type="slidenum">
              <a:rPr lang="en-US" altLang="en-US"/>
              <a:pPr>
                <a:spcBef>
                  <a:spcPct val="0"/>
                </a:spcBef>
              </a:pPr>
              <a:t>42</a:t>
            </a:fld>
            <a:endParaRPr lang="en-US" altLang="en-US" dirty="0"/>
          </a:p>
        </p:txBody>
      </p:sp>
    </p:spTree>
    <p:extLst>
      <p:ext uri="{BB962C8B-B14F-4D97-AF65-F5344CB8AC3E}">
        <p14:creationId xmlns:p14="http://schemas.microsoft.com/office/powerpoint/2010/main" val="7412520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901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9011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FA96F265-A43E-A74C-90AC-6531AC372106}" type="slidenum">
              <a:rPr lang="en-US" altLang="en-US"/>
              <a:pPr>
                <a:spcBef>
                  <a:spcPct val="0"/>
                </a:spcBef>
              </a:pPr>
              <a:t>43</a:t>
            </a:fld>
            <a:endParaRPr lang="en-US" altLang="en-US" dirty="0"/>
          </a:p>
        </p:txBody>
      </p:sp>
    </p:spTree>
    <p:extLst>
      <p:ext uri="{BB962C8B-B14F-4D97-AF65-F5344CB8AC3E}">
        <p14:creationId xmlns:p14="http://schemas.microsoft.com/office/powerpoint/2010/main" val="6697613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921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921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AC2E4A80-F8A2-D649-88A4-C98CBD40B49A}" type="slidenum">
              <a:rPr lang="en-US" altLang="en-US"/>
              <a:pPr>
                <a:spcBef>
                  <a:spcPct val="0"/>
                </a:spcBef>
              </a:pPr>
              <a:t>44</a:t>
            </a:fld>
            <a:endParaRPr lang="en-US" altLang="en-US" dirty="0"/>
          </a:p>
        </p:txBody>
      </p:sp>
    </p:spTree>
    <p:extLst>
      <p:ext uri="{BB962C8B-B14F-4D97-AF65-F5344CB8AC3E}">
        <p14:creationId xmlns:p14="http://schemas.microsoft.com/office/powerpoint/2010/main" val="17175012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942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9421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A4D36012-32CB-8A4D-B9C0-8E470F65163B}" type="slidenum">
              <a:rPr lang="en-US" altLang="en-US"/>
              <a:pPr>
                <a:spcBef>
                  <a:spcPct val="0"/>
                </a:spcBef>
              </a:pPr>
              <a:t>45</a:t>
            </a:fld>
            <a:endParaRPr lang="en-US" altLang="en-US" dirty="0"/>
          </a:p>
        </p:txBody>
      </p:sp>
    </p:spTree>
    <p:extLst>
      <p:ext uri="{BB962C8B-B14F-4D97-AF65-F5344CB8AC3E}">
        <p14:creationId xmlns:p14="http://schemas.microsoft.com/office/powerpoint/2010/main" val="1715674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DD9766A9-0CAF-DE44-93B9-5CAC4C13ACD9}"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12C7CFA9-84A1-9746-A092-9012D2ECF23A}" type="slidenum">
              <a:rPr lang="en-US" altLang="en-US"/>
              <a:pPr>
                <a:defRPr/>
              </a:pPr>
              <a:t>‹#›</a:t>
            </a:fld>
            <a:endParaRPr lang="en-US" altLang="en-US" dirty="0"/>
          </a:p>
        </p:txBody>
      </p:sp>
    </p:spTree>
    <p:extLst>
      <p:ext uri="{BB962C8B-B14F-4D97-AF65-F5344CB8AC3E}">
        <p14:creationId xmlns:p14="http://schemas.microsoft.com/office/powerpoint/2010/main" val="1670298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baseline="0">
                <a:solidFill>
                  <a:schemeClr val="accent2">
                    <a:lumMod val="75000"/>
                  </a:schemeClr>
                </a:solidFill>
                <a:latin typeface="Arial"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indent="0">
              <a:buFont typeface="Wingdings" pitchFamily="2" charset="2"/>
              <a:buNone/>
              <a:defRPr/>
            </a:lvl1pPr>
            <a:lvl2pPr>
              <a:defRPr>
                <a:solidFill>
                  <a:schemeClr val="accent2">
                    <a:lumMod val="75000"/>
                  </a:schemeClr>
                </a:solidFill>
              </a:defRPr>
            </a:lvl2pPr>
            <a:lvl4pPr>
              <a:defRPr>
                <a:solidFill>
                  <a:schemeClr val="accent6">
                    <a:lumMod val="50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6614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A9E8EF53-23D9-0547-9F6F-D327835D62D1}"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8EAA44D-1C4A-E84F-9A76-C1F069FD2EFA}" type="slidenum">
              <a:rPr lang="en-US" altLang="en-US"/>
              <a:pPr>
                <a:defRPr/>
              </a:pPr>
              <a:t>‹#›</a:t>
            </a:fld>
            <a:endParaRPr lang="en-US" altLang="en-US" dirty="0"/>
          </a:p>
        </p:txBody>
      </p:sp>
    </p:spTree>
    <p:extLst>
      <p:ext uri="{BB962C8B-B14F-4D97-AF65-F5344CB8AC3E}">
        <p14:creationId xmlns:p14="http://schemas.microsoft.com/office/powerpoint/2010/main" val="797395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34BA2459-F24C-8242-98AA-A48A2A278D65}" type="datetime1">
              <a:rPr lang="en-US" altLang="en-US"/>
              <a:pPr>
                <a:defRPr/>
              </a:pPr>
              <a:t>6/6/24</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29FABCE-95B4-DA46-A743-D7EAD783F519}" type="slidenum">
              <a:rPr lang="en-US" altLang="en-US"/>
              <a:pPr>
                <a:defRPr/>
              </a:pPr>
              <a:t>‹#›</a:t>
            </a:fld>
            <a:endParaRPr lang="en-US" altLang="en-US" dirty="0"/>
          </a:p>
        </p:txBody>
      </p:sp>
    </p:spTree>
    <p:extLst>
      <p:ext uri="{BB962C8B-B14F-4D97-AF65-F5344CB8AC3E}">
        <p14:creationId xmlns:p14="http://schemas.microsoft.com/office/powerpoint/2010/main" val="1525824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F2382371-5F49-8C42-B30D-B180EBD927AA}" type="datetime1">
              <a:rPr lang="en-US" altLang="en-US"/>
              <a:pPr>
                <a:defRPr/>
              </a:pPr>
              <a:t>6/6/24</a:t>
            </a:fld>
            <a:endParaRPr lang="en-US" alt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1D90243C-FAF1-0E45-A40F-7C7670963498}" type="slidenum">
              <a:rPr lang="en-US" altLang="en-US"/>
              <a:pPr>
                <a:defRPr/>
              </a:pPr>
              <a:t>‹#›</a:t>
            </a:fld>
            <a:endParaRPr lang="en-US" altLang="en-US" dirty="0"/>
          </a:p>
        </p:txBody>
      </p:sp>
    </p:spTree>
    <p:extLst>
      <p:ext uri="{BB962C8B-B14F-4D97-AF65-F5344CB8AC3E}">
        <p14:creationId xmlns:p14="http://schemas.microsoft.com/office/powerpoint/2010/main" val="1432260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6531521-806F-3B4F-900F-D5BADB4E533D}" type="datetime1">
              <a:rPr lang="en-US" altLang="en-US"/>
              <a:pPr>
                <a:defRPr/>
              </a:pPr>
              <a:t>6/6/24</a:t>
            </a:fld>
            <a:endParaRPr lang="en-US" alt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82B85FE8-C595-6440-96AB-A60642730229}" type="slidenum">
              <a:rPr lang="en-US" altLang="en-US"/>
              <a:pPr>
                <a:defRPr/>
              </a:pPr>
              <a:t>‹#›</a:t>
            </a:fld>
            <a:endParaRPr lang="en-US" altLang="en-US" dirty="0"/>
          </a:p>
        </p:txBody>
      </p:sp>
    </p:spTree>
    <p:extLst>
      <p:ext uri="{BB962C8B-B14F-4D97-AF65-F5344CB8AC3E}">
        <p14:creationId xmlns:p14="http://schemas.microsoft.com/office/powerpoint/2010/main" val="855587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D5770ED-AEE7-2346-961C-FFCBF9C4A96A}" type="datetime1">
              <a:rPr lang="en-US" altLang="en-US"/>
              <a:pPr>
                <a:defRPr/>
              </a:pPr>
              <a:t>6/6/24</a:t>
            </a:fld>
            <a:endParaRPr lang="en-US" alt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AB20A531-1688-2844-BDA4-AB8A0FD2D603}" type="slidenum">
              <a:rPr lang="en-US" altLang="en-US"/>
              <a:pPr>
                <a:defRPr/>
              </a:pPr>
              <a:t>‹#›</a:t>
            </a:fld>
            <a:endParaRPr lang="en-US" altLang="en-US" dirty="0"/>
          </a:p>
        </p:txBody>
      </p:sp>
    </p:spTree>
    <p:extLst>
      <p:ext uri="{BB962C8B-B14F-4D97-AF65-F5344CB8AC3E}">
        <p14:creationId xmlns:p14="http://schemas.microsoft.com/office/powerpoint/2010/main" val="304612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D82C54B-BCC2-5547-B079-286977AC0234}" type="datetime1">
              <a:rPr lang="en-US" altLang="en-US"/>
              <a:pPr>
                <a:defRPr/>
              </a:pPr>
              <a:t>6/6/24</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3C78785-19EA-514A-89D2-C7F30EE9E979}" type="slidenum">
              <a:rPr lang="en-US" altLang="en-US"/>
              <a:pPr>
                <a:defRPr/>
              </a:pPr>
              <a:t>‹#›</a:t>
            </a:fld>
            <a:endParaRPr lang="en-US" altLang="en-US" dirty="0"/>
          </a:p>
        </p:txBody>
      </p:sp>
    </p:spTree>
    <p:extLst>
      <p:ext uri="{BB962C8B-B14F-4D97-AF65-F5344CB8AC3E}">
        <p14:creationId xmlns:p14="http://schemas.microsoft.com/office/powerpoint/2010/main" val="14920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812246D-3A5B-BB4A-8033-780526B8D7AA}" type="datetime1">
              <a:rPr lang="en-US" altLang="en-US"/>
              <a:pPr>
                <a:defRPr/>
              </a:pPr>
              <a:t>6/6/24</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6A1DCC1-917F-2D40-9A05-223726F65059}" type="slidenum">
              <a:rPr lang="en-US" altLang="en-US"/>
              <a:pPr>
                <a:defRPr/>
              </a:pPr>
              <a:t>‹#›</a:t>
            </a:fld>
            <a:endParaRPr lang="en-US" altLang="en-US" dirty="0"/>
          </a:p>
        </p:txBody>
      </p:sp>
    </p:spTree>
    <p:extLst>
      <p:ext uri="{BB962C8B-B14F-4D97-AF65-F5344CB8AC3E}">
        <p14:creationId xmlns:p14="http://schemas.microsoft.com/office/powerpoint/2010/main" val="1652437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771D621-FD88-B641-AA67-FC5EDDF300AE}"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614FC47-BF71-5C4B-90E8-1423547ECC6C}" type="slidenum">
              <a:rPr lang="en-US" altLang="en-US"/>
              <a:pPr>
                <a:defRPr/>
              </a:pPr>
              <a:t>‹#›</a:t>
            </a:fld>
            <a:endParaRPr lang="en-US" altLang="en-US" dirty="0"/>
          </a:p>
        </p:txBody>
      </p:sp>
    </p:spTree>
    <p:extLst>
      <p:ext uri="{BB962C8B-B14F-4D97-AF65-F5344CB8AC3E}">
        <p14:creationId xmlns:p14="http://schemas.microsoft.com/office/powerpoint/2010/main" val="1263413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07F8F1B-A329-BF49-8A13-863B96DC515D}"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16D40E2-66D9-5A46-A236-DAA67AF68749}" type="slidenum">
              <a:rPr lang="en-US" altLang="en-US"/>
              <a:pPr>
                <a:defRPr/>
              </a:pPr>
              <a:t>‹#›</a:t>
            </a:fld>
            <a:endParaRPr lang="en-US" altLang="en-US" dirty="0"/>
          </a:p>
        </p:txBody>
      </p:sp>
    </p:spTree>
    <p:extLst>
      <p:ext uri="{BB962C8B-B14F-4D97-AF65-F5344CB8AC3E}">
        <p14:creationId xmlns:p14="http://schemas.microsoft.com/office/powerpoint/2010/main" val="2020313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smtClean="0">
                <a:solidFill>
                  <a:srgbClr val="898989"/>
                </a:solidFill>
              </a:defRPr>
            </a:lvl1pPr>
          </a:lstStyle>
          <a:p>
            <a:pPr>
              <a:defRPr/>
            </a:pPr>
            <a:fld id="{60991B03-C26C-2B48-8CB6-B162FA3431D0}" type="datetime1">
              <a:rPr lang="en-US" altLang="en-US"/>
              <a:pPr>
                <a:defRPr/>
              </a:pPr>
              <a:t>6/6/24</a:t>
            </a:fld>
            <a:endParaRPr lang="en-US" alt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9C90AB66-EF59-0646-B9DD-3927E6FA441D}"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769" r:id="rId1"/>
    <p:sldLayoutId id="214748377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txStyles>
    <p:titleStyle>
      <a:lvl1pPr algn="ctr"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2pPr>
      <a:lvl3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3pPr>
      <a:lvl4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4pPr>
      <a:lvl5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5pPr>
      <a:lvl6pPr marL="457200" algn="ctr" rtl="0" eaLnBrk="1" fontAlgn="base" hangingPunct="1">
        <a:spcBef>
          <a:spcPct val="0"/>
        </a:spcBef>
        <a:spcAft>
          <a:spcPct val="0"/>
        </a:spcAft>
        <a:defRPr sz="4400">
          <a:solidFill>
            <a:schemeClr val="tx1"/>
          </a:solidFill>
          <a:latin typeface="Arial Black" pitchFamily="34" charset="0"/>
        </a:defRPr>
      </a:lvl6pPr>
      <a:lvl7pPr marL="914400" algn="ctr" rtl="0" eaLnBrk="1" fontAlgn="base" hangingPunct="1">
        <a:spcBef>
          <a:spcPct val="0"/>
        </a:spcBef>
        <a:spcAft>
          <a:spcPct val="0"/>
        </a:spcAft>
        <a:defRPr sz="4400">
          <a:solidFill>
            <a:schemeClr val="tx1"/>
          </a:solidFill>
          <a:latin typeface="Arial Black" pitchFamily="34" charset="0"/>
        </a:defRPr>
      </a:lvl7pPr>
      <a:lvl8pPr marL="1371600" algn="ctr" rtl="0" eaLnBrk="1" fontAlgn="base" hangingPunct="1">
        <a:spcBef>
          <a:spcPct val="0"/>
        </a:spcBef>
        <a:spcAft>
          <a:spcPct val="0"/>
        </a:spcAft>
        <a:defRPr sz="4400">
          <a:solidFill>
            <a:schemeClr val="tx1"/>
          </a:solidFill>
          <a:latin typeface="Arial Black" pitchFamily="34" charset="0"/>
        </a:defRPr>
      </a:lvl8pPr>
      <a:lvl9pPr marL="1828800" algn="ctr" rtl="0" eaLnBrk="1" fontAlgn="base" hangingPunct="1">
        <a:spcBef>
          <a:spcPct val="0"/>
        </a:spcBef>
        <a:spcAft>
          <a:spcPct val="0"/>
        </a:spcAft>
        <a:defRPr sz="4400">
          <a:solidFill>
            <a:schemeClr val="tx1"/>
          </a:solidFill>
          <a:latin typeface="Arial Black" pitchFamily="34" charset="0"/>
        </a:defRPr>
      </a:lvl9pPr>
    </p:titleStyle>
    <p:bodyStyle>
      <a:lvl1pPr marL="342900" indent="-342900" algn="l" rtl="0" eaLnBrk="0" fontAlgn="base" hangingPunct="0">
        <a:spcBef>
          <a:spcPct val="20000"/>
        </a:spcBef>
        <a:spcAft>
          <a:spcPct val="0"/>
        </a:spcAft>
        <a:buFont typeface="Arial" charset="0"/>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digital.wwnorton.com/bornfire5"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5" descr="Cover: Born in Blood and Fire, A concise history of Latin America, by John Charles Chasteen. The cover image shows a crowded place with people doing various activities and a few guards with weapons."/>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4559300" y="0"/>
            <a:ext cx="4584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2431D351-4D8B-97D3-0470-250B14CD402B}"/>
              </a:ext>
            </a:extLst>
          </p:cNvPr>
          <p:cNvSpPr>
            <a:spLocks noGrp="1"/>
          </p:cNvSpPr>
          <p:nvPr>
            <p:ph type="ctrTitle"/>
          </p:nvPr>
        </p:nvSpPr>
        <p:spPr>
          <a:xfrm>
            <a:off x="381000" y="714375"/>
            <a:ext cx="3981450" cy="1571625"/>
          </a:xfrm>
        </p:spPr>
        <p:txBody>
          <a:bodyPr/>
          <a:lstStyle/>
          <a:p>
            <a:pPr eaLnBrk="1" hangingPunct="1"/>
            <a:r>
              <a:rPr lang="en-US" altLang="en-US" sz="2800" b="1" dirty="0">
                <a:latin typeface="Times New Roman" charset="0"/>
                <a:ea typeface="Times New Roman" charset="0"/>
                <a:cs typeface="Times New Roman" charset="0"/>
              </a:rPr>
              <a:t>Born in Blood &amp; Fire</a:t>
            </a:r>
            <a:br>
              <a:rPr lang="en-US" altLang="en-US" sz="2800" b="1" dirty="0">
                <a:latin typeface="Times New Roman" charset="0"/>
                <a:ea typeface="Times New Roman" charset="0"/>
                <a:cs typeface="Times New Roman" charset="0"/>
              </a:rPr>
            </a:br>
            <a:r>
              <a:rPr lang="en-US" altLang="en-US" sz="2000" dirty="0">
                <a:latin typeface="Times New Roman" charset="0"/>
                <a:ea typeface="Times New Roman" charset="0"/>
                <a:cs typeface="Times New Roman" charset="0"/>
              </a:rPr>
              <a:t>A Concise History of Latin America</a:t>
            </a:r>
            <a:br>
              <a:rPr lang="en-US" altLang="en-US" sz="2000" dirty="0">
                <a:latin typeface="Times New Roman" charset="0"/>
                <a:ea typeface="Times New Roman" charset="0"/>
                <a:cs typeface="Times New Roman" charset="0"/>
              </a:rPr>
            </a:br>
            <a:r>
              <a:rPr lang="en-US" altLang="en-US" sz="2000" dirty="0">
                <a:latin typeface="Times New Roman" charset="0"/>
                <a:ea typeface="Times New Roman" charset="0"/>
                <a:cs typeface="Times New Roman" charset="0"/>
              </a:rPr>
              <a:t>5</a:t>
            </a:r>
            <a:r>
              <a:rPr lang="en-US" altLang="en-US" sz="2000" baseline="30000" dirty="0">
                <a:latin typeface="Times New Roman" charset="0"/>
                <a:ea typeface="Times New Roman" charset="0"/>
                <a:cs typeface="Times New Roman" charset="0"/>
              </a:rPr>
              <a:t>th</a:t>
            </a:r>
            <a:r>
              <a:rPr lang="en-US" altLang="en-US" sz="2000" dirty="0">
                <a:latin typeface="Times New Roman" charset="0"/>
                <a:ea typeface="Times New Roman" charset="0"/>
                <a:cs typeface="Times New Roman" charset="0"/>
              </a:rPr>
              <a:t> Edition</a:t>
            </a:r>
            <a:endParaRPr lang="en-US" altLang="en-US" sz="2800" dirty="0">
              <a:latin typeface="Times New Roman" charset="0"/>
              <a:ea typeface="Times New Roman" charset="0"/>
              <a:cs typeface="Times New Roman" charset="0"/>
            </a:endParaRPr>
          </a:p>
        </p:txBody>
      </p:sp>
      <p:sp>
        <p:nvSpPr>
          <p:cNvPr id="5" name="Text Placeholder 9">
            <a:extLst>
              <a:ext uri="{FF2B5EF4-FFF2-40B4-BE49-F238E27FC236}">
                <a16:creationId xmlns:a16="http://schemas.microsoft.com/office/drawing/2014/main" id="{24E880E0-A6AE-2542-BD8F-D7BB61D4E455}"/>
              </a:ext>
            </a:extLst>
          </p:cNvPr>
          <p:cNvSpPr txBox="1">
            <a:spLocks/>
          </p:cNvSpPr>
          <p:nvPr/>
        </p:nvSpPr>
        <p:spPr bwMode="auto">
          <a:xfrm>
            <a:off x="745529" y="2286000"/>
            <a:ext cx="3252391" cy="385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r>
              <a:rPr lang="en-US" altLang="en-US" sz="1800" dirty="0">
                <a:latin typeface="Times New Roman" charset="0"/>
                <a:ea typeface="Times New Roman" charset="0"/>
                <a:cs typeface="Times New Roman" charset="0"/>
              </a:rPr>
              <a:t>By</a:t>
            </a:r>
          </a:p>
          <a:p>
            <a:pPr marL="0" indent="0" algn="ctr" eaLnBrk="1" hangingPunct="1"/>
            <a:r>
              <a:rPr lang="en-US" altLang="en-US" sz="1800" dirty="0">
                <a:latin typeface="Times New Roman" charset="0"/>
                <a:ea typeface="Times New Roman" charset="0"/>
                <a:cs typeface="Times New Roman" charset="0"/>
              </a:rPr>
              <a:t>John Charles Chasteen</a:t>
            </a:r>
          </a:p>
          <a:p>
            <a:pPr marL="0" indent="0" algn="ctr" eaLnBrk="1" hangingPunct="1"/>
            <a:endParaRPr lang="en-US" altLang="en-US" dirty="0">
              <a:latin typeface="Times New Roman" charset="0"/>
              <a:ea typeface="Times New Roman" charset="0"/>
              <a:cs typeface="Times New Roman" charset="0"/>
            </a:endParaRPr>
          </a:p>
          <a:p>
            <a:pPr marL="0" indent="0" algn="ctr" eaLnBrk="1" hangingPunct="1"/>
            <a:r>
              <a:rPr lang="en-US" altLang="en-US" dirty="0">
                <a:latin typeface="Times New Roman" charset="0"/>
                <a:ea typeface="Times New Roman" charset="0"/>
                <a:cs typeface="Times New Roman" charset="0"/>
              </a:rPr>
              <a:t>Chapter 10:</a:t>
            </a:r>
          </a:p>
          <a:p>
            <a:pPr marL="0" indent="0" algn="ctr" eaLnBrk="1" hangingPunct="1"/>
            <a:r>
              <a:rPr lang="en-US" altLang="en-US" dirty="0">
                <a:latin typeface="Times New Roman" charset="0"/>
                <a:ea typeface="Times New Roman" charset="0"/>
                <a:cs typeface="Times New Roman" charset="0"/>
              </a:rPr>
              <a:t>Reaction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6"/>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Cuban Revolution</a:t>
            </a:r>
          </a:p>
        </p:txBody>
      </p:sp>
      <p:sp>
        <p:nvSpPr>
          <p:cNvPr id="8" name="Content Placeholder 7"/>
          <p:cNvSpPr>
            <a:spLocks noGrp="1"/>
          </p:cNvSpPr>
          <p:nvPr>
            <p:ph idx="1"/>
          </p:nvPr>
        </p:nvSpPr>
        <p:spPr/>
        <p:txBody>
          <a:bodyPr rtlCol="0">
            <a:normAutofit/>
          </a:bodyPr>
          <a:lstStyle/>
          <a:p>
            <a:pPr lvl="1" eaLnBrk="1" hangingPunct="1">
              <a:defRPr/>
            </a:pPr>
            <a:r>
              <a:rPr lang="en-US" dirty="0">
                <a:solidFill>
                  <a:schemeClr val="tx1"/>
                </a:solidFill>
                <a:latin typeface="Times New Roman" charset="0"/>
                <a:ea typeface="Times New Roman" charset="0"/>
                <a:cs typeface="Times New Roman" charset="0"/>
              </a:rPr>
              <a:t>Hope for revolutionaries, danger for others</a:t>
            </a:r>
          </a:p>
          <a:p>
            <a:pPr lvl="1" eaLnBrk="1" hangingPunct="1">
              <a:defRPr/>
            </a:pPr>
            <a:r>
              <a:rPr lang="en-US" dirty="0">
                <a:solidFill>
                  <a:schemeClr val="tx1"/>
                </a:solidFill>
                <a:latin typeface="Times New Roman" charset="0"/>
                <a:ea typeface="Times New Roman" charset="0"/>
                <a:cs typeface="Times New Roman" charset="0"/>
              </a:rPr>
              <a:t>Government training revolutionaries from other governments</a:t>
            </a:r>
          </a:p>
          <a:p>
            <a:pPr lvl="1" eaLnBrk="1" hangingPunct="1">
              <a:defRPr/>
            </a:pPr>
            <a:r>
              <a:rPr lang="en-US" dirty="0">
                <a:solidFill>
                  <a:schemeClr val="tx1"/>
                </a:solidFill>
                <a:latin typeface="Times New Roman" charset="0"/>
                <a:ea typeface="Times New Roman" charset="0"/>
                <a:cs typeface="Times New Roman" charset="0"/>
              </a:rPr>
              <a:t>Little to offer in arms or money</a:t>
            </a:r>
          </a:p>
          <a:p>
            <a:pPr lvl="1" eaLnBrk="1" hangingPunct="1">
              <a:defRPr/>
            </a:pPr>
            <a:r>
              <a:rPr lang="en-US" dirty="0">
                <a:solidFill>
                  <a:schemeClr val="tx1"/>
                </a:solidFill>
                <a:latin typeface="Times New Roman" charset="0"/>
                <a:ea typeface="Times New Roman" charset="0"/>
                <a:cs typeface="Times New Roman" charset="0"/>
              </a:rPr>
              <a:t>US policy encouraged a conservative counterrevolutionary reaction.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Role of the Soviet Union</a:t>
            </a:r>
          </a:p>
        </p:txBody>
      </p:sp>
      <p:sp>
        <p:nvSpPr>
          <p:cNvPr id="17410"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Soviet Union was not heavily involved outside of Cuba.</a:t>
            </a:r>
          </a:p>
          <a:p>
            <a:pPr marL="800100" lvl="1" indent="-457200" eaLnBrk="1" hangingPunct="1"/>
            <a:r>
              <a:rPr lang="en-US" altLang="en-US" dirty="0">
                <a:solidFill>
                  <a:schemeClr val="tx1"/>
                </a:solidFill>
                <a:latin typeface="Times New Roman" charset="0"/>
                <a:ea typeface="Times New Roman" charset="0"/>
                <a:cs typeface="Times New Roman" charset="0"/>
              </a:rPr>
              <a:t>Nationalism remained the basis of revolutionary movements.</a:t>
            </a:r>
          </a:p>
          <a:p>
            <a:pPr marL="800100" lvl="1" indent="-457200" eaLnBrk="1" hangingPunct="1"/>
            <a:r>
              <a:rPr lang="en-US" altLang="en-US" dirty="0">
                <a:solidFill>
                  <a:schemeClr val="tx1"/>
                </a:solidFill>
                <a:latin typeface="Times New Roman" charset="0"/>
                <a:ea typeface="Times New Roman" charset="0"/>
                <a:cs typeface="Times New Roman" charset="0"/>
              </a:rPr>
              <a:t>The Soviet Union had little interest or presence. </a:t>
            </a:r>
          </a:p>
          <a:p>
            <a:pPr marL="800100" lvl="1" indent="-457200" eaLnBrk="1" hangingPunct="1"/>
            <a:r>
              <a:rPr lang="en-US" altLang="en-US" dirty="0">
                <a:solidFill>
                  <a:schemeClr val="tx1"/>
                </a:solidFill>
                <a:latin typeface="Times New Roman" charset="0"/>
                <a:ea typeface="Times New Roman" charset="0"/>
                <a:cs typeface="Times New Roman" charset="0"/>
              </a:rPr>
              <a:t>Anticommunists nevertheless branded Marxist revolutionaries as foreign. </a:t>
            </a:r>
          </a:p>
          <a:p>
            <a:pPr marL="800100" indent="-457200" eaLnBrk="1" hangingPunct="1">
              <a:buFont typeface="Arial" charset="0"/>
              <a:buChar char="•"/>
            </a:pPr>
            <a:endParaRPr lang="en-US" altLang="en-US" sz="2800" dirty="0">
              <a:latin typeface="Times New Roman" charset="0"/>
              <a:ea typeface="Times New Roman" charset="0"/>
              <a:cs typeface="Times New Roman"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Anticommunism</a:t>
            </a:r>
          </a:p>
        </p:txBody>
      </p:sp>
      <p:sp>
        <p:nvSpPr>
          <p:cNvPr id="19458"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Armed forces were the greatest ally of anticommunist efforts.</a:t>
            </a:r>
          </a:p>
          <a:p>
            <a:pPr marL="800100" lvl="1" indent="-457200" eaLnBrk="1" hangingPunct="1"/>
            <a:r>
              <a:rPr lang="en-US" altLang="en-US" dirty="0">
                <a:solidFill>
                  <a:schemeClr val="tx1"/>
                </a:solidFill>
                <a:latin typeface="Times New Roman" charset="0"/>
                <a:ea typeface="Times New Roman" charset="0"/>
                <a:cs typeface="Times New Roman" charset="0"/>
              </a:rPr>
              <a:t>Alliance between Latin American militaries and the United States was forged during World War II.</a:t>
            </a:r>
          </a:p>
          <a:p>
            <a:pPr lvl="2" eaLnBrk="1" hangingPunct="1"/>
            <a:r>
              <a:rPr lang="en-US" altLang="en-US" dirty="0">
                <a:latin typeface="Times New Roman" charset="0"/>
                <a:ea typeface="Times New Roman" charset="0"/>
                <a:cs typeface="Times New Roman" charset="0"/>
              </a:rPr>
              <a:t>Became explicitly anticommunist</a:t>
            </a:r>
          </a:p>
          <a:p>
            <a:pPr marL="800100" lvl="1" indent="-457200" eaLnBrk="1" hangingPunct="1"/>
            <a:r>
              <a:rPr lang="en-US" altLang="en-US" dirty="0">
                <a:solidFill>
                  <a:schemeClr val="tx1"/>
                </a:solidFill>
                <a:latin typeface="Times New Roman" charset="0"/>
                <a:ea typeface="Times New Roman" charset="0"/>
                <a:cs typeface="Times New Roman" charset="0"/>
              </a:rPr>
              <a:t>School of the Americas for counterinsurgency</a:t>
            </a:r>
          </a:p>
          <a:p>
            <a:pPr marL="800100" lvl="1" indent="-457200" eaLnBrk="1" hangingPunct="1"/>
            <a:r>
              <a:rPr lang="en-US" altLang="en-US" dirty="0">
                <a:solidFill>
                  <a:schemeClr val="tx1"/>
                </a:solidFill>
                <a:latin typeface="Times New Roman" charset="0"/>
                <a:ea typeface="Times New Roman" charset="0"/>
                <a:cs typeface="Times New Roman" charset="0"/>
              </a:rPr>
              <a:t>National Security Doctrine</a:t>
            </a:r>
          </a:p>
          <a:p>
            <a:pPr marL="800100" lvl="1" indent="-457200" eaLnBrk="1" hangingPunct="1"/>
            <a:r>
              <a:rPr lang="en-US" altLang="en-US" dirty="0">
                <a:solidFill>
                  <a:schemeClr val="tx1"/>
                </a:solidFill>
                <a:latin typeface="Times New Roman" charset="0"/>
                <a:ea typeface="Times New Roman" charset="0"/>
                <a:cs typeface="Times New Roman" charset="0"/>
              </a:rPr>
              <a:t>The US alliance strengthened Latin American militaries. </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Alliance for Progress</a:t>
            </a:r>
          </a:p>
        </p:txBody>
      </p:sp>
      <p:sp>
        <p:nvSpPr>
          <p:cNvPr id="2150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US aid program in response to Cuban Revolution .</a:t>
            </a:r>
          </a:p>
          <a:p>
            <a:pPr lvl="1" eaLnBrk="1" hangingPunct="1"/>
            <a:r>
              <a:rPr lang="en-US" altLang="en-US" dirty="0">
                <a:solidFill>
                  <a:schemeClr val="tx1"/>
                </a:solidFill>
                <a:latin typeface="Times New Roman" charset="0"/>
                <a:ea typeface="Times New Roman" charset="0"/>
                <a:cs typeface="Times New Roman" charset="0"/>
              </a:rPr>
              <a:t>Similar to Marshall Plan</a:t>
            </a:r>
          </a:p>
          <a:p>
            <a:pPr lvl="1" eaLnBrk="1" hangingPunct="1"/>
            <a:r>
              <a:rPr lang="en-US" altLang="en-US" dirty="0">
                <a:solidFill>
                  <a:schemeClr val="tx1"/>
                </a:solidFill>
                <a:latin typeface="Times New Roman" charset="0"/>
                <a:ea typeface="Times New Roman" charset="0"/>
                <a:cs typeface="Times New Roman" charset="0"/>
              </a:rPr>
              <a:t>Intended to reduce revolutionary pressure </a:t>
            </a:r>
          </a:p>
          <a:p>
            <a:pPr lvl="1" eaLnBrk="1" hangingPunct="1"/>
            <a:r>
              <a:rPr lang="en-US" altLang="en-US" dirty="0">
                <a:solidFill>
                  <a:schemeClr val="tx1"/>
                </a:solidFill>
                <a:latin typeface="Times New Roman" charset="0"/>
                <a:ea typeface="Times New Roman" charset="0"/>
                <a:cs typeface="Times New Roman" charset="0"/>
              </a:rPr>
              <a:t>Kennedy declared reform necessary to prevent revolution.</a:t>
            </a:r>
          </a:p>
          <a:p>
            <a:pPr lvl="1" eaLnBrk="1" hangingPunct="1"/>
            <a:r>
              <a:rPr lang="en-US" altLang="en-US" dirty="0">
                <a:solidFill>
                  <a:schemeClr val="tx1"/>
                </a:solidFill>
                <a:latin typeface="Times New Roman" charset="0"/>
                <a:ea typeface="Times New Roman" charset="0"/>
                <a:cs typeface="Times New Roman" charset="0"/>
              </a:rPr>
              <a:t>Failed to make serious reforms</a:t>
            </a:r>
          </a:p>
          <a:p>
            <a:pPr lvl="1" eaLnBrk="1" hangingPunct="1"/>
            <a:r>
              <a:rPr lang="en-US" altLang="en-US" dirty="0">
                <a:solidFill>
                  <a:schemeClr val="tx1"/>
                </a:solidFill>
                <a:latin typeface="Times New Roman" charset="0"/>
                <a:ea typeface="Times New Roman" charset="0"/>
                <a:cs typeface="Times New Roman" charset="0"/>
              </a:rPr>
              <a:t>By </a:t>
            </a:r>
            <a:r>
              <a:rPr lang="en-US" altLang="en-US" dirty="0" err="1">
                <a:solidFill>
                  <a:schemeClr val="tx1"/>
                </a:solidFill>
                <a:latin typeface="Times New Roman" charset="0"/>
                <a:ea typeface="Times New Roman" charset="0"/>
                <a:cs typeface="Times New Roman" charset="0"/>
              </a:rPr>
              <a:t>1970s</a:t>
            </a:r>
            <a:r>
              <a:rPr lang="en-US" altLang="en-US" dirty="0">
                <a:solidFill>
                  <a:schemeClr val="tx1"/>
                </a:solidFill>
                <a:latin typeface="Times New Roman" charset="0"/>
                <a:ea typeface="Times New Roman" charset="0"/>
                <a:cs typeface="Times New Roman" charset="0"/>
              </a:rPr>
              <a:t>, Latin American generals took control.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Culture of Revolution</a:t>
            </a:r>
          </a:p>
        </p:txBody>
      </p:sp>
      <p:sp>
        <p:nvSpPr>
          <p:cNvPr id="23554"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The momentum toward revolution seemed to grow in the 1960s.</a:t>
            </a:r>
          </a:p>
          <a:p>
            <a:pPr marL="800100" lvl="1" indent="-457200" eaLnBrk="1" hangingPunct="1"/>
            <a:r>
              <a:rPr lang="en-US" altLang="en-US" dirty="0">
                <a:solidFill>
                  <a:schemeClr val="tx1"/>
                </a:solidFill>
                <a:latin typeface="Times New Roman" charset="0"/>
                <a:ea typeface="Times New Roman" charset="0"/>
                <a:cs typeface="Times New Roman" charset="0"/>
              </a:rPr>
              <a:t>Marxism is the most popular political philosophy among students and intellectuals.</a:t>
            </a:r>
          </a:p>
          <a:p>
            <a:pPr marL="800100" lvl="1" indent="-457200" eaLnBrk="1" hangingPunct="1"/>
            <a:r>
              <a:rPr lang="en-US" altLang="en-US" dirty="0">
                <a:solidFill>
                  <a:schemeClr val="tx1"/>
                </a:solidFill>
                <a:latin typeface="Times New Roman" charset="0"/>
                <a:ea typeface="Times New Roman" charset="0"/>
                <a:cs typeface="Times New Roman" charset="0"/>
              </a:rPr>
              <a:t>Revolutionary filmmaking </a:t>
            </a:r>
          </a:p>
          <a:p>
            <a:pPr marL="800100" lvl="1" indent="-457200" eaLnBrk="1" hangingPunct="1"/>
            <a:r>
              <a:rPr lang="en-US" altLang="en-US" dirty="0">
                <a:solidFill>
                  <a:schemeClr val="tx1"/>
                </a:solidFill>
                <a:latin typeface="Times New Roman" charset="0"/>
                <a:ea typeface="Times New Roman" charset="0"/>
                <a:cs typeface="Times New Roman" charset="0"/>
              </a:rPr>
              <a:t>Novelistic “Boom”</a:t>
            </a:r>
          </a:p>
          <a:p>
            <a:pPr lvl="2" eaLnBrk="1" hangingPunct="1"/>
            <a:r>
              <a:rPr lang="en-US" altLang="en-US" dirty="0">
                <a:latin typeface="Times New Roman" charset="0"/>
                <a:ea typeface="Times New Roman" charset="0"/>
                <a:cs typeface="Times New Roman" charset="0"/>
              </a:rPr>
              <a:t>Colombia’s Gabriel García Márquez </a:t>
            </a:r>
          </a:p>
          <a:p>
            <a:pPr lvl="2" eaLnBrk="1" hangingPunct="1"/>
            <a:r>
              <a:rPr lang="en-US" altLang="en-US" dirty="0">
                <a:latin typeface="Times New Roman" charset="0"/>
                <a:ea typeface="Times New Roman" charset="0"/>
                <a:cs typeface="Times New Roman" charset="0"/>
              </a:rPr>
              <a:t>Mexico</a:t>
            </a:r>
            <a:r>
              <a:rPr lang="ja-JP" altLang="en-US" dirty="0">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s Carlos Fuentes</a:t>
            </a:r>
          </a:p>
          <a:p>
            <a:pPr lvl="2" eaLnBrk="1" hangingPunct="1"/>
            <a:r>
              <a:rPr lang="en-US" altLang="en-US" dirty="0">
                <a:latin typeface="Times New Roman" charset="0"/>
                <a:ea typeface="Times New Roman" charset="0"/>
                <a:cs typeface="Times New Roman" charset="0"/>
              </a:rPr>
              <a:t>Peru</a:t>
            </a:r>
            <a:r>
              <a:rPr lang="ja-JP" altLang="en-US" dirty="0">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s Mario Vargas Llosa</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Military Response</a:t>
            </a:r>
          </a:p>
        </p:txBody>
      </p:sp>
      <p:sp>
        <p:nvSpPr>
          <p:cNvPr id="25602"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Latin American militaries reacted with violence and brutality. </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Widespread use of kidnapping, torture, murder </a:t>
            </a:r>
          </a:p>
          <a:p>
            <a:pPr lvl="2" eaLnBrk="1" hangingPunct="1"/>
            <a:r>
              <a:rPr lang="en-US" altLang="en-US" dirty="0">
                <a:latin typeface="Times New Roman" charset="0"/>
                <a:ea typeface="Times New Roman" charset="0"/>
                <a:cs typeface="Times New Roman" charset="0"/>
              </a:rPr>
              <a:t>Targeted suspected sympathizers </a:t>
            </a:r>
          </a:p>
          <a:p>
            <a:pPr lvl="1" eaLnBrk="1" hangingPunct="1"/>
            <a:r>
              <a:rPr lang="en-US" altLang="en-US" dirty="0">
                <a:solidFill>
                  <a:schemeClr val="tx1"/>
                </a:solidFill>
                <a:latin typeface="Times New Roman" charset="0"/>
                <a:ea typeface="Times New Roman" charset="0"/>
                <a:cs typeface="Times New Roman" charset="0"/>
              </a:rPr>
              <a:t>Urban guerrilla movements</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Relied on secrecy and hiding</a:t>
            </a:r>
          </a:p>
          <a:p>
            <a:pPr lvl="2" eaLnBrk="1" hangingPunct="1"/>
            <a:r>
              <a:rPr lang="en-US" altLang="en-US" dirty="0">
                <a:latin typeface="Times New Roman" charset="0"/>
                <a:ea typeface="Times New Roman" charset="0"/>
                <a:cs typeface="Times New Roman" charset="0"/>
              </a:rPr>
              <a:t>Brutal tactics to root out revolutionaries</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National Security Doctrine</a:t>
            </a:r>
          </a:p>
        </p:txBody>
      </p:sp>
      <p:sp>
        <p:nvSpPr>
          <p:cNvPr id="2765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National Security Doctrine maintained a climate of emergency that produced brutality. </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Military had increasingly active role in national life.</a:t>
            </a:r>
          </a:p>
          <a:p>
            <a:pPr lvl="2" eaLnBrk="1" hangingPunct="1"/>
            <a:r>
              <a:rPr lang="en-US" altLang="en-US" dirty="0">
                <a:latin typeface="Times New Roman" charset="0"/>
                <a:ea typeface="Times New Roman" charset="0"/>
                <a:cs typeface="Times New Roman" charset="0"/>
              </a:rPr>
              <a:t>Generals believed civilian politicians were unnecessary. </a:t>
            </a:r>
          </a:p>
          <a:p>
            <a:pPr lvl="2" eaLnBrk="1" hangingPunct="1"/>
            <a:r>
              <a:rPr lang="en-US" altLang="en-US" dirty="0">
                <a:latin typeface="Times New Roman" charset="0"/>
                <a:ea typeface="Times New Roman" charset="0"/>
                <a:cs typeface="Times New Roman" charset="0"/>
              </a:rPr>
              <a:t>Civil liberties hindered efforts to crush opposition.</a:t>
            </a:r>
          </a:p>
          <a:p>
            <a:pPr lvl="1" eaLnBrk="1" hangingPunct="1"/>
            <a:r>
              <a:rPr lang="en-US" altLang="en-US" dirty="0">
                <a:solidFill>
                  <a:schemeClr val="tx1"/>
                </a:solidFill>
                <a:latin typeface="Times New Roman" charset="0"/>
                <a:ea typeface="Times New Roman" charset="0"/>
                <a:cs typeface="Times New Roman" charset="0"/>
              </a:rPr>
              <a:t>Juntas</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Executive committees of generals and admirals</a:t>
            </a:r>
          </a:p>
          <a:p>
            <a:pPr lvl="2" eaLnBrk="1" hangingPunct="1"/>
            <a:r>
              <a:rPr lang="en-US" altLang="en-US" dirty="0">
                <a:latin typeface="Times New Roman" charset="0"/>
                <a:ea typeface="Times New Roman" charset="0"/>
                <a:cs typeface="Times New Roman" charset="0"/>
              </a:rPr>
              <a:t>Came to rule many Latin American countries </a:t>
            </a:r>
          </a:p>
          <a:p>
            <a:pPr lvl="2" eaLnBrk="1" hangingPunct="1"/>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Bureaucratic authoritarianism</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 </a:t>
            </a:r>
            <a:endParaRPr lang="en-US" altLang="en-US" dirty="0">
              <a:latin typeface="Times New Roman" charset="0"/>
              <a:ea typeface="Times New Roman" charset="0"/>
              <a:cs typeface="Times New Roman"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Brazilian Experience</a:t>
            </a:r>
          </a:p>
        </p:txBody>
      </p:sp>
      <p:sp>
        <p:nvSpPr>
          <p:cNvPr id="2969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Military fought alongside the United States in World War II</a:t>
            </a:r>
          </a:p>
          <a:p>
            <a:pPr lvl="1" eaLnBrk="1" hangingPunct="1"/>
            <a:r>
              <a:rPr lang="en-US" altLang="en-US" dirty="0">
                <a:solidFill>
                  <a:schemeClr val="tx1"/>
                </a:solidFill>
                <a:latin typeface="Times New Roman" charset="0"/>
                <a:ea typeface="Times New Roman" charset="0"/>
                <a:cs typeface="Times New Roman" charset="0"/>
              </a:rPr>
              <a:t>Armed forces on red alert after Cuban Revolution </a:t>
            </a:r>
          </a:p>
          <a:p>
            <a:pPr lvl="1" eaLnBrk="1" hangingPunct="1"/>
            <a:r>
              <a:rPr lang="en-US" altLang="en-US" dirty="0">
                <a:solidFill>
                  <a:schemeClr val="tx1"/>
                </a:solidFill>
                <a:latin typeface="Times New Roman" charset="0"/>
                <a:ea typeface="Times New Roman" charset="0"/>
                <a:cs typeface="Times New Roman" charset="0"/>
              </a:rPr>
              <a:t>Jõao Goulart</a:t>
            </a:r>
          </a:p>
          <a:p>
            <a:pPr lvl="1" eaLnBrk="1" hangingPunct="1"/>
            <a:r>
              <a:rPr lang="en-US" altLang="en-US" dirty="0">
                <a:solidFill>
                  <a:schemeClr val="tx1"/>
                </a:solidFill>
                <a:latin typeface="Times New Roman" charset="0"/>
                <a:ea typeface="Times New Roman" charset="0"/>
                <a:cs typeface="Times New Roman" charset="0"/>
              </a:rPr>
              <a:t>Peasant leagues demand land reform</a:t>
            </a:r>
          </a:p>
          <a:p>
            <a:pPr lvl="1" eaLnBrk="1" hangingPunct="1"/>
            <a:r>
              <a:rPr lang="en-US" altLang="en-US" dirty="0">
                <a:solidFill>
                  <a:schemeClr val="tx1"/>
                </a:solidFill>
                <a:latin typeface="Times New Roman" charset="0"/>
                <a:ea typeface="Times New Roman" charset="0"/>
                <a:cs typeface="Times New Roman" charset="0"/>
              </a:rPr>
              <a:t>Brazilian generals seize control of government in 1964</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Military Rule in Brazil</a:t>
            </a:r>
          </a:p>
        </p:txBody>
      </p:sp>
      <p:sp>
        <p:nvSpPr>
          <p:cNvPr id="3174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Ruled by decree </a:t>
            </a:r>
          </a:p>
          <a:p>
            <a:pPr lvl="2" eaLnBrk="1" hangingPunct="1"/>
            <a:r>
              <a:rPr lang="en-US" altLang="en-US" dirty="0">
                <a:latin typeface="Times New Roman" charset="0"/>
                <a:ea typeface="Times New Roman" charset="0"/>
                <a:cs typeface="Times New Roman" charset="0"/>
              </a:rPr>
              <a:t>Outward appearance of constitutional government </a:t>
            </a:r>
          </a:p>
          <a:p>
            <a:pPr lvl="2" eaLnBrk="1" hangingPunct="1"/>
            <a:r>
              <a:rPr lang="en-US" altLang="en-US" dirty="0">
                <a:latin typeface="Times New Roman" charset="0"/>
                <a:ea typeface="Times New Roman" charset="0"/>
                <a:cs typeface="Times New Roman" charset="0"/>
              </a:rPr>
              <a:t>Changed inconvenient laws</a:t>
            </a:r>
          </a:p>
          <a:p>
            <a:pPr lvl="2" eaLnBrk="1" hangingPunct="1"/>
            <a:r>
              <a:rPr lang="en-US" altLang="en-US" dirty="0">
                <a:latin typeface="Times New Roman" charset="0"/>
                <a:ea typeface="Times New Roman" charset="0"/>
                <a:cs typeface="Times New Roman" charset="0"/>
              </a:rPr>
              <a:t>Enemies had no political rights for ten years</a:t>
            </a:r>
          </a:p>
          <a:p>
            <a:pPr lvl="2" eaLnBrk="1" hangingPunct="1"/>
            <a:r>
              <a:rPr lang="en-US" altLang="en-US" dirty="0">
                <a:latin typeface="Times New Roman" charset="0"/>
                <a:ea typeface="Times New Roman" charset="0"/>
                <a:cs typeface="Times New Roman" charset="0"/>
              </a:rPr>
              <a:t>Two legal political parties, neither in opposition</a:t>
            </a:r>
          </a:p>
          <a:p>
            <a:pPr lvl="2" eaLnBrk="1" hangingPunct="1"/>
            <a:r>
              <a:rPr lang="en-US" altLang="en-US" dirty="0">
                <a:latin typeface="Times New Roman" charset="0"/>
                <a:ea typeface="Times New Roman" charset="0"/>
                <a:cs typeface="Times New Roman" charset="0"/>
              </a:rPr>
              <a:t>Laws allowing them to legally dissolve congress</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Revolutionary Response</a:t>
            </a:r>
          </a:p>
        </p:txBody>
      </p:sp>
      <p:sp>
        <p:nvSpPr>
          <p:cNvPr id="3379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Rise of an opposition </a:t>
            </a:r>
          </a:p>
          <a:p>
            <a:pPr lvl="2" eaLnBrk="1" hangingPunct="1"/>
            <a:r>
              <a:rPr lang="en-US" altLang="en-US" dirty="0">
                <a:latin typeface="Times New Roman" charset="0"/>
                <a:ea typeface="Times New Roman" charset="0"/>
                <a:cs typeface="Times New Roman" charset="0"/>
              </a:rPr>
              <a:t>Urban guerrilla movements arose in 1960s</a:t>
            </a:r>
            <a:r>
              <a:rPr lang="en-US" altLang="en-US" dirty="0">
                <a:latin typeface="Calibri"/>
                <a:ea typeface="Times New Roman" charset="0"/>
                <a:cs typeface="Times New Roman" charset="0"/>
              </a:rPr>
              <a:t>–</a:t>
            </a:r>
            <a:r>
              <a:rPr lang="en-US" altLang="en-US" dirty="0">
                <a:latin typeface="Times New Roman" charset="0"/>
                <a:ea typeface="Times New Roman" charset="0"/>
                <a:cs typeface="Times New Roman" charset="0"/>
              </a:rPr>
              <a:t>1970s.</a:t>
            </a:r>
          </a:p>
          <a:p>
            <a:pPr lvl="2" eaLnBrk="1" hangingPunct="1"/>
            <a:r>
              <a:rPr lang="en-US" altLang="en-US" dirty="0">
                <a:latin typeface="Times New Roman" charset="0"/>
                <a:ea typeface="Times New Roman" charset="0"/>
                <a:cs typeface="Times New Roman" charset="0"/>
              </a:rPr>
              <a:t>Junta attacked with </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death squads.</a:t>
            </a:r>
            <a:r>
              <a:rPr lang="ja-JP" altLang="en-US">
                <a:latin typeface="Times New Roman" charset="0"/>
                <a:ea typeface="Times New Roman" charset="0"/>
                <a:cs typeface="Times New Roman" charset="0"/>
              </a:rPr>
              <a:t>”</a:t>
            </a:r>
            <a:endParaRPr lang="en-US" altLang="ja-JP" dirty="0">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Kept meticulous files on political prisoners</a:t>
            </a:r>
          </a:p>
          <a:p>
            <a:pPr lvl="1" eaLnBrk="1" hangingPunct="1"/>
            <a:r>
              <a:rPr lang="en-US" altLang="en-US" dirty="0">
                <a:solidFill>
                  <a:schemeClr val="tx1"/>
                </a:solidFill>
                <a:latin typeface="Times New Roman" charset="0"/>
                <a:ea typeface="Times New Roman" charset="0"/>
                <a:cs typeface="Times New Roman" charset="0"/>
              </a:rPr>
              <a:t>Currents within the military </a:t>
            </a:r>
          </a:p>
          <a:p>
            <a:pPr lvl="2" eaLnBrk="1" hangingPunct="1"/>
            <a:r>
              <a:rPr lang="en-US" altLang="en-US" dirty="0">
                <a:latin typeface="Times New Roman" charset="0"/>
                <a:ea typeface="Times New Roman" charset="0"/>
                <a:cs typeface="Times New Roman" charset="0"/>
              </a:rPr>
              <a:t>Moderate constitutionalists in power 1964</a:t>
            </a:r>
            <a:r>
              <a:rPr lang="en-US" altLang="en-US" dirty="0">
                <a:latin typeface="Calibri"/>
                <a:ea typeface="Times New Roman" charset="0"/>
                <a:cs typeface="Times New Roman" charset="0"/>
              </a:rPr>
              <a:t>–</a:t>
            </a:r>
            <a:r>
              <a:rPr lang="en-US" altLang="en-US" dirty="0">
                <a:latin typeface="Times New Roman" charset="0"/>
                <a:ea typeface="Times New Roman" charset="0"/>
                <a:cs typeface="Times New Roman" charset="0"/>
              </a:rPr>
              <a:t>1967</a:t>
            </a:r>
          </a:p>
          <a:p>
            <a:pPr lvl="2" eaLnBrk="1" hangingPunct="1"/>
            <a:r>
              <a:rPr lang="en-US" altLang="en-US" dirty="0">
                <a:latin typeface="Times New Roman" charset="0"/>
                <a:ea typeface="Times New Roman" charset="0"/>
                <a:cs typeface="Times New Roman" charset="0"/>
              </a:rPr>
              <a:t>Hard-line authoritarians dominated from 1968</a:t>
            </a:r>
            <a:r>
              <a:rPr lang="en-US" altLang="en-US" dirty="0">
                <a:latin typeface="Calibri"/>
                <a:ea typeface="Times New Roman" charset="0"/>
                <a:cs typeface="Times New Roman" charset="0"/>
              </a:rPr>
              <a:t>–</a:t>
            </a:r>
            <a:r>
              <a:rPr lang="en-US" altLang="en-US" dirty="0">
                <a:latin typeface="Times New Roman" charset="0"/>
                <a:ea typeface="Times New Roman" charset="0"/>
                <a:cs typeface="Times New Roman" charset="0"/>
              </a:rPr>
              <a:t>1974.</a:t>
            </a:r>
          </a:p>
          <a:p>
            <a:pPr lvl="2" eaLnBrk="1" hangingPunct="1"/>
            <a:r>
              <a:rPr lang="en-US" altLang="en-US" dirty="0">
                <a:latin typeface="Times New Roman" charset="0"/>
                <a:ea typeface="Times New Roman" charset="0"/>
                <a:cs typeface="Times New Roman" charset="0"/>
              </a:rPr>
              <a:t>Right-wing nationalists sought to make Brazil a world power.</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Industrial Development</a:t>
            </a:r>
          </a:p>
        </p:txBody>
      </p:sp>
      <p:sp>
        <p:nvSpPr>
          <p:cNvPr id="35842"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Industrialization creates economic boom.</a:t>
            </a:r>
          </a:p>
          <a:p>
            <a:pPr lvl="2" eaLnBrk="1" hangingPunct="1"/>
            <a:r>
              <a:rPr lang="en-US" altLang="en-US" dirty="0">
                <a:latin typeface="Times New Roman" charset="0"/>
                <a:ea typeface="Times New Roman" charset="0"/>
                <a:cs typeface="Times New Roman" charset="0"/>
              </a:rPr>
              <a:t>Protests subsided by mid-1970s.</a:t>
            </a:r>
          </a:p>
          <a:p>
            <a:pPr lvl="2" eaLnBrk="1" hangingPunct="1"/>
            <a:r>
              <a:rPr lang="en-US" altLang="en-US" dirty="0">
                <a:latin typeface="Times New Roman" charset="0"/>
                <a:ea typeface="Times New Roman" charset="0"/>
                <a:cs typeface="Times New Roman" charset="0"/>
              </a:rPr>
              <a:t>Generals called it an economic miracle.</a:t>
            </a:r>
          </a:p>
          <a:p>
            <a:pPr lvl="2" eaLnBrk="1" hangingPunct="1"/>
            <a:r>
              <a:rPr lang="en-US" altLang="en-US" dirty="0">
                <a:latin typeface="Times New Roman" charset="0"/>
                <a:ea typeface="Times New Roman" charset="0"/>
                <a:cs typeface="Times New Roman" charset="0"/>
              </a:rPr>
              <a:t>New industries could thrive at the expense of the poor.</a:t>
            </a:r>
          </a:p>
          <a:p>
            <a:pPr lvl="3" eaLnBrk="1" hangingPunct="1"/>
            <a:r>
              <a:rPr lang="en-US" altLang="en-US" dirty="0">
                <a:solidFill>
                  <a:schemeClr val="tx1"/>
                </a:solidFill>
                <a:latin typeface="Times New Roman" charset="0"/>
                <a:ea typeface="Times New Roman" charset="0"/>
                <a:cs typeface="Times New Roman" charset="0"/>
              </a:rPr>
              <a:t>Held down wages</a:t>
            </a:r>
          </a:p>
          <a:p>
            <a:pPr lvl="3" eaLnBrk="1" hangingPunct="1"/>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Disappeared</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 anyone who complained </a:t>
            </a:r>
          </a:p>
          <a:p>
            <a:pPr lvl="3" eaLnBrk="1" hangingPunct="1"/>
            <a:r>
              <a:rPr lang="en-US" altLang="en-US" dirty="0">
                <a:solidFill>
                  <a:schemeClr val="tx1"/>
                </a:solidFill>
                <a:latin typeface="Times New Roman" charset="0"/>
                <a:ea typeface="Times New Roman" charset="0"/>
                <a:cs typeface="Times New Roman" charset="0"/>
              </a:rPr>
              <a:t>Attract capital with </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safe climate for foreign investment</a:t>
            </a:r>
            <a:r>
              <a:rPr lang="ja-JP" altLang="en-US" dirty="0">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Most people got little benefit from economic </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miracle.</a:t>
            </a:r>
            <a:r>
              <a:rPr lang="ja-JP" altLang="en-US" dirty="0">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lvl="1" eaLnBrk="1" hangingPunct="1"/>
            <a:r>
              <a:rPr lang="en-US" altLang="ja-JP" dirty="0">
                <a:solidFill>
                  <a:schemeClr val="tx1"/>
                </a:solidFill>
                <a:latin typeface="Times New Roman" charset="0"/>
                <a:ea typeface="Times New Roman" charset="0"/>
                <a:cs typeface="Times New Roman" charset="0"/>
              </a:rPr>
              <a:t>Massive construction projects were started.</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End of the Miracle</a:t>
            </a:r>
          </a:p>
        </p:txBody>
      </p:sp>
      <p:sp>
        <p:nvSpPr>
          <p:cNvPr id="3789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Government got loans from oil-rich countries to fund development. </a:t>
            </a:r>
          </a:p>
          <a:p>
            <a:pPr lvl="1" eaLnBrk="1" hangingPunct="1"/>
            <a:r>
              <a:rPr lang="en-US" altLang="en-US" dirty="0">
                <a:solidFill>
                  <a:schemeClr val="tx1"/>
                </a:solidFill>
                <a:latin typeface="Times New Roman" charset="0"/>
                <a:ea typeface="Times New Roman" charset="0"/>
                <a:cs typeface="Times New Roman" charset="0"/>
              </a:rPr>
              <a:t>Interest rates rose, mushrooming international debt.</a:t>
            </a:r>
          </a:p>
          <a:p>
            <a:pPr lvl="1" eaLnBrk="1" hangingPunct="1"/>
            <a:r>
              <a:rPr lang="en-US" altLang="en-US" dirty="0">
                <a:solidFill>
                  <a:schemeClr val="tx1"/>
                </a:solidFill>
                <a:latin typeface="Times New Roman" charset="0"/>
                <a:ea typeface="Times New Roman" charset="0"/>
                <a:cs typeface="Times New Roman" charset="0"/>
              </a:rPr>
              <a:t>By the early 1980s, Brazil had the world</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largest foreign debt.</a:t>
            </a:r>
          </a:p>
          <a:p>
            <a:pPr lvl="1" eaLnBrk="1" hangingPunct="1"/>
            <a:r>
              <a:rPr lang="en-US" altLang="en-US" dirty="0">
                <a:solidFill>
                  <a:schemeClr val="tx1"/>
                </a:solidFill>
                <a:latin typeface="Times New Roman" charset="0"/>
                <a:ea typeface="Times New Roman" charset="0"/>
                <a:cs typeface="Times New Roman" charset="0"/>
              </a:rPr>
              <a:t>Brazil</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industrial exports surpassed coffee exports.</a:t>
            </a:r>
          </a:p>
          <a:p>
            <a:pPr lvl="1" eaLnBrk="1" hangingPunct="1"/>
            <a:r>
              <a:rPr lang="en-US" altLang="en-US" dirty="0">
                <a:solidFill>
                  <a:schemeClr val="tx1"/>
                </a:solidFill>
                <a:latin typeface="Times New Roman" charset="0"/>
                <a:ea typeface="Times New Roman" charset="0"/>
                <a:cs typeface="Times New Roman" charset="0"/>
              </a:rPr>
              <a:t>Massive strikes announce the return of opposition.</a:t>
            </a:r>
          </a:p>
          <a:p>
            <a:pPr lvl="1" eaLnBrk="1" hangingPunct="1"/>
            <a:r>
              <a:rPr lang="en-US" altLang="en-US" dirty="0">
                <a:solidFill>
                  <a:schemeClr val="tx1"/>
                </a:solidFill>
                <a:latin typeface="Times New Roman" charset="0"/>
                <a:ea typeface="Times New Roman" charset="0"/>
                <a:cs typeface="Times New Roman" charset="0"/>
              </a:rPr>
              <a:t>Generals ready to bow out.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Military Rule in Argentina</a:t>
            </a:r>
          </a:p>
        </p:txBody>
      </p:sp>
      <p:sp>
        <p:nvSpPr>
          <p:cNvPr id="39938"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In the early 1960s, Argentine generals were still dealing with Perón.</a:t>
            </a:r>
          </a:p>
          <a:p>
            <a:pPr lvl="2" eaLnBrk="1" hangingPunct="1"/>
            <a:r>
              <a:rPr lang="en-US" altLang="en-US" dirty="0">
                <a:latin typeface="Times New Roman" charset="0"/>
                <a:ea typeface="Times New Roman" charset="0"/>
                <a:cs typeface="Times New Roman" charset="0"/>
              </a:rPr>
              <a:t>Ousted leader still directing followers from abroad. </a:t>
            </a:r>
          </a:p>
          <a:p>
            <a:pPr lvl="2" eaLnBrk="1" hangingPunct="1"/>
            <a:r>
              <a:rPr lang="en-US" altLang="en-US" dirty="0">
                <a:latin typeface="Times New Roman" charset="0"/>
                <a:ea typeface="Times New Roman" charset="0"/>
                <a:cs typeface="Times New Roman" charset="0"/>
              </a:rPr>
              <a:t>Generals suspected working-class followers had Marxist tendencies.</a:t>
            </a:r>
          </a:p>
          <a:p>
            <a:pPr lvl="2" eaLnBrk="1" hangingPunct="1"/>
            <a:r>
              <a:rPr lang="en-US" altLang="en-US" dirty="0">
                <a:latin typeface="Times New Roman" charset="0"/>
                <a:ea typeface="Times New Roman" charset="0"/>
                <a:cs typeface="Times New Roman" charset="0"/>
              </a:rPr>
              <a:t>Military annulled Peronist electoral victories. </a:t>
            </a:r>
          </a:p>
          <a:p>
            <a:pPr lvl="3" eaLnBrk="1" hangingPunct="1"/>
            <a:r>
              <a:rPr lang="en-US" altLang="en-US" sz="2400" dirty="0">
                <a:solidFill>
                  <a:schemeClr val="tx1"/>
                </a:solidFill>
                <a:latin typeface="Times New Roman" charset="0"/>
                <a:ea typeface="Times New Roman" charset="0"/>
                <a:cs typeface="Times New Roman" charset="0"/>
              </a:rPr>
              <a:t>1962 and 1965</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Military’s Agenda</a:t>
            </a:r>
          </a:p>
        </p:txBody>
      </p:sp>
      <p:sp>
        <p:nvSpPr>
          <p:cNvPr id="4198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Similar goals to Brazilian military rule</a:t>
            </a:r>
          </a:p>
          <a:p>
            <a:pPr lvl="2" eaLnBrk="1" hangingPunct="1"/>
            <a:r>
              <a:rPr lang="en-US" altLang="en-US" dirty="0">
                <a:latin typeface="Times New Roman" charset="0"/>
                <a:ea typeface="Times New Roman" charset="0"/>
                <a:cs typeface="Times New Roman" charset="0"/>
              </a:rPr>
              <a:t>Eliminate revolutionary threat</a:t>
            </a:r>
          </a:p>
          <a:p>
            <a:pPr lvl="2" eaLnBrk="1" hangingPunct="1"/>
            <a:r>
              <a:rPr lang="en-US" altLang="en-US" dirty="0">
                <a:latin typeface="Times New Roman" charset="0"/>
                <a:ea typeface="Times New Roman" charset="0"/>
                <a:cs typeface="Times New Roman" charset="0"/>
              </a:rPr>
              <a:t>Hold down wages</a:t>
            </a:r>
          </a:p>
          <a:p>
            <a:pPr lvl="2" eaLnBrk="1" hangingPunct="1"/>
            <a:r>
              <a:rPr lang="en-US" altLang="en-US" dirty="0">
                <a:latin typeface="Times New Roman" charset="0"/>
                <a:ea typeface="Times New Roman" charset="0"/>
                <a:cs typeface="Times New Roman" charset="0"/>
              </a:rPr>
              <a:t>Encourage investment</a:t>
            </a:r>
          </a:p>
          <a:p>
            <a:pPr lvl="2" eaLnBrk="1" hangingPunct="1"/>
            <a:r>
              <a:rPr lang="en-US" altLang="en-US" dirty="0">
                <a:latin typeface="Times New Roman" charset="0"/>
                <a:ea typeface="Times New Roman" charset="0"/>
                <a:cs typeface="Times New Roman" charset="0"/>
              </a:rPr>
              <a:t>Similarly brutal repression </a:t>
            </a:r>
          </a:p>
          <a:p>
            <a:pPr lvl="1" eaLnBrk="1" hangingPunct="1"/>
            <a:r>
              <a:rPr lang="en-US" altLang="en-US" dirty="0">
                <a:solidFill>
                  <a:schemeClr val="tx1"/>
                </a:solidFill>
                <a:latin typeface="Times New Roman" charset="0"/>
                <a:ea typeface="Times New Roman" charset="0"/>
                <a:cs typeface="Times New Roman" charset="0"/>
              </a:rPr>
              <a:t>Argentine revolutionaries not easily repressed</a:t>
            </a:r>
          </a:p>
          <a:p>
            <a:pPr lvl="2" eaLnBrk="1" hangingPunct="1"/>
            <a:r>
              <a:rPr lang="en-US" altLang="en-US" dirty="0">
                <a:latin typeface="Times New Roman" charset="0"/>
                <a:ea typeface="Times New Roman" charset="0"/>
                <a:cs typeface="Times New Roman" charset="0"/>
              </a:rPr>
              <a:t>Turned quickly to violence</a:t>
            </a:r>
          </a:p>
          <a:p>
            <a:pPr lvl="2" eaLnBrk="1" hangingPunct="1"/>
            <a:r>
              <a:rPr lang="en-US" altLang="en-US" dirty="0">
                <a:latin typeface="Times New Roman" charset="0"/>
                <a:ea typeface="Times New Roman" charset="0"/>
                <a:cs typeface="Times New Roman" charset="0"/>
              </a:rPr>
              <a:t>Military did not have the economic growth seen in Brazil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Argentina’s Dirty War</a:t>
            </a:r>
          </a:p>
        </p:txBody>
      </p:sp>
      <p:sp>
        <p:nvSpPr>
          <p:cNvPr id="4403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Killing began in 1960s, escalated in 1970s</a:t>
            </a:r>
          </a:p>
          <a:p>
            <a:pPr lvl="1" eaLnBrk="1" hangingPunct="1"/>
            <a:r>
              <a:rPr lang="en-US" altLang="en-US" dirty="0">
                <a:solidFill>
                  <a:schemeClr val="tx1"/>
                </a:solidFill>
                <a:latin typeface="Times New Roman" charset="0"/>
                <a:ea typeface="Times New Roman" charset="0"/>
                <a:cs typeface="Times New Roman" charset="0"/>
              </a:rPr>
              <a:t>Marxist guerrilla movements</a:t>
            </a:r>
          </a:p>
          <a:p>
            <a:pPr lvl="1" eaLnBrk="1" hangingPunct="1"/>
            <a:r>
              <a:rPr lang="en-US" altLang="en-US" dirty="0">
                <a:solidFill>
                  <a:schemeClr val="tx1"/>
                </a:solidFill>
                <a:latin typeface="Times New Roman" charset="0"/>
                <a:ea typeface="Times New Roman" charset="0"/>
                <a:cs typeface="Times New Roman" charset="0"/>
              </a:rPr>
              <a:t>Military death squads</a:t>
            </a:r>
          </a:p>
          <a:p>
            <a:pPr lvl="1" eaLnBrk="1" hangingPunct="1"/>
            <a:r>
              <a:rPr lang="en-US" altLang="en-US" dirty="0">
                <a:solidFill>
                  <a:schemeClr val="tx1"/>
                </a:solidFill>
                <a:latin typeface="Times New Roman" charset="0"/>
                <a:ea typeface="Times New Roman" charset="0"/>
                <a:cs typeface="Times New Roman" charset="0"/>
              </a:rPr>
              <a:t>Continued even after Perón</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return</a:t>
            </a:r>
          </a:p>
          <a:p>
            <a:pPr lvl="1" eaLnBrk="1" hangingPunct="1"/>
            <a:r>
              <a:rPr lang="en-US" altLang="en-US" dirty="0">
                <a:solidFill>
                  <a:schemeClr val="tx1"/>
                </a:solidFill>
                <a:latin typeface="Times New Roman" charset="0"/>
                <a:ea typeface="Times New Roman" charset="0"/>
                <a:cs typeface="Times New Roman" charset="0"/>
              </a:rPr>
              <a:t>New military president in 1976</a:t>
            </a:r>
          </a:p>
          <a:p>
            <a:pPr lvl="2" eaLnBrk="1" hangingPunct="1"/>
            <a:r>
              <a:rPr lang="en-US" altLang="en-US" dirty="0">
                <a:latin typeface="Times New Roman" charset="0"/>
                <a:ea typeface="Times New Roman" charset="0"/>
                <a:cs typeface="Times New Roman" charset="0"/>
              </a:rPr>
              <a:t>Counterinsurgency moved into high gear.</a:t>
            </a:r>
          </a:p>
          <a:p>
            <a:pPr lvl="2" eaLnBrk="1" hangingPunct="1"/>
            <a:r>
              <a:rPr lang="en-US" altLang="en-US" dirty="0">
                <a:latin typeface="Times New Roman" charset="0"/>
                <a:ea typeface="Times New Roman" charset="0"/>
                <a:cs typeface="Times New Roman" charset="0"/>
              </a:rPr>
              <a:t>The military exterminated its opponents.</a:t>
            </a:r>
          </a:p>
          <a:p>
            <a:pPr lvl="2" eaLnBrk="1" hangingPunct="1"/>
            <a:r>
              <a:rPr lang="en-US" altLang="en-US" dirty="0">
                <a:latin typeface="Times New Roman" charset="0"/>
                <a:ea typeface="Times New Roman" charset="0"/>
                <a:cs typeface="Times New Roman" charset="0"/>
              </a:rPr>
              <a:t>Announced victory of </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Judeo-Christian Civilization</a:t>
            </a:r>
            <a:r>
              <a:rPr lang="ja-JP" altLang="en-US">
                <a:latin typeface="Times New Roman" charset="0"/>
                <a:ea typeface="Times New Roman" charset="0"/>
                <a:cs typeface="Times New Roman" charset="0"/>
              </a:rPr>
              <a:t>”</a:t>
            </a:r>
            <a:endParaRPr lang="en-US" altLang="ja-JP" dirty="0">
              <a:latin typeface="Times New Roman" charset="0"/>
              <a:ea typeface="Times New Roman" charset="0"/>
              <a:cs typeface="Times New Roman"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p:txBody>
          <a:bodyPr/>
          <a:lstStyle/>
          <a:p>
            <a:pPr eaLnBrk="1" hangingPunct="1"/>
            <a:r>
              <a:rPr lang="en-US" altLang="en-US" i="1" dirty="0">
                <a:solidFill>
                  <a:schemeClr val="tx1"/>
                </a:solidFill>
                <a:latin typeface="Times New Roman" charset="0"/>
                <a:ea typeface="Times New Roman" charset="0"/>
                <a:cs typeface="Times New Roman" charset="0"/>
              </a:rPr>
              <a:t>Las Madres de la Plaza de Mayo</a:t>
            </a:r>
          </a:p>
        </p:txBody>
      </p:sp>
      <p:sp>
        <p:nvSpPr>
          <p:cNvPr id="46082"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Argentine mothers begin parading with pictures of disappeared children in the late 1970s.</a:t>
            </a:r>
          </a:p>
          <a:p>
            <a:pPr lvl="1" eaLnBrk="1" hangingPunct="1"/>
            <a:r>
              <a:rPr lang="en-US" altLang="en-US" dirty="0">
                <a:solidFill>
                  <a:schemeClr val="tx1"/>
                </a:solidFill>
                <a:latin typeface="Times New Roman" charset="0"/>
                <a:ea typeface="Times New Roman" charset="0"/>
                <a:cs typeface="Times New Roman" charset="0"/>
              </a:rPr>
              <a:t>The military dismissed them as crazy.</a:t>
            </a:r>
          </a:p>
          <a:p>
            <a:pPr lvl="1" eaLnBrk="1" hangingPunct="1"/>
            <a:r>
              <a:rPr lang="en-US" altLang="en-US" dirty="0">
                <a:solidFill>
                  <a:schemeClr val="tx1"/>
                </a:solidFill>
                <a:latin typeface="Times New Roman" charset="0"/>
                <a:ea typeface="Times New Roman" charset="0"/>
                <a:cs typeface="Times New Roman" charset="0"/>
              </a:rPr>
              <a:t>White scarves embroidered with names of children</a:t>
            </a:r>
          </a:p>
          <a:p>
            <a:pPr lvl="1" eaLnBrk="1" hangingPunct="1"/>
            <a:r>
              <a:rPr lang="en-US" altLang="en-US" dirty="0">
                <a:solidFill>
                  <a:schemeClr val="tx1"/>
                </a:solidFill>
                <a:latin typeface="Times New Roman" charset="0"/>
                <a:ea typeface="Times New Roman" charset="0"/>
                <a:cs typeface="Times New Roman" charset="0"/>
              </a:rPr>
              <a:t>The military was unable to challenge mothers and motherhood.</a:t>
            </a:r>
          </a:p>
          <a:p>
            <a:pPr lvl="1" eaLnBrk="1" hangingPunct="1"/>
            <a:r>
              <a:rPr lang="en-US" altLang="en-US" dirty="0">
                <a:solidFill>
                  <a:schemeClr val="tx1"/>
                </a:solidFill>
                <a:latin typeface="Times New Roman" charset="0"/>
                <a:ea typeface="Times New Roman" charset="0"/>
                <a:cs typeface="Times New Roman" charset="0"/>
              </a:rPr>
              <a:t>Mothers became the conscience of the nation.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and-white photograph of a large crowd of women protesters. The women hold banners with Spanish phrases and  pictures of men, women, and children on them."/>
          <p:cNvPicPr>
            <a:picLocks noChangeAspect="1"/>
          </p:cNvPicPr>
          <p:nvPr/>
        </p:nvPicPr>
        <p:blipFill>
          <a:blip r:embed="rId3"/>
          <a:stretch>
            <a:fillRect/>
          </a:stretch>
        </p:blipFill>
        <p:spPr>
          <a:xfrm>
            <a:off x="1219200" y="966527"/>
            <a:ext cx="6705600" cy="5460586"/>
          </a:xfrm>
          <a:prstGeom prst="rect">
            <a:avLst/>
          </a:prstGeom>
        </p:spPr>
      </p:pic>
      <p:sp>
        <p:nvSpPr>
          <p:cNvPr id="3" name="TextBox 2"/>
          <p:cNvSpPr txBox="1"/>
          <p:nvPr/>
        </p:nvSpPr>
        <p:spPr>
          <a:xfrm>
            <a:off x="6202169" y="6427113"/>
            <a:ext cx="2941831" cy="430887"/>
          </a:xfrm>
          <a:prstGeom prst="rect">
            <a:avLst/>
          </a:prstGeom>
          <a:noFill/>
        </p:spPr>
        <p:txBody>
          <a:bodyPr wrap="none" rtlCol="0">
            <a:spAutoFit/>
          </a:bodyPr>
          <a:lstStyle/>
          <a:p>
            <a:r>
              <a:rPr lang="en-US" sz="1100" i="1" dirty="0"/>
              <a:t>Born in Blood and Fire, </a:t>
            </a:r>
            <a:r>
              <a:rPr lang="en-US" sz="1100" dirty="0"/>
              <a:t>Fifth Edition</a:t>
            </a:r>
          </a:p>
          <a:p>
            <a:r>
              <a:rPr lang="en-US" sz="1100" dirty="0"/>
              <a:t>Copyright © 2024 W. W. Norton &amp; Company</a:t>
            </a:r>
          </a:p>
        </p:txBody>
      </p:sp>
      <p:sp>
        <p:nvSpPr>
          <p:cNvPr id="6" name="Title 3">
            <a:extLst>
              <a:ext uri="{FF2B5EF4-FFF2-40B4-BE49-F238E27FC236}">
                <a16:creationId xmlns:a16="http://schemas.microsoft.com/office/drawing/2014/main" id="{FFEE6F54-84FF-F2E5-3212-7175CA7F0427}"/>
              </a:ext>
            </a:extLst>
          </p:cNvPr>
          <p:cNvSpPr>
            <a:spLocks noGrp="1"/>
          </p:cNvSpPr>
          <p:nvPr>
            <p:ph type="title"/>
          </p:nvPr>
        </p:nvSpPr>
        <p:spPr>
          <a:xfrm>
            <a:off x="457200" y="0"/>
            <a:ext cx="8229600" cy="1143000"/>
          </a:xfrm>
        </p:spPr>
        <p:txBody>
          <a:bodyPr/>
          <a:lstStyle/>
          <a:p>
            <a:r>
              <a:rPr lang="en-US" sz="4000" dirty="0">
                <a:latin typeface="Times New Roman" charset="0"/>
                <a:ea typeface="Times New Roman" charset="0"/>
                <a:cs typeface="Times New Roman" charset="0"/>
              </a:rPr>
              <a:t>Mothers of the </a:t>
            </a:r>
            <a:r>
              <a:rPr lang="en-US" sz="4000" i="1" dirty="0">
                <a:latin typeface="Times New Roman" charset="0"/>
                <a:ea typeface="Times New Roman" charset="0"/>
                <a:cs typeface="Times New Roman" charset="0"/>
              </a:rPr>
              <a:t>Plaza de Mayo</a:t>
            </a:r>
            <a:endParaRPr lang="en-US" sz="40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907410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Military Rule in Uruguay</a:t>
            </a:r>
          </a:p>
        </p:txBody>
      </p:sp>
      <p:sp>
        <p:nvSpPr>
          <p:cNvPr id="48130"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Relatively placid since World War II</a:t>
            </a:r>
          </a:p>
          <a:p>
            <a:pPr lvl="2" eaLnBrk="1" hangingPunct="1"/>
            <a:r>
              <a:rPr lang="en-US" altLang="en-US" dirty="0">
                <a:latin typeface="Times New Roman" charset="0"/>
                <a:ea typeface="Times New Roman" charset="0"/>
                <a:cs typeface="Times New Roman" charset="0"/>
              </a:rPr>
              <a:t>No Peronist-type opposition</a:t>
            </a:r>
          </a:p>
          <a:p>
            <a:pPr lvl="2" eaLnBrk="1" hangingPunct="1"/>
            <a:r>
              <a:rPr lang="en-US" altLang="en-US" dirty="0">
                <a:latin typeface="Times New Roman" charset="0"/>
                <a:ea typeface="Times New Roman" charset="0"/>
                <a:cs typeface="Times New Roman" charset="0"/>
              </a:rPr>
              <a:t>Implemented Batlle</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s idea of executive committee instead of president</a:t>
            </a:r>
          </a:p>
          <a:p>
            <a:pPr lvl="2" eaLnBrk="1" hangingPunct="1"/>
            <a:r>
              <a:rPr lang="en-US" altLang="en-US" dirty="0">
                <a:latin typeface="Times New Roman" charset="0"/>
                <a:ea typeface="Times New Roman" charset="0"/>
                <a:cs typeface="Times New Roman" charset="0"/>
              </a:rPr>
              <a:t>High standard of living despite weak economic growth</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Guerrilla Uprising</a:t>
            </a:r>
          </a:p>
        </p:txBody>
      </p:sp>
      <p:sp>
        <p:nvSpPr>
          <p:cNvPr id="5017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Tupamaro urban guerrilla movement, 1964</a:t>
            </a:r>
          </a:p>
          <a:p>
            <a:pPr lvl="2" eaLnBrk="1" hangingPunct="1"/>
            <a:r>
              <a:rPr lang="en-US" altLang="en-US" dirty="0">
                <a:latin typeface="Times New Roman" charset="0"/>
                <a:ea typeface="Times New Roman" charset="0"/>
                <a:cs typeface="Times New Roman" charset="0"/>
              </a:rPr>
              <a:t>Attempted to follow Che Guevara</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s tactics</a:t>
            </a:r>
          </a:p>
          <a:p>
            <a:pPr lvl="2" eaLnBrk="1" hangingPunct="1"/>
            <a:r>
              <a:rPr lang="en-US" altLang="en-US" dirty="0">
                <a:latin typeface="Times New Roman" charset="0"/>
                <a:ea typeface="Times New Roman" charset="0"/>
                <a:cs typeface="Times New Roman" charset="0"/>
              </a:rPr>
              <a:t>Carried out daring attacks to attract public support</a:t>
            </a:r>
          </a:p>
          <a:p>
            <a:pPr lvl="1" eaLnBrk="1" hangingPunct="1"/>
            <a:r>
              <a:rPr lang="en-US" altLang="en-US" dirty="0">
                <a:solidFill>
                  <a:schemeClr val="tx1"/>
                </a:solidFill>
                <a:latin typeface="Times New Roman" charset="0"/>
                <a:ea typeface="Times New Roman" charset="0"/>
                <a:cs typeface="Times New Roman" charset="0"/>
              </a:rPr>
              <a:t>Martial law declared in 1967.</a:t>
            </a:r>
          </a:p>
          <a:p>
            <a:pPr lvl="2" eaLnBrk="1" hangingPunct="1"/>
            <a:r>
              <a:rPr lang="en-US" altLang="en-US" dirty="0">
                <a:latin typeface="Times New Roman" charset="0"/>
                <a:ea typeface="Times New Roman" charset="0"/>
                <a:cs typeface="Times New Roman" charset="0"/>
              </a:rPr>
              <a:t>Military began gradual takeover.</a:t>
            </a:r>
          </a:p>
          <a:p>
            <a:pPr lvl="3" eaLnBrk="1" hangingPunct="1"/>
            <a:r>
              <a:rPr lang="en-US" altLang="en-US" dirty="0">
                <a:solidFill>
                  <a:schemeClr val="tx1"/>
                </a:solidFill>
                <a:latin typeface="Times New Roman" charset="0"/>
                <a:ea typeface="Times New Roman" charset="0"/>
                <a:cs typeface="Times New Roman" charset="0"/>
              </a:rPr>
              <a:t>Completed in 1973</a:t>
            </a:r>
          </a:p>
          <a:p>
            <a:pPr lvl="2" eaLnBrk="1" hangingPunct="1"/>
            <a:r>
              <a:rPr lang="en-US" altLang="en-US" dirty="0">
                <a:latin typeface="Times New Roman" charset="0"/>
                <a:ea typeface="Times New Roman" charset="0"/>
                <a:cs typeface="Times New Roman" charset="0"/>
              </a:rPr>
              <a:t>Annihilated opponents</a:t>
            </a:r>
          </a:p>
          <a:p>
            <a:pPr lvl="2" eaLnBrk="1" hangingPunct="1"/>
            <a:r>
              <a:rPr lang="en-US" altLang="en-US" dirty="0">
                <a:latin typeface="Times New Roman" charset="0"/>
                <a:ea typeface="Times New Roman" charset="0"/>
                <a:cs typeface="Times New Roman" charset="0"/>
              </a:rPr>
              <a:t>By the end of the 1970s, Uruguay had more political prisoners by proportion than any country in world.</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Communist Party of Chile</a:t>
            </a:r>
          </a:p>
        </p:txBody>
      </p:sp>
      <p:sp>
        <p:nvSpPr>
          <p:cNvPr id="52226"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No Latin American country could match the record of constitutional government.</a:t>
            </a:r>
          </a:p>
          <a:p>
            <a:pPr marL="800100" lvl="1" indent="-457200" eaLnBrk="1" hangingPunct="1"/>
            <a:r>
              <a:rPr lang="en-US" altLang="en-US" dirty="0">
                <a:solidFill>
                  <a:schemeClr val="tx1"/>
                </a:solidFill>
                <a:latin typeface="Times New Roman" charset="0"/>
                <a:ea typeface="Times New Roman" charset="0"/>
                <a:cs typeface="Times New Roman" charset="0"/>
              </a:rPr>
              <a:t>Communist Party was one of the oldest and strongest in the hemisphere.</a:t>
            </a:r>
          </a:p>
          <a:p>
            <a:pPr lvl="2" eaLnBrk="1" hangingPunct="1"/>
            <a:r>
              <a:rPr lang="en-US" altLang="en-US" dirty="0">
                <a:latin typeface="Times New Roman" charset="0"/>
                <a:ea typeface="Times New Roman" charset="0"/>
                <a:cs typeface="Times New Roman" charset="0"/>
              </a:rPr>
              <a:t>Did not advocate armed revolution</a:t>
            </a:r>
          </a:p>
          <a:p>
            <a:pPr lvl="2" eaLnBrk="1" hangingPunct="1"/>
            <a:r>
              <a:rPr lang="en-US" altLang="en-US" dirty="0">
                <a:latin typeface="Times New Roman" charset="0"/>
                <a:ea typeface="Times New Roman" charset="0"/>
                <a:cs typeface="Times New Roman" charset="0"/>
              </a:rPr>
              <a:t>Participated in electoral coalitions with other leftist parties</a:t>
            </a:r>
          </a:p>
          <a:p>
            <a:pPr marL="800100" lvl="1" indent="-457200" eaLnBrk="1" hangingPunct="1"/>
            <a:r>
              <a:rPr lang="en-US" altLang="en-US" dirty="0">
                <a:solidFill>
                  <a:schemeClr val="tx1"/>
                </a:solidFill>
                <a:latin typeface="Times New Roman" charset="0"/>
                <a:ea typeface="Times New Roman" charset="0"/>
                <a:cs typeface="Times New Roman" charset="0"/>
              </a:rPr>
              <a:t>Salvador Allende </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Chilean Road to Socialism</a:t>
            </a:r>
          </a:p>
        </p:txBody>
      </p:sp>
      <p:sp>
        <p:nvSpPr>
          <p:cNvPr id="5427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The </a:t>
            </a:r>
            <a:r>
              <a:rPr lang="en-US" altLang="ja-JP" dirty="0">
                <a:solidFill>
                  <a:schemeClr val="tx1"/>
                </a:solidFill>
                <a:latin typeface="Times New Roman" charset="0"/>
                <a:ea typeface="Times New Roman" charset="0"/>
                <a:cs typeface="Times New Roman" charset="0"/>
              </a:rPr>
              <a:t>Popular Unity government announced </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a Chilean road” to socialism.</a:t>
            </a:r>
          </a:p>
          <a:p>
            <a:pPr lvl="2" eaLnBrk="1" hangingPunct="1"/>
            <a:r>
              <a:rPr lang="en-US" altLang="en-US" dirty="0">
                <a:latin typeface="Times New Roman" charset="0"/>
                <a:ea typeface="Times New Roman" charset="0"/>
                <a:cs typeface="Times New Roman" charset="0"/>
              </a:rPr>
              <a:t>New government hoped to achieve significant reform</a:t>
            </a:r>
          </a:p>
          <a:p>
            <a:pPr lvl="3" eaLnBrk="1" hangingPunct="1"/>
            <a:r>
              <a:rPr lang="en-US" altLang="en-US" dirty="0">
                <a:solidFill>
                  <a:schemeClr val="tx1"/>
                </a:solidFill>
                <a:latin typeface="Times New Roman" charset="0"/>
                <a:ea typeface="Times New Roman" charset="0"/>
                <a:cs typeface="Times New Roman" charset="0"/>
              </a:rPr>
              <a:t>Nationalization of copper, coal, steel</a:t>
            </a:r>
          </a:p>
          <a:p>
            <a:pPr lvl="3" eaLnBrk="1" hangingPunct="1"/>
            <a:r>
              <a:rPr lang="en-US" altLang="en-US" dirty="0">
                <a:solidFill>
                  <a:schemeClr val="tx1"/>
                </a:solidFill>
                <a:latin typeface="Times New Roman" charset="0"/>
                <a:ea typeface="Times New Roman" charset="0"/>
                <a:cs typeface="Times New Roman" charset="0"/>
              </a:rPr>
              <a:t>Nationalization of banks </a:t>
            </a:r>
          </a:p>
          <a:p>
            <a:pPr lvl="3" eaLnBrk="1" hangingPunct="1"/>
            <a:r>
              <a:rPr lang="en-US" altLang="en-US" dirty="0">
                <a:solidFill>
                  <a:schemeClr val="tx1"/>
                </a:solidFill>
                <a:latin typeface="Times New Roman" charset="0"/>
                <a:ea typeface="Times New Roman" charset="0"/>
                <a:cs typeface="Times New Roman" charset="0"/>
              </a:rPr>
              <a:t>Land reform</a:t>
            </a:r>
          </a:p>
          <a:p>
            <a:pPr lvl="2" eaLnBrk="1" hangingPunct="1"/>
            <a:r>
              <a:rPr lang="en-US" altLang="en-US" dirty="0">
                <a:latin typeface="Times New Roman" charset="0"/>
                <a:ea typeface="Times New Roman" charset="0"/>
                <a:cs typeface="Times New Roman" charset="0"/>
              </a:rPr>
              <a:t>Proposals outran electoral strength. </a:t>
            </a:r>
          </a:p>
          <a:p>
            <a:pPr lvl="2" eaLnBrk="1" hangingPunct="1"/>
            <a:r>
              <a:rPr lang="en-US" altLang="en-US" dirty="0">
                <a:latin typeface="Times New Roman" charset="0"/>
                <a:ea typeface="Times New Roman" charset="0"/>
                <a:cs typeface="Times New Roman" charset="0"/>
              </a:rPr>
              <a:t>Sought to raise living standards for poor</a:t>
            </a:r>
          </a:p>
          <a:p>
            <a:pPr lvl="2" eaLnBrk="1" hangingPunct="1"/>
            <a:r>
              <a:rPr lang="en-US" altLang="en-US" dirty="0">
                <a:latin typeface="Times New Roman" charset="0"/>
                <a:ea typeface="Times New Roman" charset="0"/>
                <a:cs typeface="Times New Roman" charset="0"/>
              </a:rPr>
              <a:t>Maintained support of urban workers</a:t>
            </a:r>
          </a:p>
          <a:p>
            <a:pPr lvl="2" eaLnBrk="1" hangingPunct="1"/>
            <a:endParaRPr lang="en-US" altLang="en-US" dirty="0">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Military Coup</a:t>
            </a:r>
          </a:p>
        </p:txBody>
      </p:sp>
      <p:sp>
        <p:nvSpPr>
          <p:cNvPr id="56322"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Military coup on September 11, 1973</a:t>
            </a:r>
          </a:p>
          <a:p>
            <a:pPr lvl="2" eaLnBrk="1" hangingPunct="1"/>
            <a:r>
              <a:rPr lang="en-US" altLang="en-US" dirty="0">
                <a:latin typeface="Times New Roman" charset="0"/>
                <a:ea typeface="Times New Roman" charset="0"/>
                <a:cs typeface="Times New Roman" charset="0"/>
              </a:rPr>
              <a:t>Allende died under attack in presidential palace.</a:t>
            </a:r>
          </a:p>
          <a:p>
            <a:pPr lvl="2" eaLnBrk="1" hangingPunct="1"/>
            <a:r>
              <a:rPr lang="en-US" altLang="en-US" dirty="0">
                <a:latin typeface="Times New Roman" charset="0"/>
                <a:ea typeface="Times New Roman" charset="0"/>
                <a:cs typeface="Times New Roman" charset="0"/>
              </a:rPr>
              <a:t>Bloodiest takeover in history of Latin America</a:t>
            </a:r>
          </a:p>
          <a:p>
            <a:pPr lvl="2" eaLnBrk="1" hangingPunct="1"/>
            <a:r>
              <a:rPr lang="en-US" altLang="en-US" dirty="0">
                <a:latin typeface="Times New Roman" charset="0"/>
                <a:ea typeface="Times New Roman" charset="0"/>
                <a:cs typeface="Times New Roman" charset="0"/>
              </a:rPr>
              <a:t>Thousands disappeared and were tortured.</a:t>
            </a:r>
          </a:p>
          <a:p>
            <a:pPr lvl="2" eaLnBrk="1" hangingPunct="1"/>
            <a:r>
              <a:rPr lang="en-US" altLang="en-US" dirty="0">
                <a:latin typeface="Times New Roman" charset="0"/>
                <a:ea typeface="Times New Roman" charset="0"/>
                <a:cs typeface="Times New Roman" charset="0"/>
              </a:rPr>
              <a:t>Military ruled by decree for 17 years. </a:t>
            </a:r>
          </a:p>
          <a:p>
            <a:pPr lvl="2" eaLnBrk="1" hangingPunct="1"/>
            <a:r>
              <a:rPr lang="en-US" altLang="en-US" dirty="0">
                <a:latin typeface="Times New Roman" charset="0"/>
                <a:ea typeface="Times New Roman" charset="0"/>
                <a:cs typeface="Times New Roman" charset="0"/>
              </a:rPr>
              <a:t>Supported by US State Department</a:t>
            </a:r>
          </a:p>
          <a:p>
            <a:pPr lvl="2" eaLnBrk="1" hangingPunct="1"/>
            <a:r>
              <a:rPr lang="en-US" altLang="en-US" dirty="0">
                <a:latin typeface="Times New Roman" charset="0"/>
                <a:ea typeface="Times New Roman" charset="0"/>
                <a:cs typeface="Times New Roman" charset="0"/>
              </a:rPr>
              <a:t>Augusto Pinochet</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and-white, aerial photograph of soldiers lying on their stomachs on a rooftop. The soldiers point their rifles toward a smoking building across the street."/>
          <p:cNvPicPr>
            <a:picLocks noChangeAspect="1"/>
          </p:cNvPicPr>
          <p:nvPr/>
        </p:nvPicPr>
        <p:blipFill>
          <a:blip r:embed="rId3"/>
          <a:stretch>
            <a:fillRect/>
          </a:stretch>
        </p:blipFill>
        <p:spPr>
          <a:xfrm>
            <a:off x="399757" y="937983"/>
            <a:ext cx="8229600" cy="5484441"/>
          </a:xfrm>
          <a:prstGeom prst="rect">
            <a:avLst/>
          </a:prstGeom>
        </p:spPr>
      </p:pic>
      <p:sp>
        <p:nvSpPr>
          <p:cNvPr id="3" name="TextBox 2"/>
          <p:cNvSpPr txBox="1"/>
          <p:nvPr/>
        </p:nvSpPr>
        <p:spPr>
          <a:xfrm>
            <a:off x="6202169" y="6427113"/>
            <a:ext cx="2941831" cy="430887"/>
          </a:xfrm>
          <a:prstGeom prst="rect">
            <a:avLst/>
          </a:prstGeom>
          <a:noFill/>
        </p:spPr>
        <p:txBody>
          <a:bodyPr wrap="none" rtlCol="0">
            <a:spAutoFit/>
          </a:bodyPr>
          <a:lstStyle/>
          <a:p>
            <a:r>
              <a:rPr lang="en-US" sz="1100" i="1" dirty="0"/>
              <a:t>Born in Blood and Fire, </a:t>
            </a:r>
            <a:r>
              <a:rPr lang="en-US" sz="1100" dirty="0"/>
              <a:t>Fifth Edition</a:t>
            </a:r>
          </a:p>
          <a:p>
            <a:r>
              <a:rPr lang="en-US" sz="1100" dirty="0"/>
              <a:t>Copyright © 2024 W. W. Norton &amp; Company</a:t>
            </a:r>
          </a:p>
        </p:txBody>
      </p:sp>
      <p:sp>
        <p:nvSpPr>
          <p:cNvPr id="6" name="Title 3">
            <a:extLst>
              <a:ext uri="{FF2B5EF4-FFF2-40B4-BE49-F238E27FC236}">
                <a16:creationId xmlns:a16="http://schemas.microsoft.com/office/drawing/2014/main" id="{2027E5A1-EF68-F2F7-3BF2-2B70D6E38AEB}"/>
              </a:ext>
            </a:extLst>
          </p:cNvPr>
          <p:cNvSpPr>
            <a:spLocks noGrp="1"/>
          </p:cNvSpPr>
          <p:nvPr>
            <p:ph type="title"/>
          </p:nvPr>
        </p:nvSpPr>
        <p:spPr>
          <a:xfrm>
            <a:off x="457200" y="0"/>
            <a:ext cx="8229600" cy="1143000"/>
          </a:xfrm>
        </p:spPr>
        <p:txBody>
          <a:bodyPr/>
          <a:lstStyle/>
          <a:p>
            <a:r>
              <a:rPr lang="en-US" sz="4000" dirty="0">
                <a:latin typeface="Times New Roman" charset="0"/>
                <a:ea typeface="Times New Roman" charset="0"/>
                <a:cs typeface="Times New Roman" charset="0"/>
              </a:rPr>
              <a:t>The Chilean Coup</a:t>
            </a:r>
          </a:p>
        </p:txBody>
      </p:sp>
    </p:spTree>
    <p:extLst>
      <p:ext uri="{BB962C8B-B14F-4D97-AF65-F5344CB8AC3E}">
        <p14:creationId xmlns:p14="http://schemas.microsoft.com/office/powerpoint/2010/main" val="368226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Peruvian Experience</a:t>
            </a:r>
          </a:p>
        </p:txBody>
      </p:sp>
      <p:sp>
        <p:nvSpPr>
          <p:cNvPr id="58370"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Military government not motivated by anticommunism </a:t>
            </a:r>
          </a:p>
          <a:p>
            <a:pPr lvl="2" eaLnBrk="1" hangingPunct="1"/>
            <a:r>
              <a:rPr lang="en-US" altLang="en-US" dirty="0">
                <a:latin typeface="Times New Roman" charset="0"/>
                <a:ea typeface="Times New Roman" charset="0"/>
                <a:cs typeface="Times New Roman" charset="0"/>
              </a:rPr>
              <a:t>The government announced a military program that was neither communist nor capitalist.</a:t>
            </a:r>
          </a:p>
          <a:p>
            <a:pPr lvl="2" eaLnBrk="1" hangingPunct="1"/>
            <a:r>
              <a:rPr lang="en-US" altLang="en-US" dirty="0">
                <a:latin typeface="Times New Roman" charset="0"/>
                <a:ea typeface="Times New Roman" charset="0"/>
                <a:cs typeface="Times New Roman" charset="0"/>
              </a:rPr>
              <a:t>Program to serve poor and marginalized</a:t>
            </a:r>
          </a:p>
          <a:p>
            <a:pPr marL="800100" lvl="1" indent="-457200" eaLnBrk="1" hangingPunct="1"/>
            <a:r>
              <a:rPr lang="en-US" altLang="en-US" dirty="0">
                <a:solidFill>
                  <a:schemeClr val="tx1"/>
                </a:solidFill>
                <a:latin typeface="Times New Roman" charset="0"/>
                <a:ea typeface="Times New Roman" charset="0"/>
                <a:cs typeface="Times New Roman" charset="0"/>
              </a:rPr>
              <a:t>Ruled from 1968</a:t>
            </a:r>
            <a:r>
              <a:rPr lang="en-US" altLang="en-US" dirty="0">
                <a:solidFill>
                  <a:schemeClr val="tx1">
                    <a:lumMod val="95000"/>
                    <a:lumOff val="5000"/>
                  </a:schemeClr>
                </a:solidFill>
                <a:latin typeface="Calibri"/>
                <a:ea typeface="Times New Roman" charset="0"/>
                <a:cs typeface="Times New Roman" charset="0"/>
              </a:rPr>
              <a:t>–</a:t>
            </a:r>
            <a:r>
              <a:rPr lang="en-US" altLang="en-US" dirty="0">
                <a:solidFill>
                  <a:schemeClr val="tx1"/>
                </a:solidFill>
                <a:latin typeface="Times New Roman" charset="0"/>
                <a:ea typeface="Times New Roman" charset="0"/>
                <a:cs typeface="Times New Roman" charset="0"/>
              </a:rPr>
              <a:t>1980</a:t>
            </a:r>
          </a:p>
          <a:p>
            <a:pPr lvl="2" eaLnBrk="1" hangingPunct="1"/>
            <a:r>
              <a:rPr lang="en-US" altLang="en-US" dirty="0">
                <a:latin typeface="Times New Roman" charset="0"/>
                <a:ea typeface="Times New Roman" charset="0"/>
                <a:cs typeface="Times New Roman" charset="0"/>
              </a:rPr>
              <a:t>Difficult to categorize in Cold War terms</a:t>
            </a:r>
          </a:p>
          <a:p>
            <a:pPr lvl="2" eaLnBrk="1" hangingPunct="1"/>
            <a:r>
              <a:rPr lang="en-US" altLang="en-US" dirty="0">
                <a:latin typeface="Times New Roman" charset="0"/>
                <a:ea typeface="Times New Roman" charset="0"/>
                <a:cs typeface="Times New Roman" charset="0"/>
              </a:rPr>
              <a:t>Was not guilty of heinous human rights violations</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Cuban Experience</a:t>
            </a:r>
          </a:p>
        </p:txBody>
      </p:sp>
      <p:sp>
        <p:nvSpPr>
          <p:cNvPr id="60418"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Revolutionary government supported Peru</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dictatorship</a:t>
            </a:r>
          </a:p>
          <a:p>
            <a:pPr marL="800100" lvl="1" indent="-457200" eaLnBrk="1" hangingPunct="1"/>
            <a:r>
              <a:rPr lang="en-US" altLang="en-US" dirty="0">
                <a:solidFill>
                  <a:schemeClr val="tx1"/>
                </a:solidFill>
                <a:latin typeface="Times New Roman" charset="0"/>
                <a:ea typeface="Times New Roman" charset="0"/>
                <a:cs typeface="Times New Roman" charset="0"/>
              </a:rPr>
              <a:t>Authoritarian regime supported by military</a:t>
            </a:r>
          </a:p>
          <a:p>
            <a:pPr marL="1200150" lvl="2" indent="-457200" eaLnBrk="1" hangingPunct="1"/>
            <a:r>
              <a:rPr lang="en-US" altLang="en-US" dirty="0">
                <a:latin typeface="Times New Roman" charset="0"/>
                <a:ea typeface="Times New Roman" charset="0"/>
                <a:cs typeface="Times New Roman" charset="0"/>
              </a:rPr>
              <a:t>Military headed by </a:t>
            </a:r>
            <a:r>
              <a:rPr lang="en-US" b="0" i="0" u="none" strike="noStrike" baseline="0" dirty="0">
                <a:latin typeface="Times New Roman" panose="02020603050405020304" pitchFamily="18" charset="0"/>
                <a:cs typeface="Times New Roman" panose="02020603050405020304" pitchFamily="18" charset="0"/>
              </a:rPr>
              <a:t>Raúl</a:t>
            </a:r>
            <a:r>
              <a:rPr lang="en-US" altLang="en-US" dirty="0">
                <a:latin typeface="Times New Roman" charset="0"/>
                <a:ea typeface="Times New Roman" charset="0"/>
                <a:cs typeface="Times New Roman" charset="0"/>
              </a:rPr>
              <a:t> Castro </a:t>
            </a:r>
            <a:endParaRPr lang="en-US" altLang="en-US" dirty="0">
              <a:solidFill>
                <a:schemeClr val="tx1"/>
              </a:solidFill>
              <a:latin typeface="Times New Roman" charset="0"/>
              <a:ea typeface="Times New Roman" charset="0"/>
              <a:cs typeface="Times New Roman" charset="0"/>
            </a:endParaRPr>
          </a:p>
          <a:p>
            <a:pPr marL="800100" lvl="1" indent="-457200" eaLnBrk="1" hangingPunct="1"/>
            <a:r>
              <a:rPr lang="en-US" altLang="en-US" dirty="0">
                <a:solidFill>
                  <a:schemeClr val="tx1"/>
                </a:solidFill>
                <a:latin typeface="Times New Roman" charset="0"/>
                <a:ea typeface="Times New Roman" charset="0"/>
                <a:cs typeface="Times New Roman" charset="0"/>
              </a:rPr>
              <a:t>Prioritized improving lives of poorest</a:t>
            </a:r>
          </a:p>
          <a:p>
            <a:pPr marL="800100" lvl="1" indent="-457200" eaLnBrk="1" hangingPunct="1"/>
            <a:r>
              <a:rPr lang="en-US" altLang="en-US" dirty="0">
                <a:solidFill>
                  <a:schemeClr val="tx1"/>
                </a:solidFill>
                <a:latin typeface="Times New Roman" charset="0"/>
                <a:ea typeface="Times New Roman" charset="0"/>
                <a:cs typeface="Times New Roman" charset="0"/>
              </a:rPr>
              <a:t>Did not commit massive human rights violations seen elsewhere</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Mexican Experience</a:t>
            </a:r>
          </a:p>
        </p:txBody>
      </p:sp>
      <p:sp>
        <p:nvSpPr>
          <p:cNvPr id="62466"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Bucked military trend entirely</a:t>
            </a:r>
          </a:p>
          <a:p>
            <a:pPr marL="800100" lvl="1" indent="-457200" eaLnBrk="1" hangingPunct="1"/>
            <a:r>
              <a:rPr lang="en-US" altLang="en-US" dirty="0">
                <a:solidFill>
                  <a:schemeClr val="tx1"/>
                </a:solidFill>
                <a:latin typeface="Times New Roman" charset="0"/>
                <a:ea typeface="Times New Roman" charset="0"/>
                <a:cs typeface="Times New Roman" charset="0"/>
              </a:rPr>
              <a:t>PRI (Institutional Revolutionary Party) </a:t>
            </a:r>
          </a:p>
          <a:p>
            <a:pPr lvl="2" eaLnBrk="1" hangingPunct="1"/>
            <a:r>
              <a:rPr lang="en-US" altLang="en-US" dirty="0">
                <a:latin typeface="Times New Roman" charset="0"/>
                <a:ea typeface="Times New Roman" charset="0"/>
                <a:cs typeface="Times New Roman" charset="0"/>
              </a:rPr>
              <a:t>Although revolutionary only in name, used revolutionary themes</a:t>
            </a:r>
          </a:p>
          <a:p>
            <a:pPr marL="800100" lvl="1" indent="-457200" eaLnBrk="1" hangingPunct="1"/>
            <a:r>
              <a:rPr lang="en-US" altLang="en-US" dirty="0">
                <a:solidFill>
                  <a:schemeClr val="tx1"/>
                </a:solidFill>
                <a:latin typeface="Times New Roman" charset="0"/>
                <a:ea typeface="Times New Roman" charset="0"/>
                <a:cs typeface="Times New Roman" charset="0"/>
              </a:rPr>
              <a:t>Oil boom allowed PRI to absorb challenges</a:t>
            </a:r>
          </a:p>
          <a:p>
            <a:pPr marL="800100" lvl="1" indent="-457200" eaLnBrk="1" hangingPunct="1"/>
            <a:r>
              <a:rPr lang="en-US" altLang="en-US" dirty="0">
                <a:solidFill>
                  <a:schemeClr val="tx1"/>
                </a:solidFill>
                <a:latin typeface="Times New Roman" charset="0"/>
                <a:ea typeface="Times New Roman" charset="0"/>
                <a:cs typeface="Times New Roman" charset="0"/>
              </a:rPr>
              <a:t>Massacre of protesting students in 1968 </a:t>
            </a:r>
          </a:p>
          <a:p>
            <a:pPr lvl="2" eaLnBrk="1" hangingPunct="1"/>
            <a:r>
              <a:rPr lang="en-US" altLang="en-US" dirty="0">
                <a:latin typeface="Times New Roman" charset="0"/>
                <a:ea typeface="Times New Roman" charset="0"/>
                <a:cs typeface="Times New Roman" charset="0"/>
              </a:rPr>
              <a:t>Example of state panic against opposition</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Last Cold War Battles</a:t>
            </a:r>
          </a:p>
        </p:txBody>
      </p:sp>
      <p:sp>
        <p:nvSpPr>
          <p:cNvPr id="64514"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Bureaucratic authoritarian governments began to fall.</a:t>
            </a:r>
          </a:p>
          <a:p>
            <a:pPr lvl="2" eaLnBrk="1" hangingPunct="1"/>
            <a:r>
              <a:rPr lang="en-US" altLang="en-US" dirty="0">
                <a:latin typeface="Times New Roman" charset="0"/>
                <a:ea typeface="Times New Roman" charset="0"/>
                <a:cs typeface="Times New Roman" charset="0"/>
              </a:rPr>
              <a:t>Inflation and Excessive Debts</a:t>
            </a:r>
          </a:p>
          <a:p>
            <a:pPr lvl="2" eaLnBrk="1" hangingPunct="1"/>
            <a:r>
              <a:rPr lang="en-US" altLang="en-US" dirty="0">
                <a:latin typeface="Times New Roman" charset="0"/>
                <a:ea typeface="Times New Roman" charset="0"/>
                <a:cs typeface="Times New Roman" charset="0"/>
              </a:rPr>
              <a:t>Success of anticommunist efforts</a:t>
            </a:r>
          </a:p>
          <a:p>
            <a:pPr marL="800100" lvl="1" indent="-457200" eaLnBrk="1" hangingPunct="1"/>
            <a:r>
              <a:rPr lang="en-US" altLang="en-US" dirty="0">
                <a:solidFill>
                  <a:schemeClr val="tx1"/>
                </a:solidFill>
                <a:latin typeface="Times New Roman" charset="0"/>
                <a:ea typeface="Times New Roman" charset="0"/>
                <a:cs typeface="Times New Roman" charset="0"/>
              </a:rPr>
              <a:t>Lack of external enemies for military regimes </a:t>
            </a:r>
          </a:p>
          <a:p>
            <a:pPr marL="1200150" lvl="2" indent="-457200" eaLnBrk="1" hangingPunct="1"/>
            <a:r>
              <a:rPr lang="en-US" altLang="en-US" dirty="0">
                <a:latin typeface="Times New Roman" charset="0"/>
                <a:ea typeface="Times New Roman" charset="0"/>
                <a:cs typeface="Times New Roman" charset="0"/>
              </a:rPr>
              <a:t>Falklands/Malvinas War (Argentina/Great Britain)</a:t>
            </a:r>
          </a:p>
          <a:p>
            <a:pPr marL="800100" lvl="1" indent="-457200" eaLnBrk="1" hangingPunct="1"/>
            <a:r>
              <a:rPr lang="en-US" altLang="en-US" dirty="0">
                <a:solidFill>
                  <a:schemeClr val="tx1"/>
                </a:solidFill>
                <a:latin typeface="Times New Roman" charset="0"/>
                <a:ea typeface="Times New Roman" charset="0"/>
                <a:cs typeface="Times New Roman" charset="0"/>
              </a:rPr>
              <a:t>Return to constitutional rule (Argentina, Bolivia, Brazil, Ecuador, Peru, Uruguay)</a:t>
            </a:r>
          </a:p>
          <a:p>
            <a:pPr marL="800100" lvl="1" indent="-457200" eaLnBrk="1" hangingPunct="1"/>
            <a:r>
              <a:rPr lang="en-US" altLang="en-US" dirty="0">
                <a:solidFill>
                  <a:schemeClr val="tx1"/>
                </a:solidFill>
                <a:latin typeface="Times New Roman" charset="0"/>
                <a:ea typeface="Times New Roman" charset="0"/>
                <a:cs typeface="Times New Roman" charset="0"/>
              </a:rPr>
              <a:t>The revolutionary tide in Central America began turning in the late 1970s.</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Revolution in Central America</a:t>
            </a:r>
          </a:p>
        </p:txBody>
      </p:sp>
      <p:sp>
        <p:nvSpPr>
          <p:cNvPr id="66562"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Central American nations had barely felt the benefits of ISI.</a:t>
            </a:r>
          </a:p>
          <a:p>
            <a:pPr marL="800100" lvl="1" indent="-457200" eaLnBrk="1" hangingPunct="1"/>
            <a:r>
              <a:rPr lang="en-US" altLang="en-US" dirty="0">
                <a:solidFill>
                  <a:schemeClr val="tx1"/>
                </a:solidFill>
                <a:latin typeface="Times New Roman" charset="0"/>
                <a:ea typeface="Times New Roman" charset="0"/>
                <a:cs typeface="Times New Roman" charset="0"/>
              </a:rPr>
              <a:t>Depended on few agricultural exports</a:t>
            </a:r>
          </a:p>
          <a:p>
            <a:pPr marL="800100" lvl="1" indent="-457200" eaLnBrk="1" hangingPunct="1"/>
            <a:r>
              <a:rPr lang="en-US" altLang="en-US" dirty="0">
                <a:solidFill>
                  <a:schemeClr val="tx1"/>
                </a:solidFill>
                <a:latin typeface="Times New Roman" charset="0"/>
                <a:ea typeface="Times New Roman" charset="0"/>
                <a:cs typeface="Times New Roman" charset="0"/>
              </a:rPr>
              <a:t>Small populations and small cities</a:t>
            </a:r>
          </a:p>
          <a:p>
            <a:pPr marL="800100" lvl="1" indent="-457200" eaLnBrk="1" hangingPunct="1"/>
            <a:r>
              <a:rPr lang="en-US" altLang="en-US" dirty="0">
                <a:solidFill>
                  <a:schemeClr val="tx1"/>
                </a:solidFill>
                <a:latin typeface="Times New Roman" charset="0"/>
                <a:ea typeface="Times New Roman" charset="0"/>
                <a:cs typeface="Times New Roman" charset="0"/>
              </a:rPr>
              <a:t>Landowners</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 power remained unchecked.</a:t>
            </a:r>
          </a:p>
          <a:p>
            <a:pPr marL="800100" lvl="1" indent="-457200" eaLnBrk="1" hangingPunct="1"/>
            <a:r>
              <a:rPr lang="en-US" altLang="en-US" dirty="0">
                <a:solidFill>
                  <a:schemeClr val="tx1"/>
                </a:solidFill>
                <a:latin typeface="Times New Roman" charset="0"/>
                <a:ea typeface="Times New Roman" charset="0"/>
                <a:cs typeface="Times New Roman" charset="0"/>
              </a:rPr>
              <a:t>Dominated by rural oligarchies</a:t>
            </a:r>
          </a:p>
          <a:p>
            <a:pPr marL="800100" lvl="1" indent="-457200" eaLnBrk="1" hangingPunct="1"/>
            <a:r>
              <a:rPr lang="en-US" altLang="en-US" dirty="0">
                <a:solidFill>
                  <a:schemeClr val="tx1"/>
                </a:solidFill>
                <a:latin typeface="Times New Roman" charset="0"/>
                <a:ea typeface="Times New Roman" charset="0"/>
                <a:cs typeface="Times New Roman" charset="0"/>
              </a:rPr>
              <a:t>Ruled by greedy tyrants who enjoyed US support for anticommunism</a:t>
            </a:r>
          </a:p>
          <a:p>
            <a:pPr marL="800100" indent="-457200" eaLnBrk="1" hangingPunct="1">
              <a:buFont typeface="Arial" charset="0"/>
              <a:buChar char="•"/>
            </a:pPr>
            <a:endParaRPr lang="en-US" altLang="en-US" sz="2800" dirty="0">
              <a:latin typeface="Times New Roman" charset="0"/>
              <a:ea typeface="Times New Roman" charset="0"/>
              <a:cs typeface="Times New Roman"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Guatemalan Experience</a:t>
            </a:r>
          </a:p>
        </p:txBody>
      </p:sp>
      <p:sp>
        <p:nvSpPr>
          <p:cNvPr id="68610"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Ruled by military or military-controlled governments since 1954</a:t>
            </a:r>
          </a:p>
          <a:p>
            <a:pPr marL="800100" lvl="1" indent="-457200" eaLnBrk="1" hangingPunct="1"/>
            <a:r>
              <a:rPr lang="en-US" altLang="en-US" dirty="0">
                <a:solidFill>
                  <a:schemeClr val="tx1"/>
                </a:solidFill>
                <a:latin typeface="Times New Roman" charset="0"/>
                <a:ea typeface="Times New Roman" charset="0"/>
                <a:cs typeface="Times New Roman" charset="0"/>
              </a:rPr>
              <a:t>Landowners lived in fear of peasant uprisings.</a:t>
            </a:r>
          </a:p>
          <a:p>
            <a:pPr marL="800100" lvl="1" indent="-457200" eaLnBrk="1" hangingPunct="1"/>
            <a:r>
              <a:rPr lang="en-US" altLang="en-US" dirty="0">
                <a:solidFill>
                  <a:schemeClr val="tx1"/>
                </a:solidFill>
                <a:latin typeface="Times New Roman" charset="0"/>
                <a:ea typeface="Times New Roman" charset="0"/>
                <a:cs typeface="Times New Roman" charset="0"/>
              </a:rPr>
              <a:t>Military carried out dirty war against rural guerrillas.</a:t>
            </a:r>
          </a:p>
          <a:p>
            <a:pPr marL="800100" lvl="1" indent="-457200" eaLnBrk="1" hangingPunct="1"/>
            <a:r>
              <a:rPr lang="en-US" altLang="en-US" dirty="0">
                <a:solidFill>
                  <a:schemeClr val="tx1"/>
                </a:solidFill>
                <a:latin typeface="Times New Roman" charset="0"/>
                <a:ea typeface="Times New Roman" charset="0"/>
                <a:cs typeface="Times New Roman" charset="0"/>
              </a:rPr>
              <a:t>Rigoberta Menchú</a:t>
            </a:r>
          </a:p>
          <a:p>
            <a:pPr marL="800100" lvl="1" indent="-457200" eaLnBrk="1" hangingPunct="1"/>
            <a:r>
              <a:rPr lang="en-US" altLang="en-US" dirty="0">
                <a:solidFill>
                  <a:schemeClr val="tx1"/>
                </a:solidFill>
                <a:latin typeface="Times New Roman" charset="0"/>
                <a:ea typeface="Times New Roman" charset="0"/>
                <a:cs typeface="Times New Roman" charset="0"/>
              </a:rPr>
              <a:t>The death toll spiraled to 200,000.</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Costa Rican Experience</a:t>
            </a:r>
          </a:p>
        </p:txBody>
      </p:sp>
      <p:sp>
        <p:nvSpPr>
          <p:cNvPr id="70658" name="Content Placeholder 2"/>
          <p:cNvSpPr>
            <a:spLocks noGrp="1"/>
          </p:cNvSpPr>
          <p:nvPr>
            <p:ph idx="1"/>
          </p:nvPr>
        </p:nvSpPr>
        <p:spPr/>
        <p:txBody>
          <a:bodyPr/>
          <a:lstStyle/>
          <a:p>
            <a:pPr marL="688975" lvl="1" indent="-346075" eaLnBrk="1" hangingPunct="1"/>
            <a:r>
              <a:rPr lang="en-US" altLang="en-US" dirty="0">
                <a:solidFill>
                  <a:schemeClr val="tx1"/>
                </a:solidFill>
                <a:latin typeface="Times New Roman" charset="0"/>
                <a:ea typeface="Times New Roman" charset="0"/>
                <a:cs typeface="Times New Roman" charset="0"/>
              </a:rPr>
              <a:t>Largely escaped violence of Cold War </a:t>
            </a:r>
          </a:p>
          <a:p>
            <a:pPr marL="688975" lvl="1" indent="-346075" eaLnBrk="1" hangingPunct="1"/>
            <a:r>
              <a:rPr lang="en-US" altLang="en-US" dirty="0">
                <a:solidFill>
                  <a:schemeClr val="tx1"/>
                </a:solidFill>
                <a:latin typeface="Times New Roman" charset="0"/>
                <a:ea typeface="Times New Roman" charset="0"/>
                <a:cs typeface="Times New Roman" charset="0"/>
              </a:rPr>
              <a:t>Less burdened by colonial hierarchies</a:t>
            </a:r>
          </a:p>
          <a:p>
            <a:pPr marL="1033463" lvl="2" indent="-292100" eaLnBrk="1" hangingPunct="1"/>
            <a:r>
              <a:rPr lang="en-US" altLang="en-US" dirty="0">
                <a:latin typeface="Times New Roman" charset="0"/>
                <a:ea typeface="Times New Roman" charset="0"/>
                <a:cs typeface="Times New Roman" charset="0"/>
              </a:rPr>
              <a:t>Small pre-conquest indigenous community</a:t>
            </a:r>
          </a:p>
          <a:p>
            <a:pPr marL="1033463" lvl="2" indent="-292100" eaLnBrk="1" hangingPunct="1"/>
            <a:r>
              <a:rPr lang="en-US" altLang="en-US" dirty="0">
                <a:latin typeface="Times New Roman" charset="0"/>
                <a:ea typeface="Times New Roman" charset="0"/>
                <a:cs typeface="Times New Roman" charset="0"/>
              </a:rPr>
              <a:t>Remaining people killed by conquerors </a:t>
            </a:r>
          </a:p>
          <a:p>
            <a:pPr marL="688975" lvl="1" indent="-346075" eaLnBrk="1" hangingPunct="1"/>
            <a:r>
              <a:rPr lang="en-US" altLang="en-US" dirty="0">
                <a:solidFill>
                  <a:schemeClr val="tx1"/>
                </a:solidFill>
                <a:latin typeface="Times New Roman" charset="0"/>
                <a:ea typeface="Times New Roman" charset="0"/>
                <a:cs typeface="Times New Roman" charset="0"/>
              </a:rPr>
              <a:t>Abolished army in the 1940s</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Nicaraguan Experience</a:t>
            </a:r>
          </a:p>
        </p:txBody>
      </p:sp>
      <p:sp>
        <p:nvSpPr>
          <p:cNvPr id="7270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Home of anti-imperialist Augusto Cesár Sandino </a:t>
            </a:r>
          </a:p>
          <a:p>
            <a:pPr lvl="1" eaLnBrk="1" hangingPunct="1"/>
            <a:r>
              <a:rPr lang="en-US" altLang="en-US" dirty="0">
                <a:solidFill>
                  <a:schemeClr val="tx1"/>
                </a:solidFill>
                <a:latin typeface="Times New Roman" charset="0"/>
                <a:ea typeface="Times New Roman" charset="0"/>
                <a:cs typeface="Times New Roman" charset="0"/>
              </a:rPr>
              <a:t>Ruled by the Somoza family since the 1930s</a:t>
            </a:r>
          </a:p>
          <a:p>
            <a:pPr lvl="2" eaLnBrk="1" hangingPunct="1"/>
            <a:r>
              <a:rPr lang="en-US" altLang="en-US" dirty="0">
                <a:latin typeface="Times New Roman" charset="0"/>
                <a:ea typeface="Times New Roman" charset="0"/>
                <a:cs typeface="Times New Roman" charset="0"/>
              </a:rPr>
              <a:t>Various Somozas ran the country from the 1930s to the 1970s.</a:t>
            </a:r>
          </a:p>
          <a:p>
            <a:pPr lvl="2" eaLnBrk="1" hangingPunct="1"/>
            <a:r>
              <a:rPr lang="en-US" altLang="en-US" dirty="0">
                <a:latin typeface="Times New Roman" charset="0"/>
                <a:ea typeface="Times New Roman" charset="0"/>
                <a:cs typeface="Times New Roman" charset="0"/>
              </a:rPr>
              <a:t>Anticommunist allies of US</a:t>
            </a:r>
          </a:p>
          <a:p>
            <a:pPr lvl="1" eaLnBrk="1" hangingPunct="1"/>
            <a:r>
              <a:rPr lang="en-US" altLang="en-US" dirty="0">
                <a:solidFill>
                  <a:schemeClr val="tx1"/>
                </a:solidFill>
                <a:latin typeface="Times New Roman" charset="0"/>
                <a:ea typeface="Times New Roman" charset="0"/>
                <a:cs typeface="Times New Roman" charset="0"/>
              </a:rPr>
              <a:t>Revolutionary movement forms in Havana in 1961.</a:t>
            </a:r>
          </a:p>
          <a:p>
            <a:pPr lvl="2" eaLnBrk="1" hangingPunct="1"/>
            <a:r>
              <a:rPr lang="en-US" altLang="en-US" dirty="0">
                <a:latin typeface="Times New Roman" charset="0"/>
                <a:ea typeface="Times New Roman" charset="0"/>
                <a:cs typeface="Times New Roman" charset="0"/>
              </a:rPr>
              <a:t>Sandinista National Liberation Front (FSLN)</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Beginning of the Revolution</a:t>
            </a:r>
          </a:p>
        </p:txBody>
      </p:sp>
      <p:sp>
        <p:nvSpPr>
          <p:cNvPr id="7475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Dictator assassinated Joaquín Chamorro in 1978.</a:t>
            </a:r>
          </a:p>
          <a:p>
            <a:pPr lvl="2" eaLnBrk="1" hangingPunct="1"/>
            <a:r>
              <a:rPr lang="en-US" altLang="en-US" dirty="0">
                <a:latin typeface="Times New Roman" charset="0"/>
                <a:ea typeface="Times New Roman" charset="0"/>
                <a:cs typeface="Times New Roman" charset="0"/>
              </a:rPr>
              <a:t>Editor of a conservative opposition newspaper</a:t>
            </a:r>
          </a:p>
          <a:p>
            <a:pPr lvl="2" eaLnBrk="1" hangingPunct="1"/>
            <a:r>
              <a:rPr lang="en-US" altLang="en-US" dirty="0">
                <a:latin typeface="Times New Roman" charset="0"/>
                <a:ea typeface="Times New Roman" charset="0"/>
                <a:cs typeface="Times New Roman" charset="0"/>
              </a:rPr>
              <a:t>Widespread revolution began</a:t>
            </a:r>
          </a:p>
          <a:p>
            <a:pPr lvl="1" eaLnBrk="1" hangingPunct="1"/>
            <a:r>
              <a:rPr lang="en-US" altLang="en-US" dirty="0">
                <a:solidFill>
                  <a:schemeClr val="tx1"/>
                </a:solidFill>
                <a:latin typeface="Times New Roman" charset="0"/>
                <a:ea typeface="Times New Roman" charset="0"/>
                <a:cs typeface="Times New Roman" charset="0"/>
              </a:rPr>
              <a:t>Somoza fled, assassinated in Paraguay.</a:t>
            </a:r>
          </a:p>
          <a:p>
            <a:pPr lvl="1" eaLnBrk="1" hangingPunct="1"/>
            <a:r>
              <a:rPr lang="en-US" altLang="en-US" dirty="0">
                <a:solidFill>
                  <a:schemeClr val="tx1"/>
                </a:solidFill>
                <a:latin typeface="Times New Roman" charset="0"/>
                <a:ea typeface="Times New Roman" charset="0"/>
                <a:cs typeface="Times New Roman" charset="0"/>
              </a:rPr>
              <a:t>Sandinistas took control of Nicaragua. </a:t>
            </a:r>
          </a:p>
          <a:p>
            <a:pPr lvl="2" eaLnBrk="1" hangingPunct="1"/>
            <a:r>
              <a:rPr lang="en-US" altLang="en-US" dirty="0">
                <a:latin typeface="Times New Roman" charset="0"/>
                <a:ea typeface="Times New Roman" charset="0"/>
                <a:cs typeface="Times New Roman" charset="0"/>
              </a:rPr>
              <a:t>Revolutionary program inspired, aided by Cubans</a:t>
            </a:r>
          </a:p>
          <a:p>
            <a:pPr lvl="1" eaLnBrk="1" hangingPunct="1"/>
            <a:r>
              <a:rPr lang="en-US" altLang="en-US" dirty="0">
                <a:solidFill>
                  <a:schemeClr val="tx1"/>
                </a:solidFill>
                <a:latin typeface="Times New Roman" charset="0"/>
                <a:ea typeface="Times New Roman" charset="0"/>
                <a:cs typeface="Times New Roman" charset="0"/>
              </a:rPr>
              <a:t>Reagan is elected in the United States.</a:t>
            </a:r>
          </a:p>
          <a:p>
            <a:pPr lvl="2" eaLnBrk="1" hangingPunct="1"/>
            <a:r>
              <a:rPr lang="en-US" altLang="en-US" dirty="0">
                <a:latin typeface="Times New Roman" charset="0"/>
                <a:ea typeface="Times New Roman" charset="0"/>
                <a:cs typeface="Times New Roman" charset="0"/>
              </a:rPr>
              <a:t>Viewed Sandinistas as Cold War communist threat</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Revolution (cont’d)</a:t>
            </a:r>
          </a:p>
        </p:txBody>
      </p:sp>
      <p:sp>
        <p:nvSpPr>
          <p:cNvPr id="76802"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Anti-Sandinista factions regroup</a:t>
            </a:r>
          </a:p>
          <a:p>
            <a:pPr lvl="2" eaLnBrk="1" hangingPunct="1"/>
            <a:r>
              <a:rPr lang="en-US" altLang="en-US" dirty="0">
                <a:latin typeface="Times New Roman" charset="0"/>
                <a:ea typeface="Times New Roman" charset="0"/>
                <a:cs typeface="Times New Roman" charset="0"/>
              </a:rPr>
              <a:t>Somoza</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s National Guard reforms in Honduras.</a:t>
            </a:r>
          </a:p>
          <a:p>
            <a:pPr lvl="2" eaLnBrk="1" hangingPunct="1"/>
            <a:r>
              <a:rPr lang="en-US" altLang="en-US" dirty="0">
                <a:latin typeface="Times New Roman" charset="0"/>
                <a:ea typeface="Times New Roman" charset="0"/>
                <a:cs typeface="Times New Roman" charset="0"/>
              </a:rPr>
              <a:t>Actions of Contras</a:t>
            </a:r>
          </a:p>
          <a:p>
            <a:pPr lvl="3" eaLnBrk="1" hangingPunct="1"/>
            <a:r>
              <a:rPr lang="en-US" altLang="en-US" dirty="0">
                <a:solidFill>
                  <a:schemeClr val="tx1"/>
                </a:solidFill>
                <a:latin typeface="Times New Roman" charset="0"/>
                <a:ea typeface="Times New Roman" charset="0"/>
                <a:cs typeface="Times New Roman" charset="0"/>
              </a:rPr>
              <a:t>Raided Nicaragua from Honduras</a:t>
            </a:r>
          </a:p>
          <a:p>
            <a:pPr lvl="3" eaLnBrk="1" hangingPunct="1"/>
            <a:r>
              <a:rPr lang="en-US" altLang="en-US" dirty="0">
                <a:solidFill>
                  <a:schemeClr val="tx1"/>
                </a:solidFill>
                <a:latin typeface="Times New Roman" charset="0"/>
                <a:ea typeface="Times New Roman" charset="0"/>
                <a:cs typeface="Times New Roman" charset="0"/>
              </a:rPr>
              <a:t>Called </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Freedom fighters</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 by Reagan</a:t>
            </a:r>
          </a:p>
          <a:p>
            <a:pPr lvl="3" eaLnBrk="1" hangingPunct="1"/>
            <a:r>
              <a:rPr lang="en-US" altLang="en-US" dirty="0">
                <a:solidFill>
                  <a:schemeClr val="tx1"/>
                </a:solidFill>
                <a:latin typeface="Times New Roman" charset="0"/>
                <a:ea typeface="Times New Roman" charset="0"/>
                <a:cs typeface="Times New Roman" charset="0"/>
              </a:rPr>
              <a:t>Honduras filled with US military personnel and supplies</a:t>
            </a:r>
          </a:p>
          <a:p>
            <a:pPr lvl="3" eaLnBrk="1" hangingPunct="1"/>
            <a:r>
              <a:rPr lang="en-US" altLang="en-US" dirty="0">
                <a:solidFill>
                  <a:schemeClr val="tx1"/>
                </a:solidFill>
                <a:latin typeface="Times New Roman" charset="0"/>
                <a:ea typeface="Times New Roman" charset="0"/>
                <a:cs typeface="Times New Roman" charset="0"/>
              </a:rPr>
              <a:t>Gained recruits among Nicaraguan opposition </a:t>
            </a:r>
          </a:p>
          <a:p>
            <a:pPr lvl="3" eaLnBrk="1" hangingPunct="1"/>
            <a:r>
              <a:rPr lang="en-US" altLang="en-US" dirty="0">
                <a:solidFill>
                  <a:schemeClr val="tx1"/>
                </a:solidFill>
                <a:latin typeface="Times New Roman" charset="0"/>
                <a:ea typeface="Times New Roman" charset="0"/>
                <a:cs typeface="Times New Roman" charset="0"/>
              </a:rPr>
              <a:t>Disrupted Nicaraguan economy, wreaked havoc</a:t>
            </a:r>
          </a:p>
          <a:p>
            <a:pPr lvl="2" eaLnBrk="1" hangingPunct="1"/>
            <a:r>
              <a:rPr lang="en-US" altLang="en-US" dirty="0">
                <a:latin typeface="Times New Roman" charset="0"/>
                <a:ea typeface="Times New Roman" charset="0"/>
                <a:cs typeface="Times New Roman" charset="0"/>
              </a:rPr>
              <a:t>War destabilized the Nicaraguan economy.</a:t>
            </a:r>
          </a:p>
          <a:p>
            <a:pPr lvl="2" eaLnBrk="1" hangingPunct="1"/>
            <a:r>
              <a:rPr lang="en-US" altLang="en-US" dirty="0">
                <a:latin typeface="Times New Roman" charset="0"/>
                <a:ea typeface="Times New Roman" charset="0"/>
                <a:cs typeface="Times New Roman" charset="0"/>
              </a:rPr>
              <a:t>In 1990, Sandinista Daniel Ortega lost the election. </a:t>
            </a:r>
          </a:p>
          <a:p>
            <a:pPr lvl="3" eaLnBrk="1" hangingPunct="1"/>
            <a:r>
              <a:rPr lang="en-US" altLang="en-US" dirty="0">
                <a:solidFill>
                  <a:schemeClr val="tx1"/>
                </a:solidFill>
                <a:latin typeface="Times New Roman" charset="0"/>
                <a:ea typeface="Times New Roman" charset="0"/>
                <a:cs typeface="Times New Roman" charset="0"/>
              </a:rPr>
              <a:t> Violeta Chamorro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Situation in El Salvador</a:t>
            </a:r>
          </a:p>
        </p:txBody>
      </p:sp>
      <p:sp>
        <p:nvSpPr>
          <p:cNvPr id="78850"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Undemocratic, anticommunist government </a:t>
            </a:r>
          </a:p>
          <a:p>
            <a:pPr marL="800100" lvl="1" indent="-457200" eaLnBrk="1" hangingPunct="1"/>
            <a:r>
              <a:rPr lang="en-US" altLang="en-US" dirty="0">
                <a:solidFill>
                  <a:schemeClr val="tx1"/>
                </a:solidFill>
                <a:latin typeface="Times New Roman" charset="0"/>
                <a:ea typeface="Times New Roman" charset="0"/>
                <a:cs typeface="Times New Roman" charset="0"/>
              </a:rPr>
              <a:t>Landless poor made it a social pressure cooker.</a:t>
            </a:r>
          </a:p>
          <a:p>
            <a:pPr marL="800100" lvl="1" indent="-457200" eaLnBrk="1" hangingPunct="1"/>
            <a:r>
              <a:rPr lang="en-US" altLang="en-US" dirty="0">
                <a:solidFill>
                  <a:schemeClr val="tx1"/>
                </a:solidFill>
                <a:latin typeface="Times New Roman" charset="0"/>
                <a:ea typeface="Times New Roman" charset="0"/>
                <a:cs typeface="Times New Roman" charset="0"/>
              </a:rPr>
              <a:t>Salvadoran Communist Party </a:t>
            </a:r>
          </a:p>
          <a:p>
            <a:pPr marL="800100" lvl="1" indent="-457200" eaLnBrk="1" hangingPunct="1"/>
            <a:r>
              <a:rPr lang="en-US" altLang="en-US" dirty="0">
                <a:solidFill>
                  <a:schemeClr val="tx1"/>
                </a:solidFill>
                <a:latin typeface="Times New Roman" charset="0"/>
                <a:ea typeface="Times New Roman" charset="0"/>
                <a:cs typeface="Times New Roman" charset="0"/>
              </a:rPr>
              <a:t>Military governments followed for nearly fifty years.</a:t>
            </a:r>
          </a:p>
          <a:p>
            <a:pPr marL="800100" lvl="1" indent="-457200" eaLnBrk="1" hangingPunct="1"/>
            <a:r>
              <a:rPr lang="en-US" altLang="en-US" dirty="0">
                <a:solidFill>
                  <a:schemeClr val="tx1"/>
                </a:solidFill>
                <a:latin typeface="Times New Roman" charset="0"/>
                <a:ea typeface="Times New Roman" charset="0"/>
                <a:cs typeface="Times New Roman" charset="0"/>
              </a:rPr>
              <a:t>In 1970s, Salvadoran church turned away from anticommunism.</a:t>
            </a:r>
          </a:p>
          <a:p>
            <a:pPr lvl="2" eaLnBrk="1" hangingPunct="1"/>
            <a:r>
              <a:rPr lang="en-US" altLang="en-US" dirty="0">
                <a:latin typeface="Times New Roman" charset="0"/>
                <a:ea typeface="Times New Roman" charset="0"/>
                <a:cs typeface="Times New Roman" charset="0"/>
              </a:rPr>
              <a:t>Archbishop Oscar Romero</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Uprising in El Salvador</a:t>
            </a:r>
          </a:p>
        </p:txBody>
      </p:sp>
      <p:sp>
        <p:nvSpPr>
          <p:cNvPr id="8089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Farabundo Martí National Liberation Front</a:t>
            </a:r>
          </a:p>
          <a:p>
            <a:pPr lvl="2" eaLnBrk="1" hangingPunct="1"/>
            <a:r>
              <a:rPr lang="en-US" altLang="en-US" dirty="0">
                <a:latin typeface="Times New Roman" charset="0"/>
                <a:ea typeface="Times New Roman" charset="0"/>
                <a:cs typeface="Times New Roman" charset="0"/>
              </a:rPr>
              <a:t>The Reagan administration argued that communism was spreading.</a:t>
            </a:r>
          </a:p>
          <a:p>
            <a:pPr lvl="3" eaLnBrk="1" hangingPunct="1"/>
            <a:r>
              <a:rPr lang="en-US" altLang="en-US" dirty="0">
                <a:solidFill>
                  <a:schemeClr val="tx1"/>
                </a:solidFill>
                <a:latin typeface="Times New Roman" charset="0"/>
                <a:ea typeface="Times New Roman" charset="0"/>
                <a:cs typeface="Times New Roman" charset="0"/>
              </a:rPr>
              <a:t>Military murders of four nuns from US</a:t>
            </a:r>
          </a:p>
          <a:p>
            <a:pPr lvl="3" eaLnBrk="1" hangingPunct="1"/>
            <a:r>
              <a:rPr lang="en-US" altLang="en-US" dirty="0">
                <a:solidFill>
                  <a:schemeClr val="tx1"/>
                </a:solidFill>
                <a:latin typeface="Times New Roman" charset="0"/>
                <a:ea typeface="Times New Roman" charset="0"/>
                <a:cs typeface="Times New Roman" charset="0"/>
              </a:rPr>
              <a:t>Public opposition to US policy in Latin America arose</a:t>
            </a:r>
          </a:p>
          <a:p>
            <a:pPr lvl="2" eaLnBrk="1" hangingPunct="1"/>
            <a:r>
              <a:rPr lang="en-US" altLang="en-US" dirty="0">
                <a:latin typeface="Times New Roman" charset="0"/>
                <a:ea typeface="Times New Roman" charset="0"/>
                <a:cs typeface="Times New Roman" charset="0"/>
              </a:rPr>
              <a:t>Successes</a:t>
            </a:r>
          </a:p>
          <a:p>
            <a:pPr lvl="3" eaLnBrk="1" hangingPunct="1"/>
            <a:r>
              <a:rPr lang="en-US" altLang="en-US" dirty="0">
                <a:solidFill>
                  <a:schemeClr val="tx1"/>
                </a:solidFill>
                <a:latin typeface="Times New Roman" charset="0"/>
                <a:ea typeface="Times New Roman" charset="0"/>
                <a:cs typeface="Times New Roman" charset="0"/>
              </a:rPr>
              <a:t>Held large portions of countryside </a:t>
            </a:r>
          </a:p>
          <a:p>
            <a:pPr lvl="3" eaLnBrk="1" hangingPunct="1"/>
            <a:r>
              <a:rPr lang="en-US" altLang="en-US" dirty="0">
                <a:solidFill>
                  <a:schemeClr val="tx1"/>
                </a:solidFill>
                <a:latin typeface="Times New Roman" charset="0"/>
                <a:ea typeface="Times New Roman" charset="0"/>
                <a:cs typeface="Times New Roman" charset="0"/>
              </a:rPr>
              <a:t>Strong backing among rural people</a:t>
            </a:r>
          </a:p>
          <a:p>
            <a:pPr lvl="3" eaLnBrk="1" hangingPunct="1"/>
            <a:r>
              <a:rPr lang="en-US" altLang="en-US" dirty="0">
                <a:solidFill>
                  <a:schemeClr val="tx1"/>
                </a:solidFill>
                <a:latin typeface="Times New Roman" charset="0"/>
                <a:ea typeface="Times New Roman" charset="0"/>
                <a:cs typeface="Times New Roman" charset="0"/>
              </a:rPr>
              <a:t>Blew up bridges and power lines</a:t>
            </a:r>
          </a:p>
          <a:p>
            <a:pPr lvl="3" eaLnBrk="1" hangingPunct="1"/>
            <a:r>
              <a:rPr lang="en-US" altLang="en-US" dirty="0">
                <a:solidFill>
                  <a:schemeClr val="tx1"/>
                </a:solidFill>
                <a:latin typeface="Times New Roman" charset="0"/>
                <a:ea typeface="Times New Roman" charset="0"/>
                <a:cs typeface="Times New Roman" charset="0"/>
              </a:rPr>
              <a:t>Levied war taxes on vehicles traveling through territory</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ack-and-white photograph of a young woman holding an assault rifle across her body. She stands in front of a wall with writing on it."/>
          <p:cNvPicPr>
            <a:picLocks noChangeAspect="1"/>
          </p:cNvPicPr>
          <p:nvPr/>
        </p:nvPicPr>
        <p:blipFill>
          <a:blip r:embed="rId3"/>
          <a:stretch>
            <a:fillRect/>
          </a:stretch>
        </p:blipFill>
        <p:spPr>
          <a:xfrm>
            <a:off x="609600" y="1037202"/>
            <a:ext cx="8077200" cy="5382877"/>
          </a:xfrm>
          <a:prstGeom prst="rect">
            <a:avLst/>
          </a:prstGeom>
        </p:spPr>
      </p:pic>
      <p:sp>
        <p:nvSpPr>
          <p:cNvPr id="3" name="TextBox 2"/>
          <p:cNvSpPr txBox="1"/>
          <p:nvPr/>
        </p:nvSpPr>
        <p:spPr>
          <a:xfrm>
            <a:off x="6202169" y="6427113"/>
            <a:ext cx="2941831" cy="430887"/>
          </a:xfrm>
          <a:prstGeom prst="rect">
            <a:avLst/>
          </a:prstGeom>
          <a:noFill/>
        </p:spPr>
        <p:txBody>
          <a:bodyPr wrap="none" rtlCol="0">
            <a:spAutoFit/>
          </a:bodyPr>
          <a:lstStyle/>
          <a:p>
            <a:r>
              <a:rPr lang="en-US" sz="1100" i="1" dirty="0"/>
              <a:t>Born in Blood and Fire, </a:t>
            </a:r>
            <a:r>
              <a:rPr lang="en-US" sz="1100" dirty="0"/>
              <a:t>Fifth Edition</a:t>
            </a:r>
          </a:p>
          <a:p>
            <a:r>
              <a:rPr lang="en-US" sz="1100" dirty="0"/>
              <a:t>Copyright © 2024 W. W. Norton &amp; Company</a:t>
            </a:r>
          </a:p>
        </p:txBody>
      </p:sp>
      <p:sp>
        <p:nvSpPr>
          <p:cNvPr id="6" name="Title 3">
            <a:extLst>
              <a:ext uri="{FF2B5EF4-FFF2-40B4-BE49-F238E27FC236}">
                <a16:creationId xmlns:a16="http://schemas.microsoft.com/office/drawing/2014/main" id="{4EFB0D05-14F1-5093-09BA-49694563B75A}"/>
              </a:ext>
            </a:extLst>
          </p:cNvPr>
          <p:cNvSpPr>
            <a:spLocks noGrp="1"/>
          </p:cNvSpPr>
          <p:nvPr>
            <p:ph type="title"/>
          </p:nvPr>
        </p:nvSpPr>
        <p:spPr>
          <a:xfrm>
            <a:off x="457200" y="0"/>
            <a:ext cx="8229600" cy="1143000"/>
          </a:xfrm>
        </p:spPr>
        <p:txBody>
          <a:bodyPr/>
          <a:lstStyle/>
          <a:p>
            <a:r>
              <a:rPr lang="en-US" sz="4000" dirty="0">
                <a:latin typeface="Times New Roman" charset="0"/>
                <a:ea typeface="Times New Roman" charset="0"/>
                <a:cs typeface="Times New Roman" charset="0"/>
              </a:rPr>
              <a:t>Salvadoran Guerrilla</a:t>
            </a:r>
          </a:p>
        </p:txBody>
      </p:sp>
    </p:spTree>
    <p:extLst>
      <p:ext uri="{BB962C8B-B14F-4D97-AF65-F5344CB8AC3E}">
        <p14:creationId xmlns:p14="http://schemas.microsoft.com/office/powerpoint/2010/main" val="19400072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Defeat of the Uprising</a:t>
            </a:r>
          </a:p>
        </p:txBody>
      </p:sp>
      <p:sp>
        <p:nvSpPr>
          <p:cNvPr id="8294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Unable to defeat the army</a:t>
            </a:r>
          </a:p>
          <a:p>
            <a:pPr lvl="2" eaLnBrk="1" hangingPunct="1"/>
            <a:r>
              <a:rPr lang="en-US" altLang="en-US" dirty="0">
                <a:latin typeface="Times New Roman" charset="0"/>
                <a:ea typeface="Times New Roman" charset="0"/>
                <a:cs typeface="Times New Roman" charset="0"/>
              </a:rPr>
              <a:t>Salvadoran military had US troops and training </a:t>
            </a:r>
          </a:p>
          <a:p>
            <a:pPr lvl="2" eaLnBrk="1" hangingPunct="1"/>
            <a:r>
              <a:rPr lang="en-US" altLang="en-US" dirty="0">
                <a:latin typeface="Times New Roman" charset="0"/>
                <a:ea typeface="Times New Roman" charset="0"/>
                <a:cs typeface="Times New Roman" charset="0"/>
              </a:rPr>
              <a:t>Helicopters </a:t>
            </a:r>
          </a:p>
          <a:p>
            <a:pPr lvl="2" eaLnBrk="1" hangingPunct="1"/>
            <a:r>
              <a:rPr lang="en-US" altLang="en-US" dirty="0">
                <a:latin typeface="Times New Roman" charset="0"/>
                <a:ea typeface="Times New Roman" charset="0"/>
                <a:cs typeface="Times New Roman" charset="0"/>
              </a:rPr>
              <a:t>Massacre at El Mozote</a:t>
            </a:r>
          </a:p>
          <a:p>
            <a:pPr lvl="1" eaLnBrk="1" hangingPunct="1"/>
            <a:r>
              <a:rPr lang="en-US" altLang="en-US" dirty="0">
                <a:solidFill>
                  <a:schemeClr val="tx1"/>
                </a:solidFill>
                <a:latin typeface="Times New Roman" charset="0"/>
                <a:ea typeface="Times New Roman" charset="0"/>
                <a:cs typeface="Times New Roman" charset="0"/>
              </a:rPr>
              <a:t>Hundreds of thousands fled El Salvador, many for the United States.</a:t>
            </a:r>
          </a:p>
          <a:p>
            <a:pPr lvl="1" eaLnBrk="1" hangingPunct="1"/>
            <a:r>
              <a:rPr lang="en-US" altLang="en-US" dirty="0">
                <a:solidFill>
                  <a:schemeClr val="tx1"/>
                </a:solidFill>
                <a:latin typeface="Times New Roman" charset="0"/>
                <a:ea typeface="Times New Roman" charset="0"/>
                <a:cs typeface="Times New Roman" charset="0"/>
              </a:rPr>
              <a:t>Refused to participate in elections, believing them fraudulent </a:t>
            </a:r>
          </a:p>
          <a:p>
            <a:pPr lvl="1" eaLnBrk="1" hangingPunct="1"/>
            <a:r>
              <a:rPr lang="en-US" altLang="en-US" dirty="0">
                <a:solidFill>
                  <a:schemeClr val="tx1"/>
                </a:solidFill>
                <a:latin typeface="Times New Roman" charset="0"/>
                <a:ea typeface="Times New Roman" charset="0"/>
                <a:cs typeface="Times New Roman" charset="0"/>
              </a:rPr>
              <a:t>War reached a stalemate in 1990.</a:t>
            </a:r>
          </a:p>
          <a:p>
            <a:pPr lvl="1" eaLnBrk="1" hangingPunct="1"/>
            <a:r>
              <a:rPr lang="en-US" altLang="en-US" dirty="0">
                <a:solidFill>
                  <a:schemeClr val="tx1"/>
                </a:solidFill>
                <a:latin typeface="Times New Roman" charset="0"/>
                <a:ea typeface="Times New Roman" charset="0"/>
                <a:cs typeface="Times New Roman" charset="0"/>
              </a:rPr>
              <a:t>Peace treaty signed in 1992</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p:txBody>
          <a:bodyPr/>
          <a:lstStyle/>
          <a:p>
            <a:pPr eaLnBrk="1" hangingPunct="1"/>
            <a:r>
              <a:rPr lang="en-US" altLang="en-US" sz="4000" dirty="0">
                <a:solidFill>
                  <a:schemeClr val="tx1"/>
                </a:solidFill>
                <a:latin typeface="Times New Roman" charset="0"/>
                <a:ea typeface="Times New Roman" charset="0"/>
                <a:cs typeface="Times New Roman" charset="0"/>
              </a:rPr>
              <a:t>Peru’s Shining Path </a:t>
            </a:r>
          </a:p>
        </p:txBody>
      </p:sp>
      <p:sp>
        <p:nvSpPr>
          <p:cNvPr id="3379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Insurgency in Peruvian highlands</a:t>
            </a:r>
          </a:p>
          <a:p>
            <a:pPr lvl="1" eaLnBrk="1" hangingPunct="1"/>
            <a:r>
              <a:rPr lang="en-US" altLang="en-US" dirty="0">
                <a:solidFill>
                  <a:schemeClr val="tx1"/>
                </a:solidFill>
                <a:latin typeface="Times New Roman" charset="0"/>
                <a:ea typeface="Times New Roman" charset="0"/>
                <a:cs typeface="Times New Roman" charset="0"/>
              </a:rPr>
              <a:t>Abimael Guzmán</a:t>
            </a:r>
          </a:p>
          <a:p>
            <a:pPr lvl="1" eaLnBrk="1" hangingPunct="1"/>
            <a:r>
              <a:rPr lang="en-US" altLang="en-US" i="1" dirty="0">
                <a:solidFill>
                  <a:schemeClr val="tx1"/>
                </a:solidFill>
                <a:latin typeface="Times New Roman" charset="0"/>
                <a:ea typeface="Times New Roman" charset="0"/>
                <a:cs typeface="Times New Roman" charset="0"/>
              </a:rPr>
              <a:t>Indigenismo </a:t>
            </a:r>
          </a:p>
          <a:p>
            <a:pPr lvl="1" eaLnBrk="1" hangingPunct="1"/>
            <a:r>
              <a:rPr lang="en-US" altLang="en-US" dirty="0">
                <a:solidFill>
                  <a:schemeClr val="tx1"/>
                </a:solidFill>
                <a:latin typeface="Times New Roman" charset="0"/>
                <a:ea typeface="Times New Roman" charset="0"/>
                <a:cs typeface="Times New Roman" charset="0"/>
              </a:rPr>
              <a:t>Quasi-religious spirit led to cataclysmic violence</a:t>
            </a:r>
          </a:p>
          <a:p>
            <a:pPr lvl="1" eaLnBrk="1" hangingPunct="1"/>
            <a:r>
              <a:rPr lang="en-US" altLang="en-US" dirty="0">
                <a:solidFill>
                  <a:schemeClr val="tx1"/>
                </a:solidFill>
                <a:latin typeface="Times New Roman" charset="0"/>
                <a:ea typeface="Times New Roman" charset="0"/>
                <a:cs typeface="Times New Roman" charset="0"/>
              </a:rPr>
              <a:t>Strong following in indigenous Andes</a:t>
            </a:r>
          </a:p>
          <a:p>
            <a:pPr lvl="1" eaLnBrk="1" hangingPunct="1"/>
            <a:r>
              <a:rPr lang="en-US" altLang="en-US" dirty="0">
                <a:solidFill>
                  <a:schemeClr val="tx1"/>
                </a:solidFill>
                <a:latin typeface="Times New Roman" charset="0"/>
                <a:ea typeface="Times New Roman" charset="0"/>
                <a:cs typeface="Times New Roman" charset="0"/>
              </a:rPr>
              <a:t>Followed indigenous migration into Lima</a:t>
            </a:r>
          </a:p>
          <a:p>
            <a:pPr lvl="1" eaLnBrk="1" hangingPunct="1"/>
            <a:r>
              <a:rPr lang="en-US" altLang="en-US" dirty="0">
                <a:solidFill>
                  <a:schemeClr val="tx1"/>
                </a:solidFill>
                <a:latin typeface="Times New Roman" charset="0"/>
                <a:ea typeface="Times New Roman" charset="0"/>
                <a:cs typeface="Times New Roman" charset="0"/>
              </a:rPr>
              <a:t>Coca production as means of financing revolution</a:t>
            </a:r>
          </a:p>
          <a:p>
            <a:pPr lvl="1" eaLnBrk="1" hangingPunct="1"/>
            <a:r>
              <a:rPr lang="en-US" altLang="en-US" dirty="0">
                <a:solidFill>
                  <a:schemeClr val="tx1"/>
                </a:solidFill>
                <a:latin typeface="Times New Roman" charset="0"/>
                <a:ea typeface="Times New Roman" charset="0"/>
                <a:cs typeface="Times New Roman" charset="0"/>
              </a:rPr>
              <a:t>Lost momentum after leader</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capture in 1992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a:xfrm>
            <a:off x="457200" y="274638"/>
            <a:ext cx="8382000" cy="1143000"/>
          </a:xfrm>
        </p:spPr>
        <p:txBody>
          <a:bodyPr/>
          <a:lstStyle/>
          <a:p>
            <a:pPr eaLnBrk="1" hangingPunct="1"/>
            <a:r>
              <a:rPr lang="en-US" altLang="en-US" sz="4000" dirty="0">
                <a:solidFill>
                  <a:schemeClr val="tx1"/>
                </a:solidFill>
                <a:latin typeface="Times New Roman" charset="0"/>
                <a:ea typeface="Times New Roman" charset="0"/>
                <a:cs typeface="Times New Roman" charset="0"/>
              </a:rPr>
              <a:t>Challenges: Zapatistas</a:t>
            </a:r>
          </a:p>
        </p:txBody>
      </p:sp>
      <p:sp>
        <p:nvSpPr>
          <p:cNvPr id="3174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Rebelled when NAFTA went into effect</a:t>
            </a:r>
          </a:p>
          <a:p>
            <a:pPr lvl="1" eaLnBrk="1" hangingPunct="1"/>
            <a:r>
              <a:rPr lang="en-US" altLang="en-US" dirty="0">
                <a:solidFill>
                  <a:schemeClr val="tx1"/>
                </a:solidFill>
                <a:latin typeface="Times New Roman" charset="0"/>
                <a:ea typeface="Times New Roman" charset="0"/>
                <a:cs typeface="Times New Roman" charset="0"/>
              </a:rPr>
              <a:t>Mayas from southern Mexico</a:t>
            </a:r>
          </a:p>
          <a:p>
            <a:pPr lvl="1" eaLnBrk="1" hangingPunct="1"/>
            <a:r>
              <a:rPr lang="en-US" altLang="en-US" dirty="0">
                <a:solidFill>
                  <a:schemeClr val="tx1"/>
                </a:solidFill>
                <a:latin typeface="Times New Roman" charset="0"/>
                <a:ea typeface="Times New Roman" charset="0"/>
                <a:cs typeface="Times New Roman" charset="0"/>
              </a:rPr>
              <a:t>Demands related to land, but had broader vision</a:t>
            </a:r>
          </a:p>
          <a:p>
            <a:pPr lvl="1" eaLnBrk="1" hangingPunct="1"/>
            <a:r>
              <a:rPr lang="en-US" altLang="en-US" dirty="0">
                <a:solidFill>
                  <a:schemeClr val="tx1"/>
                </a:solidFill>
                <a:latin typeface="Times New Roman" charset="0"/>
                <a:ea typeface="Times New Roman" charset="0"/>
                <a:cs typeface="Times New Roman" charset="0"/>
              </a:rPr>
              <a:t>Subcomandante Marcos</a:t>
            </a:r>
          </a:p>
          <a:p>
            <a:pPr lvl="1" eaLnBrk="1" hangingPunct="1"/>
            <a:r>
              <a:rPr lang="en-US" altLang="en-US" dirty="0">
                <a:solidFill>
                  <a:schemeClr val="tx1"/>
                </a:solidFill>
                <a:latin typeface="Times New Roman" charset="0"/>
                <a:ea typeface="Times New Roman" charset="0"/>
                <a:cs typeface="Times New Roman" charset="0"/>
              </a:rPr>
              <a:t>Media-savvy</a:t>
            </a:r>
          </a:p>
          <a:p>
            <a:pPr lvl="1" eaLnBrk="1" hangingPunct="1"/>
            <a:r>
              <a:rPr lang="en-US" altLang="en-US" dirty="0">
                <a:solidFill>
                  <a:schemeClr val="tx1"/>
                </a:solidFill>
                <a:latin typeface="Times New Roman" charset="0"/>
                <a:ea typeface="Times New Roman" charset="0"/>
                <a:cs typeface="Times New Roman" charset="0"/>
              </a:rPr>
              <a:t>Government armed anti-insurgent militias.</a:t>
            </a:r>
          </a:p>
          <a:p>
            <a:pPr lvl="1" eaLnBrk="1" hangingPunct="1"/>
            <a:r>
              <a:rPr lang="en-US" altLang="en-US" dirty="0">
                <a:solidFill>
                  <a:schemeClr val="tx1"/>
                </a:solidFill>
                <a:latin typeface="Times New Roman" charset="0"/>
                <a:ea typeface="Times New Roman" charset="0"/>
                <a:cs typeface="Times New Roman" charset="0"/>
              </a:rPr>
              <a:t>Support of Catholic Church in Chiapas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Colombia</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politics were often exceptional.</a:t>
            </a:r>
          </a:p>
          <a:p>
            <a:pPr marL="800100" lvl="1" indent="-457200" eaLnBrk="1" hangingPunct="1"/>
            <a:r>
              <a:rPr lang="en-US" altLang="en-US" dirty="0">
                <a:solidFill>
                  <a:schemeClr val="tx1"/>
                </a:solidFill>
                <a:latin typeface="Times New Roman" charset="0"/>
                <a:ea typeface="Times New Roman" charset="0"/>
                <a:cs typeface="Times New Roman" charset="0"/>
              </a:rPr>
              <a:t>Conservatives, rather than liberals, ruled during neocolonial period.</a:t>
            </a:r>
          </a:p>
          <a:p>
            <a:pPr marL="800100" lvl="1" indent="-457200" eaLnBrk="1" hangingPunct="1"/>
            <a:r>
              <a:rPr lang="en-US" altLang="en-US" dirty="0">
                <a:solidFill>
                  <a:schemeClr val="tx1"/>
                </a:solidFill>
                <a:latin typeface="Times New Roman" charset="0"/>
                <a:ea typeface="Times New Roman" charset="0"/>
                <a:cs typeface="Times New Roman" charset="0"/>
              </a:rPr>
              <a:t>Colombian military never ruled during the Cold War.</a:t>
            </a:r>
          </a:p>
          <a:p>
            <a:pPr marL="800100" lvl="1" indent="-457200" eaLnBrk="1" hangingPunct="1"/>
            <a:r>
              <a:rPr lang="en-US" altLang="en-US" dirty="0">
                <a:solidFill>
                  <a:schemeClr val="tx1"/>
                </a:solidFill>
                <a:latin typeface="Times New Roman" charset="0"/>
                <a:ea typeface="Times New Roman" charset="0"/>
                <a:cs typeface="Times New Roman" charset="0"/>
              </a:rPr>
              <a:t>Avoided debt and inflation in 1980s</a:t>
            </a:r>
          </a:p>
          <a:p>
            <a:pPr marL="800100" lvl="1" indent="-457200" eaLnBrk="1" hangingPunct="1"/>
            <a:r>
              <a:rPr lang="en-US" altLang="en-US" dirty="0">
                <a:solidFill>
                  <a:schemeClr val="tx1"/>
                </a:solidFill>
                <a:latin typeface="Times New Roman" charset="0"/>
                <a:ea typeface="Times New Roman" charset="0"/>
                <a:cs typeface="Times New Roman" charset="0"/>
              </a:rPr>
              <a:t>Guerrilla activity expanded in Colombia while ending elsewhere.</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
        <p:nvSpPr>
          <p:cNvPr id="84994"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Colombia</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Long Torment</a:t>
            </a:r>
            <a:endParaRPr lang="en-US" altLang="en-US" dirty="0">
              <a:solidFill>
                <a:schemeClr val="tx1"/>
              </a:solidFill>
              <a:latin typeface="Times New Roman" charset="0"/>
              <a:ea typeface="Times New Roman" charset="0"/>
              <a:cs typeface="Times New Roman"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Explosion of Violence</a:t>
            </a:r>
          </a:p>
        </p:txBody>
      </p:sp>
      <p:sp>
        <p:nvSpPr>
          <p:cNvPr id="87042"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Assassination of Jorge Eliécer Gaitán </a:t>
            </a:r>
          </a:p>
          <a:p>
            <a:pPr marL="800100" lvl="1" indent="-457200" eaLnBrk="1" hangingPunct="1"/>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La Violencia</a:t>
            </a:r>
            <a:r>
              <a:rPr lang="ja-JP" altLang="en-US">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marL="800100" lvl="1" indent="-457200" eaLnBrk="1" hangingPunct="1"/>
            <a:r>
              <a:rPr lang="en-US" altLang="en-US" dirty="0">
                <a:solidFill>
                  <a:schemeClr val="tx1"/>
                </a:solidFill>
                <a:latin typeface="Times New Roman" charset="0"/>
                <a:ea typeface="Times New Roman" charset="0"/>
                <a:cs typeface="Times New Roman" charset="0"/>
              </a:rPr>
              <a:t>Less politics, more socioeconomics</a:t>
            </a:r>
          </a:p>
          <a:p>
            <a:pPr marL="800100" lvl="1" indent="-457200" eaLnBrk="1" hangingPunct="1"/>
            <a:r>
              <a:rPr lang="en-US" altLang="en-US" dirty="0">
                <a:solidFill>
                  <a:schemeClr val="tx1"/>
                </a:solidFill>
                <a:latin typeface="Times New Roman" charset="0"/>
                <a:ea typeface="Times New Roman" charset="0"/>
                <a:cs typeface="Times New Roman" charset="0"/>
              </a:rPr>
              <a:t>Many fled the countryside for cities.</a:t>
            </a:r>
          </a:p>
          <a:p>
            <a:pPr marL="800100" lvl="1" indent="-457200" eaLnBrk="1" hangingPunct="1"/>
            <a:r>
              <a:rPr lang="en-US" altLang="en-US" dirty="0">
                <a:solidFill>
                  <a:schemeClr val="tx1"/>
                </a:solidFill>
                <a:latin typeface="Times New Roman" charset="0"/>
                <a:ea typeface="Times New Roman" charset="0"/>
                <a:cs typeface="Times New Roman" charset="0"/>
              </a:rPr>
              <a:t>Violence increased even in petty street crime.</a:t>
            </a:r>
          </a:p>
          <a:p>
            <a:pPr marL="800100" lvl="1" indent="-457200" eaLnBrk="1" hangingPunct="1"/>
            <a:r>
              <a:rPr lang="en-US" altLang="en-US" dirty="0">
                <a:solidFill>
                  <a:schemeClr val="tx1"/>
                </a:solidFill>
                <a:latin typeface="Times New Roman" charset="0"/>
                <a:ea typeface="Times New Roman" charset="0"/>
                <a:cs typeface="Times New Roman" charset="0"/>
              </a:rPr>
              <a:t>Death rates set records for a country not at war.</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Pablo Escobar</a:t>
            </a:r>
          </a:p>
        </p:txBody>
      </p:sp>
      <p:sp>
        <p:nvSpPr>
          <p:cNvPr id="89090"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Smuggled drugs to US</a:t>
            </a:r>
          </a:p>
          <a:p>
            <a:pPr marL="800100" lvl="1" indent="-457200" eaLnBrk="1" hangingPunct="1"/>
            <a:r>
              <a:rPr lang="en-US" altLang="en-US" dirty="0">
                <a:solidFill>
                  <a:schemeClr val="tx1"/>
                </a:solidFill>
                <a:latin typeface="Times New Roman" charset="0"/>
                <a:ea typeface="Times New Roman" charset="0"/>
                <a:cs typeface="Times New Roman" charset="0"/>
              </a:rPr>
              <a:t>Created mafia empire</a:t>
            </a:r>
          </a:p>
          <a:p>
            <a:pPr marL="800100" lvl="1" indent="-457200" eaLnBrk="1" hangingPunct="1"/>
            <a:r>
              <a:rPr lang="en-US" altLang="en-US" dirty="0">
                <a:solidFill>
                  <a:schemeClr val="tx1"/>
                </a:solidFill>
                <a:latin typeface="Times New Roman" charset="0"/>
                <a:ea typeface="Times New Roman" charset="0"/>
                <a:cs typeface="Times New Roman" charset="0"/>
              </a:rPr>
              <a:t>Medellín cartel</a:t>
            </a:r>
          </a:p>
          <a:p>
            <a:pPr marL="800100" lvl="1" indent="-457200" eaLnBrk="1" hangingPunct="1"/>
            <a:r>
              <a:rPr lang="en-US" altLang="en-US" dirty="0">
                <a:solidFill>
                  <a:schemeClr val="tx1"/>
                </a:solidFill>
                <a:latin typeface="Times New Roman" charset="0"/>
                <a:ea typeface="Times New Roman" charset="0"/>
                <a:cs typeface="Times New Roman" charset="0"/>
              </a:rPr>
              <a:t>Easy money added to violence</a:t>
            </a:r>
          </a:p>
          <a:p>
            <a:pPr marL="800100" lvl="1" indent="-457200" eaLnBrk="1" hangingPunct="1"/>
            <a:r>
              <a:rPr lang="en-US" altLang="en-US" dirty="0">
                <a:solidFill>
                  <a:schemeClr val="tx1"/>
                </a:solidFill>
                <a:latin typeface="Times New Roman" charset="0"/>
                <a:ea typeface="Times New Roman" charset="0"/>
                <a:cs typeface="Times New Roman" charset="0"/>
              </a:rPr>
              <a:t>Colombian-grown marijuana and cocaine</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Conflict Escalates</a:t>
            </a:r>
          </a:p>
        </p:txBody>
      </p:sp>
      <p:sp>
        <p:nvSpPr>
          <p:cNvPr id="9113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Rural guerrilla armies</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Born out of La Violencia</a:t>
            </a:r>
          </a:p>
          <a:p>
            <a:pPr lvl="2" eaLnBrk="1" hangingPunct="1"/>
            <a:r>
              <a:rPr lang="en-US" altLang="en-US" dirty="0">
                <a:latin typeface="Times New Roman" charset="0"/>
                <a:ea typeface="Times New Roman" charset="0"/>
                <a:cs typeface="Times New Roman" charset="0"/>
              </a:rPr>
              <a:t>FARC, ELN, and others</a:t>
            </a:r>
            <a:r>
              <a:rPr lang="en-US" altLang="en-US" dirty="0">
                <a:latin typeface="Calibri"/>
                <a:ea typeface="Times New Roman" charset="0"/>
                <a:cs typeface="Times New Roman" charset="0"/>
              </a:rPr>
              <a:t>—</a:t>
            </a:r>
            <a:r>
              <a:rPr lang="en-US" altLang="en-US" dirty="0">
                <a:latin typeface="Times New Roman" charset="0"/>
                <a:ea typeface="Times New Roman" charset="0"/>
                <a:cs typeface="Times New Roman" charset="0"/>
              </a:rPr>
              <a:t>Marxist revolutionaries </a:t>
            </a:r>
          </a:p>
          <a:p>
            <a:pPr lvl="2" eaLnBrk="1" hangingPunct="1"/>
            <a:r>
              <a:rPr lang="en-US" altLang="en-US" dirty="0">
                <a:latin typeface="Times New Roman" charset="0"/>
                <a:ea typeface="Times New Roman" charset="0"/>
                <a:cs typeface="Times New Roman" charset="0"/>
              </a:rPr>
              <a:t>Nineteenth of April Movement</a:t>
            </a:r>
          </a:p>
          <a:p>
            <a:pPr lvl="1" eaLnBrk="1" hangingPunct="1"/>
            <a:r>
              <a:rPr lang="en-US" altLang="en-US" dirty="0">
                <a:solidFill>
                  <a:schemeClr val="tx1"/>
                </a:solidFill>
                <a:latin typeface="Times New Roman" charset="0"/>
                <a:ea typeface="Times New Roman" charset="0"/>
                <a:cs typeface="Times New Roman" charset="0"/>
              </a:rPr>
              <a:t>Conflict escalates</a:t>
            </a:r>
          </a:p>
          <a:p>
            <a:pPr lvl="2" eaLnBrk="1" hangingPunct="1"/>
            <a:r>
              <a:rPr lang="en-US" altLang="en-US" dirty="0">
                <a:latin typeface="Times New Roman" charset="0"/>
                <a:ea typeface="Times New Roman" charset="0"/>
                <a:cs typeface="Times New Roman" charset="0"/>
              </a:rPr>
              <a:t>FARC and ELN force landowners to pay war taxes.</a:t>
            </a:r>
          </a:p>
          <a:p>
            <a:pPr lvl="2" eaLnBrk="1" hangingPunct="1"/>
            <a:r>
              <a:rPr lang="en-US" altLang="en-US" dirty="0">
                <a:latin typeface="Times New Roman" charset="0"/>
                <a:ea typeface="Times New Roman" charset="0"/>
                <a:cs typeface="Times New Roman" charset="0"/>
              </a:rPr>
              <a:t>Landowners create forces to fight guerrillas.</a:t>
            </a:r>
          </a:p>
          <a:p>
            <a:pPr lvl="2" eaLnBrk="1" hangingPunct="1"/>
            <a:r>
              <a:rPr lang="en-US" altLang="en-US" dirty="0">
                <a:latin typeface="Times New Roman" charset="0"/>
                <a:ea typeface="Times New Roman" charset="0"/>
                <a:cs typeface="Times New Roman" charset="0"/>
              </a:rPr>
              <a:t>Rural people were caught in the middle.</a:t>
            </a:r>
          </a:p>
          <a:p>
            <a:pPr lvl="2" eaLnBrk="1" hangingPunct="1"/>
            <a:r>
              <a:rPr lang="en-US" altLang="en-US" dirty="0">
                <a:latin typeface="Times New Roman" charset="0"/>
                <a:ea typeface="Times New Roman" charset="0"/>
                <a:cs typeface="Times New Roman" charset="0"/>
              </a:rPr>
              <a:t>Guerrillas turned to kidnapping for funds.</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End of Escobar</a:t>
            </a:r>
          </a:p>
        </p:txBody>
      </p:sp>
      <p:sp>
        <p:nvSpPr>
          <p:cNvPr id="9318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Narco-terrorism </a:t>
            </a:r>
          </a:p>
          <a:p>
            <a:pPr lvl="1" eaLnBrk="1" hangingPunct="1"/>
            <a:r>
              <a:rPr lang="en-US" altLang="en-US" dirty="0">
                <a:solidFill>
                  <a:schemeClr val="tx1"/>
                </a:solidFill>
                <a:latin typeface="Times New Roman" charset="0"/>
                <a:ea typeface="Times New Roman" charset="0"/>
                <a:cs typeface="Times New Roman" charset="0"/>
              </a:rPr>
              <a:t>Escobar offered surrender in exchange for non-extradition pledge.</a:t>
            </a:r>
          </a:p>
          <a:p>
            <a:pPr lvl="2" eaLnBrk="1" hangingPunct="1"/>
            <a:r>
              <a:rPr lang="en-US" altLang="en-US" dirty="0">
                <a:latin typeface="Times New Roman" charset="0"/>
                <a:ea typeface="Times New Roman" charset="0"/>
                <a:cs typeface="Times New Roman" charset="0"/>
              </a:rPr>
              <a:t>Deal made in 1991</a:t>
            </a:r>
          </a:p>
          <a:p>
            <a:pPr lvl="2" eaLnBrk="1" hangingPunct="1"/>
            <a:r>
              <a:rPr lang="en-US" altLang="en-US" dirty="0">
                <a:latin typeface="Times New Roman" charset="0"/>
                <a:ea typeface="Times New Roman" charset="0"/>
                <a:cs typeface="Times New Roman" charset="0"/>
              </a:rPr>
              <a:t>Escobar escaped prison, killed by police</a:t>
            </a:r>
          </a:p>
          <a:p>
            <a:pPr lvl="1" eaLnBrk="1" hangingPunct="1"/>
            <a:r>
              <a:rPr lang="en-US" altLang="en-US" dirty="0">
                <a:solidFill>
                  <a:schemeClr val="tx1"/>
                </a:solidFill>
                <a:latin typeface="Times New Roman" charset="0"/>
                <a:ea typeface="Times New Roman" charset="0"/>
                <a:cs typeface="Times New Roman" charset="0"/>
              </a:rPr>
              <a:t>Drug trade became a source of income for guerrillas.</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30F05E6-0F85-F136-C7F9-231D9A2D31F4}"/>
              </a:ext>
            </a:extLst>
          </p:cNvPr>
          <p:cNvSpPr>
            <a:spLocks noGrp="1"/>
          </p:cNvSpPr>
          <p:nvPr>
            <p:ph type="ctrTitle"/>
          </p:nvPr>
        </p:nvSpPr>
        <p:spPr>
          <a:xfrm>
            <a:off x="1160392" y="838200"/>
            <a:ext cx="6823213" cy="3143250"/>
          </a:xfrm>
        </p:spPr>
        <p:txBody>
          <a:bodyPr anchor="t">
            <a:normAutofit/>
          </a:bodyPr>
          <a:lstStyle/>
          <a:p>
            <a:r>
              <a:rPr lang="en-US" altLang="en-US" sz="3200" b="0" dirty="0">
                <a:latin typeface="Times New Roman" charset="0"/>
                <a:ea typeface="Times New Roman" charset="0"/>
                <a:cs typeface="Times New Roman" charset="0"/>
              </a:rPr>
              <a:t>This concludes the PowerPoint presentation for </a:t>
            </a:r>
            <a:br>
              <a:rPr lang="en-US" altLang="en-US" sz="3200" b="0" dirty="0">
                <a:latin typeface="Times New Roman" charset="0"/>
                <a:ea typeface="Times New Roman" charset="0"/>
                <a:cs typeface="Times New Roman" charset="0"/>
              </a:rPr>
            </a:br>
            <a:r>
              <a:rPr lang="en-US" altLang="en-US" sz="3200" b="1" dirty="0">
                <a:latin typeface="Times New Roman" charset="0"/>
                <a:ea typeface="Times New Roman" charset="0"/>
                <a:cs typeface="Times New Roman" charset="0"/>
              </a:rPr>
              <a:t>Chapter 10: </a:t>
            </a:r>
            <a:br>
              <a:rPr lang="en-US" altLang="en-US" sz="3200" b="1" dirty="0">
                <a:latin typeface="Times New Roman" charset="0"/>
                <a:ea typeface="Times New Roman" charset="0"/>
                <a:cs typeface="Times New Roman" charset="0"/>
              </a:rPr>
            </a:br>
            <a:r>
              <a:rPr lang="en-US" altLang="en-US" sz="3200" b="1" dirty="0">
                <a:latin typeface="Times New Roman" charset="0"/>
                <a:ea typeface="Times New Roman" charset="0"/>
                <a:cs typeface="Times New Roman" charset="0"/>
              </a:rPr>
              <a:t>Reaction</a:t>
            </a:r>
          </a:p>
        </p:txBody>
      </p:sp>
      <p:sp>
        <p:nvSpPr>
          <p:cNvPr id="5" name="Subtitle 2">
            <a:extLst>
              <a:ext uri="{FF2B5EF4-FFF2-40B4-BE49-F238E27FC236}">
                <a16:creationId xmlns:a16="http://schemas.microsoft.com/office/drawing/2014/main" id="{B8EB6891-7D7F-5F4C-77AA-B9DAAAB70DFF}"/>
              </a:ext>
            </a:extLst>
          </p:cNvPr>
          <p:cNvSpPr>
            <a:spLocks noGrp="1"/>
          </p:cNvSpPr>
          <p:nvPr>
            <p:ph type="subTitle" idx="1"/>
          </p:nvPr>
        </p:nvSpPr>
        <p:spPr>
          <a:xfrm>
            <a:off x="1565395" y="4572000"/>
            <a:ext cx="6013205" cy="1752600"/>
          </a:xfrm>
        </p:spPr>
        <p:txBody>
          <a:bodyPr>
            <a:normAutofit/>
          </a:bodyPr>
          <a:lstStyle/>
          <a:p>
            <a:r>
              <a:rPr lang="en-US" altLang="en-US" sz="2400" dirty="0">
                <a:solidFill>
                  <a:schemeClr val="tx1"/>
                </a:solidFill>
                <a:latin typeface="Times New Roman" charset="0"/>
                <a:ea typeface="Times New Roman" charset="0"/>
                <a:cs typeface="Times New Roman" charset="0"/>
              </a:rPr>
              <a:t>For additional resources, visit </a:t>
            </a:r>
            <a:r>
              <a:rPr lang="en-US" altLang="en-US" sz="2400" dirty="0">
                <a:latin typeface="Times New Roman" charset="0"/>
                <a:ea typeface="Times New Roman" charset="0"/>
                <a:cs typeface="Times New Roman" charset="0"/>
                <a:hlinkClick r:id="rId2"/>
              </a:rPr>
              <a:t>https://digital.wwnorton.com/bornfire5</a:t>
            </a:r>
            <a:endParaRPr lang="en-US" altLang="en-US"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2813379004"/>
      </p:ext>
    </p:extLst>
  </p:cSld>
  <p:clrMapOvr>
    <a:masterClrMapping/>
  </p:clrMapOvr>
</p:sld>
</file>

<file path=ppt/theme/theme1.xml><?xml version="1.0" encoding="utf-8"?>
<a:theme xmlns:a="http://schemas.openxmlformats.org/drawingml/2006/main" name="Chasteen_Ch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oc font">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D69AFE3D876FE4297EE28B5F70DC3F8" ma:contentTypeVersion="18" ma:contentTypeDescription="Create a new document." ma:contentTypeScope="" ma:versionID="24168822608d9d77dd2a031d1dc4320d">
  <xsd:schema xmlns:xsd="http://www.w3.org/2001/XMLSchema" xmlns:xs="http://www.w3.org/2001/XMLSchema" xmlns:p="http://schemas.microsoft.com/office/2006/metadata/properties" xmlns:ns2="d1c7c9a4-d043-4a67-96e5-2ff5b742a303" xmlns:ns3="9d64b6a7-e13d-4012-aff2-02bdd52222eb" targetNamespace="http://schemas.microsoft.com/office/2006/metadata/properties" ma:root="true" ma:fieldsID="974d88cf474a8c2222dc8cf659776bc2" ns2:_="" ns3:_="">
    <xsd:import namespace="d1c7c9a4-d043-4a67-96e5-2ff5b742a303"/>
    <xsd:import namespace="9d64b6a7-e13d-4012-aff2-02bdd52222e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c7c9a4-d043-4a67-96e5-2ff5b742a3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85876ee3-2b79-4d5d-9b03-6d8756831634"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64b6a7-e13d-4012-aff2-02bdd52222e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b26d98fc-0af3-417b-8254-413504fc40c8}" ma:internalName="TaxCatchAll" ma:showField="CatchAllData" ma:web="9d64b6a7-e13d-4012-aff2-02bdd52222e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1c7c9a4-d043-4a67-96e5-2ff5b742a303">
      <Terms xmlns="http://schemas.microsoft.com/office/infopath/2007/PartnerControls"/>
    </lcf76f155ced4ddcb4097134ff3c332f>
    <TaxCatchAll xmlns="9d64b6a7-e13d-4012-aff2-02bdd52222e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EA00A60-7951-42CA-9BED-346C0A6A2E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c7c9a4-d043-4a67-96e5-2ff5b742a303"/>
    <ds:schemaRef ds:uri="9d64b6a7-e13d-4012-aff2-02bdd52222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6BB8E85-261B-49BA-BF86-3655424DCA2F}">
  <ds:schemaRefs>
    <ds:schemaRef ds:uri="http://schemas.microsoft.com/office/infopath/2007/PartnerControls"/>
    <ds:schemaRef ds:uri="http://purl.org/dc/terms/"/>
    <ds:schemaRef ds:uri="http://www.w3.org/XML/1998/namespace"/>
    <ds:schemaRef ds:uri="http://schemas.microsoft.com/office/2006/documentManagement/types"/>
    <ds:schemaRef ds:uri="http://purl.org/dc/dcmitype/"/>
    <ds:schemaRef ds:uri="http://schemas.openxmlformats.org/package/2006/metadata/core-properties"/>
    <ds:schemaRef ds:uri="http://purl.org/dc/elements/1.1/"/>
    <ds:schemaRef ds:uri="9d64b6a7-e13d-4012-aff2-02bdd52222eb"/>
    <ds:schemaRef ds:uri="d1c7c9a4-d043-4a67-96e5-2ff5b742a303"/>
    <ds:schemaRef ds:uri="http://schemas.microsoft.com/office/2006/metadata/properties"/>
  </ds:schemaRefs>
</ds:datastoreItem>
</file>

<file path=customXml/itemProps3.xml><?xml version="1.0" encoding="utf-8"?>
<ds:datastoreItem xmlns:ds="http://schemas.openxmlformats.org/officeDocument/2006/customXml" ds:itemID="{81F7F02F-7ACF-4A48-B286-24BD0411A35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Chasteen_Ch2</Template>
  <TotalTime>1486</TotalTime>
  <Words>2242</Words>
  <Application>Microsoft Macintosh PowerPoint</Application>
  <PresentationFormat>On-screen Show (4:3)</PresentationFormat>
  <Paragraphs>372</Paragraphs>
  <Slides>46</Slides>
  <Notes>45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Arial Black</vt:lpstr>
      <vt:lpstr>Calibri</vt:lpstr>
      <vt:lpstr>Times New Roman</vt:lpstr>
      <vt:lpstr>Wingdings</vt:lpstr>
      <vt:lpstr>Chasteen_Ch2</vt:lpstr>
      <vt:lpstr>Born in Blood &amp; Fire A Concise History of Latin America 5th Edition</vt:lpstr>
      <vt:lpstr>Cuban Revolution</vt:lpstr>
      <vt:lpstr>Role of the Soviet Union</vt:lpstr>
      <vt:lpstr>Anticommunism</vt:lpstr>
      <vt:lpstr>Alliance for Progress</vt:lpstr>
      <vt:lpstr>Culture of Revolution</vt:lpstr>
      <vt:lpstr>Military Response</vt:lpstr>
      <vt:lpstr>National Security Doctrine</vt:lpstr>
      <vt:lpstr>The Brazilian Experience</vt:lpstr>
      <vt:lpstr>Military Rule in Brazil</vt:lpstr>
      <vt:lpstr>Revolutionary Response</vt:lpstr>
      <vt:lpstr>Industrial Development</vt:lpstr>
      <vt:lpstr>End of the Miracle</vt:lpstr>
      <vt:lpstr>Military Rule in Argentina</vt:lpstr>
      <vt:lpstr>The Military’s Agenda</vt:lpstr>
      <vt:lpstr>Argentina’s Dirty War</vt:lpstr>
      <vt:lpstr>Las Madres de la Plaza de Mayo</vt:lpstr>
      <vt:lpstr>Mothers of the Plaza de Mayo</vt:lpstr>
      <vt:lpstr>Military Rule in Uruguay</vt:lpstr>
      <vt:lpstr>Guerrilla Uprising</vt:lpstr>
      <vt:lpstr>The Communist Party of Chile</vt:lpstr>
      <vt:lpstr>Chilean Road to Socialism</vt:lpstr>
      <vt:lpstr>Military Coup</vt:lpstr>
      <vt:lpstr>The Chilean Coup</vt:lpstr>
      <vt:lpstr>The Peruvian Experience</vt:lpstr>
      <vt:lpstr>The Cuban Experience</vt:lpstr>
      <vt:lpstr>The Mexican Experience</vt:lpstr>
      <vt:lpstr>The Last Cold War Battles</vt:lpstr>
      <vt:lpstr>Revolution in Central America</vt:lpstr>
      <vt:lpstr>The Guatemalan Experience</vt:lpstr>
      <vt:lpstr>The Costa Rican Experience</vt:lpstr>
      <vt:lpstr>The Nicaraguan Experience</vt:lpstr>
      <vt:lpstr>Beginning of the Revolution</vt:lpstr>
      <vt:lpstr>Revolution (cont’d)</vt:lpstr>
      <vt:lpstr>The Situation in El Salvador</vt:lpstr>
      <vt:lpstr>Uprising in El Salvador</vt:lpstr>
      <vt:lpstr>Salvadoran Guerrilla</vt:lpstr>
      <vt:lpstr>Defeat of the Uprising</vt:lpstr>
      <vt:lpstr>Peru’s Shining Path </vt:lpstr>
      <vt:lpstr>Challenges: Zapatistas</vt:lpstr>
      <vt:lpstr>Colombia’s Long Torment</vt:lpstr>
      <vt:lpstr>Explosion of Violence</vt:lpstr>
      <vt:lpstr>Pablo Escobar</vt:lpstr>
      <vt:lpstr>Conflict Escalates</vt:lpstr>
      <vt:lpstr>End of Escobar</vt:lpstr>
      <vt:lpstr>This concludes the PowerPoint presentation for  Chapter 10:  Reaction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Born in Blood &amp; Fire</dc:title>
  <dc:creator>Rob</dc:creator>
  <cp:lastModifiedBy>Kopp, Katherine</cp:lastModifiedBy>
  <cp:revision>43</cp:revision>
  <dcterms:created xsi:type="dcterms:W3CDTF">2011-05-13T18:38:01Z</dcterms:created>
  <dcterms:modified xsi:type="dcterms:W3CDTF">2024-06-06T18:20:29Z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0x0101002D69AFE3D876FE4297EE28B5F70DC3F8</vt:lpwstr>
  </property>
</Properties>
</file>