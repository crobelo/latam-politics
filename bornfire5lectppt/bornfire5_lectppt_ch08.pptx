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7"/>
  </p:notesMasterIdLst>
  <p:sldIdLst>
    <p:sldId id="256" r:id="rId5"/>
    <p:sldId id="325" r:id="rId6"/>
    <p:sldId id="284" r:id="rId7"/>
    <p:sldId id="285" r:id="rId8"/>
    <p:sldId id="286" r:id="rId9"/>
    <p:sldId id="287" r:id="rId10"/>
    <p:sldId id="326" r:id="rId11"/>
    <p:sldId id="288" r:id="rId12"/>
    <p:sldId id="289" r:id="rId13"/>
    <p:sldId id="290" r:id="rId14"/>
    <p:sldId id="328" r:id="rId15"/>
    <p:sldId id="291" r:id="rId16"/>
    <p:sldId id="329" r:id="rId17"/>
    <p:sldId id="292" r:id="rId18"/>
    <p:sldId id="293" r:id="rId19"/>
    <p:sldId id="294" r:id="rId20"/>
    <p:sldId id="330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327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31" r:id="rId42"/>
    <p:sldId id="332" r:id="rId43"/>
    <p:sldId id="333" r:id="rId44"/>
    <p:sldId id="334" r:id="rId45"/>
    <p:sldId id="335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C7EE5-CE1F-2A4E-B4DF-22C1055B2392}" v="2" dt="2024-06-06T18:17:45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 autoAdjust="0"/>
    <p:restoredTop sz="77415"/>
  </p:normalViewPr>
  <p:slideViewPr>
    <p:cSldViewPr>
      <p:cViewPr varScale="1">
        <p:scale>
          <a:sx n="93" d="100"/>
          <a:sy n="93" d="100"/>
        </p:scale>
        <p:origin x="4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223FFC3D-737E-BE41-9FE9-C184A135BE59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68540BB8-3F7A-C343-A551-23FDF176A92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18946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292F2F4D-9A2B-CB40-B0DC-37BE5C54AC8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878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DISTRIBUTING ARMS.</a:t>
            </a:r>
            <a:r>
              <a:rPr lang="en-US" dirty="0"/>
              <a:t> Nationalist movements transformed Latin America in the mid-1900s. This mural, painted on the walls of Mexico’s Department of Public Education in 1928 by Diego Rivera, exemplifies the militant nationalist mood. Rivera depicted his wife, </a:t>
            </a:r>
            <a:r>
              <a:rPr lang="en-US" dirty="0" err="1"/>
              <a:t>Frida</a:t>
            </a:r>
            <a:r>
              <a:rPr lang="en-US" dirty="0"/>
              <a:t> Kahlo, among those distributing arms to Mexican revolutionaries. </a:t>
            </a:r>
            <a:r>
              <a:rPr lang="en-US" i="1" dirty="0"/>
              <a:t>© 2024 Banco de México Diego Rivera Frida Kahlo Museums Trust, Mexico, D.F. / Artists Rights Society (ARS), New York. Photo Credit: </a:t>
            </a:r>
            <a:r>
              <a:rPr lang="en-US" i="1" dirty="0" err="1"/>
              <a:t>Schalkwijk</a:t>
            </a:r>
            <a:r>
              <a:rPr lang="en-US" i="1" dirty="0"/>
              <a:t> / Art Resource, 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21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7A34A3B-C8AA-D34D-9AD6-EC6BF8B6F69D}" type="slidenum">
              <a:rPr lang="en-US" altLang="en-US">
                <a:latin typeface="Calibri" charset="0"/>
              </a:rPr>
              <a:pPr/>
              <a:t>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320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9BA55AE-1E63-BE49-9564-9DBE064C0E19}" type="slidenum">
              <a:rPr lang="en-US" altLang="en-US">
                <a:latin typeface="Calibri" charset="0"/>
              </a:rPr>
              <a:pPr/>
              <a:t>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7199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CE4F301-1BC6-1B4D-A505-F82BA2B6422C}" type="slidenum">
              <a:rPr lang="en-US" altLang="en-US">
                <a:latin typeface="Calibri" charset="0"/>
              </a:rPr>
              <a:pPr/>
              <a:t>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885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5BF1F11-F74C-C14E-905C-731ABBCC2E36}" type="slidenum">
              <a:rPr lang="en-US" altLang="en-US">
                <a:latin typeface="Calibri" charset="0"/>
              </a:rPr>
              <a:pPr/>
              <a:t>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52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BROWN PRIDE.</a:t>
            </a:r>
            <a:r>
              <a:rPr lang="en-US" dirty="0"/>
              <a:t> </a:t>
            </a:r>
            <a:r>
              <a:rPr lang="en-US" i="1" dirty="0"/>
              <a:t>The Coffee Grower </a:t>
            </a:r>
            <a:r>
              <a:rPr lang="en-US" dirty="0"/>
              <a:t>(1934) by the internationally recognized Brazilian painter </a:t>
            </a:r>
            <a:r>
              <a:rPr lang="en-US" dirty="0" err="1"/>
              <a:t>Cândido</a:t>
            </a:r>
            <a:r>
              <a:rPr lang="en-US" dirty="0"/>
              <a:t> </a:t>
            </a:r>
            <a:r>
              <a:rPr lang="en-US" dirty="0" err="1"/>
              <a:t>Portinari</a:t>
            </a:r>
            <a:r>
              <a:rPr lang="en-US" dirty="0"/>
              <a:t> is a confident and powerful figure in no need of whitening. Like many nationalists, </a:t>
            </a:r>
            <a:r>
              <a:rPr lang="en-US" dirty="0" err="1"/>
              <a:t>Portinari</a:t>
            </a:r>
            <a:r>
              <a:rPr lang="en-US" dirty="0"/>
              <a:t> artistically celebrated the dignity of the working class. </a:t>
            </a:r>
            <a:r>
              <a:rPr lang="en-US" i="1" dirty="0"/>
              <a:t>São Paulo Museum of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60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38FA7C0-DBEC-A544-B422-5D03DA6404A3}" type="slidenum">
              <a:rPr lang="en-US" altLang="en-US">
                <a:latin typeface="Calibri" charset="0"/>
              </a:rPr>
              <a:pPr/>
              <a:t>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637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4457513-25D2-0A4F-847B-7634BD3BCE38}" type="slidenum">
              <a:rPr lang="en-US" altLang="en-US">
                <a:latin typeface="Calibri" charset="0"/>
              </a:rPr>
              <a:pPr/>
              <a:t>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696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0C3C509-D886-F945-8A02-67BB39C1CD54}" type="slidenum">
              <a:rPr lang="en-US" altLang="en-US">
                <a:latin typeface="Calibri" charset="0"/>
              </a:rPr>
              <a:pPr/>
              <a:t>10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68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0C3C509-D886-F945-8A02-67BB39C1CD54}" type="slidenum">
              <a:rPr lang="en-US" altLang="en-US">
                <a:latin typeface="Calibri" charset="0"/>
              </a:rPr>
              <a:pPr/>
              <a:t>11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55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DF4AA0E-4B6D-8C48-9A7F-FAD9C2323F6F}" type="slidenum">
              <a:rPr lang="en-US" altLang="en-US">
                <a:latin typeface="Calibri" charset="0"/>
              </a:rPr>
              <a:pPr/>
              <a:t>12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070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DF4AA0E-4B6D-8C48-9A7F-FAD9C2323F6F}" type="slidenum">
              <a:rPr lang="en-US" altLang="en-US">
                <a:latin typeface="Calibri" charset="0"/>
              </a:rPr>
              <a:pPr/>
              <a:t>13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997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139C134-C741-4444-9F27-C809346C171D}" type="slidenum">
              <a:rPr lang="en-US" altLang="en-US">
                <a:latin typeface="Calibri" charset="0"/>
              </a:rPr>
              <a:pPr/>
              <a:t>14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674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A0B7491-15FC-7843-88AD-6122BFBD4B98}" type="slidenum">
              <a:rPr lang="en-US" altLang="en-US">
                <a:latin typeface="Calibri" charset="0"/>
              </a:rPr>
              <a:pPr/>
              <a:t>15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81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A231FB1-E269-B940-980E-340ED4D06837}" type="slidenum">
              <a:rPr lang="en-US" altLang="en-US">
                <a:latin typeface="Calibri" charset="0"/>
              </a:rPr>
              <a:pPr/>
              <a:t>16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407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A231FB1-E269-B940-980E-340ED4D06837}" type="slidenum">
              <a:rPr lang="en-US" altLang="en-US">
                <a:latin typeface="Calibri" charset="0"/>
              </a:rPr>
              <a:pPr/>
              <a:t>17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079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6CA8B1A-B696-8749-BC96-1A75318D32B8}" type="slidenum">
              <a:rPr lang="en-US" altLang="en-US">
                <a:latin typeface="Calibri" charset="0"/>
              </a:rPr>
              <a:pPr/>
              <a:t>18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8351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DE39AE4-CF5F-1845-BECC-210075A136FD}" type="slidenum">
              <a:rPr lang="en-US" altLang="en-US">
                <a:latin typeface="Calibri" charset="0"/>
              </a:rPr>
              <a:pPr/>
              <a:t>19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055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F31B39C-DCF2-E949-8273-A79D3E940DA2}" type="slidenum">
              <a:rPr lang="en-US" altLang="en-US">
                <a:latin typeface="Calibri" charset="0"/>
              </a:rPr>
              <a:pPr/>
              <a:t>20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1882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B09E7632-D950-0F4C-BE6B-EDD181C0F88B}" type="slidenum">
              <a:rPr lang="en-US" altLang="en-US">
                <a:latin typeface="Calibri" charset="0"/>
              </a:rPr>
              <a:pPr/>
              <a:t>21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3998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1DE02B8-76D1-954A-A257-D4A8F59D4361}" type="slidenum">
              <a:rPr lang="en-US" altLang="en-US">
                <a:latin typeface="Calibri" charset="0"/>
              </a:rPr>
              <a:pPr/>
              <a:t>22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1968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067CB8D-3374-C043-A73E-B1F1AEC261B8}" type="slidenum">
              <a:rPr lang="en-US" altLang="en-US">
                <a:latin typeface="Calibri" charset="0"/>
              </a:rPr>
              <a:pPr/>
              <a:t>23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93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6D0F35EA-ECDF-2549-A64C-5ABAE37F48D7}" type="slidenum">
              <a:rPr lang="en-US" altLang="en-US">
                <a:latin typeface="Calibri" charset="0"/>
              </a:rPr>
              <a:pPr/>
              <a:t>24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20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EF59698C-B98D-A246-8ACF-AD7A4E136498}" type="slidenum">
              <a:rPr lang="en-US" altLang="en-US">
                <a:latin typeface="Calibri" charset="0"/>
              </a:rPr>
              <a:pPr/>
              <a:t>25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7917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GETÚLIO VARGAS</a:t>
            </a:r>
            <a:r>
              <a:rPr lang="en-US" dirty="0"/>
              <a:t>. Between 1930 and 1945, Vargas ruled Brazil as a revolutionary, then as constitutional president, and finally, as dictator. In 1951, he was elected for a final, truncated term. </a:t>
            </a:r>
            <a:r>
              <a:rPr lang="en-US" i="1" dirty="0"/>
              <a:t>Leonard </a:t>
            </a:r>
            <a:r>
              <a:rPr lang="en-US" i="1" dirty="0" err="1"/>
              <a:t>Mccombe</a:t>
            </a:r>
            <a:r>
              <a:rPr lang="en-US" i="1" dirty="0"/>
              <a:t>/The LIFE Images Collection/Getty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69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96C1F66-9F63-3C4B-A668-20854D0EBAA6}" type="slidenum">
              <a:rPr lang="en-US" altLang="en-US">
                <a:latin typeface="Calibri" charset="0"/>
              </a:rPr>
              <a:pPr/>
              <a:t>27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0951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C871D60-05D6-2E4C-BE5A-3E50A35CE43A}" type="slidenum">
              <a:rPr lang="en-US" altLang="en-US">
                <a:latin typeface="Calibri" charset="0"/>
              </a:rPr>
              <a:pPr/>
              <a:t>28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400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144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144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A02C5DD-ACF0-6C4F-8075-B9C5CC7E60A1}" type="slidenum">
              <a:rPr lang="en-US" altLang="en-US">
                <a:latin typeface="Calibri" charset="0"/>
              </a:rPr>
              <a:pPr/>
              <a:t>29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7143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34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34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5503041-DB94-A446-A0E4-FF13952C56CF}" type="slidenum">
              <a:rPr lang="en-US" altLang="en-US">
                <a:latin typeface="Calibri" charset="0"/>
              </a:rPr>
              <a:pPr/>
              <a:t>30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2935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10913B3-C583-0343-9396-F34C771856A5}" type="slidenum">
              <a:rPr lang="en-US" altLang="en-US">
                <a:latin typeface="Calibri" charset="0"/>
              </a:rPr>
              <a:pPr/>
              <a:t>31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8752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75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75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2DB460EB-5508-C44C-8764-E15B92400D63}" type="slidenum">
              <a:rPr lang="en-US" altLang="en-US">
                <a:latin typeface="Calibri" charset="0"/>
              </a:rPr>
              <a:pPr/>
              <a:t>32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899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696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D45FC975-1F58-514C-996C-CD559EBF3A66}" type="slidenum">
              <a:rPr lang="en-US" altLang="en-US">
                <a:latin typeface="Calibri" charset="0"/>
              </a:rPr>
              <a:pPr/>
              <a:t>33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041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16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D3B7C99-4568-A745-833B-7782F7A9826C}" type="slidenum">
              <a:rPr lang="en-US" altLang="en-US">
                <a:latin typeface="Calibri" charset="0"/>
              </a:rPr>
              <a:pPr/>
              <a:t>34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0965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37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F6578EC0-7A63-DB49-9E0D-754E2C559E13}" type="slidenum">
              <a:rPr lang="en-US" altLang="en-US">
                <a:latin typeface="Calibri" charset="0"/>
              </a:rPr>
              <a:pPr/>
              <a:t>35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2602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57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57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6503C5F-6F72-114C-886F-676E4DBCC92A}" type="slidenum">
              <a:rPr lang="en-US" altLang="en-US">
                <a:latin typeface="Calibri" charset="0"/>
              </a:rPr>
              <a:pPr/>
              <a:t>36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6849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9EE912-3C2A-A64E-9284-D656A03D62E4}" type="slidenum">
              <a:rPr lang="en-US" altLang="en-US">
                <a:latin typeface="Calibri" charset="0"/>
              </a:rPr>
              <a:pPr/>
              <a:t>37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6347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9EE912-3C2A-A64E-9284-D656A03D62E4}" type="slidenum">
              <a:rPr lang="en-US" altLang="en-US">
                <a:latin typeface="Calibri" charset="0"/>
              </a:rPr>
              <a:pPr/>
              <a:t>38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5386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9EE912-3C2A-A64E-9284-D656A03D62E4}" type="slidenum">
              <a:rPr lang="en-US" altLang="en-US">
                <a:latin typeface="Calibri" charset="0"/>
              </a:rPr>
              <a:pPr/>
              <a:t>39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885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9EE912-3C2A-A64E-9284-D656A03D62E4}" type="slidenum">
              <a:rPr lang="en-US" altLang="en-US">
                <a:latin typeface="Calibri" charset="0"/>
              </a:rPr>
              <a:pPr/>
              <a:t>40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016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78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79EE912-3C2A-A64E-9284-D656A03D62E4}" type="slidenum">
              <a:rPr lang="en-US" altLang="en-US">
                <a:latin typeface="Calibri" charset="0"/>
              </a:rPr>
              <a:pPr/>
              <a:t>41</a:t>
            </a:fld>
            <a:endParaRPr lang="en-US" alt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327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1E607-9780-BD41-8C5B-24D02FB77F95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08F3F-527C-EC4B-B714-B5C0DBA57C7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6150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indent="0">
              <a:buFont typeface="Wingdings" pitchFamily="2" charset="2"/>
              <a:buNone/>
              <a:defRPr/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9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2337F-E40F-5043-91A0-850FC9DB220B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90E562-9B30-E248-BF3E-F35598F4F3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858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DB07C2-5F38-C34B-80DE-261CA7B89E3E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D657B7-3268-F149-AAC8-C062658C32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996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F6720-E735-FB4C-B99B-7F7C71E6C390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2B4A0-D03F-E640-BE3F-02C51D3B78D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3457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8DE13-2F2F-FB4C-B52C-32D5BA853EB1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0C423-06DF-9A45-83CC-A31015E7D33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852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48223-F4DC-474A-A460-419F93FBC102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0033F-43C7-1A48-9F48-BD2A04F506F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5503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66EF-12AE-C242-9BA2-1E4903EE02F5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F7C50-E86B-654C-96BF-A439A857DA4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25559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0BC3A-D61A-834E-BFA2-44DADBE58394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9981C-8AF6-154C-810D-9A81BC386CA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404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B1160-CA97-4941-8DCE-D96B8562AFA2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F8C26-9FDF-A541-88E5-899C2C6AB51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276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5B85-FDAD-4D49-A847-918AB49B87FF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8DBA9-CF24-5544-932D-17D6CC6586E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95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 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7BFF1A3-BB63-F149-BDDA-FEF2DC4EB54A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03A261A-F833-4A44-AF19-5187E54EE6F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0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−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.wwnorton.com/bornfire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5" descr="Cover: Born in Blood and Fire, A concise history of Latin America, by John Charles Chasteen. The cover image shows a crowded place with people doing various activities and a few guards with weapons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9300" y="0"/>
            <a:ext cx="4584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431D351-4D8B-97D3-0470-250B14CD4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14375"/>
            <a:ext cx="3981450" cy="157162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  <a:t>Born in Blood &amp; Fire</a:t>
            </a:r>
            <a:b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A Concise History of Latin America</a:t>
            </a:r>
            <a:b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altLang="en-US" sz="2000" baseline="30000" dirty="0"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 Edition</a:t>
            </a:r>
            <a:endParaRPr lang="en-US" alt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80E0-A6AE-2542-BD8F-D7BB61D4E455}"/>
              </a:ext>
            </a:extLst>
          </p:cNvPr>
          <p:cNvSpPr txBox="1">
            <a:spLocks/>
          </p:cNvSpPr>
          <p:nvPr/>
        </p:nvSpPr>
        <p:spPr bwMode="auto">
          <a:xfrm>
            <a:off x="745529" y="2286000"/>
            <a:ext cx="3252391" cy="385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By</a:t>
            </a:r>
          </a:p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John Charles Chasteen</a:t>
            </a:r>
          </a:p>
          <a:p>
            <a:pPr marL="0" indent="0" algn="ctr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Chapter 8:</a:t>
            </a: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Nationalism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ural of Frida Kahlo, holding knives in one hand and a rifle in the other hand. A line of men, holding rifles and knives, walk past her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62" y="990600"/>
            <a:ext cx="6619875" cy="529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57D1AAB-ACCC-B87A-57B0-EE57924E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Distributing Arms</a:t>
            </a:r>
          </a:p>
        </p:txBody>
      </p:sp>
    </p:spTree>
    <p:extLst>
      <p:ext uri="{BB962C8B-B14F-4D97-AF65-F5344CB8AC3E}">
        <p14:creationId xmlns:p14="http://schemas.microsoft.com/office/powerpoint/2010/main" val="339468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American nations were defined by internal diversity.</a:t>
            </a:r>
          </a:p>
          <a:p>
            <a:pPr marL="1085850" lvl="2" indent="-3429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Transculturation</a:t>
            </a:r>
          </a:p>
          <a:p>
            <a:pPr marL="1085850" lvl="2" indent="-3429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Racial mixing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Europeans associated this diversity with negatives.</a:t>
            </a:r>
          </a:p>
          <a:p>
            <a:pPr marL="1085850" lvl="2" indent="-3429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Nativism challenged this attitude.</a:t>
            </a:r>
          </a:p>
          <a:p>
            <a:pPr marL="1085850" lvl="2" indent="-3429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Nativism faded after independence.</a:t>
            </a:r>
          </a:p>
          <a:p>
            <a:pPr marL="1085850" lvl="2" indent="-342900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Nativism reemerged during foreign interventions.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Internal Diversity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Who Were Nationalists?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New nationalism was another wave of nativism with a strong economic agenda.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Who were nationalists?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Often urban, middle class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Mixed-race or recent immigrants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Benefitted less than landowners from export boom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Challenging European Culture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challenged the superiority of European culture.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Reinterpretation of racial/cultural difference as positive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Use of local cultural forms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Critique of foreign intervention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Military intervention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Economic power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Ethnic Nationalism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Differs from US 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civic nationalism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Employs signs of ethnic identity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Celebrates racial mixing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Nicolás Guillén (Cuba) &amp; Euclides da Cunha (Brazil)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Writers use indigenous, African descended themes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Alejo Carpentier (Cuba)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Ciro Alegría (Peru)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Miguel Ángel Asturias (Guatemala)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ainting of a muscular man standing in a cultivated field, leaning against a shovel. A train passes in the backgroun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846810"/>
            <a:ext cx="4419600" cy="55803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F1502E1-5DE5-F6BA-6C7A-E94D1B208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The Coffee Grower</a:t>
            </a:r>
          </a:p>
        </p:txBody>
      </p:sp>
    </p:spTree>
    <p:extLst>
      <p:ext uri="{BB962C8B-B14F-4D97-AF65-F5344CB8AC3E}">
        <p14:creationId xmlns:p14="http://schemas.microsoft.com/office/powerpoint/2010/main" val="160338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Nationalists Take Power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Porfirio Díaz had ruled for 34 years by 1910.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Mexican Revolution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Francisco Madero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Emiliano Zapata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Pancho Villa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Constitutionalists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Third movement along with Villa and Zapata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Urban, middle class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Drafted new constitution in 1917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Article 27 of constitution 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Article 123 of constitution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More typical of Latin American nationalists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Considered 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winners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of revolution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Constitution of 1917 (1/2)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Reclaims oil rights from foreign companies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Paved way for villages to recover ejidos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Distribution of land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Labor regulations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Constitution of 1917 (2/2)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Limited privileges of foreigners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Curbed Catholic church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Defeated Villa and Zapata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Fought off Catholic 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Cristero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rebellion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Created single-party system</a:t>
            </a:r>
          </a:p>
        </p:txBody>
      </p:sp>
    </p:spTree>
    <p:extLst>
      <p:ext uri="{BB962C8B-B14F-4D97-AF65-F5344CB8AC3E}">
        <p14:creationId xmlns:p14="http://schemas.microsoft.com/office/powerpoint/2010/main" val="1605498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Effects of Revolution (1/2)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Revolution was transformative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Created new loyalties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Occupied a central space in the national imagination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Two US interventions added nationalist luster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Effects of Revolution (2/2)</a:t>
            </a: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New government initiatives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Road initiative decreases isolation of rural areas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Land redistribution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Public education initiative reduced illiteracy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José Vasconcelos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440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Revolutionary Nationalism</a:t>
            </a: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Artists Diego Rivera and Frida Kahlo illustrate revolutionary nationalism.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Indigenous past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Cultural symbols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was en vogue in the 1920s</a:t>
            </a:r>
            <a:r>
              <a:rPr lang="en-US" altLang="en-US" dirty="0">
                <a:solidFill>
                  <a:schemeClr val="tx1"/>
                </a:solidFill>
                <a:latin typeface="Calibri"/>
                <a:ea typeface="Times New Roman" charset="0"/>
                <a:cs typeface="Times New Roman" charset="0"/>
              </a:rPr>
              <a:t>–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1930s.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nationalist movement had Marxist overtones.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Taking Power in Uruguay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Export boom rivaled Argentina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Ruled through managed elections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José Batlle y </a:t>
            </a:r>
            <a:r>
              <a:rPr lang="en-US" altLang="en-US" dirty="0" err="1">
                <a:latin typeface="Times New Roman" charset="0"/>
                <a:ea typeface="Times New Roman" charset="0"/>
                <a:cs typeface="Times New Roman" charset="0"/>
              </a:rPr>
              <a:t>Ordóñez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 </a:t>
            </a:r>
            <a:endParaRPr lang="en-US" altLang="en-US" sz="2000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3" eaLnBrk="1" hangingPunct="1"/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Country</a:t>
            </a:r>
            <a:r>
              <a:rPr lang="ja-JP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great nationalist reformer </a:t>
            </a:r>
          </a:p>
          <a:p>
            <a:pPr lvl="3" eaLnBrk="1" hangingPunct="1"/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Vanquished political rivals</a:t>
            </a:r>
          </a:p>
          <a:p>
            <a:pPr lvl="3" eaLnBrk="1" hangingPunct="1"/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Broad support among immigrant working and middle 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Batllismo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(1/2)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Civic and economic nationalism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State action against 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foreign economic imperialism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Hemisphere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first welfare state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Relied on prosperity to sustain reforms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Batllismo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(2/2)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Left rural Uruguay largely untouched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Aggressively anticlerical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Tried to abolish presidency for council</a:t>
            </a:r>
          </a:p>
          <a:p>
            <a:pPr lvl="1" eaLnBrk="1" hangingPunct="1"/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Civil caudillo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84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Taking Power in Argentina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Argentina</a:t>
            </a:r>
            <a:r>
              <a:rPr lang="en-US" altLang="en-US" dirty="0">
                <a:solidFill>
                  <a:schemeClr val="tx1"/>
                </a:solidFill>
                <a:latin typeface="Calibri"/>
                <a:ea typeface="Times New Roman" charset="0"/>
                <a:cs typeface="Times New Roman" charset="0"/>
              </a:rPr>
              <a:t>—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Hipólito Yrigoyen</a:t>
            </a:r>
          </a:p>
          <a:p>
            <a:pPr marL="800100" lvl="1" indent="-457200" eaLnBrk="1" hangingPunct="1"/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Revolution of the ballot box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(1916)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Man of the people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Rejected European and US initiatives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Repressed labor action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Returned to power in 1928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Taking Power in Peru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Peru</a:t>
            </a:r>
            <a:r>
              <a:rPr lang="en-US" altLang="en-US" dirty="0">
                <a:solidFill>
                  <a:schemeClr val="tx1"/>
                </a:solidFill>
                <a:latin typeface="Calibri"/>
                <a:ea typeface="Times New Roman" charset="0"/>
                <a:cs typeface="Times New Roman" charset="0"/>
              </a:rPr>
              <a:t>—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Víctor Raúl Haya de la Torre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Exiled for protesting US-backed dictatorship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Influenced by Mexican Revolution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Popular American Revolutionary Alliance (APRA)</a:t>
            </a:r>
          </a:p>
          <a:p>
            <a:pPr marL="800100" lvl="1" indent="-457200" eaLnBrk="1" hangingPunct="1"/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Indo-America</a:t>
            </a:r>
            <a:r>
              <a:rPr lang="ja-JP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instead of Latin America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Indigenismo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APRA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Ciro Alegría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Nationalist Influence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Nationalists influential even when kept from power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Colombia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Nationalists tried to outflank conservative client networks.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Jorge Eliécer Gaitán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Venezuela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Oil money kept leaders entrenched.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Outreach by communist or socialist activists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in Chile and Cuba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Chile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Thirteen-day 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Socialist Republic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Nationalists prevented the consolidation of government.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Cuba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Broad nationalist coalition ousted a neocolonial dictator.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Students and noncommissioned army officers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Fulgencio Batista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839200" cy="4525963"/>
          </a:xfrm>
        </p:spPr>
        <p:txBody>
          <a:bodyPr/>
          <a:lstStyle/>
          <a:p>
            <a:pPr marL="342900" lvl="1" indent="0" eaLnBrk="1" hangingPunct="1">
              <a:buFont typeface="Arial" charset="0"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Import Substitution Industrialization (ISI)</a:t>
            </a:r>
          </a:p>
          <a:p>
            <a:pPr marL="685800" lvl="1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Depression = international trade collapses</a:t>
            </a:r>
          </a:p>
          <a:p>
            <a:pPr marL="685800" lvl="1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American manufacturers fill void left by collapsed trade.</a:t>
            </a:r>
          </a:p>
          <a:p>
            <a:pPr marL="685800" lvl="1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Began during trade disruption during World War I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ISI and Activist Governments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Industrialization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Industrialization central to nationalism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Economic activism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State ownership of banks, utilities, key industries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Largest markets benefitted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Smaller markets didn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’t see much industrialization.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Light industry vs. heavy industry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Brazilian Economy</a:t>
            </a: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Industry surpassed agriculture.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Getúlio Vargas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Oligarchic republic begins collapse in the 1920s.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Young army officers</a:t>
            </a:r>
            <a:r>
              <a:rPr lang="en-US" altLang="en-US" dirty="0">
                <a:solidFill>
                  <a:schemeClr val="tx1"/>
                </a:solidFill>
                <a:latin typeface="Calibri"/>
                <a:ea typeface="Times New Roman" charset="0"/>
                <a:cs typeface="Times New Roman" charset="0"/>
              </a:rPr>
              <a:t>—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Tenentes</a:t>
            </a:r>
            <a:r>
              <a:rPr lang="en-US" altLang="en-US" dirty="0">
                <a:solidFill>
                  <a:schemeClr val="tx1"/>
                </a:solidFill>
                <a:latin typeface="Calibri"/>
                <a:ea typeface="Times New Roman" charset="0"/>
                <a:cs typeface="Times New Roman" charset="0"/>
              </a:rPr>
              <a:t>—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stage symbolic uprisings.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Coffee industry is in crisis from overproduction. </a:t>
            </a:r>
          </a:p>
          <a:p>
            <a:pPr lvl="3" eaLnBrk="1" hangingPunct="1"/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Brazil’s Revolution of 1930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2" indent="-342900" eaLnBrk="1" hangingPunct="1">
              <a:buFont typeface="Arial" pitchFamily="34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Vargas was governor of non-coffee state.</a:t>
            </a:r>
          </a:p>
          <a:p>
            <a:pPr marL="800100" lvl="2" indent="-342900" eaLnBrk="1" hangingPunct="1">
              <a:buFont typeface="Arial" pitchFamily="34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Candidate from coffee-producing São Paulo won managed election.</a:t>
            </a:r>
          </a:p>
          <a:p>
            <a:pPr marL="800100" lvl="2" indent="-342900" eaLnBrk="1" hangingPunct="1">
              <a:buFont typeface="Arial" pitchFamily="34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Opposition forces gather to dispute result.</a:t>
            </a:r>
          </a:p>
          <a:p>
            <a:pPr marL="800100" lvl="2" indent="-342900" eaLnBrk="1" hangingPunct="1">
              <a:buFont typeface="Arial" pitchFamily="34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Vargas takes presidency with support of army.</a:t>
            </a:r>
          </a:p>
          <a:p>
            <a:pPr marL="800100" lvl="2" indent="-342900" eaLnBrk="1" hangingPunct="1">
              <a:buFont typeface="Arial" pitchFamily="34" charset="0"/>
              <a:buChar char="•"/>
            </a:pPr>
            <a:r>
              <a:rPr lang="en-US" altLang="en-US" sz="2800" dirty="0">
                <a:latin typeface="Times New Roman" charset="0"/>
                <a:ea typeface="Times New Roman" charset="0"/>
                <a:cs typeface="Times New Roman" charset="0"/>
              </a:rPr>
              <a:t>Brought together diverse political movements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Young </a:t>
            </a:r>
            <a:r>
              <a:rPr lang="en-US" altLang="en-US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Tenentes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absorb radical ideologies.</a:t>
            </a:r>
          </a:p>
          <a:p>
            <a:pPr lvl="2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-and-white photograph of Getúlio Vargas, dressed in a suit and glasses and holding a cigar while smiling.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18" y="914400"/>
            <a:ext cx="4164963" cy="5360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51D1CB22-018A-1BFD-DE90-DD2ACDD39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 err="1">
                <a:latin typeface="Times New Roman" charset="0"/>
                <a:ea typeface="Times New Roman" charset="0"/>
                <a:cs typeface="Times New Roman" charset="0"/>
              </a:rPr>
              <a:t>Getúlio</a:t>
            </a:r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 Vargas</a:t>
            </a:r>
          </a:p>
        </p:txBody>
      </p:sp>
    </p:spTree>
    <p:extLst>
      <p:ext uri="{BB962C8B-B14F-4D97-AF65-F5344CB8AC3E}">
        <p14:creationId xmlns:p14="http://schemas.microsoft.com/office/powerpoint/2010/main" val="1199324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Vargas Presidency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Ruled more-or-less constitutionally for seven years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Played political factions against each other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Took dictatorial power in 1937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Announced </a:t>
            </a:r>
            <a:r>
              <a:rPr lang="en-US" altLang="en-US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Estado Novo 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(New State)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helped maintain his popularity.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Brazilian Culture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Promotion of Afro-Brazilian heritage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Gilberto Freyre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Samba became Brazil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national dance.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Carmen Miranda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São Paulo Modern Art Week, 1922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Heitor Villa-Lobos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Oswald de Andrade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Jorge Amado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Politics of Vargas</a:t>
            </a: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Placing Vargas on the left-right spectrum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Organized labor unions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Protected workers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Paternalistic</a:t>
            </a:r>
            <a:r>
              <a:rPr lang="en-US" altLang="en-US" dirty="0">
                <a:latin typeface="Calibri"/>
                <a:ea typeface="Times New Roman" charset="0"/>
                <a:cs typeface="Times New Roman" charset="0"/>
              </a:rPr>
              <a:t>—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no worker control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Lázaro Cárdenas in Mexico</a:t>
            </a:r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Humble beginnings, unlike Vargas or FDR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Fought in the Revolution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Governor of Michoacán, his home state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Ran unopposed for Revolutionary Party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Distributed nearly 45 million acres of land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Mexican Government and Labor</a:t>
            </a:r>
          </a:p>
        </p:txBody>
      </p:sp>
      <p:sp>
        <p:nvSpPr>
          <p:cNvPr id="645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Supported labor, defended right to strike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Led to major international confrontation in 1938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Strikers employed by US, British companies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Companies and strikers submitted to Mexican government for arbitration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Cárdenas expropriated the oil companies under Article 27.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Britain cut off diplomatic relations.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FDR’s “Good Neighbor Policy”</a:t>
            </a:r>
          </a:p>
        </p:txBody>
      </p:sp>
      <p:sp>
        <p:nvSpPr>
          <p:cNvPr id="665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Need for Latin American allies in unstable 1930s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1933, Pan-American Conference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US forswears intervention in Latin America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Cuba and Panama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Rise of 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Good Neighbor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movies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Carmen Miranda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Disney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Three Caballeros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World War II</a:t>
            </a:r>
          </a:p>
        </p:txBody>
      </p:sp>
      <p:sp>
        <p:nvSpPr>
          <p:cNvPr id="686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 and the United States were allies.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Central American, Caribbean countries first to join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Chile and Argentina aloof, Brazil was greatest ally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Mexican fighter pilots flew in the Pacific.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War spurred ISI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US demand for agricultural exports increased.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United States and Europe were unable to produce industrial goods.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Demand up and competition low 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in 1945</a:t>
            </a:r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 cultural shift had taken place.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Rivera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murals in Mexico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government buildings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Acclaim for Afro-Brazilian samba dancers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Carlos Gardel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Gabriela Mistral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Many things remained unchanged.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Central America was virtually untouched by nationalism.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Guatemala and El Salvador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Guatemala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German coffee growers had no interest in developing the country.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Jorge Ubico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United Fruit Company becomes the single dominant economic enterprise.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El Salvador 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worst-case scenario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Dictator Maximiliano Hernández Martínez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Indigenous Salvadorans gave up signs of identity.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Stopping the Rise of Nationalism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United States stopped nationalism in Central America and Caribbean.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Batista in Cuba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Several rulers owed power to US intervention.</a:t>
            </a:r>
          </a:p>
          <a:p>
            <a:pPr lvl="3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Anastasio Somoza of Nicaragua</a:t>
            </a:r>
          </a:p>
          <a:p>
            <a:pPr lvl="3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Trujillo of Dominican Republic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in Practice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Rhetoric often outran reality in nationalist countries.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Racism lingered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Urbanization created shantytowns.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Most rural areas saw no improvements.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Latin American countries remained technologically behind Europe and United States. 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Populist Leaders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 populist politician addresses the poor and lower-middle-class voter.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Folksy style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Paternalism (“father knows best”)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Critical of oligarchy and imperialism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Confusion about whether they are left- or right-wing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Populism in Peru and Ecuador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Victor Raúl Haya de la Torre (Peru)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Failed run for presidency in 1932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Cultural pride and nationalism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Called communist by Peruvian elites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Criticized by Peruvian communists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José María Velasco Ibarra (Ecuador)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“National Personification”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Elected five times during 1930s–1960s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Expelled by army before ending any of his terms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45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Populist Leaders in Colombia and Mexico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Jorge </a:t>
            </a:r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Eliécer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Gaitán (Colombia)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Emphasized poor upbringing and early humiliations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Dark mestizo coloring</a:t>
            </a:r>
          </a:p>
          <a:p>
            <a:pPr lvl="2" eaLnBrk="1" hangingPunct="1"/>
            <a:r>
              <a:rPr lang="en-US" altLang="en-US" i="1" dirty="0" err="1">
                <a:latin typeface="Times New Roman" charset="0"/>
                <a:ea typeface="Times New Roman" charset="0"/>
                <a:cs typeface="Times New Roman" charset="0"/>
              </a:rPr>
              <a:t>Bogotazo</a:t>
            </a:r>
            <a:endParaRPr lang="en-US" altLang="en-US" i="1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Lázaro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Cárdenas (Mexico)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Reenergized institutional revolution in 1930s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Grassroots campaigner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Traveled around Mexico listening to grievances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381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Populist Leaders in Brazil and Argentina</a:t>
            </a:r>
          </a:p>
        </p:txBody>
      </p:sp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Getúlio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Vargas (Brazil)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Estado Novo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Pro-labor rhetoric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</a:t>
            </a:r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ritical of Communist Party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“Father of the Poor”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Evita and Juan Perón (Argentina)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Loyalty of Argentine workers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Famous smile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“Third position”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64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0F05E6-0F85-F136-C7F9-231D9A2D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92" y="838200"/>
            <a:ext cx="6823213" cy="3143250"/>
          </a:xfrm>
        </p:spPr>
        <p:txBody>
          <a:bodyPr anchor="t">
            <a:normAutofit/>
          </a:bodyPr>
          <a:lstStyle/>
          <a:p>
            <a: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  <a:t>This concludes the PowerPoint presentation for </a:t>
            </a:r>
            <a:b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Chapter 8: </a:t>
            </a:r>
            <a:b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Nationalism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EB6891-7D7F-5F4C-77AA-B9DAAAB7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395" y="4572000"/>
            <a:ext cx="6013205" cy="17526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For additional resources, visit </a:t>
            </a:r>
            <a:r>
              <a:rPr lang="en-US" altLang="en-US" sz="2400" dirty="0">
                <a:latin typeface="Times New Roman" charset="0"/>
                <a:ea typeface="Times New Roman" charset="0"/>
                <a:cs typeface="Times New Roman" charset="0"/>
                <a:hlinkClick r:id="rId2"/>
              </a:rPr>
              <a:t>https://digital.wwnorton.com/bornfire5</a:t>
            </a:r>
            <a:endParaRPr lang="en-US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79004"/>
      </p:ext>
    </p:extLst>
  </p:cSld>
  <p:clrMapOvr>
    <a:masterClrMapping/>
  </p:clrMapOvr>
</p:sld>
</file>

<file path=ppt/theme/theme1.xml><?xml version="1.0" encoding="utf-8"?>
<a:theme xmlns:a="http://schemas.openxmlformats.org/drawingml/2006/main" name="Chasteen_Ch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c fon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9AFE3D876FE4297EE28B5F70DC3F8" ma:contentTypeVersion="18" ma:contentTypeDescription="Create a new document." ma:contentTypeScope="" ma:versionID="24168822608d9d77dd2a031d1dc4320d">
  <xsd:schema xmlns:xsd="http://www.w3.org/2001/XMLSchema" xmlns:xs="http://www.w3.org/2001/XMLSchema" xmlns:p="http://schemas.microsoft.com/office/2006/metadata/properties" xmlns:ns2="d1c7c9a4-d043-4a67-96e5-2ff5b742a303" xmlns:ns3="9d64b6a7-e13d-4012-aff2-02bdd52222eb" targetNamespace="http://schemas.microsoft.com/office/2006/metadata/properties" ma:root="true" ma:fieldsID="974d88cf474a8c2222dc8cf659776bc2" ns2:_="" ns3:_="">
    <xsd:import namespace="d1c7c9a4-d043-4a67-96e5-2ff5b742a303"/>
    <xsd:import namespace="9d64b6a7-e13d-4012-aff2-02bdd52222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7c9a4-d043-4a67-96e5-2ff5b742a3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5876ee3-2b79-4d5d-9b03-6d87568316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4b6a7-e13d-4012-aff2-02bdd52222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26d98fc-0af3-417b-8254-413504fc40c8}" ma:internalName="TaxCatchAll" ma:showField="CatchAllData" ma:web="9d64b6a7-e13d-4012-aff2-02bdd52222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c7c9a4-d043-4a67-96e5-2ff5b742a303">
      <Terms xmlns="http://schemas.microsoft.com/office/infopath/2007/PartnerControls"/>
    </lcf76f155ced4ddcb4097134ff3c332f>
    <TaxCatchAll xmlns="9d64b6a7-e13d-4012-aff2-02bdd52222e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A4203B-6F55-4F62-8182-1FC7F152E9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7c9a4-d043-4a67-96e5-2ff5b742a303"/>
    <ds:schemaRef ds:uri="9d64b6a7-e13d-4012-aff2-02bdd522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4C9005-8F37-46A3-A9E6-4A49B0FE9981}">
  <ds:schemaRefs>
    <ds:schemaRef ds:uri="d1c7c9a4-d043-4a67-96e5-2ff5b742a303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9d64b6a7-e13d-4012-aff2-02bdd52222eb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A2F65E-A8F6-456D-8636-E1F0CD1B32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Chasteen_Ch2</Template>
  <TotalTime>5021</TotalTime>
  <Words>1669</Words>
  <Application>Microsoft Macintosh PowerPoint</Application>
  <PresentationFormat>On-screen Show (4:3)</PresentationFormat>
  <Paragraphs>320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Arial Black</vt:lpstr>
      <vt:lpstr>Calibri</vt:lpstr>
      <vt:lpstr>Times New Roman</vt:lpstr>
      <vt:lpstr>Wingdings</vt:lpstr>
      <vt:lpstr>Chasteen_Ch2</vt:lpstr>
      <vt:lpstr>Born in Blood &amp; Fire A Concise History of Latin America 5th Edition</vt:lpstr>
      <vt:lpstr>Distributing Arms</vt:lpstr>
      <vt:lpstr>Internal Diversity</vt:lpstr>
      <vt:lpstr>Who Were Nationalists?</vt:lpstr>
      <vt:lpstr>Challenging European Culture</vt:lpstr>
      <vt:lpstr>Ethnic Nationalism</vt:lpstr>
      <vt:lpstr>The Coffee Grower</vt:lpstr>
      <vt:lpstr>Nationalists Take Power</vt:lpstr>
      <vt:lpstr>Constitutionalists</vt:lpstr>
      <vt:lpstr>Constitution of 1917 (1/2)</vt:lpstr>
      <vt:lpstr>Constitution of 1917 (2/2)</vt:lpstr>
      <vt:lpstr>Effects of Revolution (1/2)</vt:lpstr>
      <vt:lpstr>Effects of Revolution (2/2)</vt:lpstr>
      <vt:lpstr>Revolutionary Nationalism</vt:lpstr>
      <vt:lpstr>Taking Power in Uruguay</vt:lpstr>
      <vt:lpstr>Batllismo (1/2)</vt:lpstr>
      <vt:lpstr>Batllismo (2/2)</vt:lpstr>
      <vt:lpstr>Taking Power in Argentina</vt:lpstr>
      <vt:lpstr>Taking Power in Peru</vt:lpstr>
      <vt:lpstr>Nationalist Influence</vt:lpstr>
      <vt:lpstr>Nationalism in Chile and Cuba</vt:lpstr>
      <vt:lpstr>ISI and Activist Governments</vt:lpstr>
      <vt:lpstr>Industrialization</vt:lpstr>
      <vt:lpstr>Brazilian Economy</vt:lpstr>
      <vt:lpstr>Brazil’s Revolution of 1930</vt:lpstr>
      <vt:lpstr>Getúlio Vargas</vt:lpstr>
      <vt:lpstr>Vargas Presidency</vt:lpstr>
      <vt:lpstr>Brazilian Culture</vt:lpstr>
      <vt:lpstr>Politics of Vargas</vt:lpstr>
      <vt:lpstr>Lázaro Cárdenas in Mexico</vt:lpstr>
      <vt:lpstr>Mexican Government and Labor</vt:lpstr>
      <vt:lpstr>FDR’s “Good Neighbor Policy”</vt:lpstr>
      <vt:lpstr>World War II</vt:lpstr>
      <vt:lpstr>Nationalism in 1945</vt:lpstr>
      <vt:lpstr>Guatemala and El Salvador</vt:lpstr>
      <vt:lpstr>Stopping the Rise of Nationalism</vt:lpstr>
      <vt:lpstr>Nationalism in Practice</vt:lpstr>
      <vt:lpstr>Populist Leaders</vt:lpstr>
      <vt:lpstr>Populism in Peru and Ecuador</vt:lpstr>
      <vt:lpstr>Populist Leaders in Colombia and Mexico</vt:lpstr>
      <vt:lpstr>Populist Leaders in Brazil and Argentina</vt:lpstr>
      <vt:lpstr>This concludes the PowerPoint presentation for  Chapter 8:  Nationalism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in Blood &amp; Fire</dc:title>
  <dc:creator>Rob</dc:creator>
  <cp:lastModifiedBy>Kopp, Katherine</cp:lastModifiedBy>
  <cp:revision>52</cp:revision>
  <dcterms:created xsi:type="dcterms:W3CDTF">2011-05-16T14:18:56Z</dcterms:created>
  <dcterms:modified xsi:type="dcterms:W3CDTF">2024-06-06T18:18:27Z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0x0101002D69AFE3D876FE4297EE28B5F70DC3F8</vt:lpwstr>
  </property>
</Properties>
</file>