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302" r:id="rId6"/>
    <p:sldId id="258" r:id="rId7"/>
    <p:sldId id="259" r:id="rId8"/>
    <p:sldId id="260" r:id="rId9"/>
    <p:sldId id="261" r:id="rId10"/>
    <p:sldId id="306" r:id="rId11"/>
    <p:sldId id="307" r:id="rId12"/>
    <p:sldId id="308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6F8D38-322C-4E49-8ECB-145A4DFF9749}" v="2" dt="2024-06-06T18:09:39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659"/>
    <p:restoredTop sz="75510" autoAdjust="0"/>
  </p:normalViewPr>
  <p:slideViewPr>
    <p:cSldViewPr>
      <p:cViewPr varScale="1">
        <p:scale>
          <a:sx n="84" d="100"/>
          <a:sy n="84" d="100"/>
        </p:scale>
        <p:origin x="199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pp, Katherine" userId="8975c588-54e8-41b7-a546-07e477ad4a5d" providerId="ADAL" clId="{B76F8D38-322C-4E49-8ECB-145A4DFF9749}"/>
    <pc:docChg chg="modSld">
      <pc:chgData name="Kopp, Katherine" userId="8975c588-54e8-41b7-a546-07e477ad4a5d" providerId="ADAL" clId="{B76F8D38-322C-4E49-8ECB-145A4DFF9749}" dt="2024-06-06T18:30:28.625" v="7" actId="962"/>
      <pc:docMkLst>
        <pc:docMk/>
      </pc:docMkLst>
      <pc:sldChg chg="modSp mod">
        <pc:chgData name="Kopp, Katherine" userId="8975c588-54e8-41b7-a546-07e477ad4a5d" providerId="ADAL" clId="{B76F8D38-322C-4E49-8ECB-145A4DFF9749}" dt="2024-06-06T18:30:28.625" v="7" actId="962"/>
        <pc:sldMkLst>
          <pc:docMk/>
          <pc:sldMk cId="149422484" sldId="302"/>
        </pc:sldMkLst>
        <pc:picChg chg="mod">
          <ac:chgData name="Kopp, Katherine" userId="8975c588-54e8-41b7-a546-07e477ad4a5d" providerId="ADAL" clId="{B76F8D38-322C-4E49-8ECB-145A4DFF9749}" dt="2024-06-06T18:30:28.625" v="7" actId="962"/>
          <ac:picMkLst>
            <pc:docMk/>
            <pc:sldMk cId="149422484" sldId="302"/>
            <ac:picMk id="7" creationId="{DB77F200-6A14-1324-8219-1229DEA7D8A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B1C5FDE3-0D94-914C-A90A-CA802DCF07CE}" type="datetime1">
              <a:rPr lang="en-US" altLang="en-US"/>
              <a:pPr>
                <a:defRPr/>
              </a:pPr>
              <a:t>5/8/2025</a:t>
            </a:fld>
            <a:endParaRPr lang="en-US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F9E97AAA-88B5-C040-8989-817335FC6EED}" type="slidenum">
              <a:rPr lang="en-US" altLang="en-US"/>
              <a:pPr>
                <a:defRPr/>
              </a:pPr>
              <a:t>‹Nº›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95744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292F2F4D-9A2B-CB40-B0DC-37BE5C54AC80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8878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i="0"/>
              <a:t>MODERN LATIN AMERICA.</a:t>
            </a:r>
            <a:endParaRPr lang="en-US" b="1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CDF101-C185-844F-9839-0B79CB8E1A4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05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0C549597-1E79-084A-BA32-8A101A0CA159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3524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10CCE250-BFAB-544D-A334-330DFEF3C24B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48972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D25EB79D-AF73-DD48-A5B1-38930DC9A589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70933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8C3BB5E5-5487-9442-9670-45BBE069C10A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20588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8C3BB5E5-5487-9442-9670-45BBE069C10A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24911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8C3BB5E5-5487-9442-9670-45BBE069C10A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792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8C3BB5E5-5487-9442-9670-45BBE069C10A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49489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4CEA08-9955-AD43-8093-B42BFEFC7399}" type="datetime1">
              <a:rPr lang="en-US" altLang="en-US"/>
              <a:pPr>
                <a:defRPr/>
              </a:pPr>
              <a:t>5/8/2025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AE5DE-1F7C-2F44-B2E7-C805405503D7}" type="slidenum">
              <a:rPr lang="en-US" altLang="en-US"/>
              <a:pPr>
                <a:defRPr/>
              </a:pPr>
              <a:t>‹Nº›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1674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indent="0">
              <a:buFont typeface="Wingdings" pitchFamily="2" charset="2"/>
              <a:buNone/>
              <a:defRPr/>
            </a:lvl1pPr>
            <a:lvl2pPr>
              <a:defRPr>
                <a:solidFill>
                  <a:schemeClr val="accent2">
                    <a:lumMod val="75000"/>
                  </a:schemeClr>
                </a:solidFill>
              </a:defRPr>
            </a:lvl2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47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931C6-57B8-F949-84D5-9A64B5246FD9}" type="datetime1">
              <a:rPr lang="en-US" altLang="en-US"/>
              <a:pPr>
                <a:defRPr/>
              </a:pPr>
              <a:t>5/8/2025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092A8-8C66-854F-9214-D3FB2224470C}" type="slidenum">
              <a:rPr lang="en-US" altLang="en-US"/>
              <a:pPr>
                <a:defRPr/>
              </a:pPr>
              <a:t>‹Nº›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2770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A162A1-E013-2A4F-A367-78F523A1BB07}" type="datetime1">
              <a:rPr lang="en-US" altLang="en-US"/>
              <a:pPr>
                <a:defRPr/>
              </a:pPr>
              <a:t>5/8/2025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B5076C-4875-E240-B5D6-7AD4203B741E}" type="slidenum">
              <a:rPr lang="en-US" altLang="en-US"/>
              <a:pPr>
                <a:defRPr/>
              </a:pPr>
              <a:t>‹Nº›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30618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CA5A8-41AC-0B47-8D8D-F4C6A8C41424}" type="datetime1">
              <a:rPr lang="en-US" altLang="en-US"/>
              <a:pPr>
                <a:defRPr/>
              </a:pPr>
              <a:t>5/8/2025</a:t>
            </a:fld>
            <a:endParaRPr lang="en-US" alt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AE6EF-3A0C-7344-8D53-C57115127131}" type="slidenum">
              <a:rPr lang="en-US" altLang="en-US"/>
              <a:pPr>
                <a:defRPr/>
              </a:pPr>
              <a:t>‹Nº›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53005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5D81E-CDF3-6F44-BDA8-EC63BAD74F00}" type="datetime1">
              <a:rPr lang="en-US" altLang="en-US"/>
              <a:pPr>
                <a:defRPr/>
              </a:pPr>
              <a:t>5/8/2025</a:t>
            </a:fld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CDFAC-2278-C44B-B472-3C13DD3F0E2F}" type="slidenum">
              <a:rPr lang="en-US" altLang="en-US"/>
              <a:pPr>
                <a:defRPr/>
              </a:pPr>
              <a:t>‹Nº›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25814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2AE6FF-E954-C34A-AADB-F02B4FFC0699}" type="datetime1">
              <a:rPr lang="en-US" altLang="en-US"/>
              <a:pPr>
                <a:defRPr/>
              </a:pPr>
              <a:t>5/8/2025</a:t>
            </a:fld>
            <a:endParaRPr lang="en-US" alt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894A55-FEBF-D045-AB58-D0A0EA79E271}" type="slidenum">
              <a:rPr lang="en-US" altLang="en-US"/>
              <a:pPr>
                <a:defRPr/>
              </a:pPr>
              <a:t>‹Nº›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63049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E4B75-74DE-BE4F-9F86-365C917249FC}" type="datetime1">
              <a:rPr lang="en-US" altLang="en-US"/>
              <a:pPr>
                <a:defRPr/>
              </a:pPr>
              <a:t>5/8/2025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1E109-E141-EF4B-B1BF-A9B974FE13CD}" type="slidenum">
              <a:rPr lang="en-US" altLang="en-US"/>
              <a:pPr>
                <a:defRPr/>
              </a:pPr>
              <a:t>‹Nº›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2121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41837-46D5-604E-8426-9F4975C7CB0B}" type="datetime1">
              <a:rPr lang="en-US" altLang="en-US"/>
              <a:pPr>
                <a:defRPr/>
              </a:pPr>
              <a:t>5/8/2025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D5E17D-ACDB-1E44-873E-24B02E002CA6}" type="slidenum">
              <a:rPr lang="en-US" altLang="en-US"/>
              <a:pPr>
                <a:defRPr/>
              </a:pPr>
              <a:t>‹Nº›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0127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601094-349F-DE45-B100-CE4D5EF57ED0}" type="datetime1">
              <a:rPr lang="en-US" altLang="en-US"/>
              <a:pPr>
                <a:defRPr/>
              </a:pPr>
              <a:t>5/8/2025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227342-124A-344E-A294-C8B10D732703}" type="slidenum">
              <a:rPr lang="en-US" altLang="en-US"/>
              <a:pPr>
                <a:defRPr/>
              </a:pPr>
              <a:t>‹Nº›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4251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D97DFD-DA1F-C74F-BA16-BBEB0BDAA5FB}" type="datetime1">
              <a:rPr lang="en-US" altLang="en-US"/>
              <a:pPr>
                <a:defRPr/>
              </a:pPr>
              <a:t>5/8/2025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A550B2-B136-A74C-B153-3D712785BC59}" type="slidenum">
              <a:rPr lang="en-US" altLang="en-US"/>
              <a:pPr>
                <a:defRPr/>
              </a:pPr>
              <a:t>‹Nº›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82916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 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13DF1DA-6147-6944-BBD0-C7566465E699}" type="datetime1">
              <a:rPr lang="en-US" altLang="en-US"/>
              <a:pPr>
                <a:defRPr/>
              </a:pPr>
              <a:t>5/8/2025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100C30D-4E3B-DD4E-B16C-0C834A51A20D}" type="slidenum">
              <a:rPr lang="en-US" altLang="en-US"/>
              <a:pPr>
                <a:defRPr/>
              </a:pPr>
              <a:t>‹Nº›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1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−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/>
          <p:cNvSpPr>
            <a:spLocks noGrp="1"/>
          </p:cNvSpPr>
          <p:nvPr>
            <p:ph type="ctrTitle"/>
          </p:nvPr>
        </p:nvSpPr>
        <p:spPr>
          <a:xfrm>
            <a:off x="381000" y="714375"/>
            <a:ext cx="3981450" cy="1571625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latin typeface="Times New Roman" charset="0"/>
                <a:ea typeface="Times New Roman" charset="0"/>
                <a:cs typeface="Times New Roman" charset="0"/>
              </a:rPr>
              <a:t>Born in Blood &amp; Fire</a:t>
            </a:r>
            <a:br>
              <a:rPr lang="en-US" altLang="en-US" sz="2800" b="1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altLang="en-US" sz="2000" dirty="0">
                <a:latin typeface="Times New Roman" charset="0"/>
                <a:ea typeface="Times New Roman" charset="0"/>
                <a:cs typeface="Times New Roman" charset="0"/>
              </a:rPr>
              <a:t>A Concise History of Latin America</a:t>
            </a:r>
            <a:br>
              <a:rPr lang="en-US" altLang="en-US" sz="2000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altLang="en-US" sz="2000" dirty="0">
                <a:latin typeface="Times New Roman" charset="0"/>
                <a:ea typeface="Times New Roman" charset="0"/>
                <a:cs typeface="Times New Roman" charset="0"/>
              </a:rPr>
              <a:t>5</a:t>
            </a:r>
            <a:r>
              <a:rPr lang="en-US" altLang="en-US" sz="2000" baseline="30000" dirty="0">
                <a:latin typeface="Times New Roman" charset="0"/>
                <a:ea typeface="Times New Roman" charset="0"/>
                <a:cs typeface="Times New Roman" charset="0"/>
              </a:rPr>
              <a:t>th</a:t>
            </a:r>
            <a:r>
              <a:rPr lang="en-US" altLang="en-US" sz="2000" dirty="0">
                <a:latin typeface="Times New Roman" charset="0"/>
                <a:ea typeface="Times New Roman" charset="0"/>
                <a:cs typeface="Times New Roman" charset="0"/>
              </a:rPr>
              <a:t> Edition</a:t>
            </a:r>
            <a:endParaRPr lang="en-US" altLang="en-US" sz="28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" name="Text Placeholder 9"/>
          <p:cNvSpPr>
            <a:spLocks noGrp="1"/>
          </p:cNvSpPr>
          <p:nvPr>
            <p:ph type="body" sz="half" idx="4294967295"/>
          </p:nvPr>
        </p:nvSpPr>
        <p:spPr>
          <a:xfrm>
            <a:off x="867569" y="2286000"/>
            <a:ext cx="3008312" cy="3857626"/>
          </a:xfrm>
        </p:spPr>
        <p:txBody>
          <a:bodyPr/>
          <a:lstStyle/>
          <a:p>
            <a:pPr marL="0" indent="0" algn="ctr" eaLnBrk="1" hangingPunct="1"/>
            <a:r>
              <a:rPr lang="en-US" altLang="en-US" sz="1800" dirty="0">
                <a:latin typeface="Times New Roman" charset="0"/>
                <a:ea typeface="Times New Roman" charset="0"/>
                <a:cs typeface="Times New Roman" charset="0"/>
              </a:rPr>
              <a:t>By</a:t>
            </a:r>
          </a:p>
          <a:p>
            <a:pPr marL="0" indent="0" algn="ctr" eaLnBrk="1" hangingPunct="1"/>
            <a:r>
              <a:rPr lang="en-US" altLang="en-US" sz="1800" dirty="0">
                <a:latin typeface="Times New Roman" charset="0"/>
                <a:ea typeface="Times New Roman" charset="0"/>
                <a:cs typeface="Times New Roman" charset="0"/>
              </a:rPr>
              <a:t>John Charles Chasteen</a:t>
            </a:r>
          </a:p>
          <a:p>
            <a:pPr marL="0" indent="0" algn="ctr" eaLnBrk="1" hangingPunct="1"/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Chapter 1:</a:t>
            </a:r>
          </a:p>
          <a:p>
            <a:pPr marL="0" indent="0" algn="ctr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Welcome to Latin America</a:t>
            </a:r>
          </a:p>
        </p:txBody>
      </p:sp>
      <p:pic>
        <p:nvPicPr>
          <p:cNvPr id="13316" name="Picture 5" descr="Cover: Born in Blood and Fire, A concise history of Latin America, by John Charles Chasteen. The cover image shows a crowded place with people doing various activities and a few guards with weapons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96063" y="0"/>
            <a:ext cx="458082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>
            <a:extLst>
              <a:ext uri="{FF2B5EF4-FFF2-40B4-BE49-F238E27FC236}">
                <a16:creationId xmlns:a16="http://schemas.microsoft.com/office/drawing/2014/main" id="{D2599F0D-F203-1D50-EC3E-D5FEC93DD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3657600" cy="11430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latin typeface="Times New Roman" charset="0"/>
                <a:ea typeface="Times New Roman" charset="0"/>
                <a:cs typeface="Times New Roman" charset="0"/>
              </a:rPr>
              <a:t>Modern Latin America</a:t>
            </a:r>
          </a:p>
        </p:txBody>
      </p:sp>
      <p:pic>
        <p:nvPicPr>
          <p:cNvPr id="7" name="Picture 6" descr="A map of modern Latin America illustrates the current borders and the capital cities and major cities of most countries. The countries and their cities listed are as follows: Cuba with Havana; Haiti; Dominican Republic with Santo Domingo; Puerto Rico; Jamaica; Mexico with Mexico City; Guatemala with Guatemala City; Honduras with Tegucigalpa; El Salvador with San Salvador; Nicaragua with Managua; Costa Rica with Santa Fe; Panama with Panama City; Venezuela with Caracas; Columbia with Bogotá; Ecuador with Quito; Guyana; Suriname; French Guiana; Peru with Lima and Cuzco; Bolivia with La Paz; Brazil with Recife, Salvador or Bahia, Brasilia, Rio de Janeiro, and São Paulo; Paraguay with Asunción; Chile with Santiago; Argentina with Buenos Aires; Uruguay with Montevideo. The Amazon River flows through northern Brazil and eastern Peru.">
            <a:extLst>
              <a:ext uri="{FF2B5EF4-FFF2-40B4-BE49-F238E27FC236}">
                <a16:creationId xmlns:a16="http://schemas.microsoft.com/office/drawing/2014/main" id="{DB77F200-6A14-1324-8219-1229DEA7D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679561" cy="6858000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3A04739-1D4A-ABC0-1C39-C76944F2BF7D}"/>
              </a:ext>
            </a:extLst>
          </p:cNvPr>
          <p:cNvSpPr txBox="1">
            <a:spLocks/>
          </p:cNvSpPr>
          <p:nvPr/>
        </p:nvSpPr>
        <p:spPr>
          <a:xfrm>
            <a:off x="4679560" y="1600200"/>
            <a:ext cx="4464440" cy="4525963"/>
          </a:xfrm>
          <a:prstGeom prst="rect">
            <a:avLst/>
          </a:prstGeom>
        </p:spPr>
        <p:txBody>
          <a:bodyPr rtlCol="0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2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−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9775" indent="-396875">
              <a:buFont typeface="Arial" pitchFamily="34" charset="0"/>
              <a:buChar char="•"/>
            </a:pPr>
            <a:r>
              <a:rPr lang="en-US" sz="2800">
                <a:latin typeface="Times New Roman" charset="0"/>
                <a:ea typeface="Times New Roman" charset="0"/>
                <a:cs typeface="Times New Roman" charset="0"/>
              </a:rPr>
              <a:t>Deep roots in indigenous cultures</a:t>
            </a:r>
          </a:p>
          <a:p>
            <a:pPr marL="739775" indent="-396875">
              <a:buFont typeface="Arial" pitchFamily="34" charset="0"/>
              <a:buChar char="•"/>
            </a:pPr>
            <a:r>
              <a:rPr lang="en-US" sz="2800">
                <a:latin typeface="Times New Roman" charset="0"/>
                <a:ea typeface="Times New Roman" charset="0"/>
                <a:cs typeface="Times New Roman" charset="0"/>
              </a:rPr>
              <a:t>Nine out of ten people speak a European language.</a:t>
            </a:r>
          </a:p>
          <a:p>
            <a:pPr marL="739775" indent="-396875">
              <a:buFont typeface="Arial" pitchFamily="34" charset="0"/>
              <a:buChar char="•"/>
            </a:pPr>
            <a:r>
              <a:rPr lang="en-US" sz="2800">
                <a:latin typeface="Times New Roman" charset="0"/>
                <a:ea typeface="Times New Roman" charset="0"/>
                <a:cs typeface="Times New Roman" charset="0"/>
              </a:rPr>
              <a:t>Largest population of Roman Catholics live in Latin America</a:t>
            </a:r>
            <a:endParaRPr lang="en-US" sz="28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22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Climate</a:t>
            </a: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Many countries are located in the tropics.</a:t>
            </a:r>
          </a:p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Higher altitudes help to calm the heat.</a:t>
            </a:r>
          </a:p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“Southern Cone” of South America (Chile, Argentina, and Uruguay) lies outside of the tropics. </a:t>
            </a:r>
          </a:p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The southern tip is a land of glaciers and Antarctic influences.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46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3" y="252844"/>
            <a:ext cx="4000647" cy="1708242"/>
          </a:xfrm>
        </p:spPr>
        <p:txBody>
          <a:bodyPr rtlCol="0" anchor="ctr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>
                <a:latin typeface="Times New Roman" charset="0"/>
                <a:ea typeface="Times New Roman" charset="0"/>
                <a:cs typeface="Times New Roman" charset="0"/>
              </a:rPr>
              <a:t>Standard of Living</a:t>
            </a:r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0" y="2133600"/>
            <a:ext cx="4914747" cy="3769835"/>
          </a:xfrm>
        </p:spPr>
        <p:txBody>
          <a:bodyPr anchor="ctr">
            <a:noAutofit/>
          </a:bodyPr>
          <a:lstStyle/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Large income inequality exists throughout the region.</a:t>
            </a:r>
          </a:p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Many Latin Americans live and work in the cities. </a:t>
            </a:r>
          </a:p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Southern Cone countries hold higher rankings in social development than most of Latin America.</a:t>
            </a:r>
          </a:p>
        </p:txBody>
      </p:sp>
      <p:pic>
        <p:nvPicPr>
          <p:cNvPr id="1026" name="Picture 2" descr="Renovating Villa 31 | Pulitzer Center">
            <a:extLst>
              <a:ext uri="{FF2B5EF4-FFF2-40B4-BE49-F238E27FC236}">
                <a16:creationId xmlns:a16="http://schemas.microsoft.com/office/drawing/2014/main" id="{46C779BA-FAD4-50E0-20DF-06998BAAF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44" r="30179" b="-1"/>
          <a:stretch/>
        </p:blipFill>
        <p:spPr bwMode="auto">
          <a:xfrm>
            <a:off x="5143347" y="-10886"/>
            <a:ext cx="4000653" cy="6868886"/>
          </a:xfrm>
          <a:prstGeom prst="rect">
            <a:avLst/>
          </a:prstGeom>
          <a:noFill/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Diversity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Ancestry linked to indigenous groups, Europe, and Africa</a:t>
            </a:r>
          </a:p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Countries such as Guatemala, Bolivia, Ecuador, and Peru have large indigenous populations.</a:t>
            </a:r>
          </a:p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Main destination for slaves between 1500 and 1850</a:t>
            </a:r>
          </a:p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Influx of European immigrants in the early twentieth century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marL="342900" indent="-3429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Development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457200" y="1166019"/>
            <a:ext cx="8229600" cy="2567782"/>
          </a:xfrm>
        </p:spPr>
        <p:txBody>
          <a:bodyPr/>
          <a:lstStyle/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High index of wealth inequality</a:t>
            </a:r>
          </a:p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Slow economic growth</a:t>
            </a:r>
          </a:p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High population growth in the mid-twentieth century</a:t>
            </a:r>
          </a:p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Revolutionary movements emerge in the </a:t>
            </a:r>
            <a:r>
              <a:rPr lang="en-US" sz="2800" dirty="0" err="1">
                <a:latin typeface="Times New Roman" charset="0"/>
                <a:ea typeface="Times New Roman" charset="0"/>
                <a:cs typeface="Times New Roman" charset="0"/>
              </a:rPr>
              <a:t>1970s</a:t>
            </a: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3086D1F-3320-A8B0-FC6E-61D484A87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095" y="3581400"/>
            <a:ext cx="5947809" cy="3276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ECAC650-98F1-A091-28A9-BD3373287952}"/>
              </a:ext>
            </a:extLst>
          </p:cNvPr>
          <p:cNvSpPr txBox="1"/>
          <p:nvPr/>
        </p:nvSpPr>
        <p:spPr>
          <a:xfrm rot="16200000">
            <a:off x="-178703" y="4980356"/>
            <a:ext cx="3276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 per capita (current US$ in thousands)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4813299" y="490537"/>
            <a:ext cx="3968748" cy="728663"/>
          </a:xfrm>
        </p:spPr>
        <p:txBody>
          <a:bodyPr anchor="b">
            <a:normAutofit/>
          </a:bodyPr>
          <a:lstStyle/>
          <a:p>
            <a:pPr marL="342900" indent="-342900" eaLnBrk="1" hangingPunct="1"/>
            <a:r>
              <a:rPr lang="en-US" altLang="en-US" sz="3500" dirty="0">
                <a:latin typeface="Times New Roman" charset="0"/>
                <a:ea typeface="Times New Roman" charset="0"/>
                <a:cs typeface="Times New Roman" charset="0"/>
              </a:rPr>
              <a:t>Liberalism</a:t>
            </a:r>
          </a:p>
        </p:txBody>
      </p:sp>
      <p:pic>
        <p:nvPicPr>
          <p:cNvPr id="1026" name="Picture 2" descr="Juan Bautista Alberdi - Wikipedia">
            <a:extLst>
              <a:ext uri="{FF2B5EF4-FFF2-40B4-BE49-F238E27FC236}">
                <a16:creationId xmlns:a16="http://schemas.microsoft.com/office/drawing/2014/main" id="{8A2DE6E3-1E61-8C0A-354A-26F2E458B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3" r="7866" b="-1"/>
          <a:stretch/>
        </p:blipFill>
        <p:spPr bwMode="auto">
          <a:xfrm>
            <a:off x="1" y="1587"/>
            <a:ext cx="4571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4813300" y="1552575"/>
            <a:ext cx="3968747" cy="3752849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Principles</a:t>
            </a:r>
          </a:p>
          <a:p>
            <a:pPr lvl="1"/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Limited government</a:t>
            </a:r>
          </a:p>
          <a:p>
            <a:pPr lvl="1"/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Economic laissez-faire</a:t>
            </a:r>
          </a:p>
          <a:p>
            <a:pPr lvl="1"/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Favor progress over tradition</a:t>
            </a:r>
          </a:p>
          <a:p>
            <a:pPr lvl="1"/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Favor reason over faith</a:t>
            </a:r>
          </a:p>
          <a:p>
            <a:pPr lvl="1"/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Push for equality of citizenship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5545322-1462-A689-E1CD-310B8B97D2E3}"/>
              </a:ext>
            </a:extLst>
          </p:cNvPr>
          <p:cNvSpPr txBox="1"/>
          <p:nvPr/>
        </p:nvSpPr>
        <p:spPr>
          <a:xfrm>
            <a:off x="932021" y="6248400"/>
            <a:ext cx="2707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800" dirty="0">
                <a:solidFill>
                  <a:srgbClr val="FFFFFF"/>
                </a:solidFill>
                <a:latin typeface="+mn-lt"/>
                <a:ea typeface="+mn-ea"/>
              </a:rPr>
              <a:t>Juan Bautista Alberdi</a:t>
            </a:r>
          </a:p>
        </p:txBody>
      </p:sp>
    </p:spTree>
    <p:extLst>
      <p:ext uri="{BB962C8B-B14F-4D97-AF65-F5344CB8AC3E}">
        <p14:creationId xmlns:p14="http://schemas.microsoft.com/office/powerpoint/2010/main" val="1671162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pPr marL="342900" indent="-342900" eaLnBrk="1" hangingPunct="1"/>
            <a:r>
              <a:rPr lang="en-US" altLang="en-US" sz="3100">
                <a:latin typeface="Times New Roman" charset="0"/>
                <a:ea typeface="Times New Roman" charset="0"/>
                <a:cs typeface="Times New Roman" charset="0"/>
              </a:rPr>
              <a:t>Nationalism</a:t>
            </a:r>
          </a:p>
        </p:txBody>
      </p:sp>
      <p:pic>
        <p:nvPicPr>
          <p:cNvPr id="2050" name="Picture 2" descr="75 años: la centralidad en la Plaza • Revista Ruda">
            <a:extLst>
              <a:ext uri="{FF2B5EF4-FFF2-40B4-BE49-F238E27FC236}">
                <a16:creationId xmlns:a16="http://schemas.microsoft.com/office/drawing/2014/main" id="{90429F4A-00E7-FF71-3CAB-ABCAC5C67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93" b="819"/>
          <a:stretch/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3157751" y="3962400"/>
            <a:ext cx="5614060" cy="2452687"/>
          </a:xfrm>
        </p:spPr>
        <p:txBody>
          <a:bodyPr anchor="ctr">
            <a:noAutofit/>
          </a:bodyPr>
          <a:lstStyle/>
          <a:p>
            <a:pPr marL="682625" indent="-339725">
              <a:buFont typeface="Arial" pitchFamily="34" charset="0"/>
              <a:buChar char="•"/>
            </a:pP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Links ruling elites to lower levels of society</a:t>
            </a:r>
          </a:p>
          <a:p>
            <a:pPr marL="682625" indent="-339725">
              <a:buFont typeface="Arial" pitchFamily="34" charset="0"/>
              <a:buChar char="•"/>
            </a:pP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Builds a national bond</a:t>
            </a:r>
          </a:p>
          <a:p>
            <a:pPr marL="682625" indent="-339725">
              <a:buFont typeface="Arial" pitchFamily="34" charset="0"/>
              <a:buChar char="•"/>
            </a:pP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Principles</a:t>
            </a:r>
          </a:p>
          <a:p>
            <a:pPr marL="1146175" lvl="1" indent="-290513">
              <a:buFont typeface="Calibri" pitchFamily="34" charset="0"/>
              <a:buChar char="–"/>
            </a:pP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National autonomy</a:t>
            </a:r>
          </a:p>
          <a:p>
            <a:pPr marL="1146175" lvl="1" indent="-290513">
              <a:buFont typeface="Calibri" pitchFamily="34" charset="0"/>
              <a:buChar char="–"/>
            </a:pP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Resisting outside control and influence</a:t>
            </a:r>
          </a:p>
        </p:txBody>
      </p:sp>
    </p:spTree>
    <p:extLst>
      <p:ext uri="{BB962C8B-B14F-4D97-AF65-F5344CB8AC3E}">
        <p14:creationId xmlns:p14="http://schemas.microsoft.com/office/powerpoint/2010/main" val="3288873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marL="342900" indent="-3429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Outdated Thinking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Considers Latin America as dependent </a:t>
            </a:r>
          </a:p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Racially charged</a:t>
            </a:r>
          </a:p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The question of “modernity”</a:t>
            </a:r>
          </a:p>
          <a:p>
            <a:pPr marL="682625" indent="-339725">
              <a:buFont typeface="Arial" pitchFamily="34" charset="0"/>
              <a:buChar char="•"/>
            </a:pP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Dependency theory</a:t>
            </a:r>
          </a:p>
        </p:txBody>
      </p:sp>
    </p:spTree>
    <p:extLst>
      <p:ext uri="{BB962C8B-B14F-4D97-AF65-F5344CB8AC3E}">
        <p14:creationId xmlns:p14="http://schemas.microsoft.com/office/powerpoint/2010/main" val="2111940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0000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000000"/>
      </a:folHlink>
    </a:clrScheme>
    <a:fontScheme name="Georgia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69AFE3D876FE4297EE28B5F70DC3F8" ma:contentTypeVersion="18" ma:contentTypeDescription="Create a new document." ma:contentTypeScope="" ma:versionID="24168822608d9d77dd2a031d1dc4320d">
  <xsd:schema xmlns:xsd="http://www.w3.org/2001/XMLSchema" xmlns:xs="http://www.w3.org/2001/XMLSchema" xmlns:p="http://schemas.microsoft.com/office/2006/metadata/properties" xmlns:ns2="d1c7c9a4-d043-4a67-96e5-2ff5b742a303" xmlns:ns3="9d64b6a7-e13d-4012-aff2-02bdd52222eb" targetNamespace="http://schemas.microsoft.com/office/2006/metadata/properties" ma:root="true" ma:fieldsID="974d88cf474a8c2222dc8cf659776bc2" ns2:_="" ns3:_="">
    <xsd:import namespace="d1c7c9a4-d043-4a67-96e5-2ff5b742a303"/>
    <xsd:import namespace="9d64b6a7-e13d-4012-aff2-02bdd52222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c7c9a4-d043-4a67-96e5-2ff5b742a3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5876ee3-2b79-4d5d-9b03-6d87568316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64b6a7-e13d-4012-aff2-02bdd52222e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26d98fc-0af3-417b-8254-413504fc40c8}" ma:internalName="TaxCatchAll" ma:showField="CatchAllData" ma:web="9d64b6a7-e13d-4012-aff2-02bdd52222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1c7c9a4-d043-4a67-96e5-2ff5b742a303">
      <Terms xmlns="http://schemas.microsoft.com/office/infopath/2007/PartnerControls"/>
    </lcf76f155ced4ddcb4097134ff3c332f>
    <TaxCatchAll xmlns="9d64b6a7-e13d-4012-aff2-02bdd52222eb" xsi:nil="true"/>
  </documentManagement>
</p:properties>
</file>

<file path=customXml/itemProps1.xml><?xml version="1.0" encoding="utf-8"?>
<ds:datastoreItem xmlns:ds="http://schemas.openxmlformats.org/officeDocument/2006/customXml" ds:itemID="{AC5A1DA4-A32B-4EC0-BF22-0E74D59942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742603-64B7-4206-AAF8-909AB1C2F6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c7c9a4-d043-4a67-96e5-2ff5b742a303"/>
    <ds:schemaRef ds:uri="9d64b6a7-e13d-4012-aff2-02bdd5222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0087669-1BA1-4000-8393-110FF3AC17C0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9d64b6a7-e13d-4012-aff2-02bdd52222eb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d1c7c9a4-d043-4a67-96e5-2ff5b742a30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3552</TotalTime>
  <Words>289</Words>
  <Application>Microsoft Office PowerPoint</Application>
  <PresentationFormat>Presentación en pantalla (4:3)</PresentationFormat>
  <Paragraphs>59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Georgia</vt:lpstr>
      <vt:lpstr>Times New Roman</vt:lpstr>
      <vt:lpstr>Wingdings</vt:lpstr>
      <vt:lpstr>Office Theme</vt:lpstr>
      <vt:lpstr>Born in Blood &amp; Fire A Concise History of Latin America 5th Edition</vt:lpstr>
      <vt:lpstr>Modern Latin America</vt:lpstr>
      <vt:lpstr>Climate</vt:lpstr>
      <vt:lpstr>Standard of Living</vt:lpstr>
      <vt:lpstr>Diversity</vt:lpstr>
      <vt:lpstr>Development</vt:lpstr>
      <vt:lpstr>Liberalism</vt:lpstr>
      <vt:lpstr>Nationalism</vt:lpstr>
      <vt:lpstr>Outdated Thinking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Born in Blood &amp; Fire</dc:title>
  <dc:creator>Beau D.J. Gaitors</dc:creator>
  <cp:lastModifiedBy>Claudio Robelo</cp:lastModifiedBy>
  <cp:revision>76</cp:revision>
  <dcterms:created xsi:type="dcterms:W3CDTF">2011-06-14T19:57:16Z</dcterms:created>
  <dcterms:modified xsi:type="dcterms:W3CDTF">2025-05-08T17:56:12Z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0x0101002D69AFE3D876FE4297EE28B5F70DC3F8</vt:lpwstr>
  </property>
</Properties>
</file>