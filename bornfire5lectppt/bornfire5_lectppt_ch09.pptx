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sldIdLst>
    <p:sldId id="256" r:id="rId5"/>
    <p:sldId id="315" r:id="rId6"/>
    <p:sldId id="257" r:id="rId7"/>
    <p:sldId id="260" r:id="rId8"/>
    <p:sldId id="261" r:id="rId9"/>
    <p:sldId id="262" r:id="rId10"/>
    <p:sldId id="263" r:id="rId11"/>
    <p:sldId id="264" r:id="rId12"/>
    <p:sldId id="265" r:id="rId13"/>
    <p:sldId id="266" r:id="rId14"/>
    <p:sldId id="267" r:id="rId15"/>
    <p:sldId id="268" r:id="rId16"/>
    <p:sldId id="269" r:id="rId17"/>
    <p:sldId id="298" r:id="rId18"/>
    <p:sldId id="270" r:id="rId19"/>
    <p:sldId id="271" r:id="rId20"/>
    <p:sldId id="272" r:id="rId21"/>
    <p:sldId id="273" r:id="rId22"/>
    <p:sldId id="274" r:id="rId23"/>
    <p:sldId id="276" r:id="rId24"/>
    <p:sldId id="277" r:id="rId25"/>
    <p:sldId id="278" r:id="rId26"/>
    <p:sldId id="279" r:id="rId27"/>
    <p:sldId id="280" r:id="rId28"/>
    <p:sldId id="297" r:id="rId29"/>
    <p:sldId id="281" r:id="rId30"/>
    <p:sldId id="282" r:id="rId31"/>
    <p:sldId id="284" r:id="rId32"/>
    <p:sldId id="285" r:id="rId33"/>
    <p:sldId id="287" r:id="rId34"/>
    <p:sldId id="288" r:id="rId35"/>
    <p:sldId id="286" r:id="rId36"/>
    <p:sldId id="289" r:id="rId37"/>
    <p:sldId id="325" r:id="rId3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FD47F4-D62F-29E1-A4A5-60559B0A1BD1}" name="Kopp, Katherine" initials="KK" userId="S::kkopp@wwnorton.com::8975c588-54e8-41b7-a546-07e477ad4a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AD0E78-BA7D-A44B-A08B-0CC5DEC2ECE4}" v="2" dt="2024-06-06T18:18:57.8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68"/>
    <p:restoredTop sz="80136"/>
  </p:normalViewPr>
  <p:slideViewPr>
    <p:cSldViewPr>
      <p:cViewPr varScale="1">
        <p:scale>
          <a:sx n="97" d="100"/>
          <a:sy n="97" d="100"/>
        </p:scale>
        <p:origin x="3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charset="0"/>
              </a:defRPr>
            </a:lvl1pPr>
          </a:lstStyle>
          <a:p>
            <a:pPr>
              <a:defRPr/>
            </a:pPr>
            <a:fld id="{3A72FB6B-AA9B-F74A-A75E-CFDE3346E165}" type="datetime1">
              <a:rPr lang="en-US" altLang="en-US"/>
              <a:pPr>
                <a:defRPr/>
              </a:pPr>
              <a:t>6/6/24</a:t>
            </a:fld>
            <a:endParaRPr lang="en-US" alt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charset="0"/>
              </a:defRPr>
            </a:lvl1pPr>
          </a:lstStyle>
          <a:p>
            <a:pPr>
              <a:defRPr/>
            </a:pPr>
            <a:fld id="{03C76833-EFBF-AF4B-A7B6-7CA6DC2DD571}" type="slidenum">
              <a:rPr lang="en-US" altLang="en-US"/>
              <a:pPr>
                <a:defRPr/>
              </a:pPr>
              <a:t>‹#›</a:t>
            </a:fld>
            <a:endParaRPr lang="en-US" altLang="en-US" dirty="0"/>
          </a:p>
        </p:txBody>
      </p:sp>
    </p:spTree>
    <p:extLst>
      <p:ext uri="{BB962C8B-B14F-4D97-AF65-F5344CB8AC3E}">
        <p14:creationId xmlns:p14="http://schemas.microsoft.com/office/powerpoint/2010/main" val="15615808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43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92F2F4D-9A2B-CB40-B0DC-37BE5C54AC80}" type="slidenum">
              <a:rPr lang="en-US" altLang="en-US"/>
              <a:pPr>
                <a:spcBef>
                  <a:spcPct val="0"/>
                </a:spcBef>
              </a:pPr>
              <a:t>1</a:t>
            </a:fld>
            <a:endParaRPr lang="en-US" altLang="en-US" dirty="0"/>
          </a:p>
        </p:txBody>
      </p:sp>
    </p:spTree>
    <p:extLst>
      <p:ext uri="{BB962C8B-B14F-4D97-AF65-F5344CB8AC3E}">
        <p14:creationId xmlns:p14="http://schemas.microsoft.com/office/powerpoint/2010/main" val="1908878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CUBAN REVOLUTIONARIES OF 1959</a:t>
            </a:r>
            <a:r>
              <a:rPr lang="en-US" dirty="0"/>
              <a:t>. The Cuban Revolution was a truly popular movement that helped put a Marxist tilt on nationalism throughout Latin America. Marxist ideology offered a persuasive explanation of Latin American problems as well as a clear prescription for direct revolutionary action. Leaders Che Guevara and Fidel Castro quickly became heroes for young revolutionaries in many countries. </a:t>
            </a:r>
            <a:r>
              <a:rPr lang="en-US" i="1" dirty="0"/>
              <a:t>Lester Cole/CORBIS.</a:t>
            </a:r>
          </a:p>
        </p:txBody>
      </p:sp>
      <p:sp>
        <p:nvSpPr>
          <p:cNvPr id="4" name="Slide Number Placeholder 3"/>
          <p:cNvSpPr>
            <a:spLocks noGrp="1"/>
          </p:cNvSpPr>
          <p:nvPr>
            <p:ph type="sldNum" sz="quarter" idx="10"/>
          </p:nvPr>
        </p:nvSpPr>
        <p:spPr/>
        <p:txBody>
          <a:bodyPr/>
          <a:lstStyle/>
          <a:p>
            <a:fld id="{C9CDF101-C185-844F-9839-0B79CB8E1A4A}" type="slidenum">
              <a:rPr lang="en-US" smtClean="0"/>
              <a:pPr/>
              <a:t>2</a:t>
            </a:fld>
            <a:endParaRPr lang="en-US"/>
          </a:p>
        </p:txBody>
      </p:sp>
    </p:spTree>
    <p:extLst>
      <p:ext uri="{BB962C8B-B14F-4D97-AF65-F5344CB8AC3E}">
        <p14:creationId xmlns:p14="http://schemas.microsoft.com/office/powerpoint/2010/main" val="1834228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63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63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5BD0735-C761-0C4B-BC75-E50B5F872283}" type="slidenum">
              <a:rPr lang="en-US" altLang="en-US"/>
              <a:pPr>
                <a:spcBef>
                  <a:spcPct val="0"/>
                </a:spcBef>
              </a:pPr>
              <a:t>3</a:t>
            </a:fld>
            <a:endParaRPr lang="en-US" altLang="en-US" dirty="0"/>
          </a:p>
        </p:txBody>
      </p:sp>
    </p:spTree>
    <p:extLst>
      <p:ext uri="{BB962C8B-B14F-4D97-AF65-F5344CB8AC3E}">
        <p14:creationId xmlns:p14="http://schemas.microsoft.com/office/powerpoint/2010/main" val="765518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84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184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9B043B8-DEC3-7544-99C2-DFE523625925}" type="slidenum">
              <a:rPr lang="en-US" altLang="en-US"/>
              <a:pPr>
                <a:spcBef>
                  <a:spcPct val="0"/>
                </a:spcBef>
              </a:pPr>
              <a:t>4</a:t>
            </a:fld>
            <a:endParaRPr lang="en-US" altLang="en-US" dirty="0"/>
          </a:p>
        </p:txBody>
      </p:sp>
    </p:spTree>
    <p:extLst>
      <p:ext uri="{BB962C8B-B14F-4D97-AF65-F5344CB8AC3E}">
        <p14:creationId xmlns:p14="http://schemas.microsoft.com/office/powerpoint/2010/main" val="499976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04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204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51F20D3-9E9E-E649-9F02-B64EBA561E7C}" type="slidenum">
              <a:rPr lang="en-US" altLang="en-US"/>
              <a:pPr>
                <a:spcBef>
                  <a:spcPct val="0"/>
                </a:spcBef>
              </a:pPr>
              <a:t>5</a:t>
            </a:fld>
            <a:endParaRPr lang="en-US" altLang="en-US" dirty="0"/>
          </a:p>
        </p:txBody>
      </p:sp>
    </p:spTree>
    <p:extLst>
      <p:ext uri="{BB962C8B-B14F-4D97-AF65-F5344CB8AC3E}">
        <p14:creationId xmlns:p14="http://schemas.microsoft.com/office/powerpoint/2010/main" val="2141226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25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225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0C098E9-6886-F64F-B9B1-04F3F9CC4E84}" type="slidenum">
              <a:rPr lang="en-US" altLang="en-US"/>
              <a:pPr>
                <a:spcBef>
                  <a:spcPct val="0"/>
                </a:spcBef>
              </a:pPr>
              <a:t>6</a:t>
            </a:fld>
            <a:endParaRPr lang="en-US" altLang="en-US" dirty="0"/>
          </a:p>
        </p:txBody>
      </p:sp>
    </p:spTree>
    <p:extLst>
      <p:ext uri="{BB962C8B-B14F-4D97-AF65-F5344CB8AC3E}">
        <p14:creationId xmlns:p14="http://schemas.microsoft.com/office/powerpoint/2010/main" val="67787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4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245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1283FF52-5D29-9E4D-9548-A51C92825A2D}" type="slidenum">
              <a:rPr lang="en-US" altLang="en-US"/>
              <a:pPr>
                <a:spcBef>
                  <a:spcPct val="0"/>
                </a:spcBef>
              </a:pPr>
              <a:t>7</a:t>
            </a:fld>
            <a:endParaRPr lang="en-US" altLang="en-US" dirty="0"/>
          </a:p>
        </p:txBody>
      </p:sp>
    </p:spTree>
    <p:extLst>
      <p:ext uri="{BB962C8B-B14F-4D97-AF65-F5344CB8AC3E}">
        <p14:creationId xmlns:p14="http://schemas.microsoft.com/office/powerpoint/2010/main" val="1132112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66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2662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E9FB674-09DE-3044-8D7A-C79F70E8E62C}" type="slidenum">
              <a:rPr lang="en-US" altLang="en-US"/>
              <a:pPr>
                <a:spcBef>
                  <a:spcPct val="0"/>
                </a:spcBef>
              </a:pPr>
              <a:t>8</a:t>
            </a:fld>
            <a:endParaRPr lang="en-US" altLang="en-US" dirty="0"/>
          </a:p>
        </p:txBody>
      </p:sp>
    </p:spTree>
    <p:extLst>
      <p:ext uri="{BB962C8B-B14F-4D97-AF65-F5344CB8AC3E}">
        <p14:creationId xmlns:p14="http://schemas.microsoft.com/office/powerpoint/2010/main" val="705691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AA07AD3-3AB8-774B-B4E3-AB3D138E1FEA}" type="slidenum">
              <a:rPr lang="en-US" altLang="en-US"/>
              <a:pPr>
                <a:spcBef>
                  <a:spcPct val="0"/>
                </a:spcBef>
              </a:pPr>
              <a:t>9</a:t>
            </a:fld>
            <a:endParaRPr lang="en-US" altLang="en-US" dirty="0"/>
          </a:p>
        </p:txBody>
      </p:sp>
    </p:spTree>
    <p:extLst>
      <p:ext uri="{BB962C8B-B14F-4D97-AF65-F5344CB8AC3E}">
        <p14:creationId xmlns:p14="http://schemas.microsoft.com/office/powerpoint/2010/main" val="10253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7C5E6229-2E89-B448-B91A-90D86CB680E4}" type="slidenum">
              <a:rPr lang="en-US" altLang="en-US"/>
              <a:pPr>
                <a:spcBef>
                  <a:spcPct val="0"/>
                </a:spcBef>
              </a:pPr>
              <a:t>10</a:t>
            </a:fld>
            <a:endParaRPr lang="en-US" altLang="en-US" dirty="0"/>
          </a:p>
        </p:txBody>
      </p:sp>
    </p:spTree>
    <p:extLst>
      <p:ext uri="{BB962C8B-B14F-4D97-AF65-F5344CB8AC3E}">
        <p14:creationId xmlns:p14="http://schemas.microsoft.com/office/powerpoint/2010/main" val="526269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27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327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BA08880-0084-6644-AC09-D6527ED33F8E}" type="slidenum">
              <a:rPr lang="en-US" altLang="en-US"/>
              <a:pPr>
                <a:spcBef>
                  <a:spcPct val="0"/>
                </a:spcBef>
              </a:pPr>
              <a:t>11</a:t>
            </a:fld>
            <a:endParaRPr lang="en-US" altLang="en-US" dirty="0"/>
          </a:p>
        </p:txBody>
      </p:sp>
    </p:spTree>
    <p:extLst>
      <p:ext uri="{BB962C8B-B14F-4D97-AF65-F5344CB8AC3E}">
        <p14:creationId xmlns:p14="http://schemas.microsoft.com/office/powerpoint/2010/main" val="1668819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348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132159F-1AC6-6147-8D23-D9DB9FDC9F27}" type="slidenum">
              <a:rPr lang="en-US" altLang="en-US"/>
              <a:pPr>
                <a:spcBef>
                  <a:spcPct val="0"/>
                </a:spcBef>
              </a:pPr>
              <a:t>12</a:t>
            </a:fld>
            <a:endParaRPr lang="en-US" altLang="en-US" dirty="0"/>
          </a:p>
        </p:txBody>
      </p:sp>
    </p:spTree>
    <p:extLst>
      <p:ext uri="{BB962C8B-B14F-4D97-AF65-F5344CB8AC3E}">
        <p14:creationId xmlns:p14="http://schemas.microsoft.com/office/powerpoint/2010/main" val="1715730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368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947E738-88D3-4040-8F4F-F172E7CF620A}" type="slidenum">
              <a:rPr lang="en-US" altLang="en-US"/>
              <a:pPr>
                <a:spcBef>
                  <a:spcPct val="0"/>
                </a:spcBef>
              </a:pPr>
              <a:t>13</a:t>
            </a:fld>
            <a:endParaRPr lang="en-US" altLang="en-US" dirty="0"/>
          </a:p>
        </p:txBody>
      </p:sp>
    </p:spTree>
    <p:extLst>
      <p:ext uri="{BB962C8B-B14F-4D97-AF65-F5344CB8AC3E}">
        <p14:creationId xmlns:p14="http://schemas.microsoft.com/office/powerpoint/2010/main" val="2015484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389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9800B5E-1FBD-7B47-8AD7-956473687442}" type="slidenum">
              <a:rPr lang="en-US" altLang="en-US"/>
              <a:pPr>
                <a:spcBef>
                  <a:spcPct val="0"/>
                </a:spcBef>
              </a:pPr>
              <a:t>15</a:t>
            </a:fld>
            <a:endParaRPr lang="en-US" altLang="en-US" dirty="0"/>
          </a:p>
        </p:txBody>
      </p:sp>
    </p:spTree>
    <p:extLst>
      <p:ext uri="{BB962C8B-B14F-4D97-AF65-F5344CB8AC3E}">
        <p14:creationId xmlns:p14="http://schemas.microsoft.com/office/powerpoint/2010/main" val="1985452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409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B0EDB1A-B168-AF40-947F-D1570B82346D}" type="slidenum">
              <a:rPr lang="en-US" altLang="en-US"/>
              <a:pPr>
                <a:spcBef>
                  <a:spcPct val="0"/>
                </a:spcBef>
              </a:pPr>
              <a:t>16</a:t>
            </a:fld>
            <a:endParaRPr lang="en-US" altLang="en-US" dirty="0"/>
          </a:p>
        </p:txBody>
      </p:sp>
    </p:spTree>
    <p:extLst>
      <p:ext uri="{BB962C8B-B14F-4D97-AF65-F5344CB8AC3E}">
        <p14:creationId xmlns:p14="http://schemas.microsoft.com/office/powerpoint/2010/main" val="1899764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430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178A09A-4043-EB4B-BCFA-34CEC4610261}" type="slidenum">
              <a:rPr lang="en-US" altLang="en-US"/>
              <a:pPr>
                <a:spcBef>
                  <a:spcPct val="0"/>
                </a:spcBef>
              </a:pPr>
              <a:t>17</a:t>
            </a:fld>
            <a:endParaRPr lang="en-US" altLang="en-US" dirty="0"/>
          </a:p>
        </p:txBody>
      </p:sp>
    </p:spTree>
    <p:extLst>
      <p:ext uri="{BB962C8B-B14F-4D97-AF65-F5344CB8AC3E}">
        <p14:creationId xmlns:p14="http://schemas.microsoft.com/office/powerpoint/2010/main" val="5571719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5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4505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BEF3D4B-08E4-E74A-8881-3804AF8FA8FD}" type="slidenum">
              <a:rPr lang="en-US" altLang="en-US"/>
              <a:pPr>
                <a:spcBef>
                  <a:spcPct val="0"/>
                </a:spcBef>
              </a:pPr>
              <a:t>18</a:t>
            </a:fld>
            <a:endParaRPr lang="en-US" altLang="en-US" dirty="0"/>
          </a:p>
        </p:txBody>
      </p:sp>
    </p:spTree>
    <p:extLst>
      <p:ext uri="{BB962C8B-B14F-4D97-AF65-F5344CB8AC3E}">
        <p14:creationId xmlns:p14="http://schemas.microsoft.com/office/powerpoint/2010/main" val="13606324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471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CC96F0C-27AF-A749-88EA-42E2B5959A3E}" type="slidenum">
              <a:rPr lang="en-US" altLang="en-US"/>
              <a:pPr>
                <a:spcBef>
                  <a:spcPct val="0"/>
                </a:spcBef>
              </a:pPr>
              <a:t>19</a:t>
            </a:fld>
            <a:endParaRPr lang="en-US" altLang="en-US" dirty="0"/>
          </a:p>
        </p:txBody>
      </p:sp>
    </p:spTree>
    <p:extLst>
      <p:ext uri="{BB962C8B-B14F-4D97-AF65-F5344CB8AC3E}">
        <p14:creationId xmlns:p14="http://schemas.microsoft.com/office/powerpoint/2010/main" val="1744285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491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6E92A99-7C46-EC49-B929-E9032FF87357}" type="slidenum">
              <a:rPr lang="en-US" altLang="en-US"/>
              <a:pPr>
                <a:spcBef>
                  <a:spcPct val="0"/>
                </a:spcBef>
              </a:pPr>
              <a:t>20</a:t>
            </a:fld>
            <a:endParaRPr lang="en-US" altLang="en-US" dirty="0"/>
          </a:p>
        </p:txBody>
      </p:sp>
    </p:spTree>
    <p:extLst>
      <p:ext uri="{BB962C8B-B14F-4D97-AF65-F5344CB8AC3E}">
        <p14:creationId xmlns:p14="http://schemas.microsoft.com/office/powerpoint/2010/main" val="904309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12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5120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6C333E4-1D89-C745-83B4-28E0112F47E7}" type="slidenum">
              <a:rPr lang="en-US" altLang="en-US"/>
              <a:pPr>
                <a:spcBef>
                  <a:spcPct val="0"/>
                </a:spcBef>
              </a:pPr>
              <a:t>21</a:t>
            </a:fld>
            <a:endParaRPr lang="en-US" altLang="en-US" dirty="0"/>
          </a:p>
        </p:txBody>
      </p:sp>
    </p:spTree>
    <p:extLst>
      <p:ext uri="{BB962C8B-B14F-4D97-AF65-F5344CB8AC3E}">
        <p14:creationId xmlns:p14="http://schemas.microsoft.com/office/powerpoint/2010/main" val="991811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532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E641682-0965-5A4E-9E9B-E5359039BA6B}" type="slidenum">
              <a:rPr lang="en-US" altLang="en-US"/>
              <a:pPr>
                <a:spcBef>
                  <a:spcPct val="0"/>
                </a:spcBef>
              </a:pPr>
              <a:t>22</a:t>
            </a:fld>
            <a:endParaRPr lang="en-US" altLang="en-US" dirty="0"/>
          </a:p>
        </p:txBody>
      </p:sp>
    </p:spTree>
    <p:extLst>
      <p:ext uri="{BB962C8B-B14F-4D97-AF65-F5344CB8AC3E}">
        <p14:creationId xmlns:p14="http://schemas.microsoft.com/office/powerpoint/2010/main" val="614031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552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771425D-D4B7-BA43-90DF-15862C5206F1}" type="slidenum">
              <a:rPr lang="en-US" altLang="en-US"/>
              <a:pPr>
                <a:spcBef>
                  <a:spcPct val="0"/>
                </a:spcBef>
              </a:pPr>
              <a:t>23</a:t>
            </a:fld>
            <a:endParaRPr lang="en-US" altLang="en-US" dirty="0"/>
          </a:p>
        </p:txBody>
      </p:sp>
    </p:spTree>
    <p:extLst>
      <p:ext uri="{BB962C8B-B14F-4D97-AF65-F5344CB8AC3E}">
        <p14:creationId xmlns:p14="http://schemas.microsoft.com/office/powerpoint/2010/main" val="13613704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73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573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BE858FA-B6E5-2C4F-B5FD-1DC694A65EDF}" type="slidenum">
              <a:rPr lang="en-US" altLang="en-US"/>
              <a:pPr>
                <a:spcBef>
                  <a:spcPct val="0"/>
                </a:spcBef>
              </a:pPr>
              <a:t>24</a:t>
            </a:fld>
            <a:endParaRPr lang="en-US" altLang="en-US" dirty="0"/>
          </a:p>
        </p:txBody>
      </p:sp>
    </p:spTree>
    <p:extLst>
      <p:ext uri="{BB962C8B-B14F-4D97-AF65-F5344CB8AC3E}">
        <p14:creationId xmlns:p14="http://schemas.microsoft.com/office/powerpoint/2010/main" val="12631679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i="1" dirty="0"/>
              <a:t>LOS BARBUDOS</a:t>
            </a:r>
            <a:r>
              <a:rPr lang="en-US" dirty="0"/>
              <a:t>, "the bearded ones." To show that the revolution was only beginning, the Cuban revolutionaries did not shave their beards after their 1959 victory. In the center is Fidel Castro. Another </a:t>
            </a:r>
            <a:r>
              <a:rPr lang="en-US" i="1" dirty="0" err="1"/>
              <a:t>barbudo</a:t>
            </a:r>
            <a:r>
              <a:rPr lang="en-US" dirty="0"/>
              <a:t>, not pictured here, was </a:t>
            </a:r>
            <a:r>
              <a:rPr lang="en-US" dirty="0" err="1"/>
              <a:t>Che</a:t>
            </a:r>
            <a:r>
              <a:rPr lang="en-US" dirty="0"/>
              <a:t> Guevara. </a:t>
            </a:r>
            <a:r>
              <a:rPr lang="en-US" i="1" dirty="0"/>
              <a:t>Popper </a:t>
            </a:r>
            <a:r>
              <a:rPr lang="en-US" i="1" dirty="0" err="1"/>
              <a:t>Foto</a:t>
            </a:r>
            <a:r>
              <a:rPr lang="en-US" i="1" dirty="0"/>
              <a:t>/Getty Images.</a:t>
            </a:r>
          </a:p>
        </p:txBody>
      </p:sp>
      <p:sp>
        <p:nvSpPr>
          <p:cNvPr id="4" name="Slide Number Placeholder 3"/>
          <p:cNvSpPr>
            <a:spLocks noGrp="1"/>
          </p:cNvSpPr>
          <p:nvPr>
            <p:ph type="sldNum" sz="quarter" idx="10"/>
          </p:nvPr>
        </p:nvSpPr>
        <p:spPr/>
        <p:txBody>
          <a:bodyPr/>
          <a:lstStyle/>
          <a:p>
            <a:fld id="{C9CDF101-C185-844F-9839-0B79CB8E1A4A}" type="slidenum">
              <a:rPr lang="en-US" smtClean="0"/>
              <a:pPr/>
              <a:t>25</a:t>
            </a:fld>
            <a:endParaRPr lang="en-US"/>
          </a:p>
        </p:txBody>
      </p:sp>
    </p:spTree>
    <p:extLst>
      <p:ext uri="{BB962C8B-B14F-4D97-AF65-F5344CB8AC3E}">
        <p14:creationId xmlns:p14="http://schemas.microsoft.com/office/powerpoint/2010/main" val="527805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93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593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E430C1C-B88C-0A4A-8A6D-F5842411DECC}" type="slidenum">
              <a:rPr lang="en-US" altLang="en-US"/>
              <a:pPr>
                <a:spcBef>
                  <a:spcPct val="0"/>
                </a:spcBef>
              </a:pPr>
              <a:t>26</a:t>
            </a:fld>
            <a:endParaRPr lang="en-US" altLang="en-US" dirty="0"/>
          </a:p>
        </p:txBody>
      </p:sp>
    </p:spTree>
    <p:extLst>
      <p:ext uri="{BB962C8B-B14F-4D97-AF65-F5344CB8AC3E}">
        <p14:creationId xmlns:p14="http://schemas.microsoft.com/office/powerpoint/2010/main" val="402501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14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614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6FE4D01-0194-6949-B743-E7FD3615FD53}" type="slidenum">
              <a:rPr lang="en-US" altLang="en-US"/>
              <a:pPr>
                <a:spcBef>
                  <a:spcPct val="0"/>
                </a:spcBef>
              </a:pPr>
              <a:t>27</a:t>
            </a:fld>
            <a:endParaRPr lang="en-US" altLang="en-US" dirty="0"/>
          </a:p>
        </p:txBody>
      </p:sp>
    </p:spTree>
    <p:extLst>
      <p:ext uri="{BB962C8B-B14F-4D97-AF65-F5344CB8AC3E}">
        <p14:creationId xmlns:p14="http://schemas.microsoft.com/office/powerpoint/2010/main" val="268382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34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634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BFBDDF0-15EF-4A48-8399-8E4C00AE31B2}" type="slidenum">
              <a:rPr lang="en-US" altLang="en-US"/>
              <a:pPr>
                <a:spcBef>
                  <a:spcPct val="0"/>
                </a:spcBef>
              </a:pPr>
              <a:t>28</a:t>
            </a:fld>
            <a:endParaRPr lang="en-US" altLang="en-US" dirty="0"/>
          </a:p>
        </p:txBody>
      </p:sp>
    </p:spTree>
    <p:extLst>
      <p:ext uri="{BB962C8B-B14F-4D97-AF65-F5344CB8AC3E}">
        <p14:creationId xmlns:p14="http://schemas.microsoft.com/office/powerpoint/2010/main" val="982296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55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C4C4741-A035-6B42-A2BC-5214CD2F1728}" type="slidenum">
              <a:rPr lang="en-US" altLang="en-US"/>
              <a:pPr>
                <a:spcBef>
                  <a:spcPct val="0"/>
                </a:spcBef>
              </a:pPr>
              <a:t>29</a:t>
            </a:fld>
            <a:endParaRPr lang="en-US" altLang="en-US" dirty="0"/>
          </a:p>
        </p:txBody>
      </p:sp>
    </p:spTree>
    <p:extLst>
      <p:ext uri="{BB962C8B-B14F-4D97-AF65-F5344CB8AC3E}">
        <p14:creationId xmlns:p14="http://schemas.microsoft.com/office/powerpoint/2010/main" val="16774463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75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675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8D2BCC2-06C8-FE46-98C6-A969E8E069DF}" type="slidenum">
              <a:rPr lang="en-US" altLang="en-US"/>
              <a:pPr>
                <a:spcBef>
                  <a:spcPct val="0"/>
                </a:spcBef>
              </a:pPr>
              <a:t>30</a:t>
            </a:fld>
            <a:endParaRPr lang="en-US" altLang="en-US" dirty="0"/>
          </a:p>
        </p:txBody>
      </p:sp>
    </p:spTree>
    <p:extLst>
      <p:ext uri="{BB962C8B-B14F-4D97-AF65-F5344CB8AC3E}">
        <p14:creationId xmlns:p14="http://schemas.microsoft.com/office/powerpoint/2010/main" val="6747135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696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B6FE4A5-0A33-574D-8D09-45CE71CE2ADD}" type="slidenum">
              <a:rPr lang="en-US" altLang="en-US"/>
              <a:pPr>
                <a:spcBef>
                  <a:spcPct val="0"/>
                </a:spcBef>
              </a:pPr>
              <a:t>31</a:t>
            </a:fld>
            <a:endParaRPr lang="en-US" altLang="en-US" dirty="0"/>
          </a:p>
        </p:txBody>
      </p:sp>
    </p:spTree>
    <p:extLst>
      <p:ext uri="{BB962C8B-B14F-4D97-AF65-F5344CB8AC3E}">
        <p14:creationId xmlns:p14="http://schemas.microsoft.com/office/powerpoint/2010/main" val="11963400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16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716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8BC44BE-CE7C-504D-953B-A0622181D57E}" type="slidenum">
              <a:rPr lang="en-US" altLang="en-US"/>
              <a:pPr>
                <a:spcBef>
                  <a:spcPct val="0"/>
                </a:spcBef>
              </a:pPr>
              <a:t>32</a:t>
            </a:fld>
            <a:endParaRPr lang="en-US" altLang="en-US" dirty="0"/>
          </a:p>
        </p:txBody>
      </p:sp>
    </p:spTree>
    <p:extLst>
      <p:ext uri="{BB962C8B-B14F-4D97-AF65-F5344CB8AC3E}">
        <p14:creationId xmlns:p14="http://schemas.microsoft.com/office/powerpoint/2010/main" val="21448801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37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dirty="0"/>
          </a:p>
        </p:txBody>
      </p:sp>
      <p:sp>
        <p:nvSpPr>
          <p:cNvPr id="737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7D184F9-A966-B848-8C1A-31B23A8FFA38}" type="slidenum">
              <a:rPr lang="en-US" altLang="en-US"/>
              <a:pPr>
                <a:spcBef>
                  <a:spcPct val="0"/>
                </a:spcBef>
              </a:pPr>
              <a:t>33</a:t>
            </a:fld>
            <a:endParaRPr lang="en-US" altLang="en-US" dirty="0"/>
          </a:p>
        </p:txBody>
      </p:sp>
    </p:spTree>
    <p:extLst>
      <p:ext uri="{BB962C8B-B14F-4D97-AF65-F5344CB8AC3E}">
        <p14:creationId xmlns:p14="http://schemas.microsoft.com/office/powerpoint/2010/main" val="1340249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FF667A2-5A54-D94A-B04E-AB9636FCA12F}"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B48A8B2-A010-CB40-9C49-CA1A6495BA25}" type="slidenum">
              <a:rPr lang="en-US" altLang="en-US"/>
              <a:pPr>
                <a:defRPr/>
              </a:pPr>
              <a:t>‹#›</a:t>
            </a:fld>
            <a:endParaRPr lang="en-US" altLang="en-US" dirty="0"/>
          </a:p>
        </p:txBody>
      </p:sp>
    </p:spTree>
    <p:extLst>
      <p:ext uri="{BB962C8B-B14F-4D97-AF65-F5344CB8AC3E}">
        <p14:creationId xmlns:p14="http://schemas.microsoft.com/office/powerpoint/2010/main" val="625152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baseline="0">
                <a:solidFill>
                  <a:schemeClr val="accent2">
                    <a:lumMod val="75000"/>
                  </a:schemeClr>
                </a:solidFill>
                <a:latin typeface="Arial"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indent="0">
              <a:buFont typeface="Wingdings" pitchFamily="2" charset="2"/>
              <a:buNone/>
              <a:defRPr/>
            </a:lvl1pPr>
            <a:lvl2pPr>
              <a:defRPr>
                <a:solidFill>
                  <a:schemeClr val="accent2">
                    <a:lumMod val="75000"/>
                  </a:schemeClr>
                </a:solidFill>
              </a:defRPr>
            </a:lvl2pPr>
            <a:lvl4pPr>
              <a:defRPr>
                <a:solidFill>
                  <a:schemeClr val="accent6">
                    <a:lumMod val="50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46648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76BCC97-0414-064A-A5FB-928036003D75}"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51DEA5F-D3B0-7946-85A3-CB461AFFC3F6}" type="slidenum">
              <a:rPr lang="en-US" altLang="en-US"/>
              <a:pPr>
                <a:defRPr/>
              </a:pPr>
              <a:t>‹#›</a:t>
            </a:fld>
            <a:endParaRPr lang="en-US" altLang="en-US" dirty="0"/>
          </a:p>
        </p:txBody>
      </p:sp>
    </p:spTree>
    <p:extLst>
      <p:ext uri="{BB962C8B-B14F-4D97-AF65-F5344CB8AC3E}">
        <p14:creationId xmlns:p14="http://schemas.microsoft.com/office/powerpoint/2010/main" val="1440957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D270E6BF-C714-F942-B014-C987DE5AF69B}"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C19E977-AD47-AB48-B804-C53209B60B6F}" type="slidenum">
              <a:rPr lang="en-US" altLang="en-US"/>
              <a:pPr>
                <a:defRPr/>
              </a:pPr>
              <a:t>‹#›</a:t>
            </a:fld>
            <a:endParaRPr lang="en-US" altLang="en-US" dirty="0"/>
          </a:p>
        </p:txBody>
      </p:sp>
    </p:spTree>
    <p:extLst>
      <p:ext uri="{BB962C8B-B14F-4D97-AF65-F5344CB8AC3E}">
        <p14:creationId xmlns:p14="http://schemas.microsoft.com/office/powerpoint/2010/main" val="991463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A686D410-C573-004D-94DC-64AEC70E0AD7}" type="datetime1">
              <a:rPr lang="en-US" altLang="en-US"/>
              <a:pPr>
                <a:defRPr/>
              </a:pPr>
              <a:t>6/6/24</a:t>
            </a:fld>
            <a:endParaRPr lang="en-US" alt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4526BA28-7034-8B48-A981-26A1B1A916B9}" type="slidenum">
              <a:rPr lang="en-US" altLang="en-US"/>
              <a:pPr>
                <a:defRPr/>
              </a:pPr>
              <a:t>‹#›</a:t>
            </a:fld>
            <a:endParaRPr lang="en-US" altLang="en-US" dirty="0"/>
          </a:p>
        </p:txBody>
      </p:sp>
    </p:spTree>
    <p:extLst>
      <p:ext uri="{BB962C8B-B14F-4D97-AF65-F5344CB8AC3E}">
        <p14:creationId xmlns:p14="http://schemas.microsoft.com/office/powerpoint/2010/main" val="1207914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036C052-F1E5-4145-A46C-12D17F03928B}" type="datetime1">
              <a:rPr lang="en-US" altLang="en-US"/>
              <a:pPr>
                <a:defRPr/>
              </a:pPr>
              <a:t>6/6/24</a:t>
            </a:fld>
            <a:endParaRPr lang="en-US" alt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C77CD2E9-6807-AD44-8BD1-FBC5EBBD05AC}" type="slidenum">
              <a:rPr lang="en-US" altLang="en-US"/>
              <a:pPr>
                <a:defRPr/>
              </a:pPr>
              <a:t>‹#›</a:t>
            </a:fld>
            <a:endParaRPr lang="en-US" altLang="en-US" dirty="0"/>
          </a:p>
        </p:txBody>
      </p:sp>
    </p:spTree>
    <p:extLst>
      <p:ext uri="{BB962C8B-B14F-4D97-AF65-F5344CB8AC3E}">
        <p14:creationId xmlns:p14="http://schemas.microsoft.com/office/powerpoint/2010/main" val="1263296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F63ADD9-BE05-5C4E-AD56-4BA3123E000A}" type="datetime1">
              <a:rPr lang="en-US" altLang="en-US"/>
              <a:pPr>
                <a:defRPr/>
              </a:pPr>
              <a:t>6/6/24</a:t>
            </a:fld>
            <a:endParaRPr lang="en-US" alt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F326BBA-4ED8-BD4B-954F-9F786A14EE0D}" type="slidenum">
              <a:rPr lang="en-US" altLang="en-US"/>
              <a:pPr>
                <a:defRPr/>
              </a:pPr>
              <a:t>‹#›</a:t>
            </a:fld>
            <a:endParaRPr lang="en-US" altLang="en-US" dirty="0"/>
          </a:p>
        </p:txBody>
      </p:sp>
    </p:spTree>
    <p:extLst>
      <p:ext uri="{BB962C8B-B14F-4D97-AF65-F5344CB8AC3E}">
        <p14:creationId xmlns:p14="http://schemas.microsoft.com/office/powerpoint/2010/main" val="55339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6715A5E-F516-3840-8715-BF05C48607E3}"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857564F-E7EB-3B42-8D65-E4864A1147D8}" type="slidenum">
              <a:rPr lang="en-US" altLang="en-US"/>
              <a:pPr>
                <a:defRPr/>
              </a:pPr>
              <a:t>‹#›</a:t>
            </a:fld>
            <a:endParaRPr lang="en-US" altLang="en-US" dirty="0"/>
          </a:p>
        </p:txBody>
      </p:sp>
    </p:spTree>
    <p:extLst>
      <p:ext uri="{BB962C8B-B14F-4D97-AF65-F5344CB8AC3E}">
        <p14:creationId xmlns:p14="http://schemas.microsoft.com/office/powerpoint/2010/main" val="238876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63E092-96F5-A041-A6CE-01118FB2250B}"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A526D2C3-7661-054D-8787-C2CE8A5AED02}" type="slidenum">
              <a:rPr lang="en-US" altLang="en-US"/>
              <a:pPr>
                <a:defRPr/>
              </a:pPr>
              <a:t>‹#›</a:t>
            </a:fld>
            <a:endParaRPr lang="en-US" altLang="en-US" dirty="0"/>
          </a:p>
        </p:txBody>
      </p:sp>
    </p:spTree>
    <p:extLst>
      <p:ext uri="{BB962C8B-B14F-4D97-AF65-F5344CB8AC3E}">
        <p14:creationId xmlns:p14="http://schemas.microsoft.com/office/powerpoint/2010/main" val="1155676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AC2247-9313-3149-BF8E-5872F1ECC0A0}"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2A7F4A9-6E59-AC42-B0F8-4EEE133554DC}" type="slidenum">
              <a:rPr lang="en-US" altLang="en-US"/>
              <a:pPr>
                <a:defRPr/>
              </a:pPr>
              <a:t>‹#›</a:t>
            </a:fld>
            <a:endParaRPr lang="en-US" altLang="en-US" dirty="0"/>
          </a:p>
        </p:txBody>
      </p:sp>
    </p:spTree>
    <p:extLst>
      <p:ext uri="{BB962C8B-B14F-4D97-AF65-F5344CB8AC3E}">
        <p14:creationId xmlns:p14="http://schemas.microsoft.com/office/powerpoint/2010/main" val="1615437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6CA4756-64B3-6B4A-9F61-175390010E83}"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B280C6D-072D-0343-9FD4-8B3545C204FF}" type="slidenum">
              <a:rPr lang="en-US" altLang="en-US"/>
              <a:pPr>
                <a:defRPr/>
              </a:pPr>
              <a:t>‹#›</a:t>
            </a:fld>
            <a:endParaRPr lang="en-US" altLang="en-US" dirty="0"/>
          </a:p>
        </p:txBody>
      </p:sp>
    </p:spTree>
    <p:extLst>
      <p:ext uri="{BB962C8B-B14F-4D97-AF65-F5344CB8AC3E}">
        <p14:creationId xmlns:p14="http://schemas.microsoft.com/office/powerpoint/2010/main" val="1587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smtClean="0">
                <a:solidFill>
                  <a:srgbClr val="898989"/>
                </a:solidFill>
              </a:defRPr>
            </a:lvl1pPr>
          </a:lstStyle>
          <a:p>
            <a:pPr>
              <a:defRPr/>
            </a:pPr>
            <a:fld id="{A5C7126B-8F49-B049-92ED-CF1C63E62573}" type="datetime1">
              <a:rPr lang="en-US" altLang="en-US"/>
              <a:pPr>
                <a:defRPr/>
              </a:pPr>
              <a:t>6/6/24</a:t>
            </a:fld>
            <a:endParaRPr lang="en-US" alt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AE682154-A42B-044C-8377-9BDA7394AA41}"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781" r:id="rId1"/>
    <p:sldLayoutId id="214748379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5pPr>
      <a:lvl6pPr marL="457200" algn="ctr" rtl="0" eaLnBrk="1" fontAlgn="base" hangingPunct="1">
        <a:spcBef>
          <a:spcPct val="0"/>
        </a:spcBef>
        <a:spcAft>
          <a:spcPct val="0"/>
        </a:spcAft>
        <a:defRPr sz="4400">
          <a:solidFill>
            <a:schemeClr val="tx1"/>
          </a:solidFill>
          <a:latin typeface="Arial Black" pitchFamily="34" charset="0"/>
        </a:defRPr>
      </a:lvl6pPr>
      <a:lvl7pPr marL="914400" algn="ctr" rtl="0" eaLnBrk="1" fontAlgn="base" hangingPunct="1">
        <a:spcBef>
          <a:spcPct val="0"/>
        </a:spcBef>
        <a:spcAft>
          <a:spcPct val="0"/>
        </a:spcAft>
        <a:defRPr sz="4400">
          <a:solidFill>
            <a:schemeClr val="tx1"/>
          </a:solidFill>
          <a:latin typeface="Arial Black" pitchFamily="34" charset="0"/>
        </a:defRPr>
      </a:lvl7pPr>
      <a:lvl8pPr marL="1371600" algn="ctr" rtl="0" eaLnBrk="1" fontAlgn="base" hangingPunct="1">
        <a:spcBef>
          <a:spcPct val="0"/>
        </a:spcBef>
        <a:spcAft>
          <a:spcPct val="0"/>
        </a:spcAft>
        <a:defRPr sz="4400">
          <a:solidFill>
            <a:schemeClr val="tx1"/>
          </a:solidFill>
          <a:latin typeface="Arial Black" pitchFamily="34" charset="0"/>
        </a:defRPr>
      </a:lvl8pPr>
      <a:lvl9pPr marL="1828800" algn="ctr" rtl="0" eaLnBrk="1" fontAlgn="base" hangingPunct="1">
        <a:spcBef>
          <a:spcPct val="0"/>
        </a:spcBef>
        <a:spcAft>
          <a:spcPct val="0"/>
        </a:spcAft>
        <a:defRPr sz="4400">
          <a:solidFill>
            <a:schemeClr val="tx1"/>
          </a:solidFill>
          <a:latin typeface="Arial Black" pitchFamily="34" charset="0"/>
        </a:defRPr>
      </a:lvl9pPr>
    </p:titleStyle>
    <p:body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digital.wwnorton.com/bornfire5"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5" descr="Cover: Born in Blood and Fire, A concise history of Latin America, by John Charles Chasteen. The cover image shows a crowded place with people doing various activities and a few guards with weapons."/>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4559300" y="0"/>
            <a:ext cx="4584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2431D351-4D8B-97D3-0470-250B14CD402B}"/>
              </a:ext>
            </a:extLst>
          </p:cNvPr>
          <p:cNvSpPr>
            <a:spLocks noGrp="1"/>
          </p:cNvSpPr>
          <p:nvPr>
            <p:ph type="ctrTitle"/>
          </p:nvPr>
        </p:nvSpPr>
        <p:spPr>
          <a:xfrm>
            <a:off x="381000" y="714375"/>
            <a:ext cx="3981450" cy="1571625"/>
          </a:xfrm>
        </p:spPr>
        <p:txBody>
          <a:bodyPr/>
          <a:lstStyle/>
          <a:p>
            <a:pPr eaLnBrk="1" hangingPunct="1"/>
            <a:r>
              <a:rPr lang="en-US" altLang="en-US" sz="2800" b="1" dirty="0">
                <a:latin typeface="Times New Roman" charset="0"/>
                <a:ea typeface="Times New Roman" charset="0"/>
                <a:cs typeface="Times New Roman" charset="0"/>
              </a:rPr>
              <a:t>Born in Blood &amp; Fire</a:t>
            </a:r>
            <a:br>
              <a:rPr lang="en-US" altLang="en-US" sz="2800" b="1"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A Concise History of Latin America</a:t>
            </a:r>
            <a:br>
              <a:rPr lang="en-US" altLang="en-US" sz="2000"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5</a:t>
            </a:r>
            <a:r>
              <a:rPr lang="en-US" altLang="en-US" sz="2000" baseline="30000" dirty="0">
                <a:latin typeface="Times New Roman" charset="0"/>
                <a:ea typeface="Times New Roman" charset="0"/>
                <a:cs typeface="Times New Roman" charset="0"/>
              </a:rPr>
              <a:t>th</a:t>
            </a:r>
            <a:r>
              <a:rPr lang="en-US" altLang="en-US" sz="2000" dirty="0">
                <a:latin typeface="Times New Roman" charset="0"/>
                <a:ea typeface="Times New Roman" charset="0"/>
                <a:cs typeface="Times New Roman" charset="0"/>
              </a:rPr>
              <a:t> Edition</a:t>
            </a:r>
            <a:endParaRPr lang="en-US" altLang="en-US" sz="2800" dirty="0">
              <a:latin typeface="Times New Roman" charset="0"/>
              <a:ea typeface="Times New Roman" charset="0"/>
              <a:cs typeface="Times New Roman" charset="0"/>
            </a:endParaRPr>
          </a:p>
        </p:txBody>
      </p:sp>
      <p:sp>
        <p:nvSpPr>
          <p:cNvPr id="5" name="Text Placeholder 9">
            <a:extLst>
              <a:ext uri="{FF2B5EF4-FFF2-40B4-BE49-F238E27FC236}">
                <a16:creationId xmlns:a16="http://schemas.microsoft.com/office/drawing/2014/main" id="{24E880E0-A6AE-2542-BD8F-D7BB61D4E455}"/>
              </a:ext>
            </a:extLst>
          </p:cNvPr>
          <p:cNvSpPr txBox="1">
            <a:spLocks/>
          </p:cNvSpPr>
          <p:nvPr/>
        </p:nvSpPr>
        <p:spPr bwMode="auto">
          <a:xfrm>
            <a:off x="745529" y="2286000"/>
            <a:ext cx="3252391" cy="385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r>
              <a:rPr lang="en-US" altLang="en-US" sz="1800" dirty="0">
                <a:latin typeface="Times New Roman" charset="0"/>
                <a:ea typeface="Times New Roman" charset="0"/>
                <a:cs typeface="Times New Roman" charset="0"/>
              </a:rPr>
              <a:t>By</a:t>
            </a:r>
          </a:p>
          <a:p>
            <a:pPr marL="0" indent="0" algn="ctr" eaLnBrk="1" hangingPunct="1"/>
            <a:r>
              <a:rPr lang="en-US" altLang="en-US" sz="1800" dirty="0">
                <a:latin typeface="Times New Roman" charset="0"/>
                <a:ea typeface="Times New Roman" charset="0"/>
                <a:cs typeface="Times New Roman" charset="0"/>
              </a:rPr>
              <a:t>John Charles Chasteen</a:t>
            </a:r>
          </a:p>
          <a:p>
            <a:pPr marL="0" indent="0" algn="ctr" eaLnBrk="1" hangingPunct="1"/>
            <a:endParaRPr lang="en-US" altLang="en-US" dirty="0">
              <a:latin typeface="Times New Roman" charset="0"/>
              <a:ea typeface="Times New Roman" charset="0"/>
              <a:cs typeface="Times New Roman" charset="0"/>
            </a:endParaRPr>
          </a:p>
          <a:p>
            <a:pPr marL="0" indent="0" algn="ctr" eaLnBrk="1" hangingPunct="1"/>
            <a:r>
              <a:rPr lang="en-US" altLang="en-US" dirty="0">
                <a:latin typeface="Times New Roman" charset="0"/>
                <a:ea typeface="Times New Roman" charset="0"/>
                <a:cs typeface="Times New Roman" charset="0"/>
              </a:rPr>
              <a:t>Chapter 9:</a:t>
            </a:r>
          </a:p>
          <a:p>
            <a:pPr marL="0" indent="0" algn="ctr" eaLnBrk="1" hangingPunct="1"/>
            <a:r>
              <a:rPr lang="en-US" altLang="en-US" dirty="0">
                <a:latin typeface="Times New Roman" charset="0"/>
                <a:ea typeface="Times New Roman" charset="0"/>
                <a:cs typeface="Times New Roman" charset="0"/>
              </a:rPr>
              <a:t>Revolution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oup of revolutionists, both men and women, pose for a photograph with guns in their hands. Several are smiling at the camera."/>
          <p:cNvPicPr>
            <a:picLocks noChangeAspect="1"/>
          </p:cNvPicPr>
          <p:nvPr/>
        </p:nvPicPr>
        <p:blipFill rotWithShape="1">
          <a:blip r:embed="rId3">
            <a:extLst>
              <a:ext uri="{28A0092B-C50C-407E-A947-70E740481C1C}">
                <a14:useLocalDpi xmlns:a14="http://schemas.microsoft.com/office/drawing/2010/main" val="0"/>
              </a:ext>
            </a:extLst>
          </a:blip>
          <a:srcRect b="3319"/>
          <a:stretch/>
        </p:blipFill>
        <p:spPr>
          <a:xfrm>
            <a:off x="1834288" y="1041951"/>
            <a:ext cx="5475423" cy="5385162"/>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7" name="Title 3">
            <a:extLst>
              <a:ext uri="{FF2B5EF4-FFF2-40B4-BE49-F238E27FC236}">
                <a16:creationId xmlns:a16="http://schemas.microsoft.com/office/drawing/2014/main" id="{A156AFA2-1FBF-A0A8-1C2D-FC70D1FF17D4}"/>
              </a:ext>
            </a:extLst>
          </p:cNvPr>
          <p:cNvSpPr>
            <a:spLocks noGrp="1"/>
          </p:cNvSpPr>
          <p:nvPr>
            <p:ph type="title"/>
          </p:nvPr>
        </p:nvSpPr>
        <p:spPr>
          <a:xfrm>
            <a:off x="457200" y="0"/>
            <a:ext cx="8229600" cy="1143000"/>
          </a:xfrm>
        </p:spPr>
        <p:txBody>
          <a:bodyPr/>
          <a:lstStyle/>
          <a:p>
            <a:r>
              <a:rPr lang="en-US" sz="4000" dirty="0">
                <a:latin typeface="Times New Roman" charset="0"/>
                <a:ea typeface="Times New Roman" charset="0"/>
                <a:cs typeface="Times New Roman" charset="0"/>
              </a:rPr>
              <a:t>Cuban Revolutionaries of 1959</a:t>
            </a:r>
          </a:p>
        </p:txBody>
      </p:sp>
    </p:spTree>
    <p:extLst>
      <p:ext uri="{BB962C8B-B14F-4D97-AF65-F5344CB8AC3E}">
        <p14:creationId xmlns:p14="http://schemas.microsoft.com/office/powerpoint/2010/main" val="1771428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6"/>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Postwar Latin America</a:t>
            </a:r>
          </a:p>
        </p:txBody>
      </p:sp>
      <p:sp>
        <p:nvSpPr>
          <p:cNvPr id="15362" name="Content Placeholder 7"/>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Wartime industrialization slowed.</a:t>
            </a:r>
          </a:p>
          <a:p>
            <a:pPr lvl="1" eaLnBrk="1" hangingPunct="1"/>
            <a:r>
              <a:rPr lang="en-US" altLang="en-US" dirty="0">
                <a:solidFill>
                  <a:schemeClr val="tx1"/>
                </a:solidFill>
                <a:latin typeface="Times New Roman" charset="0"/>
                <a:ea typeface="Times New Roman" charset="0"/>
                <a:cs typeface="Times New Roman" charset="0"/>
              </a:rPr>
              <a:t>Population growth accelerated. </a:t>
            </a:r>
          </a:p>
          <a:p>
            <a:pPr lvl="1" eaLnBrk="1" hangingPunct="1"/>
            <a:r>
              <a:rPr lang="en-US" altLang="en-US" dirty="0">
                <a:solidFill>
                  <a:schemeClr val="tx1"/>
                </a:solidFill>
                <a:latin typeface="Times New Roman" charset="0"/>
                <a:ea typeface="Times New Roman" charset="0"/>
                <a:cs typeface="Times New Roman" charset="0"/>
              </a:rPr>
              <a:t>Cities grew rapidly.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Revolution </a:t>
            </a:r>
          </a:p>
        </p:txBody>
      </p:sp>
      <p:sp>
        <p:nvSpPr>
          <p:cNvPr id="1741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Carolina Maria de Jesús</a:t>
            </a:r>
          </a:p>
          <a:p>
            <a:pPr lvl="2" eaLnBrk="1" hangingPunct="1"/>
            <a:r>
              <a:rPr lang="en-US" altLang="en-US" dirty="0">
                <a:latin typeface="Times New Roman" charset="0"/>
                <a:ea typeface="Times New Roman" charset="0"/>
                <a:cs typeface="Times New Roman" charset="0"/>
              </a:rPr>
              <a:t>Shantytowns</a:t>
            </a:r>
          </a:p>
          <a:p>
            <a:pPr lvl="1" eaLnBrk="1" hangingPunct="1"/>
            <a:r>
              <a:rPr lang="en-US" altLang="en-US" dirty="0">
                <a:solidFill>
                  <a:schemeClr val="tx1"/>
                </a:solidFill>
                <a:latin typeface="Times New Roman" charset="0"/>
                <a:ea typeface="Times New Roman" charset="0"/>
                <a:cs typeface="Times New Roman" charset="0"/>
              </a:rPr>
              <a:t>Revolutionary option</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Many believed change was necessary.</a:t>
            </a:r>
          </a:p>
          <a:p>
            <a:pPr lvl="2" eaLnBrk="1" hangingPunct="1"/>
            <a:r>
              <a:rPr lang="en-US" altLang="en-US" dirty="0">
                <a:latin typeface="Times New Roman" charset="0"/>
                <a:ea typeface="Times New Roman" charset="0"/>
                <a:cs typeface="Times New Roman" charset="0"/>
              </a:rPr>
              <a:t>Revived accusations of U.S. imperialism</a:t>
            </a:r>
          </a:p>
          <a:p>
            <a:pPr lvl="2" eaLnBrk="1" hangingPunct="1"/>
            <a:r>
              <a:rPr lang="en-US" altLang="en-US" dirty="0">
                <a:latin typeface="Times New Roman" charset="0"/>
                <a:ea typeface="Times New Roman" charset="0"/>
                <a:cs typeface="Times New Roman" charset="0"/>
              </a:rPr>
              <a:t>Some joined nationalism with Marxism. </a:t>
            </a:r>
          </a:p>
          <a:p>
            <a:pPr lvl="2" eaLnBrk="1" hangingPunct="1"/>
            <a:r>
              <a:rPr lang="en-US" altLang="en-US" dirty="0">
                <a:latin typeface="Times New Roman" charset="0"/>
                <a:ea typeface="Times New Roman" charset="0"/>
                <a:cs typeface="Times New Roman" charset="0"/>
              </a:rPr>
              <a:t>Populists looked to common people without becoming Marxist.</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Content Placeholder 2"/>
          <p:cNvSpPr>
            <a:spLocks noGrp="1"/>
          </p:cNvSpPr>
          <p:nvPr>
            <p:ph idx="1"/>
          </p:nvPr>
        </p:nvSpPr>
        <p:spPr/>
        <p:txBody>
          <a:bodyPr/>
          <a:lstStyle/>
          <a:p>
            <a:pPr marL="800100" lvl="1" indent="-457200" eaLnBrk="1" hangingPunct="1">
              <a:defRPr/>
            </a:pPr>
            <a:r>
              <a:rPr lang="en-US" altLang="en-US" dirty="0">
                <a:solidFill>
                  <a:schemeClr val="tx1"/>
                </a:solidFill>
                <a:latin typeface="Times New Roman" charset="0"/>
                <a:ea typeface="Times New Roman" charset="0"/>
                <a:cs typeface="Times New Roman" charset="0"/>
              </a:rPr>
              <a:t>Populism was leadership style focused on:</a:t>
            </a:r>
          </a:p>
          <a:p>
            <a:pPr marL="1200150" lvl="2" indent="-457200" eaLnBrk="1" hangingPunct="1">
              <a:defRPr/>
            </a:pPr>
            <a:r>
              <a:rPr lang="en-US" altLang="en-US" dirty="0">
                <a:solidFill>
                  <a:schemeClr val="tx1"/>
                </a:solidFill>
                <a:latin typeface="Times New Roman" charset="0"/>
                <a:ea typeface="Times New Roman" charset="0"/>
                <a:cs typeface="Times New Roman" charset="0"/>
              </a:rPr>
              <a:t>Mass politics</a:t>
            </a:r>
          </a:p>
          <a:p>
            <a:pPr marL="1200150" lvl="2" indent="-457200" eaLnBrk="1" hangingPunct="1">
              <a:defRPr/>
            </a:pPr>
            <a:r>
              <a:rPr lang="en-US" altLang="en-US" dirty="0">
                <a:solidFill>
                  <a:schemeClr val="tx1"/>
                </a:solidFill>
                <a:latin typeface="Times New Roman" charset="0"/>
                <a:ea typeface="Times New Roman" charset="0"/>
                <a:cs typeface="Times New Roman" charset="0"/>
              </a:rPr>
              <a:t>Winning elections</a:t>
            </a:r>
          </a:p>
          <a:p>
            <a:pPr marL="800100" lvl="1" indent="-457200" eaLnBrk="1" hangingPunct="1">
              <a:defRPr/>
            </a:pPr>
            <a:r>
              <a:rPr lang="en-US" altLang="en-US" dirty="0">
                <a:solidFill>
                  <a:schemeClr val="tx1"/>
                </a:solidFill>
                <a:latin typeface="Times New Roman" charset="0"/>
                <a:ea typeface="Times New Roman" charset="0"/>
                <a:cs typeface="Times New Roman" charset="0"/>
              </a:rPr>
              <a:t>Voting changes in postwar Latin America</a:t>
            </a:r>
          </a:p>
          <a:p>
            <a:pPr marL="1200150" lvl="2" indent="-457200" eaLnBrk="1" hangingPunct="1">
              <a:defRPr/>
            </a:pPr>
            <a:r>
              <a:rPr lang="en-US" altLang="en-US" dirty="0">
                <a:solidFill>
                  <a:schemeClr val="tx1"/>
                </a:solidFill>
                <a:latin typeface="Times New Roman" charset="0"/>
                <a:ea typeface="Times New Roman" charset="0"/>
                <a:cs typeface="Times New Roman" charset="0"/>
              </a:rPr>
              <a:t>Women</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suffrage </a:t>
            </a:r>
          </a:p>
          <a:p>
            <a:pPr marL="1200150" lvl="2" indent="-457200" eaLnBrk="1" hangingPunct="1">
              <a:defRPr/>
            </a:pPr>
            <a:r>
              <a:rPr lang="en-US" altLang="en-US" dirty="0">
                <a:solidFill>
                  <a:schemeClr val="tx1"/>
                </a:solidFill>
                <a:latin typeface="Times New Roman" charset="0"/>
                <a:ea typeface="Times New Roman" charset="0"/>
                <a:cs typeface="Times New Roman" charset="0"/>
              </a:rPr>
              <a:t>Lowered voting age to 18</a:t>
            </a:r>
          </a:p>
          <a:p>
            <a:pPr marL="1200150" lvl="2" indent="-457200" eaLnBrk="1" hangingPunct="1">
              <a:defRPr/>
            </a:pPr>
            <a:r>
              <a:rPr lang="en-US" altLang="en-US" dirty="0">
                <a:solidFill>
                  <a:schemeClr val="tx1"/>
                </a:solidFill>
                <a:latin typeface="Times New Roman" charset="0"/>
                <a:ea typeface="Times New Roman" charset="0"/>
                <a:cs typeface="Times New Roman" charset="0"/>
              </a:rPr>
              <a:t>Literacy requirements struck down</a:t>
            </a:r>
          </a:p>
          <a:p>
            <a:pPr eaLnBrk="1" hangingPunct="1">
              <a:buFont typeface="Wingdings" charset="2"/>
              <a:buNone/>
              <a:defRPr/>
            </a:pPr>
            <a:endParaRPr lang="en-US" altLang="en-US" dirty="0">
              <a:latin typeface="Times New Roman" charset="0"/>
              <a:ea typeface="Times New Roman" charset="0"/>
              <a:cs typeface="Times New Roman" charset="0"/>
            </a:endParaRPr>
          </a:p>
        </p:txBody>
      </p:sp>
      <p:sp>
        <p:nvSpPr>
          <p:cNvPr id="19458"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Post</a:t>
            </a:r>
            <a:r>
              <a:rPr lang="en-US" altLang="en-US" dirty="0">
                <a:solidFill>
                  <a:schemeClr val="tx1"/>
                </a:solidFill>
                <a:latin typeface="Calibri"/>
                <a:ea typeface="Times New Roman" charset="0"/>
                <a:cs typeface="Times New Roman" charset="0"/>
              </a:rPr>
              <a:t>–</a:t>
            </a:r>
            <a:r>
              <a:rPr lang="en-US" altLang="en-US" dirty="0">
                <a:solidFill>
                  <a:schemeClr val="tx1"/>
                </a:solidFill>
                <a:latin typeface="Times New Roman" charset="0"/>
                <a:ea typeface="Times New Roman" charset="0"/>
                <a:cs typeface="Times New Roman" charset="0"/>
              </a:rPr>
              <a:t>World War II Populism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Voting Coalitions</a:t>
            </a:r>
          </a:p>
        </p:txBody>
      </p:sp>
      <p:sp>
        <p:nvSpPr>
          <p:cNvPr id="21506" name="Content Placeholder 2"/>
          <p:cNvSpPr>
            <a:spLocks noGrp="1"/>
          </p:cNvSpPr>
          <p:nvPr>
            <p:ph idx="1"/>
          </p:nvPr>
        </p:nvSpPr>
        <p:spPr>
          <a:xfrm>
            <a:off x="457200" y="1600200"/>
            <a:ext cx="8229600" cy="4800600"/>
          </a:xfrm>
        </p:spPr>
        <p:txBody>
          <a:bodyPr/>
          <a:lstStyle/>
          <a:p>
            <a:pPr lvl="1" eaLnBrk="1" hangingPunct="1"/>
            <a:r>
              <a:rPr lang="en-US" altLang="en-US" dirty="0">
                <a:solidFill>
                  <a:schemeClr val="tx1"/>
                </a:solidFill>
                <a:latin typeface="Times New Roman" charset="0"/>
                <a:ea typeface="Times New Roman" charset="0"/>
                <a:cs typeface="Times New Roman" charset="0"/>
              </a:rPr>
              <a:t>Populist leaders depended on voting coalition of middle-class and industrial workers. </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Populist political tactics</a:t>
            </a:r>
          </a:p>
          <a:p>
            <a:pPr lvl="3" eaLnBrk="1" hangingPunct="1"/>
            <a:r>
              <a:rPr lang="en-US" altLang="en-US" dirty="0">
                <a:solidFill>
                  <a:schemeClr val="tx1"/>
                </a:solidFill>
                <a:latin typeface="Times New Roman" charset="0"/>
                <a:ea typeface="Times New Roman" charset="0"/>
                <a:cs typeface="Times New Roman" charset="0"/>
              </a:rPr>
              <a:t>Mass rallies </a:t>
            </a:r>
          </a:p>
          <a:p>
            <a:pPr lvl="3" eaLnBrk="1" hangingPunct="1"/>
            <a:r>
              <a:rPr lang="en-US" altLang="en-US" dirty="0">
                <a:solidFill>
                  <a:schemeClr val="tx1"/>
                </a:solidFill>
                <a:latin typeface="Times New Roman" charset="0"/>
                <a:ea typeface="Times New Roman" charset="0"/>
                <a:cs typeface="Times New Roman" charset="0"/>
              </a:rPr>
              <a:t>Radio</a:t>
            </a:r>
          </a:p>
          <a:p>
            <a:pPr lvl="3" eaLnBrk="1" hangingPunct="1"/>
            <a:r>
              <a:rPr lang="en-US" altLang="en-US" dirty="0">
                <a:solidFill>
                  <a:schemeClr val="tx1"/>
                </a:solidFill>
                <a:latin typeface="Times New Roman" charset="0"/>
                <a:ea typeface="Times New Roman" charset="0"/>
                <a:cs typeface="Times New Roman" charset="0"/>
              </a:rPr>
              <a:t>Bashed old hierarchies </a:t>
            </a:r>
          </a:p>
          <a:p>
            <a:pPr lvl="3" eaLnBrk="1" hangingPunct="1"/>
            <a:r>
              <a:rPr lang="en-US" altLang="en-US" dirty="0">
                <a:solidFill>
                  <a:schemeClr val="tx1"/>
                </a:solidFill>
                <a:latin typeface="Times New Roman" charset="0"/>
                <a:ea typeface="Times New Roman" charset="0"/>
                <a:cs typeface="Times New Roman" charset="0"/>
              </a:rPr>
              <a:t>Attracted working-class voters with promise of improved living conditions </a:t>
            </a:r>
          </a:p>
          <a:p>
            <a:pPr lvl="3" eaLnBrk="1" hangingPunct="1"/>
            <a:r>
              <a:rPr lang="en-US" altLang="en-US" dirty="0">
                <a:solidFill>
                  <a:schemeClr val="tx1"/>
                </a:solidFill>
                <a:latin typeface="Times New Roman" charset="0"/>
                <a:ea typeface="Times New Roman" charset="0"/>
                <a:cs typeface="Times New Roman" charset="0"/>
              </a:rPr>
              <a:t>Avoided class warfare</a:t>
            </a:r>
          </a:p>
          <a:p>
            <a:pPr lvl="2" eaLnBrk="1" hangingPunct="1"/>
            <a:r>
              <a:rPr lang="en-US" altLang="en-US" dirty="0">
                <a:latin typeface="Times New Roman" charset="0"/>
                <a:ea typeface="Times New Roman" charset="0"/>
                <a:cs typeface="Times New Roman" charset="0"/>
              </a:rPr>
              <a:t>Kept power from old power class of oligarchic and foreign interests </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Economic Policy Options</a:t>
            </a:r>
          </a:p>
        </p:txBody>
      </p:sp>
      <p:sp>
        <p:nvSpPr>
          <p:cNvPr id="2355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US economists recommend return to pre-1929 economy.</a:t>
            </a:r>
            <a:endParaRPr lang="en-US" altLang="en-US" sz="5400" dirty="0">
              <a:solidFill>
                <a:schemeClr val="tx1"/>
              </a:solidFill>
              <a:latin typeface="Times New Roman" charset="0"/>
              <a:ea typeface="Times New Roman" charset="0"/>
              <a:cs typeface="Times New Roman" charset="0"/>
            </a:endParaRPr>
          </a:p>
          <a:p>
            <a:pPr lvl="2" eaLnBrk="1" hangingPunct="1"/>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Comparative advantage</a:t>
            </a:r>
            <a:r>
              <a:rPr lang="ja-JP" altLang="en-US">
                <a:latin typeface="Times New Roman" charset="0"/>
                <a:ea typeface="Times New Roman" charset="0"/>
                <a:cs typeface="Times New Roman" charset="0"/>
              </a:rPr>
              <a:t>”</a:t>
            </a:r>
            <a:r>
              <a:rPr lang="en-US" altLang="ja-JP" dirty="0">
                <a:latin typeface="Calibri"/>
                <a:ea typeface="Times New Roman" charset="0"/>
                <a:cs typeface="Times New Roman" charset="0"/>
              </a:rPr>
              <a:t>—</a:t>
            </a:r>
            <a:r>
              <a:rPr lang="en-US" altLang="ja-JP" dirty="0">
                <a:latin typeface="Times New Roman" charset="0"/>
                <a:ea typeface="Times New Roman" charset="0"/>
                <a:cs typeface="Times New Roman" charset="0"/>
              </a:rPr>
              <a:t>countries should embrace what they do best</a:t>
            </a:r>
          </a:p>
          <a:p>
            <a:pPr lvl="3" eaLnBrk="1" hangingPunct="1"/>
            <a:r>
              <a:rPr lang="en-US" altLang="en-US" dirty="0">
                <a:solidFill>
                  <a:schemeClr val="tx1"/>
                </a:solidFill>
                <a:latin typeface="Times New Roman" charset="0"/>
                <a:ea typeface="Times New Roman" charset="0"/>
                <a:cs typeface="Times New Roman" charset="0"/>
              </a:rPr>
              <a:t>Industrial countries focus on producing finished products.</a:t>
            </a:r>
          </a:p>
          <a:p>
            <a:pPr lvl="3" eaLnBrk="1" hangingPunct="1"/>
            <a:r>
              <a:rPr lang="en-US" altLang="en-US" dirty="0">
                <a:solidFill>
                  <a:schemeClr val="tx1"/>
                </a:solidFill>
                <a:latin typeface="Times New Roman" charset="0"/>
                <a:ea typeface="Times New Roman" charset="0"/>
                <a:cs typeface="Times New Roman" charset="0"/>
              </a:rPr>
              <a:t>Improved living standards everywhere</a:t>
            </a:r>
          </a:p>
          <a:p>
            <a:pPr lvl="3" eaLnBrk="1" hangingPunct="1"/>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Developmentalist</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approach </a:t>
            </a:r>
          </a:p>
          <a:p>
            <a:pPr lvl="2" eaLnBrk="1" hangingPunct="1"/>
            <a:r>
              <a:rPr lang="en-US" altLang="en-US" dirty="0">
                <a:latin typeface="Times New Roman" charset="0"/>
                <a:ea typeface="Times New Roman" charset="0"/>
                <a:cs typeface="Times New Roman" charset="0"/>
              </a:rPr>
              <a:t>Economic Commission for Latin America (ECLA)</a:t>
            </a:r>
          </a:p>
          <a:p>
            <a:pPr lvl="3" eaLnBrk="1" hangingPunct="1"/>
            <a:r>
              <a:rPr lang="en-US" altLang="en-US" dirty="0">
                <a:solidFill>
                  <a:schemeClr val="tx1"/>
                </a:solidFill>
                <a:latin typeface="Times New Roman" charset="0"/>
                <a:ea typeface="Times New Roman" charset="0"/>
                <a:cs typeface="Times New Roman" charset="0"/>
              </a:rPr>
              <a:t>Set up by United Nations </a:t>
            </a:r>
          </a:p>
          <a:p>
            <a:pPr lvl="3" eaLnBrk="1" hangingPunct="1"/>
            <a:r>
              <a:rPr lang="en-US" altLang="en-US" dirty="0">
                <a:solidFill>
                  <a:schemeClr val="tx1"/>
                </a:solidFill>
                <a:latin typeface="Times New Roman" charset="0"/>
                <a:ea typeface="Times New Roman" charset="0"/>
                <a:cs typeface="Times New Roman" charset="0"/>
              </a:rPr>
              <a:t>Raúl Prebisch</a:t>
            </a:r>
          </a:p>
          <a:p>
            <a:pPr lvl="3" eaLnBrk="1" hangingPunct="1"/>
            <a:r>
              <a:rPr lang="en-US" altLang="en-US" dirty="0">
                <a:solidFill>
                  <a:schemeClr val="tx1"/>
                </a:solidFill>
                <a:latin typeface="Times New Roman" charset="0"/>
                <a:ea typeface="Times New Roman" charset="0"/>
                <a:cs typeface="Times New Roman" charset="0"/>
              </a:rPr>
              <a:t>Prebisch</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dependency</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model</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Obstacles to Nationalists</a:t>
            </a:r>
          </a:p>
        </p:txBody>
      </p:sp>
      <p:sp>
        <p:nvSpPr>
          <p:cNvPr id="25602"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Postwar nationalists confronted difficult problems.</a:t>
            </a:r>
          </a:p>
          <a:p>
            <a:pPr marL="1200150" lvl="2" indent="-457200" eaLnBrk="1" hangingPunct="1"/>
            <a:r>
              <a:rPr lang="en-US" altLang="en-US" dirty="0">
                <a:solidFill>
                  <a:schemeClr val="tx1"/>
                </a:solidFill>
                <a:latin typeface="Times New Roman" charset="0"/>
                <a:ea typeface="Times New Roman" charset="0"/>
                <a:cs typeface="Times New Roman" charset="0"/>
              </a:rPr>
              <a:t>Social inequality</a:t>
            </a:r>
          </a:p>
          <a:p>
            <a:pPr marL="1200150" lvl="2" indent="-457200" eaLnBrk="1" hangingPunct="1"/>
            <a:r>
              <a:rPr lang="en-US" altLang="en-US" dirty="0">
                <a:solidFill>
                  <a:schemeClr val="tx1"/>
                </a:solidFill>
                <a:latin typeface="Times New Roman" charset="0"/>
                <a:ea typeface="Times New Roman" charset="0"/>
                <a:cs typeface="Times New Roman" charset="0"/>
              </a:rPr>
              <a:t>Dwindling internal markets</a:t>
            </a:r>
          </a:p>
          <a:p>
            <a:pPr marL="1200150" lvl="2" indent="-457200" eaLnBrk="1" hangingPunct="1"/>
            <a:r>
              <a:rPr lang="en-US" altLang="en-US" dirty="0">
                <a:solidFill>
                  <a:schemeClr val="tx1"/>
                </a:solidFill>
                <a:latin typeface="Times New Roman" charset="0"/>
                <a:ea typeface="Times New Roman" charset="0"/>
                <a:cs typeface="Times New Roman" charset="0"/>
              </a:rPr>
              <a:t>Resurgent pre-war oligarchy</a:t>
            </a:r>
          </a:p>
          <a:p>
            <a:pPr marL="1200150" lvl="2" indent="-457200" eaLnBrk="1" hangingPunct="1"/>
            <a:r>
              <a:rPr lang="en-US" altLang="en-US" dirty="0">
                <a:solidFill>
                  <a:schemeClr val="tx1"/>
                </a:solidFill>
                <a:latin typeface="Times New Roman" charset="0"/>
                <a:ea typeface="Times New Roman" charset="0"/>
                <a:cs typeface="Times New Roman" charset="0"/>
              </a:rPr>
              <a:t>Hostility of United States</a:t>
            </a:r>
          </a:p>
          <a:p>
            <a:pPr marL="800100" indent="-457200" eaLnBrk="1" hangingPunct="1">
              <a:buFont typeface="Arial" charset="0"/>
              <a:buChar char="•"/>
            </a:pPr>
            <a:r>
              <a:rPr lang="en-US" altLang="en-US" sz="2800" dirty="0">
                <a:latin typeface="Times New Roman" charset="0"/>
                <a:ea typeface="Times New Roman" charset="0"/>
                <a:cs typeface="Times New Roman" charset="0"/>
              </a:rPr>
              <a:t>Populist politics responded to these problems.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Peronism</a:t>
            </a:r>
          </a:p>
        </p:txBody>
      </p:sp>
      <p:sp>
        <p:nvSpPr>
          <p:cNvPr id="27650"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The military governed Argentina through 1930s.</a:t>
            </a:r>
          </a:p>
          <a:p>
            <a:pPr marL="800100" lvl="1" indent="-457200" eaLnBrk="1" hangingPunct="1"/>
            <a:r>
              <a:rPr lang="en-US" altLang="en-US" dirty="0">
                <a:solidFill>
                  <a:schemeClr val="tx1"/>
                </a:solidFill>
                <a:latin typeface="Times New Roman" charset="0"/>
                <a:ea typeface="Times New Roman" charset="0"/>
                <a:cs typeface="Times New Roman" charset="0"/>
              </a:rPr>
              <a:t>Juan Perón was a nationalist army officer and secretary of labor.</a:t>
            </a:r>
          </a:p>
          <a:p>
            <a:pPr lvl="2" eaLnBrk="1" hangingPunct="1"/>
            <a:r>
              <a:rPr lang="en-US" altLang="en-US" dirty="0">
                <a:latin typeface="Times New Roman" charset="0"/>
                <a:ea typeface="Times New Roman" charset="0"/>
                <a:cs typeface="Times New Roman" charset="0"/>
              </a:rPr>
              <a:t>Strong following among working class</a:t>
            </a:r>
          </a:p>
          <a:p>
            <a:pPr lvl="2" eaLnBrk="1" hangingPunct="1"/>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Peronist Loyalty Day</a:t>
            </a:r>
            <a:r>
              <a:rPr lang="ja-JP" altLang="en-US" dirty="0">
                <a:latin typeface="Times New Roman" charset="0"/>
                <a:ea typeface="Times New Roman" charset="0"/>
                <a:cs typeface="Times New Roman" charset="0"/>
              </a:rPr>
              <a:t>”</a:t>
            </a:r>
            <a:endParaRPr lang="en-US" altLang="ja-JP" dirty="0">
              <a:latin typeface="Times New Roman" charset="0"/>
              <a:ea typeface="Times New Roman" charset="0"/>
              <a:cs typeface="Times New Roman" charset="0"/>
            </a:endParaRPr>
          </a:p>
          <a:p>
            <a:pPr marL="800100" lvl="1" indent="-457200" eaLnBrk="1" hangingPunct="1"/>
            <a:r>
              <a:rPr lang="en-US" altLang="en-US" dirty="0">
                <a:solidFill>
                  <a:schemeClr val="tx1"/>
                </a:solidFill>
                <a:latin typeface="Times New Roman" charset="0"/>
                <a:ea typeface="Times New Roman" charset="0"/>
                <a:cs typeface="Times New Roman" charset="0"/>
              </a:rPr>
              <a:t>Perón</a:t>
            </a:r>
            <a:r>
              <a:rPr lang="en-US" altLang="ja-JP" dirty="0">
                <a:solidFill>
                  <a:schemeClr val="tx1"/>
                </a:solidFill>
                <a:latin typeface="Times New Roman" charset="0"/>
                <a:ea typeface="Times New Roman" charset="0"/>
                <a:cs typeface="Times New Roman" charset="0"/>
              </a:rPr>
              <a:t>’s presidency, 1946–1955</a:t>
            </a:r>
          </a:p>
          <a:p>
            <a:pPr lvl="2" eaLnBrk="1" hangingPunct="1"/>
            <a:r>
              <a:rPr lang="en-US" altLang="en-US" dirty="0">
                <a:latin typeface="Times New Roman" charset="0"/>
                <a:ea typeface="Times New Roman" charset="0"/>
                <a:cs typeface="Times New Roman" charset="0"/>
              </a:rPr>
              <a:t>Rapid unionization of industrial workforce</a:t>
            </a:r>
          </a:p>
          <a:p>
            <a:pPr lvl="2" eaLnBrk="1" hangingPunct="1"/>
            <a:r>
              <a:rPr lang="en-US" altLang="en-US" dirty="0">
                <a:latin typeface="Times New Roman" charset="0"/>
                <a:ea typeface="Times New Roman" charset="0"/>
                <a:cs typeface="Times New Roman" charset="0"/>
              </a:rPr>
              <a:t>Raged at landowning class</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Eva Perón</a:t>
            </a:r>
          </a:p>
        </p:txBody>
      </p:sp>
      <p:sp>
        <p:nvSpPr>
          <p:cNvPr id="2969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Evita</a:t>
            </a:r>
          </a:p>
          <a:p>
            <a:pPr lvl="2" eaLnBrk="1" hangingPunct="1"/>
            <a:r>
              <a:rPr lang="en-US" altLang="en-US" dirty="0">
                <a:latin typeface="Times New Roman" charset="0"/>
                <a:ea typeface="Times New Roman" charset="0"/>
                <a:cs typeface="Times New Roman" charset="0"/>
              </a:rPr>
              <a:t>Eva Perón became very popular.</a:t>
            </a:r>
          </a:p>
          <a:p>
            <a:pPr lvl="3" eaLnBrk="1" hangingPunct="1"/>
            <a:r>
              <a:rPr lang="en-US" altLang="en-US" dirty="0">
                <a:solidFill>
                  <a:schemeClr val="tx1"/>
                </a:solidFill>
                <a:latin typeface="Times New Roman" charset="0"/>
                <a:ea typeface="Times New Roman" charset="0"/>
                <a:cs typeface="Times New Roman" charset="0"/>
              </a:rPr>
              <a:t>Glamorous radio actress</a:t>
            </a:r>
          </a:p>
          <a:p>
            <a:pPr lvl="3" eaLnBrk="1" hangingPunct="1"/>
            <a:r>
              <a:rPr lang="en-US" altLang="en-US" dirty="0">
                <a:solidFill>
                  <a:schemeClr val="tx1"/>
                </a:solidFill>
                <a:latin typeface="Times New Roman" charset="0"/>
                <a:ea typeface="Times New Roman" charset="0"/>
                <a:cs typeface="Times New Roman" charset="0"/>
              </a:rPr>
              <a:t>Grew up poor</a:t>
            </a:r>
          </a:p>
          <a:p>
            <a:pPr lvl="3" eaLnBrk="1" hangingPunct="1"/>
            <a:r>
              <a:rPr lang="en-US" altLang="en-US" dirty="0">
                <a:solidFill>
                  <a:schemeClr val="tx1"/>
                </a:solidFill>
                <a:latin typeface="Times New Roman" charset="0"/>
                <a:ea typeface="Times New Roman" charset="0"/>
                <a:cs typeface="Times New Roman" charset="0"/>
              </a:rPr>
              <a:t>Came from the countryside, like many workers</a:t>
            </a:r>
          </a:p>
          <a:p>
            <a:pPr lvl="3" eaLnBrk="1" hangingPunct="1"/>
            <a:r>
              <a:rPr lang="en-US" altLang="en-US" dirty="0">
                <a:solidFill>
                  <a:schemeClr val="tx1"/>
                </a:solidFill>
                <a:latin typeface="Times New Roman" charset="0"/>
                <a:ea typeface="Times New Roman" charset="0"/>
                <a:cs typeface="Times New Roman" charset="0"/>
              </a:rPr>
              <a:t>Social Aid Foundation</a:t>
            </a:r>
          </a:p>
          <a:p>
            <a:pPr lvl="2" eaLnBrk="1" hangingPunct="1"/>
            <a:r>
              <a:rPr lang="en-US" altLang="en-US" dirty="0">
                <a:latin typeface="Times New Roman" charset="0"/>
                <a:ea typeface="Times New Roman" charset="0"/>
                <a:cs typeface="Times New Roman" charset="0"/>
              </a:rPr>
              <a:t>Helped reinforce patriarchal traditions</a:t>
            </a:r>
          </a:p>
          <a:p>
            <a:pPr lvl="2" eaLnBrk="1" hangingPunct="1"/>
            <a:r>
              <a:rPr lang="en-US" altLang="en-US" dirty="0">
                <a:latin typeface="Times New Roman" charset="0"/>
                <a:ea typeface="Times New Roman" charset="0"/>
                <a:cs typeface="Times New Roman" charset="0"/>
              </a:rPr>
              <a:t>Death prompted mass demonstrations of grief</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Peronist Policy</a:t>
            </a:r>
          </a:p>
        </p:txBody>
      </p:sp>
      <p:sp>
        <p:nvSpPr>
          <p:cNvPr id="3174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Nationalism guided Peronist economics.</a:t>
            </a:r>
          </a:p>
          <a:p>
            <a:pPr lvl="2" eaLnBrk="1" hangingPunct="1"/>
            <a:r>
              <a:rPr lang="en-US" altLang="en-US" dirty="0">
                <a:latin typeface="Times New Roman" charset="0"/>
                <a:ea typeface="Times New Roman" charset="0"/>
                <a:cs typeface="Times New Roman" charset="0"/>
              </a:rPr>
              <a:t>Sought to nationalize foreign-owned companies</a:t>
            </a:r>
          </a:p>
          <a:p>
            <a:pPr lvl="2" eaLnBrk="1" hangingPunct="1"/>
            <a:r>
              <a:rPr lang="en-US" altLang="en-US" dirty="0">
                <a:latin typeface="Times New Roman" charset="0"/>
                <a:ea typeface="Times New Roman" charset="0"/>
                <a:cs typeface="Times New Roman" charset="0"/>
              </a:rPr>
              <a:t>Expanded social services</a:t>
            </a:r>
          </a:p>
          <a:p>
            <a:pPr lvl="2" eaLnBrk="1" hangingPunct="1"/>
            <a:r>
              <a:rPr lang="en-US" altLang="en-US" dirty="0">
                <a:latin typeface="Times New Roman" charset="0"/>
                <a:ea typeface="Times New Roman" charset="0"/>
                <a:cs typeface="Times New Roman" charset="0"/>
              </a:rPr>
              <a:t>Expanded bureaucracy </a:t>
            </a:r>
          </a:p>
          <a:p>
            <a:pPr lvl="2" eaLnBrk="1" hangingPunct="1"/>
            <a:r>
              <a:rPr lang="en-US" altLang="en-US" dirty="0">
                <a:latin typeface="Times New Roman" charset="0"/>
                <a:ea typeface="Times New Roman" charset="0"/>
                <a:cs typeface="Times New Roman" charset="0"/>
              </a:rPr>
              <a:t>Five-year industrialization plan</a:t>
            </a:r>
          </a:p>
          <a:p>
            <a:pPr lvl="2" eaLnBrk="1" hangingPunct="1"/>
            <a:r>
              <a:rPr lang="en-US" altLang="en-US" dirty="0">
                <a:latin typeface="Times New Roman" charset="0"/>
                <a:ea typeface="Times New Roman" charset="0"/>
                <a:cs typeface="Times New Roman" charset="0"/>
              </a:rPr>
              <a:t>Conflict with Vatican</a:t>
            </a:r>
          </a:p>
          <a:p>
            <a:pPr lvl="1" eaLnBrk="1" hangingPunct="1"/>
            <a:r>
              <a:rPr lang="en-US" altLang="en-US" dirty="0">
                <a:solidFill>
                  <a:schemeClr val="tx1"/>
                </a:solidFill>
                <a:latin typeface="Times New Roman" charset="0"/>
                <a:ea typeface="Times New Roman" charset="0"/>
                <a:cs typeface="Times New Roman" charset="0"/>
              </a:rPr>
              <a:t>Perón was exiled by the military in 1955.</a:t>
            </a:r>
          </a:p>
          <a:p>
            <a:pPr lvl="2" eaLnBrk="1" hangingPunct="1"/>
            <a:r>
              <a:rPr lang="en-US" altLang="en-US" dirty="0">
                <a:latin typeface="Times New Roman" charset="0"/>
                <a:ea typeface="Times New Roman" charset="0"/>
                <a:cs typeface="Times New Roman" charset="0"/>
              </a:rPr>
              <a:t>Remained popular even from exile</a:t>
            </a:r>
          </a:p>
          <a:p>
            <a:pPr lvl="2" eaLnBrk="1" hangingPunct="1"/>
            <a:r>
              <a:rPr lang="en-US" altLang="en-US" dirty="0">
                <a:latin typeface="Times New Roman" charset="0"/>
                <a:ea typeface="Times New Roman" charset="0"/>
                <a:cs typeface="Times New Roman" charset="0"/>
              </a:rPr>
              <a:t>In 1957, a quarter of the electorate voided ballots.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Post</a:t>
            </a:r>
            <a:r>
              <a:rPr lang="en-US" altLang="en-US" dirty="0">
                <a:solidFill>
                  <a:schemeClr val="tx1"/>
                </a:solidFill>
                <a:latin typeface="Calibri"/>
                <a:ea typeface="Times New Roman" charset="0"/>
                <a:cs typeface="Times New Roman" charset="0"/>
              </a:rPr>
              <a:t>–</a:t>
            </a:r>
            <a:r>
              <a:rPr lang="en-US" altLang="en-US" dirty="0">
                <a:solidFill>
                  <a:schemeClr val="tx1"/>
                </a:solidFill>
                <a:latin typeface="Times New Roman" charset="0"/>
                <a:ea typeface="Times New Roman" charset="0"/>
                <a:cs typeface="Times New Roman" charset="0"/>
              </a:rPr>
              <a:t>World War II Brazil</a:t>
            </a:r>
          </a:p>
        </p:txBody>
      </p:sp>
      <p:sp>
        <p:nvSpPr>
          <p:cNvPr id="33794"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Vargas ousted by the military in 1945.</a:t>
            </a:r>
          </a:p>
          <a:p>
            <a:pPr lvl="2" eaLnBrk="1" hangingPunct="1"/>
            <a:r>
              <a:rPr lang="en-US" altLang="en-US" dirty="0">
                <a:latin typeface="Times New Roman" charset="0"/>
                <a:ea typeface="Times New Roman" charset="0"/>
                <a:cs typeface="Times New Roman" charset="0"/>
              </a:rPr>
              <a:t>Founded two political parties</a:t>
            </a:r>
          </a:p>
          <a:p>
            <a:pPr lvl="2" eaLnBrk="1" hangingPunct="1"/>
            <a:r>
              <a:rPr lang="en-US" altLang="en-US" dirty="0">
                <a:latin typeface="Times New Roman" charset="0"/>
                <a:ea typeface="Times New Roman" charset="0"/>
                <a:cs typeface="Times New Roman" charset="0"/>
              </a:rPr>
              <a:t>Brazilian Workers</a:t>
            </a:r>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 Party</a:t>
            </a:r>
          </a:p>
          <a:p>
            <a:pPr lvl="2" eaLnBrk="1" hangingPunct="1"/>
            <a:r>
              <a:rPr lang="en-US" altLang="en-US" dirty="0">
                <a:latin typeface="Times New Roman" charset="0"/>
                <a:ea typeface="Times New Roman" charset="0"/>
                <a:cs typeface="Times New Roman" charset="0"/>
              </a:rPr>
              <a:t>Returned to presidency in 1950</a:t>
            </a:r>
          </a:p>
          <a:p>
            <a:pPr lvl="2" eaLnBrk="1" hangingPunct="1"/>
            <a:r>
              <a:rPr lang="en-US" altLang="en-US" dirty="0">
                <a:latin typeface="Times New Roman" charset="0"/>
                <a:ea typeface="Times New Roman" charset="0"/>
                <a:cs typeface="Times New Roman" charset="0"/>
              </a:rPr>
              <a:t>Committed suicide in office in 1954</a:t>
            </a:r>
          </a:p>
          <a:p>
            <a:pPr marL="800100" lvl="1" indent="-457200" eaLnBrk="1" hangingPunct="1"/>
            <a:r>
              <a:rPr lang="en-US" altLang="en-US" dirty="0">
                <a:solidFill>
                  <a:schemeClr val="tx1"/>
                </a:solidFill>
                <a:latin typeface="Times New Roman" charset="0"/>
                <a:ea typeface="Times New Roman" charset="0"/>
                <a:cs typeface="Times New Roman" charset="0"/>
              </a:rPr>
              <a:t>New capital at Brazilia</a:t>
            </a:r>
          </a:p>
          <a:p>
            <a:pPr lvl="2" eaLnBrk="1" hangingPunct="1"/>
            <a:r>
              <a:rPr lang="en-US" altLang="en-US" dirty="0">
                <a:latin typeface="Times New Roman" charset="0"/>
                <a:ea typeface="Times New Roman" charset="0"/>
                <a:cs typeface="Times New Roman" charset="0"/>
              </a:rPr>
              <a:t>Ultramodern design by Oscar Niemeyer</a:t>
            </a:r>
          </a:p>
          <a:p>
            <a:pPr lvl="2" eaLnBrk="1" hangingPunct="1"/>
            <a:r>
              <a:rPr lang="en-US" altLang="en-US" dirty="0">
                <a:latin typeface="Times New Roman" charset="0"/>
                <a:ea typeface="Times New Roman" charset="0"/>
                <a:cs typeface="Times New Roman" charset="0"/>
              </a:rPr>
              <a:t>Located in sparsely populated interior</a:t>
            </a:r>
          </a:p>
          <a:p>
            <a:pPr lvl="2" eaLnBrk="1" hangingPunct="1"/>
            <a:r>
              <a:rPr lang="en-US" altLang="en-US" dirty="0">
                <a:latin typeface="Times New Roman" charset="0"/>
                <a:ea typeface="Times New Roman" charset="0"/>
                <a:cs typeface="Times New Roman" charset="0"/>
              </a:rPr>
              <a:t>Period of great hardship</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Post</a:t>
            </a:r>
            <a:r>
              <a:rPr lang="en-US" altLang="en-US" dirty="0">
                <a:solidFill>
                  <a:schemeClr val="tx1"/>
                </a:solidFill>
                <a:latin typeface="Calibri"/>
                <a:ea typeface="Times New Roman" charset="0"/>
                <a:cs typeface="Times New Roman" charset="0"/>
              </a:rPr>
              <a:t>–</a:t>
            </a:r>
            <a:r>
              <a:rPr lang="en-US" altLang="en-US" dirty="0">
                <a:solidFill>
                  <a:schemeClr val="tx1"/>
                </a:solidFill>
                <a:latin typeface="Times New Roman" charset="0"/>
                <a:ea typeface="Times New Roman" charset="0"/>
                <a:cs typeface="Times New Roman" charset="0"/>
              </a:rPr>
              <a:t>World War II Mexico</a:t>
            </a:r>
          </a:p>
        </p:txBody>
      </p:sp>
      <p:sp>
        <p:nvSpPr>
          <p:cNvPr id="35842"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Institutional Revolutionary Party</a:t>
            </a:r>
          </a:p>
          <a:p>
            <a:pPr marL="1200150" lvl="2" indent="-457200" eaLnBrk="1" hangingPunct="1"/>
            <a:r>
              <a:rPr lang="en-US" altLang="en-US" dirty="0">
                <a:latin typeface="Times New Roman" charset="0"/>
                <a:ea typeface="Times New Roman" charset="0"/>
                <a:cs typeface="Times New Roman" charset="0"/>
              </a:rPr>
              <a:t>One-party system</a:t>
            </a:r>
            <a:endParaRPr lang="en-US" altLang="en-US" dirty="0">
              <a:solidFill>
                <a:schemeClr val="tx1"/>
              </a:solidFill>
              <a:latin typeface="Times New Roman" charset="0"/>
              <a:ea typeface="Times New Roman" charset="0"/>
              <a:cs typeface="Times New Roman" charset="0"/>
            </a:endParaRPr>
          </a:p>
          <a:p>
            <a:pPr marL="800100" lvl="1" indent="-457200" eaLnBrk="1" hangingPunct="1"/>
            <a:r>
              <a:rPr lang="en-US" altLang="en-US" dirty="0">
                <a:solidFill>
                  <a:schemeClr val="tx1"/>
                </a:solidFill>
                <a:latin typeface="Times New Roman" charset="0"/>
                <a:ea typeface="Times New Roman" charset="0"/>
                <a:cs typeface="Times New Roman" charset="0"/>
              </a:rPr>
              <a:t>Industrialization continues.</a:t>
            </a:r>
          </a:p>
          <a:p>
            <a:pPr lvl="2" eaLnBrk="1" hangingPunct="1"/>
            <a:r>
              <a:rPr lang="en-US" altLang="en-US" dirty="0">
                <a:latin typeface="Times New Roman" charset="0"/>
                <a:ea typeface="Times New Roman" charset="0"/>
                <a:cs typeface="Times New Roman" charset="0"/>
              </a:rPr>
              <a:t>Landowner power is shattered. </a:t>
            </a:r>
          </a:p>
          <a:p>
            <a:pPr lvl="2" eaLnBrk="1" hangingPunct="1"/>
            <a:r>
              <a:rPr lang="en-US" altLang="en-US" dirty="0">
                <a:latin typeface="Times New Roman" charset="0"/>
                <a:ea typeface="Times New Roman" charset="0"/>
                <a:cs typeface="Times New Roman" charset="0"/>
              </a:rPr>
              <a:t>PRI maintained loyalty.</a:t>
            </a:r>
          </a:p>
          <a:p>
            <a:pPr lvl="2" eaLnBrk="1" hangingPunct="1"/>
            <a:r>
              <a:rPr lang="en-US" altLang="en-US" dirty="0">
                <a:latin typeface="Times New Roman" charset="0"/>
                <a:ea typeface="Times New Roman" charset="0"/>
                <a:cs typeface="Times New Roman" charset="0"/>
              </a:rPr>
              <a:t>Government marketed food grown on </a:t>
            </a:r>
            <a:r>
              <a:rPr lang="en-US" altLang="en-US" i="1" dirty="0">
                <a:latin typeface="Times New Roman" charset="0"/>
                <a:ea typeface="Times New Roman" charset="0"/>
                <a:cs typeface="Times New Roman" charset="0"/>
              </a:rPr>
              <a:t>ejidos.</a:t>
            </a:r>
          </a:p>
          <a:p>
            <a:pPr lvl="2" eaLnBrk="1" hangingPunct="1"/>
            <a:r>
              <a:rPr lang="en-US" altLang="en-US" dirty="0">
                <a:latin typeface="Times New Roman" charset="0"/>
                <a:ea typeface="Times New Roman" charset="0"/>
                <a:cs typeface="Times New Roman" charset="0"/>
              </a:rPr>
              <a:t>Mexican currency was steady in contrast to inflation.</a:t>
            </a:r>
          </a:p>
          <a:p>
            <a:pPr lvl="2" eaLnBrk="1" hangingPunct="1"/>
            <a:r>
              <a:rPr lang="en-US" altLang="en-US" dirty="0">
                <a:latin typeface="Times New Roman" charset="0"/>
                <a:ea typeface="Times New Roman" charset="0"/>
                <a:cs typeface="Times New Roman" charset="0"/>
              </a:rPr>
              <a:t>The economic pie grew but was ill-distributed.</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F037-A72A-0F8E-AB69-9C96365B757C}"/>
              </a:ext>
            </a:extLst>
          </p:cNvPr>
          <p:cNvSpPr>
            <a:spLocks noGrp="1"/>
          </p:cNvSpPr>
          <p:nvPr>
            <p:ph type="title"/>
          </p:nvPr>
        </p:nvSpPr>
        <p:spPr/>
        <p:txBody>
          <a:bodyPr/>
          <a:lstStyle/>
          <a:p>
            <a:r>
              <a:rPr lang="en-US" altLang="en-US" dirty="0">
                <a:solidFill>
                  <a:schemeClr val="tx1"/>
                </a:solidFill>
                <a:latin typeface="Times New Roman" charset="0"/>
                <a:ea typeface="Times New Roman" charset="0"/>
                <a:cs typeface="Times New Roman" charset="0"/>
              </a:rPr>
              <a:t>Post</a:t>
            </a:r>
            <a:r>
              <a:rPr lang="en-US" altLang="en-US" dirty="0">
                <a:solidFill>
                  <a:schemeClr val="tx1"/>
                </a:solidFill>
                <a:latin typeface="Calibri"/>
                <a:ea typeface="Times New Roman" charset="0"/>
                <a:cs typeface="Times New Roman" charset="0"/>
              </a:rPr>
              <a:t>–</a:t>
            </a:r>
            <a:r>
              <a:rPr lang="en-US" altLang="en-US" dirty="0">
                <a:solidFill>
                  <a:schemeClr val="tx1"/>
                </a:solidFill>
                <a:latin typeface="Times New Roman" charset="0"/>
                <a:ea typeface="Times New Roman" charset="0"/>
                <a:cs typeface="Times New Roman" charset="0"/>
              </a:rPr>
              <a:t>World War II Colombia</a:t>
            </a:r>
            <a:endParaRPr lang="en-US" dirty="0"/>
          </a:p>
        </p:txBody>
      </p:sp>
      <p:sp>
        <p:nvSpPr>
          <p:cNvPr id="3" name="Content Placeholder 2">
            <a:extLst>
              <a:ext uri="{FF2B5EF4-FFF2-40B4-BE49-F238E27FC236}">
                <a16:creationId xmlns:a16="http://schemas.microsoft.com/office/drawing/2014/main" id="{942C1D8B-6025-698F-984A-24B14E0079A4}"/>
              </a:ext>
            </a:extLst>
          </p:cNvPr>
          <p:cNvSpPr>
            <a:spLocks noGrp="1"/>
          </p:cNvSpPr>
          <p:nvPr>
            <p:ph idx="1"/>
          </p:nvPr>
        </p:nvSpPr>
        <p:spPr/>
        <p:txBody>
          <a:bodyPr/>
          <a:lstStyle/>
          <a:p>
            <a:pPr marL="8001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Assassination of Gaitán</a:t>
            </a:r>
          </a:p>
          <a:p>
            <a:pPr marL="8001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La </a:t>
            </a:r>
            <a:r>
              <a:rPr lang="en-US" sz="2800" dirty="0" err="1">
                <a:latin typeface="Times New Roman" panose="02020603050405020304" pitchFamily="18" charset="0"/>
                <a:cs typeface="Times New Roman" panose="02020603050405020304" pitchFamily="18" charset="0"/>
              </a:rPr>
              <a:t>Violencia</a:t>
            </a:r>
            <a:endParaRPr lang="en-US" sz="2800" dirty="0">
              <a:latin typeface="Times New Roman" panose="02020603050405020304" pitchFamily="18" charset="0"/>
              <a:cs typeface="Times New Roman" panose="02020603050405020304" pitchFamily="18" charset="0"/>
            </a:endParaRPr>
          </a:p>
          <a:p>
            <a:pPr marL="1200150" lvl="1"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Conservatives versus Liberals violence</a:t>
            </a:r>
          </a:p>
          <a:p>
            <a:pPr marL="1200150" lvl="1"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Largest impact in rural areas</a:t>
            </a:r>
          </a:p>
          <a:p>
            <a:pPr marL="1200150" lvl="1" indent="-4572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Massive migration to cities</a:t>
            </a:r>
          </a:p>
          <a:p>
            <a:pPr marL="8001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Gustavo Rojas Pinilla </a:t>
            </a:r>
          </a:p>
        </p:txBody>
      </p:sp>
    </p:spTree>
    <p:extLst>
      <p:ext uri="{BB962C8B-B14F-4D97-AF65-F5344CB8AC3E}">
        <p14:creationId xmlns:p14="http://schemas.microsoft.com/office/powerpoint/2010/main" val="2584313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Onset of the Cold War</a:t>
            </a:r>
          </a:p>
        </p:txBody>
      </p:sp>
      <p:sp>
        <p:nvSpPr>
          <p:cNvPr id="37890" name="Content Placeholder 2"/>
          <p:cNvSpPr>
            <a:spLocks noGrp="1"/>
          </p:cNvSpPr>
          <p:nvPr>
            <p:ph idx="1"/>
          </p:nvPr>
        </p:nvSpPr>
        <p:spPr>
          <a:xfrm>
            <a:off x="457200" y="1600200"/>
            <a:ext cx="8229600" cy="4800600"/>
          </a:xfrm>
        </p:spPr>
        <p:txBody>
          <a:bodyPr/>
          <a:lstStyle/>
          <a:p>
            <a:pPr marL="800100" lvl="1" indent="-457200" eaLnBrk="1" hangingPunct="1">
              <a:defRPr/>
            </a:pPr>
            <a:r>
              <a:rPr lang="en-US" altLang="en-US" dirty="0">
                <a:solidFill>
                  <a:schemeClr val="tx1"/>
                </a:solidFill>
                <a:latin typeface="Times New Roman" charset="0"/>
                <a:ea typeface="Times New Roman" charset="0"/>
                <a:cs typeface="Times New Roman" charset="0"/>
              </a:rPr>
              <a:t>The United States represents modern prosperity. </a:t>
            </a:r>
          </a:p>
          <a:p>
            <a:pPr marL="1200150" lvl="2" indent="-457200" eaLnBrk="1" hangingPunct="1">
              <a:defRPr/>
            </a:pPr>
            <a:r>
              <a:rPr lang="en-US" altLang="en-US" dirty="0">
                <a:solidFill>
                  <a:schemeClr val="tx1"/>
                </a:solidFill>
                <a:latin typeface="Times New Roman" charset="0"/>
                <a:ea typeface="Times New Roman" charset="0"/>
                <a:cs typeface="Times New Roman" charset="0"/>
              </a:rPr>
              <a:t>Postwar boom</a:t>
            </a:r>
          </a:p>
          <a:p>
            <a:pPr marL="1200150" lvl="2" indent="-457200" eaLnBrk="1" hangingPunct="1">
              <a:defRPr/>
            </a:pPr>
            <a:r>
              <a:rPr lang="en-US" altLang="en-US" dirty="0">
                <a:solidFill>
                  <a:schemeClr val="tx1"/>
                </a:solidFill>
                <a:latin typeface="Times New Roman" charset="0"/>
                <a:ea typeface="Times New Roman" charset="0"/>
                <a:cs typeface="Times New Roman" charset="0"/>
              </a:rPr>
              <a:t>Consumer goods out of reach for Latin Americans</a:t>
            </a:r>
          </a:p>
          <a:p>
            <a:pPr marL="800100" lvl="1" indent="-457200" eaLnBrk="1" hangingPunct="1">
              <a:defRPr/>
            </a:pPr>
            <a:r>
              <a:rPr lang="en-US" altLang="en-US" dirty="0">
                <a:solidFill>
                  <a:schemeClr val="tx1"/>
                </a:solidFill>
                <a:latin typeface="Times New Roman" charset="0"/>
                <a:ea typeface="Times New Roman" charset="0"/>
                <a:cs typeface="Times New Roman" charset="0"/>
              </a:rPr>
              <a:t>Latin American disenchantment with the United States</a:t>
            </a:r>
          </a:p>
          <a:p>
            <a:pPr marL="1200150" lvl="2" indent="-457200" eaLnBrk="1" hangingPunct="1">
              <a:defRPr/>
            </a:pPr>
            <a:r>
              <a:rPr lang="en-US" altLang="en-US" dirty="0">
                <a:solidFill>
                  <a:schemeClr val="tx1"/>
                </a:solidFill>
                <a:latin typeface="Times New Roman" charset="0"/>
                <a:ea typeface="Times New Roman" charset="0"/>
                <a:cs typeface="Times New Roman" charset="0"/>
              </a:rPr>
              <a:t>Marshall Plan in 1947</a:t>
            </a:r>
          </a:p>
          <a:p>
            <a:pPr marL="1200150" lvl="2" indent="-457200" eaLnBrk="1" hangingPunct="1">
              <a:defRPr/>
            </a:pPr>
            <a:r>
              <a:rPr lang="en-US" altLang="en-US" dirty="0">
                <a:solidFill>
                  <a:schemeClr val="tx1"/>
                </a:solidFill>
                <a:latin typeface="Times New Roman" charset="0"/>
                <a:ea typeface="Times New Roman" charset="0"/>
                <a:cs typeface="Times New Roman" charset="0"/>
              </a:rPr>
              <a:t>Latin American allies hope for similar aid.</a:t>
            </a:r>
          </a:p>
          <a:p>
            <a:pPr marL="1200150" lvl="2" indent="-457200" eaLnBrk="1" hangingPunct="1">
              <a:defRPr/>
            </a:pPr>
            <a:r>
              <a:rPr lang="en-US" altLang="en-US" dirty="0">
                <a:solidFill>
                  <a:schemeClr val="tx1"/>
                </a:solidFill>
                <a:latin typeface="Times New Roman" charset="0"/>
                <a:ea typeface="Times New Roman" charset="0"/>
                <a:cs typeface="Times New Roman" charset="0"/>
              </a:rPr>
              <a:t>Rio Pact</a:t>
            </a:r>
          </a:p>
          <a:p>
            <a:pPr eaLnBrk="1" hangingPunct="1">
              <a:buFont typeface="Wingdings" charset="2"/>
              <a:buNone/>
              <a:defRPr/>
            </a:pPr>
            <a:endParaRPr lang="en-US" altLang="en-US" sz="2800" dirty="0">
              <a:latin typeface="Times New Roman" charset="0"/>
              <a:ea typeface="Times New Roman" charset="0"/>
              <a:cs typeface="Times New Roman"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533400"/>
            <a:ext cx="8229600" cy="1143000"/>
          </a:xfrm>
        </p:spPr>
        <p:txBody>
          <a:bodyPr/>
          <a:lstStyle/>
          <a:p>
            <a:pPr marL="342900" indent="-342900" eaLnBrk="1" hangingPunct="1"/>
            <a:r>
              <a:rPr lang="en-US" altLang="en-US" dirty="0">
                <a:solidFill>
                  <a:schemeClr val="tx1"/>
                </a:solidFill>
                <a:latin typeface="Times New Roman" charset="0"/>
                <a:ea typeface="Times New Roman" charset="0"/>
                <a:cs typeface="Times New Roman" charset="0"/>
              </a:rPr>
              <a:t>US-Latin American Economics</a:t>
            </a:r>
            <a:br>
              <a:rPr lang="en-US" altLang="en-US" b="0" dirty="0">
                <a:solidFill>
                  <a:schemeClr val="tx1"/>
                </a:solidFill>
                <a:latin typeface="Times New Roman" charset="0"/>
                <a:ea typeface="Times New Roman" charset="0"/>
                <a:cs typeface="Times New Roman" charset="0"/>
              </a:rPr>
            </a:br>
            <a:endParaRPr lang="en-US" altLang="en-US" b="0" dirty="0">
              <a:solidFill>
                <a:schemeClr val="tx1"/>
              </a:solidFill>
              <a:latin typeface="Times New Roman" charset="0"/>
              <a:ea typeface="Times New Roman" charset="0"/>
              <a:cs typeface="Times New Roman" charset="0"/>
            </a:endParaRPr>
          </a:p>
        </p:txBody>
      </p:sp>
      <p:sp>
        <p:nvSpPr>
          <p:cNvPr id="39938" name="Content Placeholder 2"/>
          <p:cNvSpPr>
            <a:spLocks noGrp="1"/>
          </p:cNvSpPr>
          <p:nvPr>
            <p:ph idx="1"/>
          </p:nvPr>
        </p:nvSpPr>
        <p:spPr>
          <a:xfrm>
            <a:off x="457200" y="1676400"/>
            <a:ext cx="8229600" cy="4525963"/>
          </a:xfrm>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The US market for agricultural products booms. </a:t>
            </a:r>
          </a:p>
          <a:p>
            <a:pPr marL="800100" lvl="1" indent="-457200" eaLnBrk="1" hangingPunct="1"/>
            <a:r>
              <a:rPr lang="en-US" altLang="en-US" dirty="0">
                <a:solidFill>
                  <a:schemeClr val="tx1"/>
                </a:solidFill>
                <a:latin typeface="Times New Roman" charset="0"/>
                <a:ea typeface="Times New Roman" charset="0"/>
                <a:cs typeface="Times New Roman" charset="0"/>
              </a:rPr>
              <a:t>Few Latin American industries appeared. </a:t>
            </a:r>
          </a:p>
          <a:p>
            <a:pPr marL="1200150" lvl="2" indent="-457200" eaLnBrk="1" hangingPunct="1"/>
            <a:r>
              <a:rPr lang="en-US" altLang="en-US" dirty="0">
                <a:latin typeface="Times New Roman" charset="0"/>
                <a:ea typeface="Times New Roman" charset="0"/>
                <a:cs typeface="Times New Roman" charset="0"/>
              </a:rPr>
              <a:t>S</a:t>
            </a:r>
            <a:r>
              <a:rPr lang="en-US" altLang="en-US" dirty="0">
                <a:solidFill>
                  <a:schemeClr val="tx1"/>
                </a:solidFill>
                <a:latin typeface="Times New Roman" charset="0"/>
                <a:ea typeface="Times New Roman" charset="0"/>
                <a:cs typeface="Times New Roman" charset="0"/>
              </a:rPr>
              <a:t>ubsidiaries of US companies</a:t>
            </a:r>
          </a:p>
          <a:p>
            <a:pPr marL="800100" lvl="1" indent="-457200" eaLnBrk="1" hangingPunct="1"/>
            <a:r>
              <a:rPr lang="en-US" altLang="en-US" dirty="0">
                <a:solidFill>
                  <a:schemeClr val="tx1"/>
                </a:solidFill>
                <a:latin typeface="Times New Roman" charset="0"/>
                <a:ea typeface="Times New Roman" charset="0"/>
                <a:cs typeface="Times New Roman" charset="0"/>
              </a:rPr>
              <a:t>The United States pushes spread of free-market capitalism.</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Organization of American States</a:t>
            </a:r>
          </a:p>
        </p:txBody>
      </p:sp>
      <p:sp>
        <p:nvSpPr>
          <p:cNvPr id="41986"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Beefed-up version of Pan-American Union</a:t>
            </a:r>
          </a:p>
          <a:p>
            <a:pPr marL="800100" lvl="1" indent="-457200" eaLnBrk="1" hangingPunct="1"/>
            <a:r>
              <a:rPr lang="en-US" altLang="en-US" dirty="0">
                <a:solidFill>
                  <a:schemeClr val="tx1"/>
                </a:solidFill>
                <a:latin typeface="Times New Roman" charset="0"/>
                <a:ea typeface="Times New Roman" charset="0"/>
                <a:cs typeface="Times New Roman" charset="0"/>
              </a:rPr>
              <a:t>Postwar US anticommunist panic</a:t>
            </a:r>
          </a:p>
          <a:p>
            <a:pPr marL="800100" lvl="1" indent="-457200" eaLnBrk="1" hangingPunct="1"/>
            <a:r>
              <a:rPr lang="en-US" altLang="en-US" dirty="0">
                <a:solidFill>
                  <a:schemeClr val="tx1"/>
                </a:solidFill>
                <a:latin typeface="Times New Roman" charset="0"/>
                <a:ea typeface="Times New Roman" charset="0"/>
                <a:cs typeface="Times New Roman" charset="0"/>
              </a:rPr>
              <a:t>Latin American opposition viewed as </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creeping communism.</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marL="800100" lvl="1" indent="-457200" eaLnBrk="1" hangingPunct="1"/>
            <a:r>
              <a:rPr lang="en-US" altLang="en-US" dirty="0">
                <a:solidFill>
                  <a:schemeClr val="tx1"/>
                </a:solidFill>
                <a:latin typeface="Times New Roman" charset="0"/>
                <a:ea typeface="Times New Roman" charset="0"/>
                <a:cs typeface="Times New Roman" charset="0"/>
              </a:rPr>
              <a:t>Dictators allied with US overpowered opposition votes</a:t>
            </a:r>
          </a:p>
          <a:p>
            <a:pPr marL="800100" lvl="1" indent="-457200" eaLnBrk="1" hangingPunct="1"/>
            <a:r>
              <a:rPr lang="en-US" altLang="en-US" dirty="0">
                <a:solidFill>
                  <a:schemeClr val="tx1"/>
                </a:solidFill>
                <a:latin typeface="Times New Roman" charset="0"/>
                <a:ea typeface="Times New Roman" charset="0"/>
                <a:cs typeface="Times New Roman" charset="0"/>
              </a:rPr>
              <a:t>Declaration of Caracas (1954)</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Post</a:t>
            </a:r>
            <a:r>
              <a:rPr lang="en-US" altLang="en-US" dirty="0">
                <a:solidFill>
                  <a:schemeClr val="tx1"/>
                </a:solidFill>
                <a:latin typeface="Calibri"/>
                <a:ea typeface="Times New Roman" charset="0"/>
                <a:cs typeface="Times New Roman" charset="0"/>
              </a:rPr>
              <a:t>–</a:t>
            </a:r>
            <a:r>
              <a:rPr lang="en-US" altLang="en-US" dirty="0">
                <a:solidFill>
                  <a:schemeClr val="tx1"/>
                </a:solidFill>
                <a:latin typeface="Times New Roman" charset="0"/>
                <a:ea typeface="Times New Roman" charset="0"/>
                <a:cs typeface="Times New Roman" charset="0"/>
              </a:rPr>
              <a:t>World War II Venezuela</a:t>
            </a:r>
          </a:p>
        </p:txBody>
      </p:sp>
      <p:sp>
        <p:nvSpPr>
          <p:cNvPr id="44034" name="Content Placeholder 2"/>
          <p:cNvSpPr>
            <a:spLocks noGrp="1"/>
          </p:cNvSpPr>
          <p:nvPr>
            <p:ph idx="1"/>
          </p:nvPr>
        </p:nvSpPr>
        <p:spPr/>
        <p:txBody>
          <a:bodyPr/>
          <a:lstStyle/>
          <a:p>
            <a:pPr marL="688975" lvl="1" indent="-346075" eaLnBrk="1" hangingPunct="1"/>
            <a:r>
              <a:rPr lang="en-US" altLang="en-US" dirty="0">
                <a:solidFill>
                  <a:schemeClr val="tx1"/>
                </a:solidFill>
                <a:latin typeface="Times New Roman" charset="0"/>
                <a:ea typeface="Times New Roman" charset="0"/>
                <a:cs typeface="Times New Roman" charset="0"/>
              </a:rPr>
              <a:t>Marcos Pérez Jiménez</a:t>
            </a:r>
          </a:p>
          <a:p>
            <a:pPr lvl="2" eaLnBrk="1" hangingPunct="1"/>
            <a:r>
              <a:rPr lang="en-US" altLang="en-US" dirty="0">
                <a:latin typeface="Times New Roman" charset="0"/>
                <a:ea typeface="Times New Roman" charset="0"/>
                <a:cs typeface="Times New Roman" charset="0"/>
              </a:rPr>
              <a:t>US-endorsed dictator</a:t>
            </a:r>
          </a:p>
          <a:p>
            <a:pPr lvl="2" eaLnBrk="1" hangingPunct="1"/>
            <a:r>
              <a:rPr lang="en-US" altLang="en-US" dirty="0">
                <a:latin typeface="Times New Roman" charset="0"/>
                <a:ea typeface="Times New Roman" charset="0"/>
                <a:cs typeface="Times New Roman" charset="0"/>
              </a:rPr>
              <a:t>Preferred him to nationalist Democratic Action Party</a:t>
            </a:r>
          </a:p>
          <a:p>
            <a:pPr lvl="2" eaLnBrk="1" hangingPunct="1"/>
            <a:r>
              <a:rPr lang="en-US" altLang="en-US" dirty="0">
                <a:latin typeface="Times New Roman" charset="0"/>
                <a:ea typeface="Times New Roman" charset="0"/>
                <a:cs typeface="Times New Roman" charset="0"/>
              </a:rPr>
              <a:t>Makes Democratic Action and Communist Party illegal</a:t>
            </a:r>
          </a:p>
          <a:p>
            <a:pPr lvl="2" eaLnBrk="1" hangingPunct="1"/>
            <a:r>
              <a:rPr lang="en-US" altLang="en-US" dirty="0">
                <a:latin typeface="Times New Roman" charset="0"/>
                <a:ea typeface="Times New Roman" charset="0"/>
                <a:cs typeface="Times New Roman" charset="0"/>
              </a:rPr>
              <a:t>Friendly to US oil companies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Post</a:t>
            </a:r>
            <a:r>
              <a:rPr lang="en-US" altLang="en-US" dirty="0">
                <a:solidFill>
                  <a:schemeClr val="tx1"/>
                </a:solidFill>
                <a:latin typeface="Calibri"/>
                <a:ea typeface="Times New Roman" charset="0"/>
                <a:cs typeface="Times New Roman" charset="0"/>
              </a:rPr>
              <a:t>–</a:t>
            </a:r>
            <a:r>
              <a:rPr lang="en-US" altLang="en-US" dirty="0">
                <a:solidFill>
                  <a:schemeClr val="tx1"/>
                </a:solidFill>
                <a:latin typeface="Times New Roman" charset="0"/>
                <a:ea typeface="Times New Roman" charset="0"/>
                <a:cs typeface="Times New Roman" charset="0"/>
              </a:rPr>
              <a:t>World War II Guatemala</a:t>
            </a:r>
          </a:p>
        </p:txBody>
      </p:sp>
      <p:sp>
        <p:nvSpPr>
          <p:cNvPr id="46082"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Voted against the Caracas Declaration</a:t>
            </a:r>
          </a:p>
          <a:p>
            <a:pPr marL="800100" lvl="1" indent="-457200" eaLnBrk="1" hangingPunct="1"/>
            <a:r>
              <a:rPr lang="en-US" altLang="en-US" dirty="0">
                <a:solidFill>
                  <a:schemeClr val="tx1"/>
                </a:solidFill>
                <a:latin typeface="Times New Roman" charset="0"/>
                <a:ea typeface="Times New Roman" charset="0"/>
                <a:cs typeface="Times New Roman" charset="0"/>
              </a:rPr>
              <a:t>Called for Latin American resistance to US pressure</a:t>
            </a:r>
          </a:p>
          <a:p>
            <a:pPr marL="800100" lvl="1" indent="-457200" eaLnBrk="1" hangingPunct="1"/>
            <a:r>
              <a:rPr lang="en-US" altLang="en-US" dirty="0">
                <a:solidFill>
                  <a:schemeClr val="tx1"/>
                </a:solidFill>
                <a:latin typeface="Times New Roman" charset="0"/>
                <a:ea typeface="Times New Roman" charset="0"/>
                <a:cs typeface="Times New Roman" charset="0"/>
              </a:rPr>
              <a:t>US invades Guatemala by proxy</a:t>
            </a:r>
          </a:p>
          <a:p>
            <a:pPr marL="1200150" lvl="2" indent="-457200" eaLnBrk="1" hangingPunct="1"/>
            <a:r>
              <a:rPr lang="en-US" altLang="en-US" dirty="0">
                <a:latin typeface="Times New Roman" charset="0"/>
                <a:ea typeface="Times New Roman" charset="0"/>
                <a:cs typeface="Times New Roman" charset="0"/>
              </a:rPr>
              <a:t>Abandons 1933 pledge of nonintervention in Latin America</a:t>
            </a:r>
            <a:endParaRPr lang="en-US" altLang="en-US" dirty="0">
              <a:solidFill>
                <a:schemeClr val="tx1"/>
              </a:solidFill>
              <a:latin typeface="Times New Roman" charset="0"/>
              <a:ea typeface="Times New Roman" charset="0"/>
              <a:cs typeface="Times New Roman" charset="0"/>
            </a:endParaRPr>
          </a:p>
          <a:p>
            <a:pPr marL="800100" lvl="1" indent="-457200" eaLnBrk="1" hangingPunct="1"/>
            <a:r>
              <a:rPr lang="en-US" altLang="en-US" dirty="0">
                <a:solidFill>
                  <a:schemeClr val="tx1"/>
                </a:solidFill>
                <a:latin typeface="Times New Roman" charset="0"/>
                <a:ea typeface="Times New Roman" charset="0"/>
                <a:cs typeface="Times New Roman" charset="0"/>
              </a:rPr>
              <a:t>Guatemalan </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decade of Spring</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1944</a:t>
            </a:r>
            <a:r>
              <a:rPr lang="en-US" altLang="en-US" dirty="0">
                <a:solidFill>
                  <a:schemeClr val="tx1"/>
                </a:solidFill>
                <a:latin typeface="Calibri"/>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1954</a:t>
            </a:r>
          </a:p>
          <a:p>
            <a:pPr marL="800100" lvl="1" indent="-457200" eaLnBrk="1" hangingPunct="1"/>
            <a:r>
              <a:rPr lang="en-US" altLang="ja-JP" dirty="0">
                <a:solidFill>
                  <a:schemeClr val="tx1"/>
                </a:solidFill>
                <a:latin typeface="Times New Roman" charset="0"/>
                <a:ea typeface="Times New Roman" charset="0"/>
                <a:cs typeface="Times New Roman" charset="0"/>
              </a:rPr>
              <a:t>United Fruit Company</a:t>
            </a:r>
          </a:p>
          <a:p>
            <a:pPr marL="800100" lvl="1" indent="-457200" eaLnBrk="1" hangingPunct="1"/>
            <a:r>
              <a:rPr lang="en-US" altLang="en-US" dirty="0">
                <a:solidFill>
                  <a:schemeClr val="tx1"/>
                </a:solidFill>
                <a:latin typeface="Times New Roman" charset="0"/>
                <a:ea typeface="Times New Roman" charset="0"/>
                <a:cs typeface="Times New Roman" charset="0"/>
              </a:rPr>
              <a:t>Jacobo Arbenz</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Post</a:t>
            </a:r>
            <a:r>
              <a:rPr lang="en-US" altLang="en-US" dirty="0">
                <a:solidFill>
                  <a:schemeClr val="tx1"/>
                </a:solidFill>
                <a:latin typeface="Calibri"/>
                <a:ea typeface="Times New Roman" charset="0"/>
                <a:cs typeface="Times New Roman" charset="0"/>
              </a:rPr>
              <a:t>–</a:t>
            </a:r>
            <a:r>
              <a:rPr lang="en-US" altLang="en-US" dirty="0">
                <a:solidFill>
                  <a:schemeClr val="tx1"/>
                </a:solidFill>
                <a:latin typeface="Times New Roman" charset="0"/>
                <a:ea typeface="Times New Roman" charset="0"/>
                <a:cs typeface="Times New Roman" charset="0"/>
              </a:rPr>
              <a:t>World War II Bolivia</a:t>
            </a:r>
          </a:p>
        </p:txBody>
      </p:sp>
      <p:sp>
        <p:nvSpPr>
          <p:cNvPr id="48130" name="Content Placeholder 2"/>
          <p:cNvSpPr>
            <a:spLocks noGrp="1"/>
          </p:cNvSpPr>
          <p:nvPr>
            <p:ph idx="1"/>
          </p:nvPr>
        </p:nvSpPr>
        <p:spPr/>
        <p:txBody>
          <a:bodyPr/>
          <a:lstStyle/>
          <a:p>
            <a:pPr marL="688975" lvl="1" indent="-346075" eaLnBrk="1" hangingPunct="1"/>
            <a:r>
              <a:rPr lang="en-US" altLang="en-US" dirty="0">
                <a:solidFill>
                  <a:schemeClr val="tx1"/>
                </a:solidFill>
                <a:latin typeface="Times New Roman" charset="0"/>
                <a:ea typeface="Times New Roman" charset="0"/>
                <a:cs typeface="Times New Roman" charset="0"/>
              </a:rPr>
              <a:t>National Revolutionary Movement 1952</a:t>
            </a:r>
          </a:p>
          <a:p>
            <a:pPr lvl="2" eaLnBrk="1" hangingPunct="1"/>
            <a:r>
              <a:rPr lang="en-US" altLang="en-US" dirty="0">
                <a:latin typeface="Times New Roman" charset="0"/>
                <a:ea typeface="Times New Roman" charset="0"/>
                <a:cs typeface="Times New Roman" charset="0"/>
              </a:rPr>
              <a:t>Nationalist, Marxist </a:t>
            </a:r>
          </a:p>
          <a:p>
            <a:pPr lvl="2" eaLnBrk="1" hangingPunct="1"/>
            <a:r>
              <a:rPr lang="en-US" altLang="en-US" dirty="0">
                <a:latin typeface="Times New Roman" charset="0"/>
                <a:ea typeface="Times New Roman" charset="0"/>
                <a:cs typeface="Times New Roman" charset="0"/>
              </a:rPr>
              <a:t>US maintained good relations, sent aid </a:t>
            </a:r>
          </a:p>
          <a:p>
            <a:pPr lvl="2" eaLnBrk="1" hangingPunct="1"/>
            <a:r>
              <a:rPr lang="en-US" altLang="en-US" dirty="0">
                <a:latin typeface="Times New Roman" charset="0"/>
                <a:ea typeface="Times New Roman" charset="0"/>
                <a:cs typeface="Times New Roman" charset="0"/>
              </a:rPr>
              <a:t>Bolivian wealth based on tin mines</a:t>
            </a:r>
          </a:p>
          <a:p>
            <a:pPr lvl="2" eaLnBrk="1" hangingPunct="1"/>
            <a:r>
              <a:rPr lang="en-US" altLang="en-US" dirty="0">
                <a:latin typeface="Times New Roman" charset="0"/>
                <a:ea typeface="Times New Roman" charset="0"/>
                <a:cs typeface="Times New Roman" charset="0"/>
              </a:rPr>
              <a:t>Began land redistribution</a:t>
            </a:r>
          </a:p>
          <a:p>
            <a:pPr lvl="2" eaLnBrk="1" hangingPunct="1"/>
            <a:r>
              <a:rPr lang="en-US" altLang="en-US" dirty="0">
                <a:latin typeface="Times New Roman" charset="0"/>
                <a:ea typeface="Times New Roman" charset="0"/>
                <a:cs typeface="Times New Roman" charset="0"/>
              </a:rPr>
              <a:t>Decreased power of army</a:t>
            </a:r>
          </a:p>
          <a:p>
            <a:pPr lvl="2" eaLnBrk="1" hangingPunct="1"/>
            <a:r>
              <a:rPr lang="en-US" altLang="en-US" dirty="0">
                <a:latin typeface="Times New Roman" charset="0"/>
                <a:ea typeface="Times New Roman" charset="0"/>
                <a:cs typeface="Times New Roman" charset="0"/>
              </a:rPr>
              <a:t>Change affected middle class</a:t>
            </a:r>
          </a:p>
          <a:p>
            <a:pPr lvl="2" eaLnBrk="1" hangingPunct="1"/>
            <a:r>
              <a:rPr lang="en-US" altLang="en-US" dirty="0">
                <a:latin typeface="Times New Roman" charset="0"/>
                <a:ea typeface="Times New Roman" charset="0"/>
                <a:cs typeface="Times New Roman" charset="0"/>
              </a:rPr>
              <a:t>Conservative elements gain influence</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Literature and the Cold War</a:t>
            </a:r>
          </a:p>
        </p:txBody>
      </p:sp>
      <p:sp>
        <p:nvSpPr>
          <p:cNvPr id="50178"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Pablo Neruda (Chile)</a:t>
            </a:r>
          </a:p>
          <a:p>
            <a:pPr lvl="2" eaLnBrk="1" hangingPunct="1"/>
            <a:r>
              <a:rPr lang="en-US" altLang="en-US" dirty="0">
                <a:latin typeface="Times New Roman" charset="0"/>
                <a:ea typeface="Times New Roman" charset="0"/>
                <a:cs typeface="Times New Roman" charset="0"/>
              </a:rPr>
              <a:t>Most popular poet of twentieth-century Latin America</a:t>
            </a:r>
          </a:p>
          <a:p>
            <a:pPr lvl="2" eaLnBrk="1" hangingPunct="1"/>
            <a:r>
              <a:rPr lang="en-US" altLang="en-US" dirty="0">
                <a:latin typeface="Times New Roman" charset="0"/>
                <a:ea typeface="Times New Roman" charset="0"/>
                <a:cs typeface="Times New Roman" charset="0"/>
              </a:rPr>
              <a:t>Diplomat </a:t>
            </a:r>
          </a:p>
          <a:p>
            <a:pPr lvl="2" eaLnBrk="1" hangingPunct="1"/>
            <a:r>
              <a:rPr lang="en-US" altLang="en-US" dirty="0">
                <a:latin typeface="Times New Roman" charset="0"/>
                <a:ea typeface="Times New Roman" charset="0"/>
                <a:cs typeface="Times New Roman" charset="0"/>
              </a:rPr>
              <a:t>Revolutionary politics</a:t>
            </a:r>
          </a:p>
          <a:p>
            <a:pPr marL="800100" lvl="1" indent="-457200" eaLnBrk="1" hangingPunct="1"/>
            <a:r>
              <a:rPr lang="en-US" altLang="en-US" dirty="0">
                <a:solidFill>
                  <a:schemeClr val="tx1"/>
                </a:solidFill>
                <a:latin typeface="Times New Roman" charset="0"/>
                <a:ea typeface="Times New Roman" charset="0"/>
                <a:cs typeface="Times New Roman" charset="0"/>
              </a:rPr>
              <a:t>Jorge Luis Borges (Argentina)</a:t>
            </a:r>
          </a:p>
          <a:p>
            <a:pPr lvl="2" eaLnBrk="1" hangingPunct="1"/>
            <a:r>
              <a:rPr lang="en-US" altLang="en-US" dirty="0">
                <a:latin typeface="Times New Roman" charset="0"/>
                <a:ea typeface="Times New Roman" charset="0"/>
                <a:cs typeface="Times New Roman" charset="0"/>
              </a:rPr>
              <a:t>Traveled and educated around world</a:t>
            </a:r>
          </a:p>
          <a:p>
            <a:pPr lvl="2" eaLnBrk="1" hangingPunct="1"/>
            <a:r>
              <a:rPr lang="en-US" altLang="en-US" dirty="0">
                <a:latin typeface="Times New Roman" charset="0"/>
                <a:ea typeface="Times New Roman" charset="0"/>
                <a:cs typeface="Times New Roman" charset="0"/>
              </a:rPr>
              <a:t>Gauchos, poor neighborhoods as literary motifs</a:t>
            </a:r>
          </a:p>
          <a:p>
            <a:pPr lvl="2" eaLnBrk="1" hangingPunct="1"/>
            <a:r>
              <a:rPr lang="en-US" altLang="en-US" dirty="0">
                <a:latin typeface="Times New Roman" charset="0"/>
                <a:ea typeface="Times New Roman" charset="0"/>
                <a:cs typeface="Times New Roman" charset="0"/>
              </a:rPr>
              <a:t>Supported military against Perón</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Cuban Revolution</a:t>
            </a:r>
          </a:p>
        </p:txBody>
      </p:sp>
      <p:sp>
        <p:nvSpPr>
          <p:cNvPr id="52226"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The Marxist perspective was on the rise in Latin America in the 1950s.</a:t>
            </a:r>
          </a:p>
          <a:p>
            <a:pPr marL="800100" lvl="1" indent="-457200" eaLnBrk="1" hangingPunct="1"/>
            <a:r>
              <a:rPr lang="en-US" altLang="en-US" dirty="0">
                <a:solidFill>
                  <a:schemeClr val="tx1"/>
                </a:solidFill>
                <a:latin typeface="Times New Roman" charset="0"/>
                <a:ea typeface="Times New Roman" charset="0"/>
                <a:cs typeface="Times New Roman" charset="0"/>
              </a:rPr>
              <a:t>Little to do with Soviet Union</a:t>
            </a:r>
          </a:p>
          <a:p>
            <a:pPr marL="800100" lvl="1" indent="-457200" eaLnBrk="1" hangingPunct="1"/>
            <a:r>
              <a:rPr lang="en-US" altLang="en-US" dirty="0">
                <a:solidFill>
                  <a:schemeClr val="tx1"/>
                </a:solidFill>
                <a:latin typeface="Times New Roman" charset="0"/>
                <a:ea typeface="Times New Roman" charset="0"/>
                <a:cs typeface="Times New Roman" charset="0"/>
              </a:rPr>
              <a:t>Take on capitalism matched Latin American realities</a:t>
            </a:r>
          </a:p>
          <a:p>
            <a:pPr marL="800100" lvl="1" indent="-457200" eaLnBrk="1" hangingPunct="1"/>
            <a:r>
              <a:rPr lang="en-US" altLang="en-US" dirty="0">
                <a:solidFill>
                  <a:schemeClr val="tx1"/>
                </a:solidFill>
                <a:latin typeface="Times New Roman" charset="0"/>
                <a:ea typeface="Times New Roman" charset="0"/>
                <a:cs typeface="Times New Roman" charset="0"/>
              </a:rPr>
              <a:t>Leninist critique of imperialism rang true</a:t>
            </a:r>
          </a:p>
          <a:p>
            <a:pPr marL="800100" lvl="1" indent="-457200" eaLnBrk="1" hangingPunct="1"/>
            <a:r>
              <a:rPr lang="en-US" altLang="en-US" dirty="0">
                <a:solidFill>
                  <a:schemeClr val="tx1"/>
                </a:solidFill>
                <a:latin typeface="Times New Roman" charset="0"/>
                <a:ea typeface="Times New Roman" charset="0"/>
                <a:cs typeface="Times New Roman" charset="0"/>
              </a:rPr>
              <a:t>Marxist diagnosis of Latin America was injustice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“Che” Guevara</a:t>
            </a:r>
          </a:p>
        </p:txBody>
      </p:sp>
      <p:sp>
        <p:nvSpPr>
          <p:cNvPr id="54274"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Argentine medical student</a:t>
            </a:r>
          </a:p>
          <a:p>
            <a:pPr marL="800100" lvl="1" indent="-457200" eaLnBrk="1" hangingPunct="1"/>
            <a:r>
              <a:rPr lang="en-US" altLang="en-US" dirty="0">
                <a:solidFill>
                  <a:schemeClr val="tx1"/>
                </a:solidFill>
                <a:latin typeface="Times New Roman" charset="0"/>
                <a:ea typeface="Times New Roman" charset="0"/>
                <a:cs typeface="Times New Roman" charset="0"/>
              </a:rPr>
              <a:t>Believed Latin American countries should overthrow international imperialist economic system</a:t>
            </a:r>
          </a:p>
          <a:p>
            <a:pPr marL="800100" lvl="1" indent="-457200" eaLnBrk="1" hangingPunct="1"/>
            <a:r>
              <a:rPr lang="en-US" altLang="en-US" dirty="0">
                <a:solidFill>
                  <a:schemeClr val="tx1"/>
                </a:solidFill>
                <a:latin typeface="Times New Roman" charset="0"/>
                <a:ea typeface="Times New Roman" charset="0"/>
                <a:cs typeface="Times New Roman" charset="0"/>
              </a:rPr>
              <a:t>Traveled to Guatemala to witness reforms of Arbenz</a:t>
            </a:r>
          </a:p>
          <a:p>
            <a:pPr marL="800100" lvl="1" indent="-457200" eaLnBrk="1" hangingPunct="1"/>
            <a:r>
              <a:rPr lang="en-US" altLang="en-US" dirty="0">
                <a:solidFill>
                  <a:schemeClr val="tx1"/>
                </a:solidFill>
                <a:latin typeface="Times New Roman" charset="0"/>
                <a:ea typeface="Times New Roman" charset="0"/>
                <a:cs typeface="Times New Roman" charset="0"/>
              </a:rPr>
              <a:t>Fled to Mexico after Arbenz removed from power in 1954</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Fidel Castro</a:t>
            </a:r>
          </a:p>
        </p:txBody>
      </p:sp>
      <p:sp>
        <p:nvSpPr>
          <p:cNvPr id="56322"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Cuban nationalist revolutionary</a:t>
            </a:r>
          </a:p>
          <a:p>
            <a:pPr marL="800100" lvl="1" indent="-457200" eaLnBrk="1" hangingPunct="1"/>
            <a:r>
              <a:rPr lang="en-US" altLang="en-US" dirty="0">
                <a:solidFill>
                  <a:schemeClr val="tx1"/>
                </a:solidFill>
                <a:latin typeface="Times New Roman" charset="0"/>
                <a:ea typeface="Times New Roman" charset="0"/>
                <a:cs typeface="Times New Roman" charset="0"/>
              </a:rPr>
              <a:t>From wealthy, sugar-growing family</a:t>
            </a:r>
          </a:p>
          <a:p>
            <a:pPr marL="800100" lvl="1" indent="-457200" eaLnBrk="1" hangingPunct="1"/>
            <a:r>
              <a:rPr lang="en-US" altLang="en-US" dirty="0">
                <a:solidFill>
                  <a:schemeClr val="tx1"/>
                </a:solidFill>
                <a:latin typeface="Times New Roman" charset="0"/>
                <a:ea typeface="Times New Roman" charset="0"/>
                <a:cs typeface="Times New Roman" charset="0"/>
              </a:rPr>
              <a:t>Inspired by nationalist student movements </a:t>
            </a:r>
          </a:p>
          <a:p>
            <a:pPr marL="800100" lvl="1" indent="-457200" eaLnBrk="1" hangingPunct="1"/>
            <a:r>
              <a:rPr lang="en-US" altLang="en-US" dirty="0">
                <a:solidFill>
                  <a:schemeClr val="tx1"/>
                </a:solidFill>
                <a:latin typeface="Times New Roman" charset="0"/>
                <a:ea typeface="Times New Roman" charset="0"/>
                <a:cs typeface="Times New Roman" charset="0"/>
              </a:rPr>
              <a:t>Exiled with brother Raúl</a:t>
            </a:r>
          </a:p>
          <a:p>
            <a:pPr marL="800100" lvl="1" indent="-457200" eaLnBrk="1" hangingPunct="1"/>
            <a:r>
              <a:rPr lang="en-US" altLang="en-US" dirty="0">
                <a:solidFill>
                  <a:schemeClr val="tx1"/>
                </a:solidFill>
                <a:latin typeface="Times New Roman" charset="0"/>
                <a:ea typeface="Times New Roman" charset="0"/>
                <a:cs typeface="Times New Roman" charset="0"/>
              </a:rPr>
              <a:t>Fidel and Raúl Castro, Che Guevara led guerrilla actions from mountains</a:t>
            </a:r>
          </a:p>
          <a:p>
            <a:pPr marL="800100" lvl="1" indent="-457200" eaLnBrk="1" hangingPunct="1"/>
            <a:r>
              <a:rPr lang="en-US" altLang="en-US" dirty="0">
                <a:solidFill>
                  <a:schemeClr val="tx1"/>
                </a:solidFill>
                <a:latin typeface="Times New Roman" charset="0"/>
                <a:ea typeface="Times New Roman" charset="0"/>
                <a:cs typeface="Times New Roman" charset="0"/>
              </a:rPr>
              <a:t>Tumultuous arrival in Havana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and-white photograph of Fidel Castro and three other men. All four men have full beards and wear buttoned uniforms. Fidel waves with his right hand, and the other men hold guns."/>
          <p:cNvPicPr>
            <a:picLocks noChangeAspect="1"/>
          </p:cNvPicPr>
          <p:nvPr/>
        </p:nvPicPr>
        <p:blipFill>
          <a:blip r:embed="rId3"/>
          <a:stretch>
            <a:fillRect/>
          </a:stretch>
        </p:blipFill>
        <p:spPr>
          <a:xfrm>
            <a:off x="954023" y="1160772"/>
            <a:ext cx="7235953" cy="5266341"/>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Fourth Edition</a:t>
            </a:r>
          </a:p>
          <a:p>
            <a:r>
              <a:rPr lang="en-US" sz="1100" dirty="0"/>
              <a:t>Copyright © 2016 W. W. Norton &amp; Company</a:t>
            </a:r>
          </a:p>
        </p:txBody>
      </p:sp>
      <p:sp>
        <p:nvSpPr>
          <p:cNvPr id="6" name="Title 3">
            <a:extLst>
              <a:ext uri="{FF2B5EF4-FFF2-40B4-BE49-F238E27FC236}">
                <a16:creationId xmlns:a16="http://schemas.microsoft.com/office/drawing/2014/main" id="{EFAD0AF5-F2B6-82F0-F22F-DC7868EBE2A1}"/>
              </a:ext>
            </a:extLst>
          </p:cNvPr>
          <p:cNvSpPr>
            <a:spLocks noGrp="1"/>
          </p:cNvSpPr>
          <p:nvPr>
            <p:ph type="title"/>
          </p:nvPr>
        </p:nvSpPr>
        <p:spPr>
          <a:xfrm>
            <a:off x="457200" y="0"/>
            <a:ext cx="8229600" cy="1143000"/>
          </a:xfrm>
        </p:spPr>
        <p:txBody>
          <a:bodyPr/>
          <a:lstStyle/>
          <a:p>
            <a:r>
              <a:rPr lang="en-US" sz="4000" i="1" dirty="0">
                <a:latin typeface="Times New Roman" charset="0"/>
                <a:ea typeface="Times New Roman" charset="0"/>
                <a:cs typeface="Times New Roman" charset="0"/>
              </a:rPr>
              <a:t>Los </a:t>
            </a:r>
            <a:r>
              <a:rPr lang="en-US" sz="4000" i="1" dirty="0" err="1">
                <a:latin typeface="Times New Roman" charset="0"/>
                <a:ea typeface="Times New Roman" charset="0"/>
                <a:cs typeface="Times New Roman" charset="0"/>
              </a:rPr>
              <a:t>Barbudos</a:t>
            </a:r>
            <a:endParaRPr lang="en-US" sz="4000" i="1"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093083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Defiance of US</a:t>
            </a:r>
          </a:p>
        </p:txBody>
      </p:sp>
      <p:sp>
        <p:nvSpPr>
          <p:cNvPr id="5837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Castro refused to appease US concerns.</a:t>
            </a:r>
          </a:p>
          <a:p>
            <a:pPr lvl="2" eaLnBrk="1" hangingPunct="1"/>
            <a:r>
              <a:rPr lang="en-US" altLang="en-US" dirty="0">
                <a:latin typeface="Times New Roman" charset="0"/>
                <a:ea typeface="Times New Roman" charset="0"/>
                <a:cs typeface="Times New Roman" charset="0"/>
              </a:rPr>
              <a:t>Lectured on US imperialism in New York City</a:t>
            </a:r>
          </a:p>
          <a:p>
            <a:pPr lvl="2" eaLnBrk="1" hangingPunct="1"/>
            <a:r>
              <a:rPr lang="en-US" altLang="en-US" dirty="0">
                <a:latin typeface="Times New Roman" charset="0"/>
                <a:ea typeface="Times New Roman" charset="0"/>
                <a:cs typeface="Times New Roman" charset="0"/>
              </a:rPr>
              <a:t>Arranged alternative Russian market for Cuban sugar</a:t>
            </a:r>
          </a:p>
          <a:p>
            <a:pPr lvl="2" eaLnBrk="1" hangingPunct="1"/>
            <a:r>
              <a:rPr lang="en-US" altLang="en-US" dirty="0">
                <a:latin typeface="Times New Roman" charset="0"/>
                <a:ea typeface="Times New Roman" charset="0"/>
                <a:cs typeface="Times New Roman" charset="0"/>
              </a:rPr>
              <a:t>Bought Russian oil cheap </a:t>
            </a:r>
          </a:p>
          <a:p>
            <a:pPr lvl="2" eaLnBrk="1" hangingPunct="1"/>
            <a:r>
              <a:rPr lang="en-US" altLang="en-US" dirty="0">
                <a:latin typeface="Times New Roman" charset="0"/>
                <a:ea typeface="Times New Roman" charset="0"/>
                <a:cs typeface="Times New Roman" charset="0"/>
              </a:rPr>
              <a:t>US stopped purchases of Cuban sugar </a:t>
            </a:r>
          </a:p>
          <a:p>
            <a:pPr lvl="3" eaLnBrk="1" hangingPunct="1"/>
            <a:r>
              <a:rPr lang="en-US" altLang="en-US" dirty="0">
                <a:solidFill>
                  <a:schemeClr val="tx1"/>
                </a:solidFill>
                <a:latin typeface="Times New Roman" charset="0"/>
                <a:ea typeface="Times New Roman" charset="0"/>
                <a:cs typeface="Times New Roman" charset="0"/>
              </a:rPr>
              <a:t>Responds by expropriating more US property</a:t>
            </a:r>
          </a:p>
          <a:p>
            <a:pPr lvl="2" eaLnBrk="1" hangingPunct="1"/>
            <a:r>
              <a:rPr lang="en-US" altLang="en-US" dirty="0">
                <a:latin typeface="Times New Roman" charset="0"/>
                <a:ea typeface="Times New Roman" charset="0"/>
                <a:cs typeface="Times New Roman" charset="0"/>
              </a:rPr>
              <a:t>US declare embargo on Cuba in 1960</a:t>
            </a:r>
          </a:p>
          <a:p>
            <a:pPr lvl="3" eaLnBrk="1" hangingPunct="1"/>
            <a:r>
              <a:rPr lang="en-US" altLang="en-US" dirty="0">
                <a:solidFill>
                  <a:schemeClr val="tx1"/>
                </a:solidFill>
                <a:latin typeface="Times New Roman" charset="0"/>
                <a:ea typeface="Times New Roman" charset="0"/>
                <a:cs typeface="Times New Roman" charset="0"/>
              </a:rPr>
              <a:t>Cubans learn US training army for proxy invasion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US Response</a:t>
            </a:r>
          </a:p>
        </p:txBody>
      </p:sp>
      <p:sp>
        <p:nvSpPr>
          <p:cNvPr id="6041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Bay of Pigs invasion, 1961</a:t>
            </a:r>
          </a:p>
          <a:p>
            <a:pPr lvl="2" eaLnBrk="1" hangingPunct="1"/>
            <a:r>
              <a:rPr lang="en-US" altLang="en-US" dirty="0">
                <a:latin typeface="Times New Roman" charset="0"/>
                <a:ea typeface="Times New Roman" charset="0"/>
                <a:cs typeface="Times New Roman" charset="0"/>
              </a:rPr>
              <a:t>Cuban army created by and loyal to Castro</a:t>
            </a:r>
          </a:p>
          <a:p>
            <a:pPr lvl="2" eaLnBrk="1" hangingPunct="1"/>
            <a:r>
              <a:rPr lang="en-US" altLang="en-US" dirty="0">
                <a:latin typeface="Times New Roman" charset="0"/>
                <a:ea typeface="Times New Roman" charset="0"/>
                <a:cs typeface="Times New Roman" charset="0"/>
              </a:rPr>
              <a:t>Quickly defeated invasion</a:t>
            </a:r>
          </a:p>
          <a:p>
            <a:pPr lvl="2" eaLnBrk="1" hangingPunct="1"/>
            <a:r>
              <a:rPr lang="en-US" altLang="en-US" dirty="0">
                <a:latin typeface="Times New Roman" charset="0"/>
                <a:ea typeface="Times New Roman" charset="0"/>
                <a:cs typeface="Times New Roman" charset="0"/>
              </a:rPr>
              <a:t>Cuban alliance with Soviet Union </a:t>
            </a:r>
          </a:p>
          <a:p>
            <a:pPr lvl="1" eaLnBrk="1" hangingPunct="1"/>
            <a:r>
              <a:rPr lang="en-US" altLang="en-US" dirty="0">
                <a:solidFill>
                  <a:schemeClr val="tx1"/>
                </a:solidFill>
                <a:latin typeface="Times New Roman" charset="0"/>
                <a:ea typeface="Times New Roman" charset="0"/>
                <a:cs typeface="Times New Roman" charset="0"/>
              </a:rPr>
              <a:t>Cuban Missile Crisis</a:t>
            </a:r>
          </a:p>
          <a:p>
            <a:pPr lvl="2" eaLnBrk="1" hangingPunct="1"/>
            <a:r>
              <a:rPr lang="en-US" altLang="en-US" dirty="0">
                <a:latin typeface="Times New Roman" charset="0"/>
                <a:ea typeface="Times New Roman" charset="0"/>
                <a:cs typeface="Times New Roman" charset="0"/>
              </a:rPr>
              <a:t>US ultimatum to Soviet Union: remove missiles or war</a:t>
            </a:r>
          </a:p>
          <a:p>
            <a:pPr lvl="2" eaLnBrk="1" hangingPunct="1"/>
            <a:r>
              <a:rPr lang="en-US" altLang="en-US" dirty="0">
                <a:latin typeface="Times New Roman" charset="0"/>
                <a:ea typeface="Times New Roman" charset="0"/>
                <a:cs typeface="Times New Roman" charset="0"/>
              </a:rPr>
              <a:t>Russia agreed to remove missiles for promise to never invade Cuba</a:t>
            </a:r>
          </a:p>
          <a:p>
            <a:pPr lvl="2" eaLnBrk="1" hangingPunct="1"/>
            <a:r>
              <a:rPr lang="en-US" altLang="en-US" dirty="0">
                <a:latin typeface="Times New Roman" charset="0"/>
                <a:ea typeface="Times New Roman" charset="0"/>
                <a:cs typeface="Times New Roman" charset="0"/>
              </a:rPr>
              <a:t>US continued to make attempts on Castro</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life</a:t>
            </a:r>
          </a:p>
          <a:p>
            <a:pPr lvl="2" eaLnBrk="1" hangingPunct="1"/>
            <a:endParaRPr lang="en-US" altLang="en-US"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Economic Tensions</a:t>
            </a:r>
          </a:p>
        </p:txBody>
      </p:sp>
      <p:sp>
        <p:nvSpPr>
          <p:cNvPr id="6246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Embargo </a:t>
            </a:r>
          </a:p>
          <a:p>
            <a:pPr lvl="2" eaLnBrk="1" hangingPunct="1"/>
            <a:r>
              <a:rPr lang="en-US" altLang="en-US" dirty="0">
                <a:latin typeface="Times New Roman" charset="0"/>
                <a:ea typeface="Times New Roman" charset="0"/>
                <a:cs typeface="Times New Roman" charset="0"/>
              </a:rPr>
              <a:t>US blocked trade between Cuba and its allies. </a:t>
            </a:r>
          </a:p>
          <a:p>
            <a:pPr lvl="2" eaLnBrk="1" hangingPunct="1"/>
            <a:r>
              <a:rPr lang="en-US" altLang="en-US" dirty="0">
                <a:latin typeface="Times New Roman" charset="0"/>
                <a:ea typeface="Times New Roman" charset="0"/>
                <a:cs typeface="Times New Roman" charset="0"/>
              </a:rPr>
              <a:t>Crippled Cuban trade</a:t>
            </a:r>
          </a:p>
          <a:p>
            <a:pPr lvl="2" eaLnBrk="1" hangingPunct="1"/>
            <a:r>
              <a:rPr lang="en-US" altLang="en-US" dirty="0">
                <a:latin typeface="Times New Roman" charset="0"/>
                <a:ea typeface="Times New Roman" charset="0"/>
                <a:cs typeface="Times New Roman" charset="0"/>
              </a:rPr>
              <a:t>Cuba trades primarily with Soviet bloc countries.</a:t>
            </a:r>
          </a:p>
          <a:p>
            <a:pPr lvl="1" eaLnBrk="1" hangingPunct="1"/>
            <a:r>
              <a:rPr lang="en-US" altLang="en-US" dirty="0">
                <a:solidFill>
                  <a:schemeClr val="tx1"/>
                </a:solidFill>
                <a:latin typeface="Times New Roman" charset="0"/>
                <a:ea typeface="Times New Roman" charset="0"/>
                <a:cs typeface="Times New Roman" charset="0"/>
              </a:rPr>
              <a:t>Cuba is the focal point of anti-US resistance.</a:t>
            </a:r>
          </a:p>
          <a:p>
            <a:pPr lvl="2" eaLnBrk="1" hangingPunct="1"/>
            <a:r>
              <a:rPr lang="en-US" altLang="en-US" dirty="0">
                <a:latin typeface="Times New Roman" charset="0"/>
                <a:ea typeface="Times New Roman" charset="0"/>
                <a:cs typeface="Times New Roman" charset="0"/>
              </a:rPr>
              <a:t>Cuba expelled from OAS.</a:t>
            </a:r>
          </a:p>
          <a:p>
            <a:pPr lvl="2" eaLnBrk="1" hangingPunct="1"/>
            <a:r>
              <a:rPr lang="en-US" altLang="en-US" dirty="0">
                <a:latin typeface="Times New Roman" charset="0"/>
                <a:ea typeface="Times New Roman" charset="0"/>
                <a:cs typeface="Times New Roman" charset="0"/>
              </a:rPr>
              <a:t>Becomes training ground for revolutionaries </a:t>
            </a:r>
          </a:p>
          <a:p>
            <a:pPr lvl="2" eaLnBrk="1" hangingPunct="1"/>
            <a:r>
              <a:rPr lang="en-US" altLang="en-US" dirty="0">
                <a:latin typeface="Times New Roman" charset="0"/>
                <a:ea typeface="Times New Roman" charset="0"/>
                <a:cs typeface="Times New Roman" charset="0"/>
              </a:rPr>
              <a:t>Moscow did not </a:t>
            </a:r>
            <a:r>
              <a:rPr lang="en-US" altLang="ja-JP" dirty="0">
                <a:latin typeface="Times New Roman" charset="0"/>
                <a:ea typeface="Times New Roman" charset="0"/>
                <a:cs typeface="Times New Roman" charset="0"/>
              </a:rPr>
              <a:t>support revolutionary movements.</a:t>
            </a:r>
          </a:p>
          <a:p>
            <a:pPr lvl="1" eaLnBrk="1" hangingPunct="1"/>
            <a:r>
              <a:rPr lang="en-US" altLang="en-US" dirty="0">
                <a:solidFill>
                  <a:schemeClr val="tx1"/>
                </a:solidFill>
                <a:latin typeface="Times New Roman" charset="0"/>
                <a:ea typeface="Times New Roman" charset="0"/>
                <a:cs typeface="Times New Roman" charset="0"/>
              </a:rPr>
              <a:t>Che Guevara and guerrilla warfare</a:t>
            </a:r>
          </a:p>
          <a:p>
            <a:pPr lvl="2" eaLnBrk="1" hangingPunct="1"/>
            <a:endParaRPr lang="en-US" altLang="en-US"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Revolutionary Spirit</a:t>
            </a:r>
          </a:p>
        </p:txBody>
      </p:sp>
      <p:sp>
        <p:nvSpPr>
          <p:cNvPr id="6451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Revolutionaries return to sugar.</a:t>
            </a:r>
          </a:p>
          <a:p>
            <a:pPr lvl="1" eaLnBrk="1" hangingPunct="1"/>
            <a:r>
              <a:rPr lang="en-US" altLang="en-US" dirty="0">
                <a:solidFill>
                  <a:schemeClr val="tx1"/>
                </a:solidFill>
                <a:latin typeface="Times New Roman" charset="0"/>
                <a:ea typeface="Times New Roman" charset="0"/>
                <a:cs typeface="Times New Roman" charset="0"/>
              </a:rPr>
              <a:t>Tamara Bunke</a:t>
            </a:r>
          </a:p>
          <a:p>
            <a:pPr lvl="1" eaLnBrk="1" hangingPunct="1"/>
            <a:r>
              <a:rPr lang="en-US" altLang="en-US" dirty="0">
                <a:solidFill>
                  <a:schemeClr val="tx1"/>
                </a:solidFill>
                <a:latin typeface="Times New Roman" charset="0"/>
                <a:ea typeface="Times New Roman" charset="0"/>
                <a:cs typeface="Times New Roman" charset="0"/>
              </a:rPr>
              <a:t>Musical reverberations of revolution </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Violeta Parra</a:t>
            </a:r>
          </a:p>
          <a:p>
            <a:pPr lvl="2" eaLnBrk="1" hangingPunct="1"/>
            <a:r>
              <a:rPr lang="en-US" altLang="en-US" dirty="0">
                <a:latin typeface="Times New Roman" charset="0"/>
                <a:ea typeface="Times New Roman" charset="0"/>
                <a:cs typeface="Times New Roman" charset="0"/>
              </a:rPr>
              <a:t>Havana eventually became the international center of the </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new song</a:t>
            </a:r>
            <a:r>
              <a:rPr lang="ja-JP" altLang="en-US">
                <a:latin typeface="Times New Roman" charset="0"/>
                <a:ea typeface="Times New Roman" charset="0"/>
                <a:cs typeface="Times New Roman" charset="0"/>
              </a:rPr>
              <a:t>” </a:t>
            </a:r>
            <a:r>
              <a:rPr lang="en-US" altLang="ja-JP" dirty="0">
                <a:latin typeface="Times New Roman" charset="0"/>
                <a:ea typeface="Times New Roman" charset="0"/>
                <a:cs typeface="Times New Roman" charset="0"/>
              </a:rPr>
              <a:t>movement.</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Revolutionaries in Power</a:t>
            </a:r>
          </a:p>
        </p:txBody>
      </p:sp>
      <p:sp>
        <p:nvSpPr>
          <p:cNvPr id="6656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The Cuban Revolution in power</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Worldwide symbol of resistance to US power</a:t>
            </a:r>
          </a:p>
          <a:p>
            <a:pPr lvl="2" eaLnBrk="1" hangingPunct="1"/>
            <a:r>
              <a:rPr lang="en-US" altLang="en-US" dirty="0">
                <a:latin typeface="Times New Roman" charset="0"/>
                <a:ea typeface="Times New Roman" charset="0"/>
                <a:cs typeface="Times New Roman" charset="0"/>
              </a:rPr>
              <a:t>Important social achievements</a:t>
            </a:r>
          </a:p>
          <a:p>
            <a:pPr lvl="3" eaLnBrk="1" hangingPunct="1"/>
            <a:r>
              <a:rPr lang="en-US" altLang="en-US" dirty="0">
                <a:solidFill>
                  <a:schemeClr val="tx1"/>
                </a:solidFill>
                <a:latin typeface="Times New Roman" charset="0"/>
                <a:ea typeface="Times New Roman" charset="0"/>
                <a:cs typeface="Times New Roman" charset="0"/>
              </a:rPr>
              <a:t>Increased literacy</a:t>
            </a:r>
          </a:p>
          <a:p>
            <a:pPr lvl="3" eaLnBrk="1" hangingPunct="1"/>
            <a:r>
              <a:rPr lang="en-US" altLang="en-US" dirty="0">
                <a:solidFill>
                  <a:schemeClr val="tx1"/>
                </a:solidFill>
                <a:latin typeface="Times New Roman" charset="0"/>
                <a:ea typeface="Times New Roman" charset="0"/>
                <a:cs typeface="Times New Roman" charset="0"/>
              </a:rPr>
              <a:t>Medical care</a:t>
            </a:r>
          </a:p>
          <a:p>
            <a:pPr lvl="3" eaLnBrk="1" hangingPunct="1"/>
            <a:r>
              <a:rPr lang="en-US" altLang="en-US" dirty="0">
                <a:solidFill>
                  <a:schemeClr val="tx1"/>
                </a:solidFill>
                <a:latin typeface="Times New Roman" charset="0"/>
                <a:ea typeface="Times New Roman" charset="0"/>
                <a:cs typeface="Times New Roman" charset="0"/>
              </a:rPr>
              <a:t>Improved housing</a:t>
            </a:r>
          </a:p>
          <a:p>
            <a:pPr lvl="3" eaLnBrk="1" hangingPunct="1"/>
            <a:r>
              <a:rPr lang="en-US" altLang="en-US" dirty="0">
                <a:solidFill>
                  <a:schemeClr val="tx1"/>
                </a:solidFill>
                <a:latin typeface="Times New Roman" charset="0"/>
                <a:ea typeface="Times New Roman" charset="0"/>
                <a:cs typeface="Times New Roman" charset="0"/>
              </a:rPr>
              <a:t>Ended racist practices </a:t>
            </a:r>
          </a:p>
          <a:p>
            <a:pPr lvl="3" eaLnBrk="1" hangingPunct="1"/>
            <a:r>
              <a:rPr lang="en-US" altLang="en-US" dirty="0">
                <a:solidFill>
                  <a:schemeClr val="tx1"/>
                </a:solidFill>
                <a:latin typeface="Times New Roman" charset="0"/>
                <a:ea typeface="Times New Roman" charset="0"/>
                <a:cs typeface="Times New Roman" charset="0"/>
              </a:rPr>
              <a:t>Leader in Latin American culture</a:t>
            </a:r>
          </a:p>
          <a:p>
            <a:pPr lvl="2" eaLnBrk="1" hangingPunct="1"/>
            <a:r>
              <a:rPr lang="en-US" altLang="en-US" dirty="0">
                <a:latin typeface="Times New Roman" charset="0"/>
                <a:ea typeface="Times New Roman" charset="0"/>
                <a:cs typeface="Times New Roman" charset="0"/>
              </a:rPr>
              <a:t>Revolution restricted civil liberties</a:t>
            </a:r>
          </a:p>
          <a:p>
            <a:pPr lvl="3" eaLnBrk="1" hangingPunct="1"/>
            <a:r>
              <a:rPr lang="en-US" altLang="en-US" dirty="0">
                <a:solidFill>
                  <a:schemeClr val="tx1"/>
                </a:solidFill>
                <a:latin typeface="Times New Roman" charset="0"/>
                <a:ea typeface="Times New Roman" charset="0"/>
                <a:cs typeface="Times New Roman" charset="0"/>
              </a:rPr>
              <a:t>No freedom of speech</a:t>
            </a:r>
          </a:p>
          <a:p>
            <a:pPr lvl="3" eaLnBrk="1" hangingPunct="1"/>
            <a:r>
              <a:rPr lang="en-US" altLang="en-US" dirty="0">
                <a:solidFill>
                  <a:schemeClr val="tx1"/>
                </a:solidFill>
                <a:latin typeface="Times New Roman" charset="0"/>
                <a:ea typeface="Times New Roman" charset="0"/>
                <a:cs typeface="Times New Roman" charset="0"/>
              </a:rPr>
              <a:t>Cubans not allowed to travel outside country</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Role of the Church</a:t>
            </a:r>
          </a:p>
        </p:txBody>
      </p:sp>
      <p:sp>
        <p:nvSpPr>
          <p:cNvPr id="68610"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The Catholic Church played no major role in the Cuban Revolution.</a:t>
            </a:r>
          </a:p>
          <a:p>
            <a:pPr marL="800100" lvl="1" indent="-457200" eaLnBrk="1" hangingPunct="1"/>
            <a:r>
              <a:rPr lang="en-US" altLang="en-US" dirty="0">
                <a:solidFill>
                  <a:schemeClr val="tx1"/>
                </a:solidFill>
                <a:latin typeface="Times New Roman" charset="0"/>
                <a:ea typeface="Times New Roman" charset="0"/>
                <a:cs typeface="Times New Roman" charset="0"/>
              </a:rPr>
              <a:t>Many priests were active in the fight for social justice.</a:t>
            </a:r>
          </a:p>
          <a:p>
            <a:pPr lvl="2" eaLnBrk="1" hangingPunct="1"/>
            <a:r>
              <a:rPr lang="en-US" altLang="en-US" dirty="0">
                <a:latin typeface="Times New Roman" charset="0"/>
                <a:ea typeface="Times New Roman" charset="0"/>
                <a:cs typeface="Times New Roman" charset="0"/>
              </a:rPr>
              <a:t>Father Camilo Torres</a:t>
            </a:r>
          </a:p>
          <a:p>
            <a:pPr marL="800100" lvl="1" indent="-457200" eaLnBrk="1" hangingPunct="1"/>
            <a:r>
              <a:rPr lang="en-US" altLang="en-US" dirty="0">
                <a:solidFill>
                  <a:schemeClr val="tx1"/>
                </a:solidFill>
                <a:latin typeface="Times New Roman" charset="0"/>
                <a:ea typeface="Times New Roman" charset="0"/>
                <a:cs typeface="Times New Roman" charset="0"/>
              </a:rPr>
              <a:t>Religious revolutionaries saw Latin America like Marxists.</a:t>
            </a:r>
          </a:p>
          <a:p>
            <a:pPr marL="800100" lvl="1" indent="-457200" eaLnBrk="1" hangingPunct="1"/>
            <a:r>
              <a:rPr lang="en-US" altLang="en-US" dirty="0">
                <a:solidFill>
                  <a:schemeClr val="tx1"/>
                </a:solidFill>
                <a:latin typeface="Times New Roman" charset="0"/>
                <a:ea typeface="Times New Roman" charset="0"/>
                <a:cs typeface="Times New Roman" charset="0"/>
              </a:rPr>
              <a:t>Paulo Freire</a:t>
            </a:r>
          </a:p>
          <a:p>
            <a:pPr lvl="2" eaLnBrk="1" hangingPunct="1"/>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Consciousness raising</a:t>
            </a:r>
            <a:r>
              <a:rPr lang="ja-JP" altLang="en-US">
                <a:latin typeface="Times New Roman" charset="0"/>
                <a:ea typeface="Times New Roman" charset="0"/>
                <a:cs typeface="Times New Roman" charset="0"/>
              </a:rPr>
              <a:t>”</a:t>
            </a:r>
            <a:endParaRPr lang="en-US" altLang="ja-JP" dirty="0">
              <a:latin typeface="Times New Roman" charset="0"/>
              <a:ea typeface="Times New Roman" charset="0"/>
              <a:cs typeface="Times New Roman" charset="0"/>
            </a:endParaRPr>
          </a:p>
          <a:p>
            <a:pPr marL="800100" indent="-457200" eaLnBrk="1" hangingPunct="1">
              <a:buFont typeface="Arial" charset="0"/>
              <a:buChar char="•"/>
            </a:pPr>
            <a:endParaRPr lang="en-US" altLang="en-US" sz="2800" dirty="0">
              <a:latin typeface="Times New Roman" charset="0"/>
              <a:ea typeface="Times New Roman" charset="0"/>
              <a:cs typeface="Times New Roman"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Liberation Theology</a:t>
            </a:r>
          </a:p>
        </p:txBody>
      </p:sp>
      <p:sp>
        <p:nvSpPr>
          <p:cNvPr id="7065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1968 Conference of Latin American Bishops</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Discussed Freire</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approach</a:t>
            </a:r>
          </a:p>
          <a:p>
            <a:pPr lvl="2" eaLnBrk="1" hangingPunct="1"/>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Preferential option for the poor</a:t>
            </a:r>
            <a:r>
              <a:rPr lang="ja-JP" altLang="en-US">
                <a:latin typeface="Times New Roman" charset="0"/>
                <a:ea typeface="Times New Roman" charset="0"/>
                <a:cs typeface="Times New Roman" charset="0"/>
              </a:rPr>
              <a:t>”</a:t>
            </a:r>
            <a:endParaRPr lang="en-US" altLang="ja-JP" dirty="0">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Discussed creation of </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base communities</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 similar to literacy groups</a:t>
            </a:r>
          </a:p>
          <a:p>
            <a:pPr lvl="2" eaLnBrk="1" hangingPunct="1"/>
            <a:r>
              <a:rPr lang="en-US" altLang="en-US" dirty="0">
                <a:latin typeface="Times New Roman" charset="0"/>
                <a:ea typeface="Times New Roman" charset="0"/>
                <a:cs typeface="Times New Roman" charset="0"/>
              </a:rPr>
              <a:t>Discussed liberating people from </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institutionalized violence</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 of poverty</a:t>
            </a:r>
          </a:p>
          <a:p>
            <a:pPr lvl="2" eaLnBrk="1" hangingPunct="1"/>
            <a:r>
              <a:rPr lang="en-US" altLang="en-US" dirty="0">
                <a:latin typeface="Times New Roman" charset="0"/>
                <a:ea typeface="Times New Roman" charset="0"/>
                <a:cs typeface="Times New Roman" charset="0"/>
              </a:rPr>
              <a:t>Ideology known as </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Liberation theology</a:t>
            </a:r>
            <a:r>
              <a:rPr lang="ja-JP" altLang="en-US">
                <a:latin typeface="Times New Roman" charset="0"/>
                <a:ea typeface="Times New Roman" charset="0"/>
                <a:cs typeface="Times New Roman" charset="0"/>
              </a:rPr>
              <a:t>”</a:t>
            </a:r>
            <a:endParaRPr lang="en-US" altLang="ja-JP"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Conservative Reaction</a:t>
            </a:r>
          </a:p>
        </p:txBody>
      </p:sp>
      <p:sp>
        <p:nvSpPr>
          <p:cNvPr id="7270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Conservatives accused followers of communism.</a:t>
            </a:r>
          </a:p>
          <a:p>
            <a:pPr lvl="1" eaLnBrk="1" hangingPunct="1"/>
            <a:r>
              <a:rPr lang="en-US" altLang="en-US" dirty="0">
                <a:solidFill>
                  <a:schemeClr val="tx1"/>
                </a:solidFill>
                <a:latin typeface="Times New Roman" charset="0"/>
                <a:ea typeface="Times New Roman" charset="0"/>
                <a:cs typeface="Times New Roman" charset="0"/>
              </a:rPr>
              <a:t>Liberation theologians never majority of Catholic leaders</a:t>
            </a:r>
          </a:p>
          <a:p>
            <a:pPr lvl="1" eaLnBrk="1" hangingPunct="1"/>
            <a:r>
              <a:rPr lang="en-US" altLang="en-US" dirty="0">
                <a:solidFill>
                  <a:schemeClr val="tx1"/>
                </a:solidFill>
                <a:latin typeface="Times New Roman" charset="0"/>
                <a:ea typeface="Times New Roman" charset="0"/>
                <a:cs typeface="Times New Roman" charset="0"/>
              </a:rPr>
              <a:t>1978, Conference of Latin American Bishops</a:t>
            </a:r>
          </a:p>
          <a:p>
            <a:pPr lvl="2" eaLnBrk="1" hangingPunct="1"/>
            <a:r>
              <a:rPr lang="en-US" altLang="en-US" dirty="0">
                <a:latin typeface="Times New Roman" charset="0"/>
                <a:ea typeface="Times New Roman" charset="0"/>
                <a:cs typeface="Times New Roman" charset="0"/>
              </a:rPr>
              <a:t>Pope John Paul II</a:t>
            </a:r>
          </a:p>
          <a:p>
            <a:pPr lvl="2" eaLnBrk="1" hangingPunct="1"/>
            <a:r>
              <a:rPr lang="en-US" altLang="en-US" dirty="0">
                <a:latin typeface="Times New Roman" charset="0"/>
                <a:ea typeface="Times New Roman" charset="0"/>
                <a:cs typeface="Times New Roman" charset="0"/>
              </a:rPr>
              <a:t>Appointment of conservative bishops</a:t>
            </a:r>
          </a:p>
          <a:p>
            <a:pPr lvl="2" eaLnBrk="1" hangingPunct="1"/>
            <a:r>
              <a:rPr lang="en-US" altLang="en-US" dirty="0">
                <a:latin typeface="Times New Roman" charset="0"/>
                <a:ea typeface="Times New Roman" charset="0"/>
                <a:cs typeface="Times New Roman" charset="0"/>
              </a:rPr>
              <a:t>Official silencing of liberation theologians</a:t>
            </a:r>
          </a:p>
          <a:p>
            <a:pPr lvl="1" eaLnBrk="1" hangingPunct="1"/>
            <a:r>
              <a:rPr lang="en-US" altLang="en-US" dirty="0">
                <a:solidFill>
                  <a:schemeClr val="tx1"/>
                </a:solidFill>
                <a:latin typeface="Times New Roman" charset="0"/>
                <a:ea typeface="Times New Roman" charset="0"/>
                <a:cs typeface="Times New Roman" charset="0"/>
              </a:rPr>
              <a:t>Pope supported conservative archbishop against Sandinista revolutionaries in Nicaragua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0F05E6-0F85-F136-C7F9-231D9A2D31F4}"/>
              </a:ext>
            </a:extLst>
          </p:cNvPr>
          <p:cNvSpPr>
            <a:spLocks noGrp="1"/>
          </p:cNvSpPr>
          <p:nvPr>
            <p:ph type="ctrTitle"/>
          </p:nvPr>
        </p:nvSpPr>
        <p:spPr>
          <a:xfrm>
            <a:off x="1160392" y="838200"/>
            <a:ext cx="6823213" cy="3143250"/>
          </a:xfrm>
        </p:spPr>
        <p:txBody>
          <a:bodyPr anchor="t">
            <a:normAutofit/>
          </a:bodyPr>
          <a:lstStyle/>
          <a:p>
            <a:r>
              <a:rPr lang="en-US" altLang="en-US" sz="3200" b="0" dirty="0">
                <a:latin typeface="Times New Roman" charset="0"/>
                <a:ea typeface="Times New Roman" charset="0"/>
                <a:cs typeface="Times New Roman" charset="0"/>
              </a:rPr>
              <a:t>This concludes the PowerPoint presentation for </a:t>
            </a:r>
            <a:br>
              <a:rPr lang="en-US" altLang="en-US" sz="3200" b="0"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Chapter 9: </a:t>
            </a:r>
            <a:br>
              <a:rPr lang="en-US" altLang="en-US" sz="3200" b="1"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Revolution</a:t>
            </a:r>
          </a:p>
        </p:txBody>
      </p:sp>
      <p:sp>
        <p:nvSpPr>
          <p:cNvPr id="5" name="Subtitle 2">
            <a:extLst>
              <a:ext uri="{FF2B5EF4-FFF2-40B4-BE49-F238E27FC236}">
                <a16:creationId xmlns:a16="http://schemas.microsoft.com/office/drawing/2014/main" id="{B8EB6891-7D7F-5F4C-77AA-B9DAAAB70DFF}"/>
              </a:ext>
            </a:extLst>
          </p:cNvPr>
          <p:cNvSpPr>
            <a:spLocks noGrp="1"/>
          </p:cNvSpPr>
          <p:nvPr>
            <p:ph type="subTitle" idx="1"/>
          </p:nvPr>
        </p:nvSpPr>
        <p:spPr>
          <a:xfrm>
            <a:off x="1565395" y="4572000"/>
            <a:ext cx="6013205" cy="1752600"/>
          </a:xfrm>
        </p:spPr>
        <p:txBody>
          <a:bodyPr>
            <a:normAutofit/>
          </a:bodyPr>
          <a:lstStyle/>
          <a:p>
            <a:r>
              <a:rPr lang="en-US" altLang="en-US" sz="2400" dirty="0">
                <a:solidFill>
                  <a:schemeClr val="tx1"/>
                </a:solidFill>
                <a:latin typeface="Times New Roman" charset="0"/>
                <a:ea typeface="Times New Roman" charset="0"/>
                <a:cs typeface="Times New Roman" charset="0"/>
              </a:rPr>
              <a:t>For additional resources, visit </a:t>
            </a:r>
            <a:r>
              <a:rPr lang="en-US" altLang="en-US" sz="2400" dirty="0">
                <a:latin typeface="Times New Roman" charset="0"/>
                <a:ea typeface="Times New Roman" charset="0"/>
                <a:cs typeface="Times New Roman" charset="0"/>
                <a:hlinkClick r:id="rId2"/>
              </a:rPr>
              <a:t>https://digital.wwnorton.com/bornfire5</a:t>
            </a:r>
            <a:endParaRPr lang="en-US" altLang="en-US"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813379004"/>
      </p:ext>
    </p:extLst>
  </p:cSld>
  <p:clrMapOvr>
    <a:masterClrMapping/>
  </p:clrMapOvr>
</p:sld>
</file>

<file path=ppt/theme/theme1.xml><?xml version="1.0" encoding="utf-8"?>
<a:theme xmlns:a="http://schemas.openxmlformats.org/drawingml/2006/main" name="Chasteen_Ch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oc font">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1c7c9a4-d043-4a67-96e5-2ff5b742a303">
      <Terms xmlns="http://schemas.microsoft.com/office/infopath/2007/PartnerControls"/>
    </lcf76f155ced4ddcb4097134ff3c332f>
    <TaxCatchAll xmlns="9d64b6a7-e13d-4012-aff2-02bdd52222e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D69AFE3D876FE4297EE28B5F70DC3F8" ma:contentTypeVersion="18" ma:contentTypeDescription="Create a new document." ma:contentTypeScope="" ma:versionID="24168822608d9d77dd2a031d1dc4320d">
  <xsd:schema xmlns:xsd="http://www.w3.org/2001/XMLSchema" xmlns:xs="http://www.w3.org/2001/XMLSchema" xmlns:p="http://schemas.microsoft.com/office/2006/metadata/properties" xmlns:ns2="d1c7c9a4-d043-4a67-96e5-2ff5b742a303" xmlns:ns3="9d64b6a7-e13d-4012-aff2-02bdd52222eb" targetNamespace="http://schemas.microsoft.com/office/2006/metadata/properties" ma:root="true" ma:fieldsID="974d88cf474a8c2222dc8cf659776bc2" ns2:_="" ns3:_="">
    <xsd:import namespace="d1c7c9a4-d043-4a67-96e5-2ff5b742a303"/>
    <xsd:import namespace="9d64b6a7-e13d-4012-aff2-02bdd52222e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c7c9a4-d043-4a67-96e5-2ff5b742a3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5876ee3-2b79-4d5d-9b03-6d8756831634"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64b6a7-e13d-4012-aff2-02bdd52222e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b26d98fc-0af3-417b-8254-413504fc40c8}" ma:internalName="TaxCatchAll" ma:showField="CatchAllData" ma:web="9d64b6a7-e13d-4012-aff2-02bdd52222e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70B196-86AA-4E55-873C-03398A2CE93B}">
  <ds:schemaRefs>
    <ds:schemaRef ds:uri="9d64b6a7-e13d-4012-aff2-02bdd52222eb"/>
    <ds:schemaRef ds:uri="http://schemas.microsoft.com/office/2006/metadata/properties"/>
    <ds:schemaRef ds:uri="http://purl.org/dc/terms/"/>
    <ds:schemaRef ds:uri="http://schemas.microsoft.com/office/2006/documentManagement/types"/>
    <ds:schemaRef ds:uri="http://schemas.openxmlformats.org/package/2006/metadata/core-properties"/>
    <ds:schemaRef ds:uri="http://purl.org/dc/elements/1.1/"/>
    <ds:schemaRef ds:uri="http://purl.org/dc/dcmitype/"/>
    <ds:schemaRef ds:uri="http://schemas.microsoft.com/office/infopath/2007/PartnerControls"/>
    <ds:schemaRef ds:uri="d1c7c9a4-d043-4a67-96e5-2ff5b742a303"/>
    <ds:schemaRef ds:uri="http://www.w3.org/XML/1998/namespace"/>
  </ds:schemaRefs>
</ds:datastoreItem>
</file>

<file path=customXml/itemProps2.xml><?xml version="1.0" encoding="utf-8"?>
<ds:datastoreItem xmlns:ds="http://schemas.openxmlformats.org/officeDocument/2006/customXml" ds:itemID="{6547F62F-EDC1-49BC-A1C9-534BBE598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c7c9a4-d043-4a67-96e5-2ff5b742a303"/>
    <ds:schemaRef ds:uri="9d64b6a7-e13d-4012-aff2-02bdd52222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AD1BB81-945A-44E2-88DC-538CBFB4C2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Chasteen_Ch2</Template>
  <TotalTime>3513</TotalTime>
  <Words>1479</Words>
  <Application>Microsoft Macintosh PowerPoint</Application>
  <PresentationFormat>On-screen Show (4:3)</PresentationFormat>
  <Paragraphs>284</Paragraphs>
  <Slides>34</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Arial Black</vt:lpstr>
      <vt:lpstr>Calibri</vt:lpstr>
      <vt:lpstr>Times New Roman</vt:lpstr>
      <vt:lpstr>Wingdings</vt:lpstr>
      <vt:lpstr>Chasteen_Ch2</vt:lpstr>
      <vt:lpstr>Born in Blood &amp; Fire A Concise History of Latin America 5th Edition</vt:lpstr>
      <vt:lpstr>Cuban Revolutionaries of 1959</vt:lpstr>
      <vt:lpstr>Postwar Latin America</vt:lpstr>
      <vt:lpstr>Revolution </vt:lpstr>
      <vt:lpstr>Post–World War II Populism</vt:lpstr>
      <vt:lpstr>Voting Coalitions</vt:lpstr>
      <vt:lpstr>Economic Policy Options</vt:lpstr>
      <vt:lpstr>Obstacles to Nationalists</vt:lpstr>
      <vt:lpstr>Peronism</vt:lpstr>
      <vt:lpstr>Eva Perón</vt:lpstr>
      <vt:lpstr>Peronist Policy</vt:lpstr>
      <vt:lpstr>Post–World War II Brazil</vt:lpstr>
      <vt:lpstr>Post–World War II Mexico</vt:lpstr>
      <vt:lpstr>Post–World War II Colombia</vt:lpstr>
      <vt:lpstr>Onset of the Cold War</vt:lpstr>
      <vt:lpstr>US-Latin American Economics </vt:lpstr>
      <vt:lpstr>Organization of American States</vt:lpstr>
      <vt:lpstr>Post–World War II Venezuela</vt:lpstr>
      <vt:lpstr>Post–World War II Guatemala</vt:lpstr>
      <vt:lpstr>Post–World War II Bolivia</vt:lpstr>
      <vt:lpstr>Literature and the Cold War</vt:lpstr>
      <vt:lpstr>The Cuban Revolution</vt:lpstr>
      <vt:lpstr>“Che” Guevara</vt:lpstr>
      <vt:lpstr>Fidel Castro</vt:lpstr>
      <vt:lpstr>Los Barbudos</vt:lpstr>
      <vt:lpstr>Defiance of US</vt:lpstr>
      <vt:lpstr>US Response</vt:lpstr>
      <vt:lpstr>Economic Tensions</vt:lpstr>
      <vt:lpstr>Revolutionary Spirit</vt:lpstr>
      <vt:lpstr>Revolutionaries in Power</vt:lpstr>
      <vt:lpstr>Role of the Church</vt:lpstr>
      <vt:lpstr>Liberation Theology</vt:lpstr>
      <vt:lpstr>Conservative Reaction</vt:lpstr>
      <vt:lpstr>This concludes the PowerPoint presentation for  Chapter 9:  Revolution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Born in Blood &amp; Fire</dc:title>
  <dc:creator>Rob</dc:creator>
  <cp:lastModifiedBy>Kopp, Katherine</cp:lastModifiedBy>
  <cp:revision>47</cp:revision>
  <dcterms:created xsi:type="dcterms:W3CDTF">2011-05-16T15:49:20Z</dcterms:created>
  <dcterms:modified xsi:type="dcterms:W3CDTF">2024-06-06T18:19:23Z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0x0101002D69AFE3D876FE4297EE28B5F70DC3F8</vt:lpwstr>
  </property>
</Properties>
</file>