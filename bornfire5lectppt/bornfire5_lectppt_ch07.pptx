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256" r:id="rId5"/>
    <p:sldId id="257" r:id="rId6"/>
    <p:sldId id="284" r:id="rId7"/>
    <p:sldId id="285" r:id="rId8"/>
    <p:sldId id="286" r:id="rId9"/>
    <p:sldId id="287" r:id="rId10"/>
    <p:sldId id="288" r:id="rId11"/>
    <p:sldId id="316" r:id="rId12"/>
    <p:sldId id="289" r:id="rId13"/>
    <p:sldId id="290" r:id="rId14"/>
    <p:sldId id="291" r:id="rId15"/>
    <p:sldId id="297" r:id="rId16"/>
    <p:sldId id="293" r:id="rId17"/>
    <p:sldId id="294" r:id="rId18"/>
    <p:sldId id="295" r:id="rId19"/>
    <p:sldId id="296" r:id="rId20"/>
    <p:sldId id="298" r:id="rId21"/>
    <p:sldId id="299" r:id="rId22"/>
    <p:sldId id="300" r:id="rId23"/>
    <p:sldId id="301" r:id="rId24"/>
    <p:sldId id="324" r:id="rId25"/>
    <p:sldId id="302" r:id="rId26"/>
    <p:sldId id="303" r:id="rId27"/>
    <p:sldId id="304" r:id="rId28"/>
    <p:sldId id="305" r:id="rId29"/>
    <p:sldId id="321" r:id="rId30"/>
    <p:sldId id="306" r:id="rId31"/>
    <p:sldId id="307" r:id="rId32"/>
    <p:sldId id="308" r:id="rId33"/>
    <p:sldId id="309" r:id="rId34"/>
    <p:sldId id="325" r:id="rId35"/>
    <p:sldId id="310" r:id="rId36"/>
    <p:sldId id="311" r:id="rId37"/>
    <p:sldId id="326" r:id="rId3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FD47F4-D62F-29E1-A4A5-60559B0A1BD1}" name="Kopp, Katherine" initials="KK" userId="S::kkopp@wwnorton.com::8975c588-54e8-41b7-a546-07e477ad4a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30F458-3347-114F-9659-C3F4EC7488E7}" v="2" dt="2024-06-06T18:16:37.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79184"/>
  </p:normalViewPr>
  <p:slideViewPr>
    <p:cSldViewPr>
      <p:cViewPr varScale="1">
        <p:scale>
          <a:sx n="95" d="100"/>
          <a:sy n="95" d="100"/>
        </p:scale>
        <p:origin x="36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A394C74F-1E8B-4048-89AB-3AF9051CE5A4}" type="datetime1">
              <a:rPr lang="en-US" altLang="en-US"/>
              <a:pPr>
                <a:defRPr/>
              </a:pPr>
              <a:t>6/6/24</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C7BC591B-18F3-3444-A761-0380AFBDD687}" type="slidenum">
              <a:rPr lang="en-US" altLang="en-US"/>
              <a:pPr>
                <a:defRPr/>
              </a:pPr>
              <a:t>‹#›</a:t>
            </a:fld>
            <a:endParaRPr lang="en-US" altLang="en-US" dirty="0"/>
          </a:p>
        </p:txBody>
      </p:sp>
    </p:spTree>
    <p:extLst>
      <p:ext uri="{BB962C8B-B14F-4D97-AF65-F5344CB8AC3E}">
        <p14:creationId xmlns:p14="http://schemas.microsoft.com/office/powerpoint/2010/main" val="13947827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61B2AE6-84E6-D049-A023-7C2B31586E70}" type="slidenum">
              <a:rPr lang="en-US" altLang="en-US"/>
              <a:pPr>
                <a:spcBef>
                  <a:spcPct val="0"/>
                </a:spcBef>
              </a:pPr>
              <a:t>2</a:t>
            </a:fld>
            <a:endParaRPr lang="en-US" altLang="en-US" dirty="0"/>
          </a:p>
        </p:txBody>
      </p:sp>
    </p:spTree>
    <p:extLst>
      <p:ext uri="{BB962C8B-B14F-4D97-AF65-F5344CB8AC3E}">
        <p14:creationId xmlns:p14="http://schemas.microsoft.com/office/powerpoint/2010/main" val="29703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6B9C1FB-CD7C-B149-8490-49AB68174704}" type="slidenum">
              <a:rPr lang="en-US" altLang="en-US"/>
              <a:pPr>
                <a:spcBef>
                  <a:spcPct val="0"/>
                </a:spcBef>
              </a:pPr>
              <a:t>3</a:t>
            </a:fld>
            <a:endParaRPr lang="en-US" altLang="en-US" dirty="0"/>
          </a:p>
        </p:txBody>
      </p:sp>
    </p:spTree>
    <p:extLst>
      <p:ext uri="{BB962C8B-B14F-4D97-AF65-F5344CB8AC3E}">
        <p14:creationId xmlns:p14="http://schemas.microsoft.com/office/powerpoint/2010/main" val="15398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C623D3E-5FCB-3F41-AF7F-B1345FE688F6}" type="slidenum">
              <a:rPr lang="en-US" altLang="en-US"/>
              <a:pPr>
                <a:spcBef>
                  <a:spcPct val="0"/>
                </a:spcBef>
              </a:pPr>
              <a:t>4</a:t>
            </a:fld>
            <a:endParaRPr lang="en-US" altLang="en-US" dirty="0"/>
          </a:p>
        </p:txBody>
      </p:sp>
    </p:spTree>
    <p:extLst>
      <p:ext uri="{BB962C8B-B14F-4D97-AF65-F5344CB8AC3E}">
        <p14:creationId xmlns:p14="http://schemas.microsoft.com/office/powerpoint/2010/main" val="449579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D8DD4E3-7AA0-4341-AB28-543DA2B6A4D2}" type="slidenum">
              <a:rPr lang="en-US" altLang="en-US"/>
              <a:pPr>
                <a:spcBef>
                  <a:spcPct val="0"/>
                </a:spcBef>
              </a:pPr>
              <a:t>5</a:t>
            </a:fld>
            <a:endParaRPr lang="en-US" altLang="en-US" dirty="0"/>
          </a:p>
        </p:txBody>
      </p:sp>
    </p:spTree>
    <p:extLst>
      <p:ext uri="{BB962C8B-B14F-4D97-AF65-F5344CB8AC3E}">
        <p14:creationId xmlns:p14="http://schemas.microsoft.com/office/powerpoint/2010/main" val="1230900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7A6E56E-949D-A545-8652-DC248DC9DC1F}" type="slidenum">
              <a:rPr lang="en-US" altLang="en-US"/>
              <a:pPr>
                <a:spcBef>
                  <a:spcPct val="0"/>
                </a:spcBef>
              </a:pPr>
              <a:t>6</a:t>
            </a:fld>
            <a:endParaRPr lang="en-US" altLang="en-US" dirty="0"/>
          </a:p>
        </p:txBody>
      </p:sp>
    </p:spTree>
    <p:extLst>
      <p:ext uri="{BB962C8B-B14F-4D97-AF65-F5344CB8AC3E}">
        <p14:creationId xmlns:p14="http://schemas.microsoft.com/office/powerpoint/2010/main" val="1035891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9BE6AD7-A6DC-154C-B5C9-BC5B08F5BB56}" type="slidenum">
              <a:rPr lang="en-US" altLang="en-US"/>
              <a:pPr>
                <a:spcBef>
                  <a:spcPct val="0"/>
                </a:spcBef>
              </a:pPr>
              <a:t>7</a:t>
            </a:fld>
            <a:endParaRPr lang="en-US" altLang="en-US" dirty="0"/>
          </a:p>
        </p:txBody>
      </p:sp>
    </p:spTree>
    <p:extLst>
      <p:ext uri="{BB962C8B-B14F-4D97-AF65-F5344CB8AC3E}">
        <p14:creationId xmlns:p14="http://schemas.microsoft.com/office/powerpoint/2010/main" val="580732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LA AVENIDA DE MAYO</a:t>
            </a:r>
            <a:r>
              <a:rPr lang="en-US" dirty="0"/>
              <a:t>. Completed in the 1890s, the spacious main avenue of downtown Buenos Aires was flanked by impressive buildings in a variety of modern styles. It exemplified the transformation of capital cities in neocolonial Latin America. </a:t>
            </a:r>
            <a:r>
              <a:rPr lang="en-US" i="1" dirty="0"/>
              <a:t>Library of Congress, Prints and Photographs Division.</a:t>
            </a:r>
          </a:p>
        </p:txBody>
      </p:sp>
      <p:sp>
        <p:nvSpPr>
          <p:cNvPr id="4" name="Slide Number Placeholder 3"/>
          <p:cNvSpPr>
            <a:spLocks noGrp="1"/>
          </p:cNvSpPr>
          <p:nvPr>
            <p:ph type="sldNum" sz="quarter" idx="10"/>
          </p:nvPr>
        </p:nvSpPr>
        <p:spPr/>
        <p:txBody>
          <a:bodyPr/>
          <a:lstStyle/>
          <a:p>
            <a:fld id="{C9CDF101-C185-844F-9839-0B79CB8E1A4A}" type="slidenum">
              <a:rPr lang="en-US" smtClean="0"/>
              <a:pPr/>
              <a:t>8</a:t>
            </a:fld>
            <a:endParaRPr lang="en-US"/>
          </a:p>
        </p:txBody>
      </p:sp>
    </p:spTree>
    <p:extLst>
      <p:ext uri="{BB962C8B-B14F-4D97-AF65-F5344CB8AC3E}">
        <p14:creationId xmlns:p14="http://schemas.microsoft.com/office/powerpoint/2010/main" val="137874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56BC4FD-0687-4D4B-AB88-CB404594ECE0}" type="slidenum">
              <a:rPr lang="en-US" altLang="en-US"/>
              <a:pPr>
                <a:spcBef>
                  <a:spcPct val="0"/>
                </a:spcBef>
              </a:pPr>
              <a:t>9</a:t>
            </a:fld>
            <a:endParaRPr lang="en-US" altLang="en-US" dirty="0"/>
          </a:p>
        </p:txBody>
      </p:sp>
    </p:spTree>
    <p:extLst>
      <p:ext uri="{BB962C8B-B14F-4D97-AF65-F5344CB8AC3E}">
        <p14:creationId xmlns:p14="http://schemas.microsoft.com/office/powerpoint/2010/main" val="62909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37A3812-78F7-5F43-8FA7-4433C6D2DBF2}" type="slidenum">
              <a:rPr lang="en-US" altLang="en-US"/>
              <a:pPr>
                <a:spcBef>
                  <a:spcPct val="0"/>
                </a:spcBef>
              </a:pPr>
              <a:t>10</a:t>
            </a:fld>
            <a:endParaRPr lang="en-US" altLang="en-US" dirty="0"/>
          </a:p>
        </p:txBody>
      </p:sp>
    </p:spTree>
    <p:extLst>
      <p:ext uri="{BB962C8B-B14F-4D97-AF65-F5344CB8AC3E}">
        <p14:creationId xmlns:p14="http://schemas.microsoft.com/office/powerpoint/2010/main" val="765575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4F3BF0D-C16C-CA46-A744-EF37360B5D67}" type="slidenum">
              <a:rPr lang="en-US" altLang="en-US"/>
              <a:pPr>
                <a:spcBef>
                  <a:spcPct val="0"/>
                </a:spcBef>
              </a:pPr>
              <a:t>11</a:t>
            </a:fld>
            <a:endParaRPr lang="en-US" altLang="en-US" dirty="0"/>
          </a:p>
        </p:txBody>
      </p:sp>
    </p:spTree>
    <p:extLst>
      <p:ext uri="{BB962C8B-B14F-4D97-AF65-F5344CB8AC3E}">
        <p14:creationId xmlns:p14="http://schemas.microsoft.com/office/powerpoint/2010/main" val="1449974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ED98ED8-AB37-AE46-A44D-2B04CDFE7E80}" type="slidenum">
              <a:rPr lang="en-US" altLang="en-US"/>
              <a:pPr>
                <a:spcBef>
                  <a:spcPct val="0"/>
                </a:spcBef>
              </a:pPr>
              <a:t>12</a:t>
            </a:fld>
            <a:endParaRPr lang="en-US" altLang="en-US" dirty="0"/>
          </a:p>
        </p:txBody>
      </p:sp>
    </p:spTree>
    <p:extLst>
      <p:ext uri="{BB962C8B-B14F-4D97-AF65-F5344CB8AC3E}">
        <p14:creationId xmlns:p14="http://schemas.microsoft.com/office/powerpoint/2010/main" val="83802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E0EBCF4-18DE-BE4F-85E7-983619337F75}" type="slidenum">
              <a:rPr lang="en-US" altLang="en-US"/>
              <a:pPr>
                <a:spcBef>
                  <a:spcPct val="0"/>
                </a:spcBef>
              </a:pPr>
              <a:t>13</a:t>
            </a:fld>
            <a:endParaRPr lang="en-US" altLang="en-US" dirty="0"/>
          </a:p>
        </p:txBody>
      </p:sp>
    </p:spTree>
    <p:extLst>
      <p:ext uri="{BB962C8B-B14F-4D97-AF65-F5344CB8AC3E}">
        <p14:creationId xmlns:p14="http://schemas.microsoft.com/office/powerpoint/2010/main" val="1861433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2987718-D2FC-D644-929C-936C69BAF07B}" type="slidenum">
              <a:rPr lang="en-US" altLang="en-US"/>
              <a:pPr>
                <a:spcBef>
                  <a:spcPct val="0"/>
                </a:spcBef>
              </a:pPr>
              <a:t>14</a:t>
            </a:fld>
            <a:endParaRPr lang="en-US" altLang="en-US" dirty="0"/>
          </a:p>
        </p:txBody>
      </p:sp>
    </p:spTree>
    <p:extLst>
      <p:ext uri="{BB962C8B-B14F-4D97-AF65-F5344CB8AC3E}">
        <p14:creationId xmlns:p14="http://schemas.microsoft.com/office/powerpoint/2010/main" val="573888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8E752A2-A181-D74B-B4C5-CC4B6F5B9DA0}" type="slidenum">
              <a:rPr lang="en-US" altLang="en-US"/>
              <a:pPr>
                <a:spcBef>
                  <a:spcPct val="0"/>
                </a:spcBef>
              </a:pPr>
              <a:t>15</a:t>
            </a:fld>
            <a:endParaRPr lang="en-US" altLang="en-US" dirty="0"/>
          </a:p>
        </p:txBody>
      </p:sp>
    </p:spTree>
    <p:extLst>
      <p:ext uri="{BB962C8B-B14F-4D97-AF65-F5344CB8AC3E}">
        <p14:creationId xmlns:p14="http://schemas.microsoft.com/office/powerpoint/2010/main" val="996305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9B45671-41F5-5041-BA9A-19B6E5033B8B}" type="slidenum">
              <a:rPr lang="en-US" altLang="en-US"/>
              <a:pPr>
                <a:spcBef>
                  <a:spcPct val="0"/>
                </a:spcBef>
              </a:pPr>
              <a:t>16</a:t>
            </a:fld>
            <a:endParaRPr lang="en-US" altLang="en-US" dirty="0"/>
          </a:p>
        </p:txBody>
      </p:sp>
    </p:spTree>
    <p:extLst>
      <p:ext uri="{BB962C8B-B14F-4D97-AF65-F5344CB8AC3E}">
        <p14:creationId xmlns:p14="http://schemas.microsoft.com/office/powerpoint/2010/main" val="974576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1340B16-34B5-5B46-B074-138E5E8CCD22}" type="slidenum">
              <a:rPr lang="en-US" altLang="en-US"/>
              <a:pPr>
                <a:spcBef>
                  <a:spcPct val="0"/>
                </a:spcBef>
              </a:pPr>
              <a:t>17</a:t>
            </a:fld>
            <a:endParaRPr lang="en-US" altLang="en-US" dirty="0"/>
          </a:p>
        </p:txBody>
      </p:sp>
    </p:spTree>
    <p:extLst>
      <p:ext uri="{BB962C8B-B14F-4D97-AF65-F5344CB8AC3E}">
        <p14:creationId xmlns:p14="http://schemas.microsoft.com/office/powerpoint/2010/main" val="848148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6DB2806-76BA-C542-9E91-47C776CD1ACF}" type="slidenum">
              <a:rPr lang="en-US" altLang="en-US"/>
              <a:pPr>
                <a:spcBef>
                  <a:spcPct val="0"/>
                </a:spcBef>
              </a:pPr>
              <a:t>18</a:t>
            </a:fld>
            <a:endParaRPr lang="en-US" altLang="en-US" dirty="0"/>
          </a:p>
        </p:txBody>
      </p:sp>
    </p:spTree>
    <p:extLst>
      <p:ext uri="{BB962C8B-B14F-4D97-AF65-F5344CB8AC3E}">
        <p14:creationId xmlns:p14="http://schemas.microsoft.com/office/powerpoint/2010/main" val="1989345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2995601-7E76-DE41-AD3E-B158AFE2FDC5}" type="slidenum">
              <a:rPr lang="en-US" altLang="en-US"/>
              <a:pPr>
                <a:spcBef>
                  <a:spcPct val="0"/>
                </a:spcBef>
              </a:pPr>
              <a:t>19</a:t>
            </a:fld>
            <a:endParaRPr lang="en-US" altLang="en-US" dirty="0"/>
          </a:p>
        </p:txBody>
      </p:sp>
    </p:spTree>
    <p:extLst>
      <p:ext uri="{BB962C8B-B14F-4D97-AF65-F5344CB8AC3E}">
        <p14:creationId xmlns:p14="http://schemas.microsoft.com/office/powerpoint/2010/main" val="749456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5E6C629-B04E-A541-B650-2FAC86F3A222}" type="slidenum">
              <a:rPr lang="en-US" altLang="en-US"/>
              <a:pPr>
                <a:spcBef>
                  <a:spcPct val="0"/>
                </a:spcBef>
              </a:pPr>
              <a:t>20</a:t>
            </a:fld>
            <a:endParaRPr lang="en-US" altLang="en-US" dirty="0"/>
          </a:p>
        </p:txBody>
      </p:sp>
    </p:spTree>
    <p:extLst>
      <p:ext uri="{BB962C8B-B14F-4D97-AF65-F5344CB8AC3E}">
        <p14:creationId xmlns:p14="http://schemas.microsoft.com/office/powerpoint/2010/main" val="1116225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5E6C629-B04E-A541-B650-2FAC86F3A222}" type="slidenum">
              <a:rPr lang="en-US" altLang="en-US"/>
              <a:pPr>
                <a:spcBef>
                  <a:spcPct val="0"/>
                </a:spcBef>
              </a:pPr>
              <a:t>21</a:t>
            </a:fld>
            <a:endParaRPr lang="en-US" altLang="en-US" dirty="0"/>
          </a:p>
        </p:txBody>
      </p:sp>
    </p:spTree>
    <p:extLst>
      <p:ext uri="{BB962C8B-B14F-4D97-AF65-F5344CB8AC3E}">
        <p14:creationId xmlns:p14="http://schemas.microsoft.com/office/powerpoint/2010/main" val="3350492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F77FF81-723C-064E-B89E-F18827FA3734}" type="slidenum">
              <a:rPr lang="en-US" altLang="en-US"/>
              <a:pPr>
                <a:spcBef>
                  <a:spcPct val="0"/>
                </a:spcBef>
              </a:pPr>
              <a:t>22</a:t>
            </a:fld>
            <a:endParaRPr lang="en-US" altLang="en-US" dirty="0"/>
          </a:p>
        </p:txBody>
      </p:sp>
    </p:spTree>
    <p:extLst>
      <p:ext uri="{BB962C8B-B14F-4D97-AF65-F5344CB8AC3E}">
        <p14:creationId xmlns:p14="http://schemas.microsoft.com/office/powerpoint/2010/main" val="21388430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221AACA-7DEC-6F4F-BAC1-05806BBCB8C4}" type="slidenum">
              <a:rPr lang="en-US" altLang="en-US"/>
              <a:pPr>
                <a:spcBef>
                  <a:spcPct val="0"/>
                </a:spcBef>
              </a:pPr>
              <a:t>23</a:t>
            </a:fld>
            <a:endParaRPr lang="en-US" altLang="en-US" dirty="0"/>
          </a:p>
        </p:txBody>
      </p:sp>
    </p:spTree>
    <p:extLst>
      <p:ext uri="{BB962C8B-B14F-4D97-AF65-F5344CB8AC3E}">
        <p14:creationId xmlns:p14="http://schemas.microsoft.com/office/powerpoint/2010/main" val="806727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2711686-0274-DA42-98AC-F6BDD933820F}" type="slidenum">
              <a:rPr lang="en-US" altLang="en-US"/>
              <a:pPr>
                <a:spcBef>
                  <a:spcPct val="0"/>
                </a:spcBef>
              </a:pPr>
              <a:t>24</a:t>
            </a:fld>
            <a:endParaRPr lang="en-US" altLang="en-US" dirty="0"/>
          </a:p>
        </p:txBody>
      </p:sp>
    </p:spTree>
    <p:extLst>
      <p:ext uri="{BB962C8B-B14F-4D97-AF65-F5344CB8AC3E}">
        <p14:creationId xmlns:p14="http://schemas.microsoft.com/office/powerpoint/2010/main" val="15991818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D541B10-26CE-1441-885A-1C27B8A9F25E}" type="slidenum">
              <a:rPr lang="en-US" altLang="en-US"/>
              <a:pPr>
                <a:spcBef>
                  <a:spcPct val="0"/>
                </a:spcBef>
              </a:pPr>
              <a:t>25</a:t>
            </a:fld>
            <a:endParaRPr lang="en-US" altLang="en-US" dirty="0"/>
          </a:p>
        </p:txBody>
      </p:sp>
    </p:spTree>
    <p:extLst>
      <p:ext uri="{BB962C8B-B14F-4D97-AF65-F5344CB8AC3E}">
        <p14:creationId xmlns:p14="http://schemas.microsoft.com/office/powerpoint/2010/main" val="16912922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NEOCOLONIAL INVESTMENTS AND INTERVENTIONS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26</a:t>
            </a:fld>
            <a:endParaRPr lang="en-US"/>
          </a:p>
        </p:txBody>
      </p:sp>
    </p:spTree>
    <p:extLst>
      <p:ext uri="{BB962C8B-B14F-4D97-AF65-F5344CB8AC3E}">
        <p14:creationId xmlns:p14="http://schemas.microsoft.com/office/powerpoint/2010/main" val="322878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95F3801-3E0E-BD48-A5E6-CC5A945C3CA3}" type="slidenum">
              <a:rPr lang="en-US" altLang="en-US"/>
              <a:pPr>
                <a:spcBef>
                  <a:spcPct val="0"/>
                </a:spcBef>
              </a:pPr>
              <a:t>27</a:t>
            </a:fld>
            <a:endParaRPr lang="en-US" altLang="en-US" dirty="0"/>
          </a:p>
        </p:txBody>
      </p:sp>
    </p:spTree>
    <p:extLst>
      <p:ext uri="{BB962C8B-B14F-4D97-AF65-F5344CB8AC3E}">
        <p14:creationId xmlns:p14="http://schemas.microsoft.com/office/powerpoint/2010/main" val="14553612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B09C757-9F80-C641-876C-C64012A963B6}" type="slidenum">
              <a:rPr lang="en-US" altLang="en-US"/>
              <a:pPr>
                <a:spcBef>
                  <a:spcPct val="0"/>
                </a:spcBef>
              </a:pPr>
              <a:t>28</a:t>
            </a:fld>
            <a:endParaRPr lang="en-US" altLang="en-US" dirty="0"/>
          </a:p>
        </p:txBody>
      </p:sp>
    </p:spTree>
    <p:extLst>
      <p:ext uri="{BB962C8B-B14F-4D97-AF65-F5344CB8AC3E}">
        <p14:creationId xmlns:p14="http://schemas.microsoft.com/office/powerpoint/2010/main" val="4183944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24AE030-7C6C-FE43-8F7C-A6D1E4AC077E}" type="slidenum">
              <a:rPr lang="en-US" altLang="en-US"/>
              <a:pPr>
                <a:spcBef>
                  <a:spcPct val="0"/>
                </a:spcBef>
              </a:pPr>
              <a:t>29</a:t>
            </a:fld>
            <a:endParaRPr lang="en-US" altLang="en-US" dirty="0"/>
          </a:p>
        </p:txBody>
      </p:sp>
    </p:spTree>
    <p:extLst>
      <p:ext uri="{BB962C8B-B14F-4D97-AF65-F5344CB8AC3E}">
        <p14:creationId xmlns:p14="http://schemas.microsoft.com/office/powerpoint/2010/main" val="10944306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AE67293-BF0A-4740-AB29-D644D237F601}" type="slidenum">
              <a:rPr lang="en-US" altLang="en-US"/>
              <a:pPr>
                <a:spcBef>
                  <a:spcPct val="0"/>
                </a:spcBef>
              </a:pPr>
              <a:t>30</a:t>
            </a:fld>
            <a:endParaRPr lang="en-US" altLang="en-US" dirty="0"/>
          </a:p>
        </p:txBody>
      </p:sp>
    </p:spTree>
    <p:extLst>
      <p:ext uri="{BB962C8B-B14F-4D97-AF65-F5344CB8AC3E}">
        <p14:creationId xmlns:p14="http://schemas.microsoft.com/office/powerpoint/2010/main" val="898094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C9CDF101-C185-844F-9839-0B79CB8E1A4A}" type="slidenum">
              <a:rPr lang="en-US" smtClean="0"/>
              <a:pPr/>
              <a:t>31</a:t>
            </a:fld>
            <a:endParaRPr lang="en-US"/>
          </a:p>
        </p:txBody>
      </p:sp>
    </p:spTree>
    <p:extLst>
      <p:ext uri="{BB962C8B-B14F-4D97-AF65-F5344CB8AC3E}">
        <p14:creationId xmlns:p14="http://schemas.microsoft.com/office/powerpoint/2010/main" val="2129153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B8D911A-48EB-9043-8A5F-8B75F2480F4F}" type="slidenum">
              <a:rPr lang="en-US" altLang="en-US"/>
              <a:pPr>
                <a:spcBef>
                  <a:spcPct val="0"/>
                </a:spcBef>
              </a:pPr>
              <a:t>32</a:t>
            </a:fld>
            <a:endParaRPr lang="en-US" altLang="en-US" dirty="0"/>
          </a:p>
        </p:txBody>
      </p:sp>
    </p:spTree>
    <p:extLst>
      <p:ext uri="{BB962C8B-B14F-4D97-AF65-F5344CB8AC3E}">
        <p14:creationId xmlns:p14="http://schemas.microsoft.com/office/powerpoint/2010/main" val="17613248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2B7E118-F4A6-B145-AF2C-DD36955C8C1D}" type="slidenum">
              <a:rPr lang="en-US" altLang="en-US"/>
              <a:pPr>
                <a:spcBef>
                  <a:spcPct val="0"/>
                </a:spcBef>
              </a:pPr>
              <a:t>33</a:t>
            </a:fld>
            <a:endParaRPr lang="en-US" altLang="en-US" dirty="0"/>
          </a:p>
        </p:txBody>
      </p:sp>
    </p:spTree>
    <p:extLst>
      <p:ext uri="{BB962C8B-B14F-4D97-AF65-F5344CB8AC3E}">
        <p14:creationId xmlns:p14="http://schemas.microsoft.com/office/powerpoint/2010/main" val="1672550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6C3FB4D-E84F-CD48-8210-6A22FC187646}"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DBEF329-5672-A24B-A623-748BFC7C0053}" type="slidenum">
              <a:rPr lang="en-US" altLang="en-US"/>
              <a:pPr>
                <a:defRPr/>
              </a:pPr>
              <a:t>‹#›</a:t>
            </a:fld>
            <a:endParaRPr lang="en-US" altLang="en-US" dirty="0"/>
          </a:p>
        </p:txBody>
      </p:sp>
    </p:spTree>
    <p:extLst>
      <p:ext uri="{BB962C8B-B14F-4D97-AF65-F5344CB8AC3E}">
        <p14:creationId xmlns:p14="http://schemas.microsoft.com/office/powerpoint/2010/main" val="477327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6820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CA9A9AE-45D6-404D-8566-CE1074702AE2}"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67F0FDD-A625-A04B-BC6A-1CA533BADD86}" type="slidenum">
              <a:rPr lang="en-US" altLang="en-US"/>
              <a:pPr>
                <a:defRPr/>
              </a:pPr>
              <a:t>‹#›</a:t>
            </a:fld>
            <a:endParaRPr lang="en-US" altLang="en-US" dirty="0"/>
          </a:p>
        </p:txBody>
      </p:sp>
    </p:spTree>
    <p:extLst>
      <p:ext uri="{BB962C8B-B14F-4D97-AF65-F5344CB8AC3E}">
        <p14:creationId xmlns:p14="http://schemas.microsoft.com/office/powerpoint/2010/main" val="15881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0DA4031-BE02-4D4F-99CA-B0F97804BFF2}"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3835108-8FFC-1648-9B6B-F93DC5F63735}" type="slidenum">
              <a:rPr lang="en-US" altLang="en-US"/>
              <a:pPr>
                <a:defRPr/>
              </a:pPr>
              <a:t>‹#›</a:t>
            </a:fld>
            <a:endParaRPr lang="en-US" altLang="en-US" dirty="0"/>
          </a:p>
        </p:txBody>
      </p:sp>
    </p:spTree>
    <p:extLst>
      <p:ext uri="{BB962C8B-B14F-4D97-AF65-F5344CB8AC3E}">
        <p14:creationId xmlns:p14="http://schemas.microsoft.com/office/powerpoint/2010/main" val="508911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B3510870-CBFF-8244-8669-86A288CC262A}" type="datetime1">
              <a:rPr lang="en-US" altLang="en-US"/>
              <a:pPr>
                <a:defRPr/>
              </a:pPr>
              <a:t>6/6/24</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71F6D9A-4275-A84D-AA59-2F29CE5CB959}" type="slidenum">
              <a:rPr lang="en-US" altLang="en-US"/>
              <a:pPr>
                <a:defRPr/>
              </a:pPr>
              <a:t>‹#›</a:t>
            </a:fld>
            <a:endParaRPr lang="en-US" altLang="en-US" dirty="0"/>
          </a:p>
        </p:txBody>
      </p:sp>
    </p:spTree>
    <p:extLst>
      <p:ext uri="{BB962C8B-B14F-4D97-AF65-F5344CB8AC3E}">
        <p14:creationId xmlns:p14="http://schemas.microsoft.com/office/powerpoint/2010/main" val="1997294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179D350-955F-7D4C-A15E-055E54385868}" type="datetime1">
              <a:rPr lang="en-US" altLang="en-US"/>
              <a:pPr>
                <a:defRPr/>
              </a:pPr>
              <a:t>6/6/24</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BB71C78-12CA-F941-B9F9-26BB9F936C12}" type="slidenum">
              <a:rPr lang="en-US" altLang="en-US"/>
              <a:pPr>
                <a:defRPr/>
              </a:pPr>
              <a:t>‹#›</a:t>
            </a:fld>
            <a:endParaRPr lang="en-US" altLang="en-US" dirty="0"/>
          </a:p>
        </p:txBody>
      </p:sp>
    </p:spTree>
    <p:extLst>
      <p:ext uri="{BB962C8B-B14F-4D97-AF65-F5344CB8AC3E}">
        <p14:creationId xmlns:p14="http://schemas.microsoft.com/office/powerpoint/2010/main" val="121700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B8DF2BA-5A1E-6147-A92D-62F398C57CF9}" type="datetime1">
              <a:rPr lang="en-US" altLang="en-US"/>
              <a:pPr>
                <a:defRPr/>
              </a:pPr>
              <a:t>6/6/24</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7A6636A-3EDD-2A49-B079-205E674C4267}" type="slidenum">
              <a:rPr lang="en-US" altLang="en-US"/>
              <a:pPr>
                <a:defRPr/>
              </a:pPr>
              <a:t>‹#›</a:t>
            </a:fld>
            <a:endParaRPr lang="en-US" altLang="en-US" dirty="0"/>
          </a:p>
        </p:txBody>
      </p:sp>
    </p:spTree>
    <p:extLst>
      <p:ext uri="{BB962C8B-B14F-4D97-AF65-F5344CB8AC3E}">
        <p14:creationId xmlns:p14="http://schemas.microsoft.com/office/powerpoint/2010/main" val="1522057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CB4D3E-3D7F-C344-A092-C819F2C07222}"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F8D05BD-E1EF-9041-A9FA-22FF79DA68E1}" type="slidenum">
              <a:rPr lang="en-US" altLang="en-US"/>
              <a:pPr>
                <a:defRPr/>
              </a:pPr>
              <a:t>‹#›</a:t>
            </a:fld>
            <a:endParaRPr lang="en-US" altLang="en-US" dirty="0"/>
          </a:p>
        </p:txBody>
      </p:sp>
    </p:spTree>
    <p:extLst>
      <p:ext uri="{BB962C8B-B14F-4D97-AF65-F5344CB8AC3E}">
        <p14:creationId xmlns:p14="http://schemas.microsoft.com/office/powerpoint/2010/main" val="395401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729E87D-EE0D-2A41-97EF-134EF7455765}"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6CD45F5-A91C-5241-B139-D6159CC9D479}" type="slidenum">
              <a:rPr lang="en-US" altLang="en-US"/>
              <a:pPr>
                <a:defRPr/>
              </a:pPr>
              <a:t>‹#›</a:t>
            </a:fld>
            <a:endParaRPr lang="en-US" altLang="en-US" dirty="0"/>
          </a:p>
        </p:txBody>
      </p:sp>
    </p:spTree>
    <p:extLst>
      <p:ext uri="{BB962C8B-B14F-4D97-AF65-F5344CB8AC3E}">
        <p14:creationId xmlns:p14="http://schemas.microsoft.com/office/powerpoint/2010/main" val="1192220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ECDC25C-3CCE-9942-9167-58C055BCD60A}"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13962FE-5FA3-3D45-B4C5-807B0F9E9136}" type="slidenum">
              <a:rPr lang="en-US" altLang="en-US"/>
              <a:pPr>
                <a:defRPr/>
              </a:pPr>
              <a:t>‹#›</a:t>
            </a:fld>
            <a:endParaRPr lang="en-US" altLang="en-US" dirty="0"/>
          </a:p>
        </p:txBody>
      </p:sp>
    </p:spTree>
    <p:extLst>
      <p:ext uri="{BB962C8B-B14F-4D97-AF65-F5344CB8AC3E}">
        <p14:creationId xmlns:p14="http://schemas.microsoft.com/office/powerpoint/2010/main" val="16194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7FFAD79-C2B7-FF47-8595-5E23FCFDE1C4}"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9779709-42AA-4C48-88AC-E4175A64FBAB}" type="slidenum">
              <a:rPr lang="en-US" altLang="en-US"/>
              <a:pPr>
                <a:defRPr/>
              </a:pPr>
              <a:t>‹#›</a:t>
            </a:fld>
            <a:endParaRPr lang="en-US" altLang="en-US" dirty="0"/>
          </a:p>
        </p:txBody>
      </p:sp>
    </p:spTree>
    <p:extLst>
      <p:ext uri="{BB962C8B-B14F-4D97-AF65-F5344CB8AC3E}">
        <p14:creationId xmlns:p14="http://schemas.microsoft.com/office/powerpoint/2010/main" val="144713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059D1CCA-3C84-EF4C-927F-CB673EEED336}" type="datetime1">
              <a:rPr lang="en-US" altLang="en-US"/>
              <a:pPr>
                <a:defRPr/>
              </a:pPr>
              <a:t>6/6/24</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061795E3-4DF2-4E47-85D6-E9A18DCE98E0}"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769" r:id="rId1"/>
    <p:sldLayoutId id="214748377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45529" y="2286000"/>
            <a:ext cx="325239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7:</a:t>
            </a:r>
          </a:p>
          <a:p>
            <a:pPr marL="0" indent="0" algn="ctr" eaLnBrk="1" hangingPunct="1"/>
            <a:r>
              <a:rPr lang="en-US" altLang="en-US" dirty="0">
                <a:latin typeface="Times New Roman" charset="0"/>
                <a:ea typeface="Times New Roman" charset="0"/>
                <a:cs typeface="Times New Roman" charset="0"/>
              </a:rPr>
              <a:t>Neocolonialism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Embracing Progress</a:t>
            </a:r>
          </a:p>
        </p:txBody>
      </p:sp>
      <p:sp>
        <p:nvSpPr>
          <p:cNvPr id="15362" name="Content Placeholder 7"/>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Countries that were models of modernity installed it in Americas.</a:t>
            </a:r>
          </a:p>
          <a:p>
            <a:pPr lvl="1" eaLnBrk="1" hangingPunct="1"/>
            <a:r>
              <a:rPr lang="en-US" altLang="en-US" dirty="0">
                <a:solidFill>
                  <a:schemeClr val="tx1"/>
                </a:solidFill>
                <a:latin typeface="Times New Roman" charset="0"/>
                <a:ea typeface="Times New Roman" charset="0"/>
                <a:cs typeface="Times New Roman" charset="0"/>
              </a:rPr>
              <a:t>Foreign investment and influence became more powerful.</a:t>
            </a:r>
          </a:p>
          <a:p>
            <a:pPr lvl="1" eaLnBrk="1" hangingPunct="1"/>
            <a:r>
              <a:rPr lang="en-US" altLang="en-US" dirty="0">
                <a:solidFill>
                  <a:schemeClr val="tx1"/>
                </a:solidFill>
                <a:latin typeface="Times New Roman" charset="0"/>
                <a:ea typeface="Times New Roman" charset="0"/>
                <a:cs typeface="Times New Roman" charset="0"/>
              </a:rPr>
              <a:t>1880–1930: </a:t>
            </a:r>
            <a:r>
              <a:rPr lang="en-US" altLang="en-US" i="1" dirty="0">
                <a:solidFill>
                  <a:schemeClr val="tx1"/>
                </a:solidFill>
                <a:latin typeface="Times New Roman" charset="0"/>
                <a:ea typeface="Times New Roman" charset="0"/>
                <a:cs typeface="Times New Roman" charset="0"/>
              </a:rPr>
              <a:t>neocolonial</a:t>
            </a:r>
            <a:r>
              <a:rPr lang="en-US" altLang="en-US" dirty="0">
                <a:solidFill>
                  <a:schemeClr val="tx1"/>
                </a:solidFill>
                <a:latin typeface="Times New Roman" charset="0"/>
                <a:ea typeface="Times New Roman" charset="0"/>
                <a:cs typeface="Times New Roman" charset="0"/>
              </a:rPr>
              <a:t> period</a:t>
            </a:r>
          </a:p>
          <a:p>
            <a:pPr lvl="1" eaLnBrk="1" hangingPunct="1"/>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Great Export Boom (1/2)</a:t>
            </a:r>
          </a:p>
        </p:txBody>
      </p:sp>
      <p:sp>
        <p:nvSpPr>
          <p:cNvPr id="1741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More than half century of rapid, sustained economic growth</a:t>
            </a:r>
          </a:p>
          <a:p>
            <a:pPr marL="800100" lvl="1" indent="-457200" eaLnBrk="1" hangingPunct="1"/>
            <a:r>
              <a:rPr lang="en-US" altLang="en-US" dirty="0">
                <a:solidFill>
                  <a:schemeClr val="tx1"/>
                </a:solidFill>
                <a:latin typeface="Times New Roman" charset="0"/>
                <a:ea typeface="Times New Roman" charset="0"/>
                <a:cs typeface="Times New Roman" charset="0"/>
              </a:rPr>
              <a:t>Mexican trade increased 900 percent. </a:t>
            </a:r>
          </a:p>
          <a:p>
            <a:pPr marL="800100" lvl="1" indent="-457200" eaLnBrk="1" hangingPunct="1"/>
            <a:r>
              <a:rPr lang="en-US" altLang="en-US" dirty="0">
                <a:solidFill>
                  <a:schemeClr val="tx1"/>
                </a:solidFill>
                <a:latin typeface="Times New Roman" charset="0"/>
                <a:ea typeface="Times New Roman" charset="0"/>
                <a:cs typeface="Times New Roman" charset="0"/>
              </a:rPr>
              <a:t>By 1900, Brazil produced two-thirds of coffee.</a:t>
            </a:r>
          </a:p>
          <a:p>
            <a:pPr marL="800100" lvl="1" indent="-457200" eaLnBrk="1" hangingPunct="1"/>
            <a:r>
              <a:rPr lang="en-US" altLang="en-US" dirty="0">
                <a:solidFill>
                  <a:schemeClr val="tx1"/>
                </a:solidFill>
                <a:latin typeface="Times New Roman" charset="0"/>
                <a:ea typeface="Times New Roman" charset="0"/>
                <a:cs typeface="Times New Roman" charset="0"/>
              </a:rPr>
              <a:t>Cuba</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sugar production reached 5 million tons by 1929.</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Great Export Boom (2/2)</a:t>
            </a:r>
          </a:p>
        </p:txBody>
      </p:sp>
      <p:sp>
        <p:nvSpPr>
          <p:cNvPr id="19458" name="Content Placeholder 2"/>
          <p:cNvSpPr>
            <a:spLocks noGrp="1"/>
          </p:cNvSpPr>
          <p:nvPr>
            <p:ph idx="1"/>
          </p:nvPr>
        </p:nvSpPr>
        <p:spPr>
          <a:xfrm>
            <a:off x="436563" y="1981200"/>
            <a:ext cx="8229600" cy="4525963"/>
          </a:xfrm>
        </p:spPr>
        <p:txBody>
          <a:bodyPr/>
          <a:lstStyle/>
          <a:p>
            <a:pPr lvl="1" eaLnBrk="1" hangingPunct="1"/>
            <a:r>
              <a:rPr lang="en-US" altLang="en-US" dirty="0">
                <a:solidFill>
                  <a:schemeClr val="tx1"/>
                </a:solidFill>
                <a:latin typeface="Times New Roman" charset="0"/>
                <a:ea typeface="Times New Roman" charset="0"/>
                <a:cs typeface="Times New Roman" charset="0"/>
              </a:rPr>
              <a:t>Chilean nitrates, copper, iron worth hundreds of millions</a:t>
            </a:r>
          </a:p>
          <a:p>
            <a:pPr lvl="1" eaLnBrk="1" hangingPunct="1"/>
            <a:r>
              <a:rPr lang="en-US" altLang="en-US" dirty="0">
                <a:solidFill>
                  <a:schemeClr val="tx1"/>
                </a:solidFill>
                <a:latin typeface="Times New Roman" charset="0"/>
                <a:ea typeface="Times New Roman" charset="0"/>
                <a:cs typeface="Times New Roman" charset="0"/>
              </a:rPr>
              <a:t>Argentina</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wheat exports increased 1,000 times by 1900.</a:t>
            </a:r>
          </a:p>
          <a:p>
            <a:pPr lvl="1" eaLnBrk="1" hangingPunct="1"/>
            <a:r>
              <a:rPr lang="en-US" altLang="en-US" dirty="0">
                <a:solidFill>
                  <a:schemeClr val="tx1"/>
                </a:solidFill>
                <a:latin typeface="Times New Roman" charset="0"/>
                <a:ea typeface="Times New Roman" charset="0"/>
                <a:cs typeface="Times New Roman" charset="0"/>
              </a:rPr>
              <a:t>Smaller countries had their own version of an export boom focused on specific products.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New Infrastructure</a:t>
            </a:r>
          </a:p>
        </p:txBody>
      </p:sp>
      <p:sp>
        <p:nvSpPr>
          <p:cNvPr id="2150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Increase in railroads integral to boom</a:t>
            </a:r>
            <a:endParaRPr lang="en-US" altLang="en-US" sz="5400"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Beneficiaries were large landowners and urban merchants.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Land values soared with railroads.</a:t>
            </a:r>
          </a:p>
          <a:p>
            <a:pPr lvl="2" eaLnBrk="1" hangingPunct="1"/>
            <a:r>
              <a:rPr lang="en-US" altLang="en-US" dirty="0">
                <a:latin typeface="Times New Roman" charset="0"/>
                <a:ea typeface="Times New Roman" charset="0"/>
                <a:cs typeface="Times New Roman" charset="0"/>
              </a:rPr>
              <a:t>Merchants and workers with secondary functions in import/export economy</a:t>
            </a:r>
          </a:p>
          <a:p>
            <a:pPr lvl="2" eaLnBrk="1" hangingPunct="1"/>
            <a:r>
              <a:rPr lang="en-US" altLang="en-US" dirty="0">
                <a:latin typeface="Times New Roman" charset="0"/>
                <a:ea typeface="Times New Roman" charset="0"/>
                <a:cs typeface="Times New Roman" charset="0"/>
              </a:rPr>
              <a:t>The middle class grew rapidly.</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Who Benefits?</a:t>
            </a:r>
          </a:p>
        </p:txBody>
      </p:sp>
      <p:sp>
        <p:nvSpPr>
          <p:cNvPr id="2355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The majority of Latin Americans saw no benefit from progress.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Railroads pushed peasants off land in Mexico.</a:t>
            </a:r>
          </a:p>
          <a:p>
            <a:pPr lvl="2" eaLnBrk="1" hangingPunct="1"/>
            <a:r>
              <a:rPr lang="en-US" altLang="en-US" dirty="0">
                <a:latin typeface="Times New Roman" charset="0"/>
                <a:ea typeface="Times New Roman" charset="0"/>
                <a:cs typeface="Times New Roman" charset="0"/>
              </a:rPr>
              <a:t>Displaced peasants = employees of landowners</a:t>
            </a:r>
          </a:p>
          <a:p>
            <a:pPr lvl="2" eaLnBrk="1" hangingPunct="1"/>
            <a:r>
              <a:rPr lang="en-US" altLang="en-US" dirty="0">
                <a:latin typeface="Times New Roman" charset="0"/>
                <a:ea typeface="Times New Roman" charset="0"/>
                <a:cs typeface="Times New Roman" charset="0"/>
              </a:rPr>
              <a:t>Indigenous people with communal land in Mexico now forced out by landowners. </a:t>
            </a:r>
          </a:p>
          <a:p>
            <a:pPr lvl="2" eaLnBrk="1" hangingPunct="1"/>
            <a:r>
              <a:rPr lang="en-US" altLang="en-US" dirty="0">
                <a:latin typeface="Times New Roman" charset="0"/>
                <a:ea typeface="Times New Roman" charset="0"/>
                <a:cs typeface="Times New Roman" charset="0"/>
              </a:rPr>
              <a:t>Only 3 percent of Mexicans owned land in 1910.</a:t>
            </a:r>
          </a:p>
          <a:p>
            <a:pPr lvl="2" eaLnBrk="1" hangingPunct="1"/>
            <a:r>
              <a:rPr lang="en-US" altLang="en-US" dirty="0">
                <a:latin typeface="Times New Roman" charset="0"/>
                <a:ea typeface="Times New Roman" charset="0"/>
                <a:cs typeface="Times New Roman" charset="0"/>
              </a:rPr>
              <a:t>Most lived as </a:t>
            </a:r>
            <a:r>
              <a:rPr lang="en-US" altLang="en-US" i="1" dirty="0">
                <a:latin typeface="Times New Roman" charset="0"/>
                <a:ea typeface="Times New Roman" charset="0"/>
                <a:cs typeface="Times New Roman" charset="0"/>
              </a:rPr>
              <a:t>peons</a:t>
            </a:r>
            <a:r>
              <a:rPr lang="en-US" altLang="en-US" dirty="0">
                <a:latin typeface="Times New Roman" charset="0"/>
                <a:ea typeface="Times New Roman" charset="0"/>
                <a:cs typeface="Times New Roman" charset="0"/>
              </a:rPr>
              <a:t> on rural haciendas.</a:t>
            </a:r>
          </a:p>
          <a:p>
            <a:pPr lvl="2" eaLnBrk="1" hangingPunct="1"/>
            <a:r>
              <a:rPr lang="en-US" altLang="en-US" dirty="0">
                <a:latin typeface="Times New Roman" charset="0"/>
                <a:ea typeface="Times New Roman" charset="0"/>
                <a:cs typeface="Times New Roman" charset="0"/>
              </a:rPr>
              <a:t>Lost land that they had used for centuries for subsistence farming</a:t>
            </a:r>
          </a:p>
          <a:p>
            <a:pPr lvl="2" eaLnBrk="1" hangingPunct="1"/>
            <a:r>
              <a:rPr lang="en-US" altLang="en-US" dirty="0">
                <a:latin typeface="Times New Roman" charset="0"/>
                <a:ea typeface="Times New Roman" charset="0"/>
                <a:cs typeface="Times New Roman" charset="0"/>
              </a:rPr>
              <a:t>Landowners pushed vagrancy laws, forcing more people to work.</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Argentina’s Boom</a:t>
            </a:r>
          </a:p>
        </p:txBody>
      </p:sp>
      <p:sp>
        <p:nvSpPr>
          <p:cNvPr id="25602" name="Content Placeholder 2"/>
          <p:cNvSpPr>
            <a:spLocks noGrp="1"/>
          </p:cNvSpPr>
          <p:nvPr>
            <p:ph idx="1"/>
          </p:nvPr>
        </p:nvSpPr>
        <p:spPr/>
        <p:txBody>
          <a:bodyPr/>
          <a:lstStyle/>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Italian immigrants served as labor for wheat production.</a:t>
            </a: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Gauchos vanished from </a:t>
            </a:r>
            <a:r>
              <a:rPr lang="en-US" altLang="en-US" sz="2800" i="1" dirty="0">
                <a:latin typeface="Times New Roman" charset="0"/>
                <a:ea typeface="Times New Roman" charset="0"/>
                <a:cs typeface="Times New Roman" charset="0"/>
              </a:rPr>
              <a:t>pampa.</a:t>
            </a:r>
            <a:endParaRPr lang="en-US" altLang="en-US" sz="2800" dirty="0">
              <a:latin typeface="Times New Roman" charset="0"/>
              <a:ea typeface="Times New Roman" charset="0"/>
              <a:cs typeface="Times New Roman" charset="0"/>
            </a:endParaRP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Trade in chilled beef more profitable than dried beef.</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hotograph of La Avenida de Mayo in Buenos Aires. People walk on the sidewalks, and carriages and motor vehicles drive on the street. The street is lined with buildings and trees on both sides."/>
          <p:cNvPicPr>
            <a:picLocks noChangeAspect="1"/>
          </p:cNvPicPr>
          <p:nvPr/>
        </p:nvPicPr>
        <p:blipFill rotWithShape="1">
          <a:blip r:embed="rId3">
            <a:extLst>
              <a:ext uri="{28A0092B-C50C-407E-A947-70E740481C1C}">
                <a14:useLocalDpi xmlns:a14="http://schemas.microsoft.com/office/drawing/2010/main" val="0"/>
              </a:ext>
            </a:extLst>
          </a:blip>
          <a:srcRect b="2218"/>
          <a:stretch/>
        </p:blipFill>
        <p:spPr>
          <a:xfrm>
            <a:off x="2567247" y="1143000"/>
            <a:ext cx="4009505" cy="5105400"/>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6" name="Title 3">
            <a:extLst>
              <a:ext uri="{FF2B5EF4-FFF2-40B4-BE49-F238E27FC236}">
                <a16:creationId xmlns:a16="http://schemas.microsoft.com/office/drawing/2014/main" id="{64639CC5-CFA4-C3B0-5C99-287E70C16A0A}"/>
              </a:ext>
            </a:extLst>
          </p:cNvPr>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La Avenida de Mayo</a:t>
            </a:r>
          </a:p>
        </p:txBody>
      </p:sp>
    </p:spTree>
    <p:extLst>
      <p:ext uri="{BB962C8B-B14F-4D97-AF65-F5344CB8AC3E}">
        <p14:creationId xmlns:p14="http://schemas.microsoft.com/office/powerpoint/2010/main" val="1124923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Coffee Boom</a:t>
            </a:r>
          </a:p>
        </p:txBody>
      </p:sp>
      <p:sp>
        <p:nvSpPr>
          <p:cNvPr id="2765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Coffee booms in the tropics.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European immigrants needed in Brazil after the abolition of slavery.</a:t>
            </a:r>
          </a:p>
          <a:p>
            <a:pPr lvl="2" eaLnBrk="1" hangingPunct="1"/>
            <a:r>
              <a:rPr lang="en-US" altLang="en-US" dirty="0">
                <a:latin typeface="Times New Roman" charset="0"/>
                <a:ea typeface="Times New Roman" charset="0"/>
                <a:cs typeface="Times New Roman" charset="0"/>
              </a:rPr>
              <a:t>El Salvador, Guatemala and southern Mexico</a:t>
            </a:r>
          </a:p>
          <a:p>
            <a:pPr lvl="2" eaLnBrk="1" hangingPunct="1"/>
            <a:r>
              <a:rPr lang="en-US" altLang="en-US" dirty="0">
                <a:latin typeface="Times New Roman" charset="0"/>
                <a:ea typeface="Times New Roman" charset="0"/>
                <a:cs typeface="Times New Roman" charset="0"/>
              </a:rPr>
              <a:t>Family farms grow some crops profitably.</a:t>
            </a:r>
          </a:p>
          <a:p>
            <a:pPr lvl="2" eaLnBrk="1" hangingPunct="1"/>
            <a:r>
              <a:rPr lang="en-US" altLang="en-US" dirty="0">
                <a:latin typeface="Times New Roman" charset="0"/>
                <a:ea typeface="Times New Roman" charset="0"/>
                <a:cs typeface="Times New Roman" charset="0"/>
              </a:rPr>
              <a:t>Contributed to a rural middle class in Colombia, Costa Rica, and Puerto Rico</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Sugar and Mining</a:t>
            </a:r>
          </a:p>
        </p:txBody>
      </p:sp>
      <p:sp>
        <p:nvSpPr>
          <p:cNvPr id="2969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Massive, industrialized operations</a:t>
            </a:r>
          </a:p>
          <a:p>
            <a:pPr lvl="1" eaLnBrk="1" hangingPunct="1"/>
            <a:r>
              <a:rPr lang="en-US" altLang="en-US" dirty="0">
                <a:solidFill>
                  <a:schemeClr val="tx1"/>
                </a:solidFill>
                <a:latin typeface="Times New Roman" charset="0"/>
                <a:ea typeface="Times New Roman" charset="0"/>
                <a:cs typeface="Times New Roman" charset="0"/>
              </a:rPr>
              <a:t>Divided societies into rich and poor</a:t>
            </a:r>
          </a:p>
          <a:p>
            <a:pPr lvl="1" eaLnBrk="1" hangingPunct="1"/>
            <a:r>
              <a:rPr lang="en-US" altLang="en-US" dirty="0">
                <a:solidFill>
                  <a:schemeClr val="tx1"/>
                </a:solidFill>
                <a:latin typeface="Times New Roman" charset="0"/>
                <a:ea typeface="Times New Roman" charset="0"/>
                <a:cs typeface="Times New Roman" charset="0"/>
              </a:rPr>
              <a:t>Sugar dominated in northern Brazil, coastal Peru, and Caribbean.</a:t>
            </a:r>
          </a:p>
          <a:p>
            <a:pPr lvl="1" eaLnBrk="1" hangingPunct="1"/>
            <a:r>
              <a:rPr lang="en-US" altLang="en-US" dirty="0">
                <a:solidFill>
                  <a:schemeClr val="tx1"/>
                </a:solidFill>
                <a:latin typeface="Times New Roman" charset="0"/>
                <a:ea typeface="Times New Roman" charset="0"/>
                <a:cs typeface="Times New Roman" charset="0"/>
              </a:rPr>
              <a:t>Mining in Mexico, Peru, Bolivia, Chile</a:t>
            </a:r>
          </a:p>
          <a:p>
            <a:pPr lvl="2" eaLnBrk="1" hangingPunct="1"/>
            <a:r>
              <a:rPr lang="en-US" altLang="en-US" dirty="0">
                <a:latin typeface="Times New Roman" charset="0"/>
                <a:ea typeface="Times New Roman" charset="0"/>
                <a:cs typeface="Times New Roman" charset="0"/>
              </a:rPr>
              <a:t>Usually foreign owned</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Rubber Boom in Amazonia</a:t>
            </a:r>
          </a:p>
        </p:txBody>
      </p:sp>
      <p:sp>
        <p:nvSpPr>
          <p:cNvPr id="3174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Latex sap used in United States for tires</a:t>
            </a:r>
          </a:p>
          <a:p>
            <a:pPr lvl="1" eaLnBrk="1" hangingPunct="1"/>
            <a:r>
              <a:rPr lang="en-US" altLang="en-US" dirty="0">
                <a:solidFill>
                  <a:schemeClr val="tx1"/>
                </a:solidFill>
                <a:latin typeface="Times New Roman" charset="0"/>
                <a:ea typeface="Times New Roman" charset="0"/>
                <a:cs typeface="Times New Roman" charset="0"/>
              </a:rPr>
              <a:t>Rubber trade produced huge profits for international traders.</a:t>
            </a:r>
          </a:p>
          <a:p>
            <a:pPr lvl="1" eaLnBrk="1" hangingPunct="1"/>
            <a:r>
              <a:rPr lang="en-US" altLang="en-US" dirty="0">
                <a:solidFill>
                  <a:schemeClr val="tx1"/>
                </a:solidFill>
                <a:latin typeface="Times New Roman" charset="0"/>
                <a:ea typeface="Times New Roman" charset="0"/>
                <a:cs typeface="Times New Roman" charset="0"/>
              </a:rPr>
              <a:t>In 1910, rubber accounted for a quarter of Brazil</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export earnings.</a:t>
            </a:r>
          </a:p>
          <a:p>
            <a:pPr lvl="1" eaLnBrk="1" hangingPunct="1"/>
            <a:r>
              <a:rPr lang="en-US" altLang="en-US" dirty="0">
                <a:solidFill>
                  <a:schemeClr val="tx1"/>
                </a:solidFill>
                <a:latin typeface="Times New Roman" charset="0"/>
                <a:ea typeface="Times New Roman" charset="0"/>
                <a:cs typeface="Times New Roman" charset="0"/>
              </a:rPr>
              <a:t>Rubber boom ravaged indigenous communities.</a:t>
            </a:r>
          </a:p>
          <a:p>
            <a:pPr lvl="1" eaLnBrk="1" hangingPunct="1"/>
            <a:r>
              <a:rPr lang="en-US" altLang="en-US" dirty="0">
                <a:solidFill>
                  <a:schemeClr val="tx1"/>
                </a:solidFill>
                <a:latin typeface="Times New Roman" charset="0"/>
                <a:ea typeface="Times New Roman" charset="0"/>
                <a:cs typeface="Times New Roman" charset="0"/>
              </a:rPr>
              <a:t>By 1920s, Malaysian rubber undercut price, killing the Amazon industry.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Bananas</a:t>
            </a:r>
          </a:p>
        </p:txBody>
      </p:sp>
      <p:sp>
        <p:nvSpPr>
          <p:cNvPr id="3379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US companies came to Caribbean basin in the 1880s</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1890s.</a:t>
            </a:r>
          </a:p>
          <a:p>
            <a:pPr lvl="2" eaLnBrk="1" hangingPunct="1"/>
            <a:r>
              <a:rPr lang="en-US" altLang="en-US" dirty="0">
                <a:latin typeface="Times New Roman" charset="0"/>
                <a:ea typeface="Times New Roman" charset="0"/>
                <a:cs typeface="Times New Roman" charset="0"/>
              </a:rPr>
              <a:t>Creation of the United Fruit Company </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Banana companies had far greater economic power than host countries.</a:t>
            </a:r>
          </a:p>
          <a:p>
            <a:pPr lvl="1" eaLnBrk="1" hangingPunct="1"/>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Banana Republics</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Contributed little to the development of host nations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Migration to Cities</a:t>
            </a:r>
          </a:p>
        </p:txBody>
      </p:sp>
      <p:sp>
        <p:nvSpPr>
          <p:cNvPr id="3584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Cities remained small.</a:t>
            </a:r>
          </a:p>
          <a:p>
            <a:pPr lvl="1" eaLnBrk="1" hangingPunct="1"/>
            <a:r>
              <a:rPr lang="en-US" altLang="en-US" dirty="0">
                <a:solidFill>
                  <a:schemeClr val="tx1"/>
                </a:solidFill>
                <a:latin typeface="Times New Roman" charset="0"/>
                <a:ea typeface="Times New Roman" charset="0"/>
                <a:cs typeface="Times New Roman" charset="0"/>
              </a:rPr>
              <a:t>Migration from countryside and overseas</a:t>
            </a:r>
          </a:p>
          <a:p>
            <a:pPr lvl="1" eaLnBrk="1" hangingPunct="1"/>
            <a:r>
              <a:rPr lang="en-US" altLang="en-US" dirty="0">
                <a:solidFill>
                  <a:schemeClr val="tx1"/>
                </a:solidFill>
                <a:latin typeface="Times New Roman" charset="0"/>
                <a:ea typeface="Times New Roman" charset="0"/>
                <a:cs typeface="Times New Roman" charset="0"/>
              </a:rPr>
              <a:t>Commercial, administrative, service centers</a:t>
            </a:r>
          </a:p>
          <a:p>
            <a:pPr lvl="1" eaLnBrk="1" hangingPunct="1"/>
            <a:r>
              <a:rPr lang="en-US" altLang="en-US" dirty="0">
                <a:solidFill>
                  <a:schemeClr val="tx1"/>
                </a:solidFill>
                <a:latin typeface="Times New Roman" charset="0"/>
                <a:ea typeface="Times New Roman" charset="0"/>
                <a:cs typeface="Times New Roman" charset="0"/>
              </a:rPr>
              <a:t>Landowners spent export profits in cities.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Education</a:t>
            </a:r>
          </a:p>
        </p:txBody>
      </p:sp>
      <p:sp>
        <p:nvSpPr>
          <p:cNvPr id="3789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Education was important to landowning families. </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Most studied law.</a:t>
            </a:r>
          </a:p>
          <a:p>
            <a:pPr lvl="2" eaLnBrk="1" hangingPunct="1"/>
            <a:r>
              <a:rPr lang="en-US" altLang="en-US" dirty="0">
                <a:latin typeface="Times New Roman" charset="0"/>
                <a:ea typeface="Times New Roman" charset="0"/>
                <a:cs typeface="Times New Roman" charset="0"/>
              </a:rPr>
              <a:t>Intended for politics</a:t>
            </a:r>
          </a:p>
          <a:p>
            <a:pPr lvl="2" eaLnBrk="1" hangingPunct="1"/>
            <a:r>
              <a:rPr lang="en-US" altLang="en-US" dirty="0">
                <a:latin typeface="Times New Roman" charset="0"/>
                <a:ea typeface="Times New Roman" charset="0"/>
                <a:cs typeface="Times New Roman" charset="0"/>
              </a:rPr>
              <a:t>Urbanization meant education</a:t>
            </a:r>
          </a:p>
          <a:p>
            <a:pPr lvl="2" eaLnBrk="1" hangingPunct="1"/>
            <a:r>
              <a:rPr lang="en-US" altLang="en-US" dirty="0">
                <a:latin typeface="Times New Roman" charset="0"/>
                <a:ea typeface="Times New Roman" charset="0"/>
                <a:cs typeface="Times New Roman" charset="0"/>
              </a:rPr>
              <a:t>Education opened doors to mixed-race people.</a:t>
            </a:r>
          </a:p>
          <a:p>
            <a:pPr lvl="3" eaLnBrk="1" hangingPunct="1"/>
            <a:r>
              <a:rPr lang="en-US" altLang="en-US" sz="2400" dirty="0">
                <a:solidFill>
                  <a:schemeClr val="tx1"/>
                </a:solidFill>
                <a:latin typeface="Times New Roman" charset="0"/>
                <a:ea typeface="Times New Roman" charset="0"/>
                <a:cs typeface="Times New Roman" charset="0"/>
              </a:rPr>
              <a:t>Joaquim Maria Machado de Assis</a:t>
            </a:r>
          </a:p>
          <a:p>
            <a:pPr lvl="3" eaLnBrk="1" hangingPunct="1"/>
            <a:r>
              <a:rPr lang="en-US" altLang="en-US" sz="2400" dirty="0">
                <a:solidFill>
                  <a:schemeClr val="tx1"/>
                </a:solidFill>
                <a:latin typeface="Times New Roman" charset="0"/>
                <a:ea typeface="Times New Roman" charset="0"/>
                <a:cs typeface="Times New Roman" charset="0"/>
              </a:rPr>
              <a:t>Rubén Dário</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“Order and Progress”</a:t>
            </a:r>
          </a:p>
        </p:txBody>
      </p:sp>
      <p:sp>
        <p:nvSpPr>
          <p:cNvPr id="3993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Democracy takes back seat to export growth and progress.</a:t>
            </a:r>
          </a:p>
          <a:p>
            <a:pPr marL="800100" lvl="1" indent="-457200"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Scientific rule</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by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best and brightest</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800100" lvl="1" indent="-457200"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Positivism</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prescribes authoritarian rule for order and progress.</a:t>
            </a:r>
          </a:p>
          <a:p>
            <a:pPr marL="800100" lvl="1" indent="-457200"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Order and progress</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becomes slogan on Brazilian flag.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Authoritarian Rule</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Government becomes more orderly.</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Tax revenue increases </a:t>
            </a:r>
          </a:p>
          <a:p>
            <a:pPr lvl="2" eaLnBrk="1" hangingPunct="1"/>
            <a:r>
              <a:rPr lang="en-US" altLang="en-US" dirty="0">
                <a:latin typeface="Times New Roman" charset="0"/>
                <a:ea typeface="Times New Roman" charset="0"/>
                <a:cs typeface="Times New Roman" charset="0"/>
              </a:rPr>
              <a:t>National armies and police receive modern weapons, training</a:t>
            </a:r>
          </a:p>
          <a:p>
            <a:pPr lvl="2" eaLnBrk="1" hangingPunct="1"/>
            <a:r>
              <a:rPr lang="en-US" altLang="en-US" dirty="0">
                <a:latin typeface="Times New Roman" charset="0"/>
                <a:ea typeface="Times New Roman" charset="0"/>
                <a:cs typeface="Times New Roman" charset="0"/>
              </a:rPr>
              <a:t>European military advisers </a:t>
            </a:r>
          </a:p>
          <a:p>
            <a:pPr lvl="2" eaLnBrk="1" hangingPunct="1"/>
            <a:r>
              <a:rPr lang="en-US" altLang="en-US" dirty="0">
                <a:latin typeface="Times New Roman" charset="0"/>
                <a:ea typeface="Times New Roman" charset="0"/>
                <a:cs typeface="Times New Roman" charset="0"/>
              </a:rPr>
              <a:t>Railroads and telegraphs</a:t>
            </a:r>
          </a:p>
          <a:p>
            <a:pPr lvl="2" eaLnBrk="1" hangingPunct="1"/>
            <a:r>
              <a:rPr lang="en-US" altLang="en-US" dirty="0">
                <a:latin typeface="Times New Roman" charset="0"/>
                <a:ea typeface="Times New Roman" charset="0"/>
                <a:cs typeface="Times New Roman" charset="0"/>
              </a:rPr>
              <a:t>Increased revenue increases size of government.</a:t>
            </a:r>
          </a:p>
          <a:p>
            <a:pPr lvl="2" eaLnBrk="1" hangingPunct="1"/>
            <a:r>
              <a:rPr lang="en-US" altLang="en-US" dirty="0">
                <a:latin typeface="Times New Roman" charset="0"/>
                <a:ea typeface="Times New Roman" charset="0"/>
                <a:cs typeface="Times New Roman" charset="0"/>
              </a:rPr>
              <a:t>Greater stability attracts foreign investment.</a:t>
            </a:r>
          </a:p>
          <a:p>
            <a:pPr lvl="2" eaLnBrk="1" hangingPunct="1"/>
            <a:r>
              <a:rPr lang="en-US" altLang="en-US" dirty="0">
                <a:latin typeface="Times New Roman" charset="0"/>
                <a:ea typeface="Times New Roman" charset="0"/>
                <a:cs typeface="Times New Roman" charset="0"/>
              </a:rPr>
              <a:t>Stable, authoritarian governments become the norm.</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Managed Elections</a:t>
            </a:r>
          </a:p>
        </p:txBody>
      </p:sp>
      <p:sp>
        <p:nvSpPr>
          <p:cNvPr id="4403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Keep rural majorities from influencing politics</a:t>
            </a:r>
          </a:p>
          <a:p>
            <a:pPr lvl="1" eaLnBrk="1" hangingPunct="1"/>
            <a:r>
              <a:rPr lang="en-US" altLang="en-US" dirty="0">
                <a:solidFill>
                  <a:schemeClr val="tx1"/>
                </a:solidFill>
                <a:latin typeface="Times New Roman" charset="0"/>
                <a:ea typeface="Times New Roman" charset="0"/>
                <a:cs typeface="Times New Roman" charset="0"/>
              </a:rPr>
              <a:t>Tug of war between patronage networks</a:t>
            </a:r>
          </a:p>
          <a:p>
            <a:pPr lvl="1" eaLnBrk="1" hangingPunct="1"/>
            <a:r>
              <a:rPr lang="en-US" altLang="en-US" dirty="0">
                <a:solidFill>
                  <a:schemeClr val="tx1"/>
                </a:solidFill>
                <a:latin typeface="Times New Roman" charset="0"/>
                <a:ea typeface="Times New Roman" charset="0"/>
                <a:cs typeface="Times New Roman" charset="0"/>
              </a:rPr>
              <a:t>Powerful named election officials </a:t>
            </a:r>
          </a:p>
          <a:p>
            <a:pPr lvl="1" eaLnBrk="1" hangingPunct="1"/>
            <a:r>
              <a:rPr lang="en-US" altLang="en-US" dirty="0">
                <a:solidFill>
                  <a:schemeClr val="tx1"/>
                </a:solidFill>
                <a:latin typeface="Times New Roman" charset="0"/>
                <a:ea typeface="Times New Roman" charset="0"/>
                <a:cs typeface="Times New Roman" charset="0"/>
              </a:rPr>
              <a:t>Many ballots per person</a:t>
            </a:r>
          </a:p>
          <a:p>
            <a:pPr lvl="1" eaLnBrk="1" hangingPunct="1"/>
            <a:r>
              <a:rPr lang="en-US" altLang="en-US" dirty="0">
                <a:solidFill>
                  <a:schemeClr val="tx1"/>
                </a:solidFill>
                <a:latin typeface="Times New Roman" charset="0"/>
                <a:ea typeface="Times New Roman" charset="0"/>
                <a:cs typeface="Times New Roman" charset="0"/>
              </a:rPr>
              <a:t>Landowners controlled votes of clients.</a:t>
            </a:r>
          </a:p>
          <a:p>
            <a:pPr lvl="1" eaLnBrk="1" hangingPunct="1"/>
            <a:r>
              <a:rPr lang="en-US" altLang="en-US" dirty="0">
                <a:solidFill>
                  <a:schemeClr val="tx1"/>
                </a:solidFill>
                <a:latin typeface="Times New Roman" charset="0"/>
                <a:ea typeface="Times New Roman" charset="0"/>
                <a:cs typeface="Times New Roman" charset="0"/>
              </a:rPr>
              <a:t>Authorities disqualified rival</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clients from voting.</a:t>
            </a:r>
          </a:p>
          <a:p>
            <a:pPr lvl="1" eaLnBrk="1" hangingPunct="1"/>
            <a:r>
              <a:rPr lang="en-US" altLang="en-US" dirty="0">
                <a:solidFill>
                  <a:schemeClr val="tx1"/>
                </a:solidFill>
                <a:latin typeface="Times New Roman" charset="0"/>
                <a:ea typeface="Times New Roman" charset="0"/>
                <a:cs typeface="Times New Roman" charset="0"/>
              </a:rPr>
              <a:t>Corruption protested, difficult to thwart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Oligarchies and Dictatorships</a:t>
            </a:r>
          </a:p>
        </p:txBody>
      </p:sp>
      <p:sp>
        <p:nvSpPr>
          <p:cNvPr id="4608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Oligarchies</a:t>
            </a:r>
          </a:p>
          <a:p>
            <a:pPr lvl="2" eaLnBrk="1" hangingPunct="1"/>
            <a:r>
              <a:rPr lang="en-US" altLang="en-US" dirty="0">
                <a:latin typeface="Times New Roman" charset="0"/>
                <a:ea typeface="Times New Roman" charset="0"/>
                <a:cs typeface="Times New Roman" charset="0"/>
              </a:rPr>
              <a:t>Rule by few</a:t>
            </a:r>
          </a:p>
          <a:p>
            <a:pPr lvl="2" eaLnBrk="1" hangingPunct="1"/>
            <a:r>
              <a:rPr lang="en-US" altLang="en-US" dirty="0">
                <a:latin typeface="Times New Roman" charset="0"/>
                <a:ea typeface="Times New Roman" charset="0"/>
                <a:cs typeface="Times New Roman" charset="0"/>
              </a:rPr>
              <a:t>Narrow ruling class of economic elites</a:t>
            </a:r>
          </a:p>
          <a:p>
            <a:pPr lvl="1" eaLnBrk="1" hangingPunct="1"/>
            <a:r>
              <a:rPr lang="en-US" altLang="en-US" dirty="0">
                <a:solidFill>
                  <a:schemeClr val="tx1"/>
                </a:solidFill>
                <a:latin typeface="Times New Roman" charset="0"/>
                <a:ea typeface="Times New Roman" charset="0"/>
                <a:cs typeface="Times New Roman" charset="0"/>
              </a:rPr>
              <a:t>Dictatorships</a:t>
            </a:r>
          </a:p>
          <a:p>
            <a:pPr lvl="2" eaLnBrk="1" hangingPunct="1"/>
            <a:r>
              <a:rPr lang="en-US" altLang="en-US" dirty="0">
                <a:latin typeface="Times New Roman" charset="0"/>
                <a:ea typeface="Times New Roman" charset="0"/>
                <a:cs typeface="Times New Roman" charset="0"/>
              </a:rPr>
              <a:t>Rule by powerful individual</a:t>
            </a:r>
          </a:p>
          <a:p>
            <a:pPr lvl="2" eaLnBrk="1" hangingPunct="1"/>
            <a:r>
              <a:rPr lang="en-US" altLang="en-US" dirty="0">
                <a:latin typeface="Times New Roman" charset="0"/>
                <a:ea typeface="Times New Roman" charset="0"/>
                <a:cs typeface="Times New Roman" charset="0"/>
              </a:rPr>
              <a:t>Sometimes supported by managed elections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Porfirio Díaz</a:t>
            </a:r>
          </a:p>
        </p:txBody>
      </p:sp>
      <p:sp>
        <p:nvSpPr>
          <p:cNvPr id="4813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Ruled Mexico from 1876</a:t>
            </a:r>
            <a:r>
              <a:rPr lang="en-US" altLang="en-US" dirty="0">
                <a:solidFill>
                  <a:schemeClr val="tx1"/>
                </a:solidFill>
                <a:latin typeface="Calibri"/>
                <a:ea typeface="Times New Roman" charset="0"/>
                <a:cs typeface="Times New Roman" charset="0"/>
              </a:rPr>
              <a:t> to </a:t>
            </a:r>
            <a:r>
              <a:rPr lang="en-US" altLang="en-US" dirty="0">
                <a:solidFill>
                  <a:schemeClr val="tx1"/>
                </a:solidFill>
                <a:latin typeface="Times New Roman" charset="0"/>
                <a:ea typeface="Times New Roman" charset="0"/>
                <a:cs typeface="Times New Roman" charset="0"/>
              </a:rPr>
              <a:t>1911 – time period known as the </a:t>
            </a:r>
            <a:r>
              <a:rPr lang="en-US" altLang="en-US" i="1" dirty="0" err="1">
                <a:solidFill>
                  <a:schemeClr val="tx1"/>
                </a:solidFill>
                <a:latin typeface="Times New Roman" charset="0"/>
                <a:ea typeface="Times New Roman" charset="0"/>
                <a:cs typeface="Times New Roman" charset="0"/>
              </a:rPr>
              <a:t>Porfiriato</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Epitome of neocolonial dictatorships in Latin America</a:t>
            </a:r>
          </a:p>
          <a:p>
            <a:pPr lvl="1" eaLnBrk="1" hangingPunct="1"/>
            <a:r>
              <a:rPr lang="en-US" altLang="en-US" dirty="0">
                <a:solidFill>
                  <a:schemeClr val="tx1"/>
                </a:solidFill>
                <a:latin typeface="Times New Roman" charset="0"/>
                <a:ea typeface="Times New Roman" charset="0"/>
                <a:cs typeface="Times New Roman" charset="0"/>
              </a:rPr>
              <a:t>Allowed elections but only his candidates won</a:t>
            </a:r>
          </a:p>
          <a:p>
            <a:pPr lvl="1" eaLnBrk="1" hangingPunct="1"/>
            <a:r>
              <a:rPr lang="en-US" altLang="en-US" dirty="0">
                <a:solidFill>
                  <a:schemeClr val="tx1"/>
                </a:solidFill>
                <a:latin typeface="Times New Roman" charset="0"/>
                <a:ea typeface="Times New Roman" charset="0"/>
                <a:cs typeface="Times New Roman" charset="0"/>
              </a:rPr>
              <a:t>Created technological advances in urban areas</a:t>
            </a:r>
          </a:p>
          <a:p>
            <a:pPr lvl="1" eaLnBrk="1" hangingPunct="1"/>
            <a:r>
              <a:rPr lang="en-US" altLang="en-US" dirty="0">
                <a:solidFill>
                  <a:schemeClr val="tx1"/>
                </a:solidFill>
                <a:latin typeface="Times New Roman" charset="0"/>
                <a:ea typeface="Times New Roman" charset="0"/>
                <a:cs typeface="Times New Roman" charset="0"/>
              </a:rPr>
              <a:t>Founded </a:t>
            </a:r>
            <a:r>
              <a:rPr lang="en-US" altLang="en-US" i="1" dirty="0">
                <a:solidFill>
                  <a:schemeClr val="tx1"/>
                </a:solidFill>
                <a:latin typeface="Times New Roman" charset="0"/>
                <a:ea typeface="Times New Roman" charset="0"/>
                <a:cs typeface="Times New Roman" charset="0"/>
              </a:rPr>
              <a:t>rurales</a:t>
            </a:r>
            <a:r>
              <a:rPr lang="en-US" altLang="en-US" dirty="0">
                <a:solidFill>
                  <a:schemeClr val="tx1"/>
                </a:solidFill>
                <a:latin typeface="Times New Roman" charset="0"/>
                <a:ea typeface="Times New Roman" charset="0"/>
                <a:cs typeface="Times New Roman" charset="0"/>
              </a:rPr>
              <a:t>, to secure rural areas for foreign investors</a:t>
            </a:r>
          </a:p>
          <a:p>
            <a:pPr lvl="1" eaLnBrk="1" hangingPunct="1"/>
            <a:r>
              <a:rPr lang="en-US" altLang="en-US" dirty="0">
                <a:solidFill>
                  <a:schemeClr val="tx1"/>
                </a:solidFill>
                <a:latin typeface="Times New Roman" charset="0"/>
                <a:ea typeface="Times New Roman" charset="0"/>
                <a:cs typeface="Times New Roman" charset="0"/>
              </a:rPr>
              <a:t>Allowed significant foreign investment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Neocolonial Brazil</a:t>
            </a:r>
          </a:p>
        </p:txBody>
      </p:sp>
      <p:sp>
        <p:nvSpPr>
          <p:cNvPr id="5017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Oligarchic</a:t>
            </a:r>
          </a:p>
          <a:p>
            <a:pPr lvl="1" eaLnBrk="1" hangingPunct="1"/>
            <a:r>
              <a:rPr lang="en-US" altLang="en-US" dirty="0">
                <a:solidFill>
                  <a:schemeClr val="tx1"/>
                </a:solidFill>
                <a:latin typeface="Times New Roman" charset="0"/>
                <a:ea typeface="Times New Roman" charset="0"/>
                <a:cs typeface="Times New Roman" charset="0"/>
              </a:rPr>
              <a:t>Decentralized federation of twenty states</a:t>
            </a:r>
          </a:p>
          <a:p>
            <a:pPr lvl="1" eaLnBrk="1" hangingPunct="1"/>
            <a:r>
              <a:rPr lang="pt-BR" dirty="0">
                <a:solidFill>
                  <a:schemeClr val="tx1"/>
                </a:solidFill>
                <a:latin typeface="Times New Roman" panose="02020603050405020304" pitchFamily="18" charset="0"/>
                <a:cs typeface="Times New Roman" panose="02020603050405020304" pitchFamily="18" charset="0"/>
              </a:rPr>
              <a:t>São Paulo and Minas Gerais</a:t>
            </a:r>
            <a:endParaRPr lang="en-US" altLang="en-US" dirty="0">
              <a:solidFill>
                <a:schemeClr val="tx1"/>
              </a:solidFill>
              <a:latin typeface="Times New Roman" panose="02020603050405020304" pitchFamily="18" charset="0"/>
              <a:ea typeface="Times New Roman" charset="0"/>
              <a:cs typeface="Times New Roman" panose="02020603050405020304" pitchFamily="18" charset="0"/>
            </a:endParaRPr>
          </a:p>
          <a:p>
            <a:pPr lvl="1" eaLnBrk="1" hangingPunct="1"/>
            <a:r>
              <a:rPr lang="en-US" altLang="en-US" dirty="0">
                <a:solidFill>
                  <a:schemeClr val="tx1"/>
                </a:solidFill>
                <a:latin typeface="Times New Roman" charset="0"/>
                <a:ea typeface="Times New Roman" charset="0"/>
                <a:cs typeface="Times New Roman" charset="0"/>
              </a:rPr>
              <a:t>Resistance in northeastern Brazil</a:t>
            </a:r>
          </a:p>
          <a:p>
            <a:pPr lvl="2" eaLnBrk="1" hangingPunct="1"/>
            <a:r>
              <a:rPr lang="en-US" altLang="en-US" dirty="0">
                <a:latin typeface="Times New Roman" charset="0"/>
                <a:ea typeface="Times New Roman" charset="0"/>
                <a:cs typeface="Times New Roman" charset="0"/>
              </a:rPr>
              <a:t>Peasants rioted</a:t>
            </a:r>
          </a:p>
          <a:p>
            <a:pPr lvl="2" eaLnBrk="1" hangingPunct="1"/>
            <a:r>
              <a:rPr lang="en-US" altLang="en-US" dirty="0">
                <a:latin typeface="Times New Roman" charset="0"/>
                <a:ea typeface="Times New Roman" charset="0"/>
                <a:cs typeface="Times New Roman" charset="0"/>
              </a:rPr>
              <a:t>Burned records and archives used to evict families who had no title to land</a:t>
            </a:r>
          </a:p>
          <a:p>
            <a:pPr lvl="2" eaLnBrk="1" hangingPunct="1"/>
            <a:r>
              <a:rPr lang="en-US" altLang="en-US" dirty="0">
                <a:latin typeface="Times New Roman" charset="0"/>
                <a:ea typeface="Times New Roman" charset="0"/>
                <a:cs typeface="Times New Roman" charset="0"/>
              </a:rPr>
              <a:t>Bandits with Robin Hood reputations became folk heroes.</a:t>
            </a:r>
          </a:p>
          <a:p>
            <a:pPr lvl="2" eaLnBrk="1" hangingPunct="1"/>
            <a:r>
              <a:rPr lang="en-US" altLang="en-US" dirty="0">
                <a:latin typeface="Times New Roman" charset="0"/>
                <a:ea typeface="Times New Roman" charset="0"/>
                <a:cs typeface="Times New Roman" charset="0"/>
              </a:rPr>
              <a:t>Tradition of wandering holy men</a:t>
            </a:r>
          </a:p>
          <a:p>
            <a:pPr lvl="3" eaLnBrk="1" hangingPunct="1"/>
            <a:r>
              <a:rPr lang="en-US" altLang="en-US" dirty="0" err="1">
                <a:solidFill>
                  <a:schemeClr val="tx1"/>
                </a:solidFill>
                <a:latin typeface="Times New Roman" charset="0"/>
                <a:ea typeface="Times New Roman" charset="0"/>
                <a:cs typeface="Times New Roman" charset="0"/>
              </a:rPr>
              <a:t>Canudos</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Neocolonial Colombia</a:t>
            </a:r>
          </a:p>
        </p:txBody>
      </p:sp>
      <p:sp>
        <p:nvSpPr>
          <p:cNvPr id="5017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1860–1880</a:t>
            </a:r>
          </a:p>
          <a:p>
            <a:pPr lvl="2" eaLnBrk="1" hangingPunct="1"/>
            <a:r>
              <a:rPr lang="en-US" altLang="en-US" dirty="0">
                <a:solidFill>
                  <a:schemeClr val="tx1"/>
                </a:solidFill>
                <a:latin typeface="Times New Roman" charset="0"/>
                <a:ea typeface="Times New Roman" charset="0"/>
                <a:cs typeface="Times New Roman" charset="0"/>
              </a:rPr>
              <a:t>Emerged slower as a major exporter</a:t>
            </a:r>
          </a:p>
          <a:p>
            <a:pPr lvl="2" eaLnBrk="1" hangingPunct="1"/>
            <a:r>
              <a:rPr lang="en-US" altLang="en-US" dirty="0">
                <a:latin typeface="Times New Roman" charset="0"/>
                <a:ea typeface="Times New Roman" charset="0"/>
                <a:cs typeface="Times New Roman" charset="0"/>
              </a:rPr>
              <a:t>Oligarchical rule with managed elections</a:t>
            </a:r>
          </a:p>
          <a:p>
            <a:pPr lvl="2" eaLnBrk="1" hangingPunct="1"/>
            <a:r>
              <a:rPr lang="en-US" altLang="en-US" dirty="0">
                <a:solidFill>
                  <a:schemeClr val="tx1"/>
                </a:solidFill>
                <a:latin typeface="Times New Roman" charset="0"/>
                <a:ea typeface="Times New Roman" charset="0"/>
                <a:cs typeface="Times New Roman" charset="0"/>
              </a:rPr>
              <a:t>Lack of success in international trade due to terrain</a:t>
            </a:r>
            <a:endParaRPr lang="en-US" altLang="en-US" dirty="0">
              <a:solidFill>
                <a:schemeClr val="tx1"/>
              </a:solidFill>
              <a:latin typeface="Times New Roman" panose="02020603050405020304" pitchFamily="18" charset="0"/>
              <a:ea typeface="Times New Roman" charset="0"/>
              <a:cs typeface="Times New Roman" panose="02020603050405020304" pitchFamily="18" charset="0"/>
            </a:endParaRPr>
          </a:p>
          <a:p>
            <a:pPr lvl="1" eaLnBrk="1" hangingPunct="1"/>
            <a:r>
              <a:rPr lang="en-US" altLang="en-US" dirty="0">
                <a:solidFill>
                  <a:schemeClr val="tx1"/>
                </a:solidFill>
                <a:latin typeface="Times New Roman" charset="0"/>
                <a:ea typeface="Times New Roman" charset="0"/>
                <a:cs typeface="Times New Roman" charset="0"/>
              </a:rPr>
              <a:t>1880–1930</a:t>
            </a:r>
          </a:p>
          <a:p>
            <a:pPr lvl="2" eaLnBrk="1" hangingPunct="1"/>
            <a:r>
              <a:rPr lang="en-US" altLang="en-US" dirty="0">
                <a:latin typeface="Times New Roman" charset="0"/>
                <a:ea typeface="Times New Roman" charset="0"/>
                <a:cs typeface="Times New Roman" charset="0"/>
              </a:rPr>
              <a:t>Conservative party in control</a:t>
            </a:r>
          </a:p>
          <a:p>
            <a:pPr lvl="2" eaLnBrk="1" hangingPunct="1"/>
            <a:r>
              <a:rPr lang="en-US" altLang="en-US" dirty="0">
                <a:solidFill>
                  <a:schemeClr val="tx1"/>
                </a:solidFill>
                <a:latin typeface="Times New Roman" charset="0"/>
                <a:ea typeface="Times New Roman" charset="0"/>
                <a:cs typeface="Times New Roman" charset="0"/>
              </a:rPr>
              <a:t>Restored Catholic Church</a:t>
            </a:r>
          </a:p>
          <a:p>
            <a:pPr lvl="2" eaLnBrk="1" hangingPunct="1"/>
            <a:r>
              <a:rPr lang="en-US" altLang="en-US" dirty="0">
                <a:latin typeface="Times New Roman" charset="0"/>
                <a:ea typeface="Times New Roman" charset="0"/>
                <a:cs typeface="Times New Roman" charset="0"/>
              </a:rPr>
              <a:t>Created centralized system</a:t>
            </a:r>
          </a:p>
          <a:p>
            <a:pPr lvl="2" eaLnBrk="1" hangingPunct="1"/>
            <a:r>
              <a:rPr lang="en-US" altLang="en-US" dirty="0">
                <a:solidFill>
                  <a:schemeClr val="tx1"/>
                </a:solidFill>
                <a:latin typeface="Times New Roman" charset="0"/>
                <a:ea typeface="Times New Roman" charset="0"/>
                <a:cs typeface="Times New Roman" charset="0"/>
              </a:rPr>
              <a:t>Coffee and </a:t>
            </a:r>
            <a:r>
              <a:rPr lang="en-US" altLang="en-US" dirty="0">
                <a:latin typeface="Times New Roman" charset="0"/>
                <a:ea typeface="Times New Roman" charset="0"/>
                <a:cs typeface="Times New Roman" charset="0"/>
              </a:rPr>
              <a:t>tobacco as primary exports</a:t>
            </a:r>
            <a:endParaRPr lang="en-US" altLang="en-US" dirty="0">
              <a:solidFill>
                <a:schemeClr val="tx1"/>
              </a:solidFill>
              <a:latin typeface="Times New Roman" charset="0"/>
              <a:ea typeface="Times New Roman" charset="0"/>
              <a:cs typeface="Times New Roman" charset="0"/>
            </a:endParaRPr>
          </a:p>
        </p:txBody>
      </p:sp>
    </p:spTree>
    <p:extLst>
      <p:ext uri="{BB962C8B-B14F-4D97-AF65-F5344CB8AC3E}">
        <p14:creationId xmlns:p14="http://schemas.microsoft.com/office/powerpoint/2010/main" val="3618749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Feminism</a:t>
            </a:r>
          </a:p>
        </p:txBody>
      </p:sp>
      <p:sp>
        <p:nvSpPr>
          <p:cNvPr id="5222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Rise of feminist movements</a:t>
            </a:r>
          </a:p>
          <a:p>
            <a:pPr marL="800100" lvl="1" indent="-457200" eaLnBrk="1" hangingPunct="1"/>
            <a:r>
              <a:rPr lang="en-US" altLang="en-US" dirty="0">
                <a:solidFill>
                  <a:schemeClr val="tx1"/>
                </a:solidFill>
                <a:latin typeface="Times New Roman" charset="0"/>
                <a:ea typeface="Times New Roman" charset="0"/>
                <a:cs typeface="Times New Roman" charset="0"/>
              </a:rPr>
              <a:t>Feminist movements emerge where international influence was greatest.</a:t>
            </a:r>
          </a:p>
          <a:p>
            <a:pPr lvl="2" eaLnBrk="1" hangingPunct="1"/>
            <a:r>
              <a:rPr lang="en-US" altLang="en-US" dirty="0">
                <a:latin typeface="Times New Roman" charset="0"/>
                <a:ea typeface="Times New Roman" charset="0"/>
                <a:cs typeface="Times New Roman" charset="0"/>
              </a:rPr>
              <a:t>Patriarchy was largely unchallenged in rural areas.</a:t>
            </a:r>
          </a:p>
          <a:p>
            <a:pPr lvl="2" eaLnBrk="1" hangingPunct="1"/>
            <a:r>
              <a:rPr lang="en-US" altLang="en-US" dirty="0">
                <a:latin typeface="Times New Roman" charset="0"/>
                <a:ea typeface="Times New Roman" charset="0"/>
                <a:cs typeface="Times New Roman" charset="0"/>
              </a:rPr>
              <a:t>Many feminist leaders had non-Iberian surnames.</a:t>
            </a:r>
          </a:p>
          <a:p>
            <a:pPr lvl="3" eaLnBrk="1" hangingPunct="1"/>
            <a:r>
              <a:rPr lang="en-US" altLang="en-US" sz="2400" dirty="0">
                <a:solidFill>
                  <a:schemeClr val="tx1"/>
                </a:solidFill>
                <a:latin typeface="Times New Roman" charset="0"/>
                <a:ea typeface="Times New Roman" charset="0"/>
                <a:cs typeface="Times New Roman" charset="0"/>
              </a:rPr>
              <a:t>Paulina Luisi of Uruguay</a:t>
            </a:r>
          </a:p>
          <a:p>
            <a:pPr lvl="3" eaLnBrk="1" hangingPunct="1"/>
            <a:r>
              <a:rPr lang="en-US" altLang="en-US" sz="2400" dirty="0">
                <a:solidFill>
                  <a:schemeClr val="tx1"/>
                </a:solidFill>
                <a:latin typeface="Times New Roman" charset="0"/>
                <a:ea typeface="Times New Roman" charset="0"/>
                <a:cs typeface="Times New Roman" charset="0"/>
              </a:rPr>
              <a:t>Berta Lutz of Brazil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Colonialism</a:t>
            </a:r>
          </a:p>
        </p:txBody>
      </p:sp>
      <p:sp>
        <p:nvSpPr>
          <p:cNvPr id="5427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Until the late 1800s, Britain was most powerful in Latin America.</a:t>
            </a:r>
          </a:p>
          <a:p>
            <a:pPr lvl="2" eaLnBrk="1" hangingPunct="1"/>
            <a:r>
              <a:rPr lang="en-US" altLang="en-US" dirty="0">
                <a:latin typeface="Times New Roman" charset="0"/>
                <a:ea typeface="Times New Roman" charset="0"/>
                <a:cs typeface="Times New Roman" charset="0"/>
              </a:rPr>
              <a:t>Military exploits were limited.</a:t>
            </a:r>
          </a:p>
          <a:p>
            <a:pPr lvl="2" eaLnBrk="1" hangingPunct="1"/>
            <a:r>
              <a:rPr lang="en-US" altLang="en-US" dirty="0">
                <a:latin typeface="Times New Roman" charset="0"/>
                <a:ea typeface="Times New Roman" charset="0"/>
                <a:cs typeface="Times New Roman" charset="0"/>
              </a:rPr>
              <a:t>Commercial and financial expansion</a:t>
            </a:r>
          </a:p>
          <a:p>
            <a:pPr marL="800100" lvl="1" indent="-457200" eaLnBrk="1" hangingPunct="1"/>
            <a:r>
              <a:rPr lang="en-US" altLang="en-US" dirty="0">
                <a:solidFill>
                  <a:schemeClr val="tx1"/>
                </a:solidFill>
                <a:latin typeface="Times New Roman" charset="0"/>
                <a:ea typeface="Times New Roman" charset="0"/>
                <a:cs typeface="Times New Roman" charset="0"/>
              </a:rPr>
              <a:t>US involvement began to displace British in 1890s.</a:t>
            </a:r>
          </a:p>
          <a:p>
            <a:pPr marL="1200150" lvl="2" indent="-457200" eaLnBrk="1" hangingPunct="1"/>
            <a:r>
              <a:rPr lang="en-US" altLang="en-US" dirty="0">
                <a:solidFill>
                  <a:schemeClr val="tx1"/>
                </a:solidFill>
                <a:latin typeface="Times New Roman" charset="0"/>
                <a:ea typeface="Times New Roman" charset="0"/>
                <a:cs typeface="Times New Roman" charset="0"/>
              </a:rPr>
              <a:t>Latin America as a market </a:t>
            </a:r>
          </a:p>
          <a:p>
            <a:pPr marL="1200150" lvl="2" indent="-457200" eaLnBrk="1" hangingPunct="1"/>
            <a:r>
              <a:rPr lang="en-US" altLang="en-US" dirty="0">
                <a:solidFill>
                  <a:schemeClr val="tx1"/>
                </a:solidFill>
                <a:latin typeface="Times New Roman" charset="0"/>
                <a:ea typeface="Times New Roman" charset="0"/>
                <a:cs typeface="Times New Roman" charset="0"/>
              </a:rPr>
              <a:t>Military expansion into Latin America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US Intervention in Cuba</a:t>
            </a:r>
          </a:p>
        </p:txBody>
      </p:sp>
      <p:sp>
        <p:nvSpPr>
          <p:cNvPr id="5632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 1898, United States declares war on Spain and intervenes in Cuba.</a:t>
            </a:r>
          </a:p>
          <a:p>
            <a:pPr lvl="1" eaLnBrk="1" hangingPunct="1"/>
            <a:r>
              <a:rPr lang="en-US" altLang="en-US" dirty="0">
                <a:solidFill>
                  <a:schemeClr val="tx1"/>
                </a:solidFill>
                <a:latin typeface="Times New Roman" charset="0"/>
                <a:ea typeface="Times New Roman" charset="0"/>
                <a:cs typeface="Times New Roman" charset="0"/>
              </a:rPr>
              <a:t>Outcome of the war benefits US economic and strategic interests.</a:t>
            </a:r>
          </a:p>
          <a:p>
            <a:pPr lvl="2" eaLnBrk="1" hangingPunct="1"/>
            <a:r>
              <a:rPr lang="en-US" altLang="en-US" dirty="0">
                <a:latin typeface="Times New Roman" charset="0"/>
                <a:ea typeface="Times New Roman" charset="0"/>
                <a:cs typeface="Times New Roman" charset="0"/>
              </a:rPr>
              <a:t>Seizure of Cuba, Philippines, and Puerto Rico</a:t>
            </a:r>
          </a:p>
          <a:p>
            <a:pPr lvl="2" eaLnBrk="1" hangingPunct="1"/>
            <a:r>
              <a:rPr lang="en-US" altLang="en-US" dirty="0">
                <a:solidFill>
                  <a:schemeClr val="tx1"/>
                </a:solidFill>
                <a:latin typeface="Times New Roman" charset="0"/>
                <a:ea typeface="Times New Roman" charset="0"/>
                <a:cs typeface="Times New Roman" charset="0"/>
              </a:rPr>
              <a:t>Platt Amendment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US Foreign Policy</a:t>
            </a:r>
          </a:p>
        </p:txBody>
      </p:sp>
      <p:sp>
        <p:nvSpPr>
          <p:cNvPr id="5837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Theodore Roosevelt</a:t>
            </a:r>
          </a:p>
          <a:p>
            <a:pPr lvl="2" eaLnBrk="1" hangingPunct="1"/>
            <a:r>
              <a:rPr lang="en-US" altLang="en-US" dirty="0">
                <a:latin typeface="Times New Roman" charset="0"/>
                <a:ea typeface="Times New Roman" charset="0"/>
                <a:cs typeface="Times New Roman" charset="0"/>
              </a:rPr>
              <a:t>War in Cuba boosted political career</a:t>
            </a:r>
          </a:p>
          <a:p>
            <a:pPr lvl="2" eaLnBrk="1" hangingPunct="1"/>
            <a:r>
              <a:rPr lang="en-US" altLang="en-US" dirty="0">
                <a:latin typeface="Times New Roman" charset="0"/>
                <a:ea typeface="Times New Roman" charset="0"/>
                <a:cs typeface="Times New Roman" charset="0"/>
              </a:rPr>
              <a:t>As president, acquired US base in Panama</a:t>
            </a:r>
          </a:p>
          <a:p>
            <a:pPr lvl="1" eaLnBrk="1" hangingPunct="1"/>
            <a:r>
              <a:rPr lang="en-US" altLang="en-US" dirty="0">
                <a:solidFill>
                  <a:schemeClr val="tx1"/>
                </a:solidFill>
                <a:latin typeface="Times New Roman" charset="0"/>
                <a:ea typeface="Times New Roman" charset="0"/>
                <a:cs typeface="Times New Roman" charset="0"/>
              </a:rPr>
              <a:t>US attitudes toward Latin Americans shaped by racial prejudice.</a:t>
            </a:r>
          </a:p>
          <a:p>
            <a:pPr lvl="2" eaLnBrk="1" hangingPunct="1"/>
            <a:r>
              <a:rPr lang="en-US" altLang="en-US" dirty="0">
                <a:latin typeface="Times New Roman" charset="0"/>
                <a:ea typeface="Times New Roman" charset="0"/>
                <a:cs typeface="Times New Roman" charset="0"/>
              </a:rPr>
              <a:t>Rudyard Kipling</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white man</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burden</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Roosevelt Corollary</a:t>
            </a:r>
          </a:p>
          <a:p>
            <a:pPr lvl="2" eaLnBrk="1" hangingPunct="1"/>
            <a:r>
              <a:rPr lang="en-US" altLang="en-US" dirty="0">
                <a:latin typeface="Times New Roman" charset="0"/>
                <a:ea typeface="Times New Roman" charset="0"/>
                <a:cs typeface="Times New Roman" charset="0"/>
              </a:rPr>
              <a:t>US newspapers caricature Latin American nations</a:t>
            </a:r>
          </a:p>
          <a:p>
            <a:pPr lvl="2" eaLnBrk="1" hangingPunct="1"/>
            <a:r>
              <a:rPr lang="en-US" altLang="en-US" dirty="0">
                <a:latin typeface="Times New Roman" charset="0"/>
                <a:ea typeface="Times New Roman" charset="0"/>
                <a:cs typeface="Times New Roman" charset="0"/>
              </a:rPr>
              <a:t>Intervention needed to discipline Latin America</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of North and South America titled, Neocolonial Investments and Interventions. Foreign investments are measured in millions of dollars circa 1914. Foreign investments in Mexico totaled 1.329 billion dollars. Foreign investments in Guatemala totaled 99 million dollars. Foreign investments in El Salvador totaled to 19 million dollars. Foreign investments in Nicaragua totaled to 12 million dollars. Foreign investments in Costa Rica totaled 61 million dollars. Foreign investments in Honduras totaled to 42 million dollars. Foreign investments in Cuba totaled 4 hundred 71 million dollars. Foreign investments in Haiti totaled to 11 million dollars. Foreign investments in Panama totaled to 28 million dollars. Foreign investments in the Dominican Republic totaled 16 million dollars. Foreign investments in Puerto Rico totaled 44 million dollars. Foreign investments in Venezuela totaled 1 hundred 61 million dollars. Foreign investments in Colombia totaled 77 million dollars. Foreign investments in Ecuador totaled to 41 million dollars. Foreign investments in Peru totaled 1 hundred 97 million dollars. Foreign investments in Chile totaled 6 hundred 68 million dollars. Foreign investments in Bolivia totaled to 59 million dollars. Foreign investments in Paraguay totaled to 27 million dollars. Foreign investments in Brazil totaled 1 billion 9 hundred 13 million dollars. Foreign investments in Argentina totaled 4 billion 1 million dollars. Foreign investments in Uruguay totaled 4 hundred 75 million dollars. Major European immigration occurred in Argentina, Uruguay, and Brazil. U S military intervention in Puerto Rico began in 1898. U S military intervention in Panama occurred in 1903. U S military intervention in Cuba occurred in 1898 to 1902, 1905 to 1909, and 1917 to 1921. U S military intervention in Haiti occurred from 1915 to 1934. U S military intervention in Mexico occurred in 1914 and from 1916 to 1917. U S military intervention in Nicaragua occurred in 1909, 1912 to 1925, and 1927 to 1932. U S military intervention in the Dominican Republic occurred from 1916 to 1924. Arrows on the map indicate the United States' paths to each of these countries."/>
          <p:cNvPicPr>
            <a:picLocks noChangeAspect="1"/>
          </p:cNvPicPr>
          <p:nvPr/>
        </p:nvPicPr>
        <p:blipFill>
          <a:blip r:embed="rId3"/>
          <a:stretch>
            <a:fillRect/>
          </a:stretch>
        </p:blipFill>
        <p:spPr>
          <a:xfrm>
            <a:off x="0" y="0"/>
            <a:ext cx="4724400" cy="6886880"/>
          </a:xfrm>
          <a:prstGeom prst="rect">
            <a:avLst/>
          </a:prstGeom>
        </p:spPr>
      </p:pic>
      <p:sp>
        <p:nvSpPr>
          <p:cNvPr id="4" name="TextBox 3"/>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5" name="Title 4">
            <a:extLst>
              <a:ext uri="{FF2B5EF4-FFF2-40B4-BE49-F238E27FC236}">
                <a16:creationId xmlns:a16="http://schemas.microsoft.com/office/drawing/2014/main" id="{5BCE643E-B29D-BF8C-55E0-49EDE5193B8E}"/>
              </a:ext>
            </a:extLst>
          </p:cNvPr>
          <p:cNvSpPr txBox="1">
            <a:spLocks/>
          </p:cNvSpPr>
          <p:nvPr/>
        </p:nvSpPr>
        <p:spPr bwMode="auto">
          <a:xfrm>
            <a:off x="4953000" y="0"/>
            <a:ext cx="3962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a:lstStyle>
          <a:p>
            <a:r>
              <a:rPr lang="en-US" sz="3600" dirty="0">
                <a:latin typeface="Times New Roman" panose="02020603050405020304" pitchFamily="18" charset="0"/>
                <a:cs typeface="Times New Roman" panose="02020603050405020304" pitchFamily="18" charset="0"/>
              </a:rPr>
              <a:t>Neocolonial Investments and Interventions</a:t>
            </a:r>
          </a:p>
        </p:txBody>
      </p:sp>
    </p:spTree>
    <p:extLst>
      <p:ext uri="{BB962C8B-B14F-4D97-AF65-F5344CB8AC3E}">
        <p14:creationId xmlns:p14="http://schemas.microsoft.com/office/powerpoint/2010/main" val="34901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Pan-American Union</a:t>
            </a:r>
          </a:p>
        </p:txBody>
      </p:sp>
      <p:sp>
        <p:nvSpPr>
          <p:cNvPr id="6041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Promote free trade</a:t>
            </a:r>
          </a:p>
          <a:p>
            <a:pPr lvl="1" eaLnBrk="1" hangingPunct="1"/>
            <a:r>
              <a:rPr lang="en-US" altLang="en-US" dirty="0">
                <a:solidFill>
                  <a:schemeClr val="tx1"/>
                </a:solidFill>
                <a:latin typeface="Times New Roman" charset="0"/>
                <a:ea typeface="Times New Roman" charset="0"/>
                <a:cs typeface="Times New Roman" charset="0"/>
              </a:rPr>
              <a:t>Initially composed of ambassadors to the United States </a:t>
            </a:r>
          </a:p>
          <a:p>
            <a:pPr lvl="1" eaLnBrk="1" hangingPunct="1"/>
            <a:r>
              <a:rPr lang="en-US" altLang="en-US" dirty="0">
                <a:solidFill>
                  <a:schemeClr val="tx1"/>
                </a:solidFill>
                <a:latin typeface="Times New Roman" charset="0"/>
                <a:ea typeface="Times New Roman" charset="0"/>
                <a:cs typeface="Times New Roman" charset="0"/>
              </a:rPr>
              <a:t>Pan-American conferences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Protests</a:t>
            </a:r>
          </a:p>
        </p:txBody>
      </p:sp>
      <p:sp>
        <p:nvSpPr>
          <p:cNvPr id="62466" name="Content Placeholder 2"/>
          <p:cNvSpPr>
            <a:spLocks noGrp="1"/>
          </p:cNvSpPr>
          <p:nvPr>
            <p:ph idx="1"/>
          </p:nvPr>
        </p:nvSpPr>
        <p:spPr>
          <a:xfrm>
            <a:off x="457200" y="1600200"/>
            <a:ext cx="8229600" cy="4983162"/>
          </a:xfrm>
        </p:spPr>
        <p:txBody>
          <a:bodyPr/>
          <a:lstStyle/>
          <a:p>
            <a:pPr lvl="1" eaLnBrk="1" hangingPunct="1"/>
            <a:r>
              <a:rPr lang="en-US" altLang="en-US" dirty="0">
                <a:solidFill>
                  <a:schemeClr val="tx1"/>
                </a:solidFill>
                <a:latin typeface="Times New Roman" charset="0"/>
                <a:ea typeface="Times New Roman" charset="0"/>
                <a:cs typeface="Times New Roman" charset="0"/>
              </a:rPr>
              <a:t>Latin American protest</a:t>
            </a:r>
          </a:p>
          <a:p>
            <a:pPr lvl="2" eaLnBrk="1" hangingPunct="1"/>
            <a:r>
              <a:rPr lang="en-US" altLang="en-US" dirty="0">
                <a:latin typeface="Times New Roman" charset="0"/>
                <a:ea typeface="Times New Roman" charset="0"/>
                <a:cs typeface="Times New Roman" charset="0"/>
              </a:rPr>
              <a:t>US intervened in Cuba, Puerto Rico, Panama, Nicaragua, Haiti, and Dominican Republic.</a:t>
            </a:r>
          </a:p>
          <a:p>
            <a:pPr lvl="2" eaLnBrk="1" hangingPunct="1"/>
            <a:r>
              <a:rPr lang="en-US" altLang="en-US" dirty="0">
                <a:latin typeface="Times New Roman" charset="0"/>
                <a:ea typeface="Times New Roman" charset="0"/>
                <a:cs typeface="Times New Roman" charset="0"/>
              </a:rPr>
              <a:t>US engaged in a war with Nicaraguan rebels.</a:t>
            </a:r>
          </a:p>
          <a:p>
            <a:pPr lvl="3" eaLnBrk="1" hangingPunct="1"/>
            <a:r>
              <a:rPr lang="en-US" altLang="en-US" sz="2400" dirty="0">
                <a:solidFill>
                  <a:schemeClr val="tx1"/>
                </a:solidFill>
                <a:latin typeface="Times New Roman" charset="0"/>
                <a:ea typeface="Times New Roman" charset="0"/>
                <a:cs typeface="Times New Roman" charset="0"/>
              </a:rPr>
              <a:t>Augusto Sandino</a:t>
            </a:r>
          </a:p>
          <a:p>
            <a:pPr lvl="2" eaLnBrk="1" hangingPunct="1"/>
            <a:r>
              <a:rPr lang="en-US" altLang="en-US" dirty="0">
                <a:latin typeface="Times New Roman" charset="0"/>
                <a:ea typeface="Times New Roman" charset="0"/>
                <a:cs typeface="Times New Roman" charset="0"/>
              </a:rPr>
              <a:t>Latin American writers protest.</a:t>
            </a:r>
          </a:p>
          <a:p>
            <a:pPr lvl="3" eaLnBrk="1" hangingPunct="1"/>
            <a:r>
              <a:rPr lang="en-US" altLang="en-US" sz="2400" dirty="0">
                <a:solidFill>
                  <a:schemeClr val="tx1"/>
                </a:solidFill>
                <a:latin typeface="Times New Roman" charset="0"/>
                <a:ea typeface="Times New Roman" charset="0"/>
                <a:cs typeface="Times New Roman" charset="0"/>
              </a:rPr>
              <a:t>Darío condemns </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Godless</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 Roosevelt.</a:t>
            </a:r>
          </a:p>
          <a:p>
            <a:pPr lvl="3" eaLnBrk="1" hangingPunct="1"/>
            <a:r>
              <a:rPr lang="en-US" altLang="en-US" sz="2400" dirty="0">
                <a:solidFill>
                  <a:schemeClr val="tx1"/>
                </a:solidFill>
                <a:latin typeface="Times New Roman" charset="0"/>
                <a:ea typeface="Times New Roman" charset="0"/>
                <a:cs typeface="Times New Roman" charset="0"/>
              </a:rPr>
              <a:t>José Martí defends </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our America.</a:t>
            </a:r>
            <a:r>
              <a:rPr lang="ja-JP" altLang="en-US" sz="2400">
                <a:solidFill>
                  <a:schemeClr val="tx1"/>
                </a:solidFill>
                <a:latin typeface="Times New Roman" charset="0"/>
                <a:ea typeface="Times New Roman" charset="0"/>
                <a:cs typeface="Times New Roman" charset="0"/>
              </a:rPr>
              <a:t>”</a:t>
            </a:r>
            <a:endParaRPr lang="en-US" altLang="ja-JP" sz="2400" dirty="0">
              <a:solidFill>
                <a:schemeClr val="tx1"/>
              </a:solidFill>
              <a:latin typeface="Times New Roman" charset="0"/>
              <a:ea typeface="Times New Roman" charset="0"/>
              <a:cs typeface="Times New Roman" charset="0"/>
            </a:endParaRPr>
          </a:p>
          <a:p>
            <a:pPr lvl="3" eaLnBrk="1" hangingPunct="1"/>
            <a:r>
              <a:rPr lang="en-US" altLang="en-US" sz="2400" dirty="0">
                <a:solidFill>
                  <a:schemeClr val="tx1"/>
                </a:solidFill>
                <a:latin typeface="Times New Roman" charset="0"/>
                <a:ea typeface="Times New Roman" charset="0"/>
                <a:cs typeface="Times New Roman" charset="0"/>
              </a:rPr>
              <a:t>José Enrique Rodó</a:t>
            </a:r>
          </a:p>
          <a:p>
            <a:pPr lvl="2" eaLnBrk="1" hangingPunct="1"/>
            <a:r>
              <a:rPr lang="en-US" altLang="en-US" dirty="0">
                <a:latin typeface="Times New Roman" charset="0"/>
                <a:ea typeface="Times New Roman" charset="0"/>
                <a:cs typeface="Times New Roman" charset="0"/>
              </a:rPr>
              <a:t>The rise of cinema helped bind Latin America to the United States.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Great Depression</a:t>
            </a:r>
          </a:p>
        </p:txBody>
      </p:sp>
      <p:sp>
        <p:nvSpPr>
          <p:cNvPr id="6451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neocolonial model was shattered by the depression.</a:t>
            </a:r>
          </a:p>
          <a:p>
            <a:pPr marL="800100" lvl="1" indent="-457200" eaLnBrk="1" hangingPunct="1"/>
            <a:r>
              <a:rPr lang="en-US" altLang="en-US" dirty="0">
                <a:solidFill>
                  <a:schemeClr val="tx1"/>
                </a:solidFill>
                <a:latin typeface="Times New Roman" charset="0"/>
                <a:ea typeface="Times New Roman" charset="0"/>
                <a:cs typeface="Times New Roman" charset="0"/>
              </a:rPr>
              <a:t>US market crashed in 1929.</a:t>
            </a:r>
          </a:p>
          <a:p>
            <a:pPr marL="800100" lvl="1" indent="-457200" eaLnBrk="1" hangingPunct="1"/>
            <a:r>
              <a:rPr lang="en-US" altLang="en-US" dirty="0">
                <a:solidFill>
                  <a:schemeClr val="tx1"/>
                </a:solidFill>
                <a:latin typeface="Times New Roman" charset="0"/>
                <a:ea typeface="Times New Roman" charset="0"/>
                <a:cs typeface="Times New Roman" charset="0"/>
              </a:rPr>
              <a:t>Demand for Latin American exports plummeted.</a:t>
            </a:r>
          </a:p>
          <a:p>
            <a:pPr marL="800100" lvl="1" indent="-457200" eaLnBrk="1" hangingPunct="1"/>
            <a:r>
              <a:rPr lang="en-US" altLang="en-US" dirty="0">
                <a:solidFill>
                  <a:schemeClr val="tx1"/>
                </a:solidFill>
                <a:latin typeface="Times New Roman" charset="0"/>
                <a:ea typeface="Times New Roman" charset="0"/>
                <a:cs typeface="Times New Roman" charset="0"/>
              </a:rPr>
              <a:t>The importation of progress halted.</a:t>
            </a:r>
          </a:p>
          <a:p>
            <a:pPr marL="800100" indent="-457200" eaLnBrk="1" hangingPunct="1">
              <a:buFont typeface="Arial" charset="0"/>
              <a:buChar cha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Mass Movement</a:t>
            </a:r>
          </a:p>
        </p:txBody>
      </p:sp>
      <p:sp>
        <p:nvSpPr>
          <p:cNvPr id="6656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Mass movement of laborers from southern Europe</a:t>
            </a:r>
          </a:p>
          <a:p>
            <a:pPr marL="800100" lvl="1" indent="-457200" eaLnBrk="1" hangingPunct="1"/>
            <a:r>
              <a:rPr lang="en-US" altLang="en-US" dirty="0">
                <a:solidFill>
                  <a:schemeClr val="tx1"/>
                </a:solidFill>
                <a:latin typeface="Times New Roman" charset="0"/>
                <a:ea typeface="Times New Roman" charset="0"/>
                <a:cs typeface="Times New Roman" charset="0"/>
              </a:rPr>
              <a:t>Nine-tenths of immigrants went to the Southern Cone countries.</a:t>
            </a:r>
          </a:p>
          <a:p>
            <a:pPr marL="800100" lvl="1" indent="-457200" eaLnBrk="1" hangingPunct="1"/>
            <a:r>
              <a:rPr lang="en-US" altLang="en-US" dirty="0">
                <a:solidFill>
                  <a:schemeClr val="tx1"/>
                </a:solidFill>
                <a:latin typeface="Times New Roman" charset="0"/>
                <a:ea typeface="Times New Roman" charset="0"/>
                <a:cs typeface="Times New Roman" charset="0"/>
              </a:rPr>
              <a:t>Climate for farming allow European crops</a:t>
            </a:r>
          </a:p>
          <a:p>
            <a:pPr marL="800100" lvl="1" indent="-457200" eaLnBrk="1" hangingPunct="1"/>
            <a:r>
              <a:rPr lang="en-US" altLang="en-US" dirty="0">
                <a:solidFill>
                  <a:schemeClr val="tx1"/>
                </a:solidFill>
                <a:latin typeface="Times New Roman" charset="0"/>
                <a:ea typeface="Times New Roman" charset="0"/>
                <a:cs typeface="Times New Roman" charset="0"/>
              </a:rPr>
              <a:t>Land sparsely settled</a:t>
            </a:r>
          </a:p>
          <a:p>
            <a:pPr marL="800100" lvl="1" indent="-457200" eaLnBrk="1" hangingPunct="1"/>
            <a:r>
              <a:rPr lang="en-US" altLang="en-US" dirty="0">
                <a:solidFill>
                  <a:schemeClr val="tx1"/>
                </a:solidFill>
                <a:latin typeface="Times New Roman" charset="0"/>
                <a:ea typeface="Times New Roman" charset="0"/>
                <a:cs typeface="Times New Roman" charset="0"/>
              </a:rPr>
              <a:t>The poorest colonial areas would become the richest parts of Latin America.</a:t>
            </a:r>
            <a:endParaRPr lang="en-US" altLang="en-US" sz="2400" dirty="0">
              <a:solidFill>
                <a:schemeClr val="tx1"/>
              </a:solidFill>
              <a:latin typeface="Times New Roman" charset="0"/>
              <a:ea typeface="Times New Roman" charset="0"/>
              <a:cs typeface="Times New Roman" charset="0"/>
            </a:endParaRPr>
          </a:p>
          <a:p>
            <a:pPr marL="1200150" lvl="2" indent="-457200" eaLnBrk="1" hangingPunct="1"/>
            <a:r>
              <a:rPr lang="en-US" altLang="en-US" dirty="0">
                <a:latin typeface="Times New Roman" charset="0"/>
                <a:ea typeface="Times New Roman" charset="0"/>
                <a:cs typeface="Times New Roman" charset="0"/>
              </a:rPr>
              <a:t>Argentina, Brazil</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6" name="Title 3">
            <a:extLst>
              <a:ext uri="{FF2B5EF4-FFF2-40B4-BE49-F238E27FC236}">
                <a16:creationId xmlns:a16="http://schemas.microsoft.com/office/drawing/2014/main" id="{64639CC5-CFA4-C3B0-5C99-287E70C16A0A}"/>
              </a:ext>
            </a:extLst>
          </p:cNvPr>
          <p:cNvSpPr>
            <a:spLocks noGrp="1"/>
          </p:cNvSpPr>
          <p:nvPr>
            <p:ph type="title"/>
          </p:nvPr>
        </p:nvSpPr>
        <p:spPr>
          <a:xfrm>
            <a:off x="457199" y="304800"/>
            <a:ext cx="8229600" cy="1143000"/>
          </a:xfrm>
        </p:spPr>
        <p:txBody>
          <a:bodyPr/>
          <a:lstStyle/>
          <a:p>
            <a:r>
              <a:rPr lang="en-US" sz="4000" dirty="0">
                <a:latin typeface="Times New Roman" charset="0"/>
                <a:ea typeface="Times New Roman" charset="0"/>
                <a:cs typeface="Times New Roman" charset="0"/>
              </a:rPr>
              <a:t>Migration to Latin America</a:t>
            </a:r>
          </a:p>
        </p:txBody>
      </p:sp>
      <p:pic>
        <p:nvPicPr>
          <p:cNvPr id="4" name="Picture 3" descr="A table with 2 columns and 7 rows. The column headers are Country of Origin and Millions of Immigrants. The source is Magnus Morner, Adventurers and Proletarians: The Story of Migrants in Latin America (Pittsburgh: University of Pittsburgh Press, 1985), 50." title="Migration to Latin America">
            <a:extLst>
              <a:ext uri="{FF2B5EF4-FFF2-40B4-BE49-F238E27FC236}">
                <a16:creationId xmlns:a16="http://schemas.microsoft.com/office/drawing/2014/main" id="{3D8F5349-100F-4706-362C-CCA314CD94A5}"/>
              </a:ext>
            </a:extLst>
          </p:cNvPr>
          <p:cNvPicPr>
            <a:picLocks noChangeAspect="1"/>
          </p:cNvPicPr>
          <p:nvPr/>
        </p:nvPicPr>
        <p:blipFill>
          <a:blip r:embed="rId3"/>
          <a:stretch>
            <a:fillRect/>
          </a:stretch>
        </p:blipFill>
        <p:spPr>
          <a:xfrm>
            <a:off x="783335" y="1676400"/>
            <a:ext cx="7577329" cy="2830231"/>
          </a:xfrm>
          <a:prstGeom prst="rect">
            <a:avLst/>
          </a:prstGeom>
        </p:spPr>
      </p:pic>
    </p:spTree>
    <p:extLst>
      <p:ext uri="{BB962C8B-B14F-4D97-AF65-F5344CB8AC3E}">
        <p14:creationId xmlns:p14="http://schemas.microsoft.com/office/powerpoint/2010/main" val="3308620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Argentina</a:t>
            </a:r>
          </a:p>
        </p:txBody>
      </p:sp>
      <p:sp>
        <p:nvSpPr>
          <p:cNvPr id="6861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Five million European immigrants</a:t>
            </a:r>
          </a:p>
          <a:p>
            <a:pPr lvl="1" eaLnBrk="1" hangingPunct="1"/>
            <a:r>
              <a:rPr lang="en-US" altLang="en-US" dirty="0">
                <a:solidFill>
                  <a:schemeClr val="tx1"/>
                </a:solidFill>
                <a:latin typeface="Times New Roman" charset="0"/>
                <a:ea typeface="Times New Roman" charset="0"/>
                <a:cs typeface="Times New Roman" charset="0"/>
              </a:rPr>
              <a:t>Half of the population of Buenos Aires was European in 1914.</a:t>
            </a:r>
          </a:p>
          <a:p>
            <a:pPr lvl="1" eaLnBrk="1" hangingPunct="1"/>
            <a:r>
              <a:rPr lang="en-US" altLang="en-US" dirty="0">
                <a:solidFill>
                  <a:schemeClr val="tx1"/>
                </a:solidFill>
                <a:latin typeface="Times New Roman" charset="0"/>
                <a:ea typeface="Times New Roman" charset="0"/>
                <a:cs typeface="Times New Roman" charset="0"/>
              </a:rPr>
              <a:t>Italian, Spanish, Irish, Jewish, German, Austrian, French, English, and Swiss</a:t>
            </a:r>
          </a:p>
          <a:p>
            <a:pPr lvl="1" eaLnBrk="1" hangingPunct="1"/>
            <a:r>
              <a:rPr lang="en-US" altLang="en-US" i="1" dirty="0">
                <a:solidFill>
                  <a:schemeClr val="tx1"/>
                </a:solidFill>
                <a:latin typeface="Times New Roman" charset="0"/>
                <a:ea typeface="Times New Roman" charset="0"/>
                <a:cs typeface="Times New Roman" charset="0"/>
              </a:rPr>
              <a:t>Conventillos</a:t>
            </a:r>
            <a:endParaRPr lang="en-US" altLang="en-US"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Many immigrants began as farmers, then moved to Buenos Aires.</a:t>
            </a:r>
          </a:p>
          <a:p>
            <a:pPr lvl="1" eaLnBrk="1" hangingPunct="1"/>
            <a:r>
              <a:rPr lang="en-US" altLang="en-US" dirty="0">
                <a:solidFill>
                  <a:schemeClr val="tx1"/>
                </a:solidFill>
                <a:latin typeface="Times New Roman" charset="0"/>
                <a:ea typeface="Times New Roman" charset="0"/>
                <a:cs typeface="Times New Roman" charset="0"/>
              </a:rPr>
              <a:t>Tango lyrics written in </a:t>
            </a:r>
            <a:r>
              <a:rPr lang="en-US" altLang="en-US" i="1" dirty="0">
                <a:solidFill>
                  <a:schemeClr val="tx1"/>
                </a:solidFill>
                <a:latin typeface="Times New Roman" charset="0"/>
                <a:ea typeface="Times New Roman" charset="0"/>
                <a:cs typeface="Times New Roman" charset="0"/>
              </a:rPr>
              <a:t>lunfardo.</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New Immigration</a:t>
            </a:r>
          </a:p>
        </p:txBody>
      </p:sp>
      <p:sp>
        <p:nvSpPr>
          <p:cNvPr id="7065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Southern Brazil</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Italy, Portugal, Spain, Germany, eastern European Jews</a:t>
            </a:r>
          </a:p>
          <a:p>
            <a:pPr lvl="2" eaLnBrk="1" hangingPunct="1"/>
            <a:r>
              <a:rPr lang="en-US" altLang="en-US" dirty="0">
                <a:latin typeface="Times New Roman" charset="0"/>
                <a:ea typeface="Times New Roman" charset="0"/>
                <a:cs typeface="Times New Roman" charset="0"/>
              </a:rPr>
              <a:t>São Paulo attracted Japanese immigrants.</a:t>
            </a:r>
          </a:p>
          <a:p>
            <a:pPr lvl="2" eaLnBrk="1" hangingPunct="1"/>
            <a:r>
              <a:rPr lang="en-US" altLang="en-US" dirty="0">
                <a:latin typeface="Times New Roman" charset="0"/>
                <a:ea typeface="Times New Roman" charset="0"/>
                <a:cs typeface="Times New Roman" charset="0"/>
              </a:rPr>
              <a:t>Ethnic colonies emerged in the south as immigrants were granted land.</a:t>
            </a:r>
          </a:p>
          <a:p>
            <a:pPr lvl="2" eaLnBrk="1" hangingPunct="1"/>
            <a:r>
              <a:rPr lang="en-US" altLang="en-US" dirty="0">
                <a:latin typeface="Times New Roman" charset="0"/>
                <a:ea typeface="Times New Roman" charset="0"/>
                <a:cs typeface="Times New Roman" charset="0"/>
              </a:rPr>
              <a:t>Spanish immigration to Cuba</a:t>
            </a:r>
          </a:p>
          <a:p>
            <a:pPr lvl="2" eaLnBrk="1" hangingPunct="1"/>
            <a:r>
              <a:rPr lang="en-US" altLang="en-US" dirty="0">
                <a:latin typeface="Times New Roman" charset="0"/>
                <a:ea typeface="Times New Roman" charset="0"/>
                <a:cs typeface="Times New Roman" charset="0"/>
              </a:rPr>
              <a:t>Middle Eastern immigrants all over the region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7: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Neocolonialism</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B2CF60-99F4-4386-BD3C-71FB480B0733}">
  <ds:schemaRefs>
    <ds:schemaRef ds:uri="http://www.w3.org/XML/1998/namespace"/>
    <ds:schemaRef ds:uri="http://schemas.openxmlformats.org/package/2006/metadata/core-properties"/>
    <ds:schemaRef ds:uri="http://schemas.microsoft.com/office/2006/metadata/properties"/>
    <ds:schemaRef ds:uri="http://purl.org/dc/terms/"/>
    <ds:schemaRef ds:uri="http://purl.org/dc/elements/1.1/"/>
    <ds:schemaRef ds:uri="http://purl.org/dc/dcmitype/"/>
    <ds:schemaRef ds:uri="d1c7c9a4-d043-4a67-96e5-2ff5b742a303"/>
    <ds:schemaRef ds:uri="http://schemas.microsoft.com/office/2006/documentManagement/types"/>
    <ds:schemaRef ds:uri="http://schemas.microsoft.com/office/infopath/2007/PartnerControls"/>
    <ds:schemaRef ds:uri="9d64b6a7-e13d-4012-aff2-02bdd52222eb"/>
  </ds:schemaRefs>
</ds:datastoreItem>
</file>

<file path=customXml/itemProps2.xml><?xml version="1.0" encoding="utf-8"?>
<ds:datastoreItem xmlns:ds="http://schemas.openxmlformats.org/officeDocument/2006/customXml" ds:itemID="{0569B4D1-106D-4916-8329-7638F5674D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580D75-9BE9-4EB2-B72A-EAC62C2BED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Chasteen_Ch2</Template>
  <TotalTime>1153</TotalTime>
  <Words>1426</Words>
  <Application>Microsoft Macintosh PowerPoint</Application>
  <PresentationFormat>On-screen Show (4:3)</PresentationFormat>
  <Paragraphs>245</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Black</vt:lpstr>
      <vt:lpstr>Calibri</vt:lpstr>
      <vt:lpstr>Times New Roman</vt:lpstr>
      <vt:lpstr>Wingdings</vt:lpstr>
      <vt:lpstr>Chasteen_Ch2</vt:lpstr>
      <vt:lpstr>Born in Blood &amp; Fire A Concise History of Latin America 5th Edition</vt:lpstr>
      <vt:lpstr>Embracing Progress</vt:lpstr>
      <vt:lpstr>The Great Export Boom (1/2)</vt:lpstr>
      <vt:lpstr>The Great Export Boom (2/2)</vt:lpstr>
      <vt:lpstr>New Infrastructure</vt:lpstr>
      <vt:lpstr>Who Benefits?</vt:lpstr>
      <vt:lpstr>Argentina’s Boom</vt:lpstr>
      <vt:lpstr>La Avenida de Mayo</vt:lpstr>
      <vt:lpstr>Coffee Boom</vt:lpstr>
      <vt:lpstr>Sugar and Mining</vt:lpstr>
      <vt:lpstr>Rubber Boom in Amazonia</vt:lpstr>
      <vt:lpstr>Bananas</vt:lpstr>
      <vt:lpstr>Migration to Cities</vt:lpstr>
      <vt:lpstr>Education</vt:lpstr>
      <vt:lpstr>“Order and Progress”</vt:lpstr>
      <vt:lpstr>Authoritarian Rule</vt:lpstr>
      <vt:lpstr>Managed Elections</vt:lpstr>
      <vt:lpstr>Oligarchies and Dictatorships</vt:lpstr>
      <vt:lpstr>Porfirio Díaz</vt:lpstr>
      <vt:lpstr>Neocolonial Brazil</vt:lpstr>
      <vt:lpstr>Neocolonial Colombia</vt:lpstr>
      <vt:lpstr>Feminism</vt:lpstr>
      <vt:lpstr>Colonialism</vt:lpstr>
      <vt:lpstr>US Intervention in Cuba</vt:lpstr>
      <vt:lpstr>US Foreign Policy</vt:lpstr>
      <vt:lpstr>PowerPoint Presentation</vt:lpstr>
      <vt:lpstr>Pan-American Union</vt:lpstr>
      <vt:lpstr>Protests</vt:lpstr>
      <vt:lpstr>The Great Depression</vt:lpstr>
      <vt:lpstr>Mass Movement</vt:lpstr>
      <vt:lpstr>Migration to Latin America</vt:lpstr>
      <vt:lpstr>Argentina</vt:lpstr>
      <vt:lpstr>New Immigration</vt:lpstr>
      <vt:lpstr>This concludes the PowerPoint presentation for  Chapter 7:  Neocolonialism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Rob</dc:creator>
  <cp:lastModifiedBy>Kopp, Katherine</cp:lastModifiedBy>
  <cp:revision>41</cp:revision>
  <dcterms:created xsi:type="dcterms:W3CDTF">2011-05-19T14:56:25Z</dcterms:created>
  <dcterms:modified xsi:type="dcterms:W3CDTF">2024-06-06T18:17:14Z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