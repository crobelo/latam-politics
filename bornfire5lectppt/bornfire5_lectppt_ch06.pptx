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84" r:id="rId7"/>
    <p:sldId id="285" r:id="rId8"/>
    <p:sldId id="316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25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7C79B-9895-B843-9C41-B0B6DBA23654}" v="2" dt="2024-06-06T18:15:52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4"/>
    <p:restoredTop sz="83265"/>
  </p:normalViewPr>
  <p:slideViewPr>
    <p:cSldViewPr>
      <p:cViewPr varScale="1">
        <p:scale>
          <a:sx n="101" d="100"/>
          <a:sy n="101" d="100"/>
        </p:scale>
        <p:origin x="6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193BF352-206C-3341-9BA3-E122781FA684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CFD032FE-8D83-274B-8BF7-FBDB8BD3BB3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563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292F2F4D-9A2B-CB40-B0DC-37BE5C54AC8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878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30786F6-59BF-5D40-B639-B0C7D9679352}" type="slidenum">
              <a:rPr lang="en-US" altLang="en-US">
                <a:latin typeface="Calibri" charset="0"/>
              </a:rPr>
              <a:pPr/>
              <a:t>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614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0B856F2-320A-724E-8714-C305288669EC}" type="slidenum">
              <a:rPr lang="en-US" altLang="en-US">
                <a:latin typeface="Calibri" charset="0"/>
              </a:rPr>
              <a:pPr/>
              <a:t>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415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97BC859-8585-5647-BAAB-CAC5BBD59E04}" type="slidenum">
              <a:rPr lang="en-US" altLang="en-US">
                <a:latin typeface="Calibri" charset="0"/>
              </a:rPr>
              <a:pPr/>
              <a:t>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494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RAILROADS AND TRESTLES</a:t>
            </a:r>
            <a:r>
              <a:rPr lang="en-US" dirty="0"/>
              <a:t> created crucial transportation infrastructure for Latin American export economies, in Mexico and elsewhere, in the mid- to late 1800s. </a:t>
            </a:r>
            <a:r>
              <a:rPr lang="en-US" i="1" dirty="0"/>
              <a:t>AS400 DB/</a:t>
            </a:r>
            <a:r>
              <a:rPr lang="en-US" i="1" dirty="0" err="1"/>
              <a:t>Bettman</a:t>
            </a:r>
            <a:r>
              <a:rPr lang="en-US" i="1" dirty="0"/>
              <a:t>/Corbis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4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F0C01E6-A537-264F-8092-060ED3EC869C}" type="slidenum">
              <a:rPr lang="en-US" altLang="en-US">
                <a:latin typeface="Calibri" charset="0"/>
              </a:rPr>
              <a:pPr/>
              <a:t>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08533EC-8DD2-A34D-A6A6-F7A5DCB7AA03}" type="slidenum">
              <a:rPr lang="en-US" altLang="en-US">
                <a:latin typeface="Calibri" charset="0"/>
              </a:rPr>
              <a:pPr/>
              <a:t>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50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835CF17-70DD-CD4D-A1F9-1E110529B729}" type="slidenum">
              <a:rPr lang="en-US" altLang="en-US">
                <a:latin typeface="Calibri" charset="0"/>
              </a:rPr>
              <a:pPr/>
              <a:t>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6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6A72CE8-791F-A245-83FC-C3A48813A9F3}" type="slidenum">
              <a:rPr lang="en-US" altLang="en-US">
                <a:latin typeface="Calibri" charset="0"/>
              </a:rPr>
              <a:pPr/>
              <a:t>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61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81D3644-1F8E-AE47-B011-5C110CB3F542}" type="slidenum">
              <a:rPr lang="en-US" altLang="en-US">
                <a:latin typeface="Calibri" charset="0"/>
              </a:rPr>
              <a:pPr/>
              <a:t>10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220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4C51B49-8358-1842-A10A-7F67F2787E75}" type="slidenum">
              <a:rPr lang="en-US" altLang="en-US">
                <a:latin typeface="Calibri" charset="0"/>
              </a:rPr>
              <a:pPr/>
              <a:t>11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18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0077156-28D2-084B-8432-B7DD02F82517}" type="slidenum">
              <a:rPr lang="en-US" altLang="en-US">
                <a:latin typeface="Calibri" charset="0"/>
              </a:rPr>
              <a:pPr/>
              <a:t>12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24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EBA9309-EFC9-A14E-8B6A-EB76C3851512}" type="slidenum">
              <a:rPr lang="en-US" altLang="en-US">
                <a:latin typeface="Calibri" charset="0"/>
              </a:rPr>
              <a:pPr/>
              <a:t>13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517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F03762D-5A64-FA42-9B14-23A8D74F7797}" type="slidenum">
              <a:rPr lang="en-US" altLang="en-US">
                <a:latin typeface="Calibri" charset="0"/>
              </a:rPr>
              <a:pPr/>
              <a:t>14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676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D8ACEFED-EE6B-3740-B9CE-207A99CE7E11}" type="slidenum">
              <a:rPr lang="en-US" altLang="en-US">
                <a:latin typeface="Calibri" charset="0"/>
              </a:rPr>
              <a:pPr/>
              <a:t>15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7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C72738A-51A4-6D40-A97C-B3465EF891A7}" type="slidenum">
              <a:rPr lang="en-US" altLang="en-US">
                <a:latin typeface="Calibri" charset="0"/>
              </a:rPr>
              <a:pPr/>
              <a:t>16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576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CBA873-C338-0749-8D07-37DB5D8D198D}" type="slidenum">
              <a:rPr lang="en-US" altLang="en-US">
                <a:latin typeface="Calibri" charset="0"/>
              </a:rPr>
              <a:pPr/>
              <a:t>17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681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8002029-3BB8-1C40-9C82-DCD15686519C}" type="slidenum">
              <a:rPr lang="en-US" altLang="en-US">
                <a:latin typeface="Calibri" charset="0"/>
              </a:rPr>
              <a:pPr/>
              <a:t>18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33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36EA2CC-4290-0749-B13D-85F8A2FCFF31}" type="slidenum">
              <a:rPr lang="en-US" altLang="en-US">
                <a:latin typeface="Calibri" charset="0"/>
              </a:rPr>
              <a:pPr/>
              <a:t>19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428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6068202-A8B1-0F47-B837-B32FA15CF994}" type="slidenum">
              <a:rPr lang="en-US" altLang="en-US">
                <a:latin typeface="Calibri" charset="0"/>
              </a:rPr>
              <a:pPr/>
              <a:t>20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112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D355380-E541-9C41-AB97-A23E86171C8D}" type="slidenum">
              <a:rPr lang="en-US" altLang="en-US">
                <a:latin typeface="Calibri" charset="0"/>
              </a:rPr>
              <a:pPr/>
              <a:t>21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714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7D58A19-B41A-9D45-8C2E-52F0E8612E27}" type="slidenum">
              <a:rPr lang="en-US" altLang="en-US">
                <a:latin typeface="Calibri" charset="0"/>
              </a:rPr>
              <a:pPr/>
              <a:t>22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001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39248A8-78D0-C44A-A9DA-09A00E73F5AD}" type="slidenum">
              <a:rPr lang="en-US" altLang="en-US">
                <a:latin typeface="Calibri" charset="0"/>
              </a:rPr>
              <a:pPr/>
              <a:t>23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36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8724BE6-6205-4B42-B937-50A3FA615B2F}" type="slidenum">
              <a:rPr lang="en-US" altLang="en-US">
                <a:latin typeface="Calibri" charset="0"/>
              </a:rPr>
              <a:pPr/>
              <a:t>24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5740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5C33932-DB9C-A74E-B2D9-0A80A9621F20}" type="slidenum">
              <a:rPr lang="en-US" altLang="en-US">
                <a:latin typeface="Calibri" charset="0"/>
              </a:rPr>
              <a:pPr/>
              <a:t>25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119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D3CDB45-E7C3-1F41-8112-D751999BE724}" type="slidenum">
              <a:rPr lang="en-US" altLang="en-US">
                <a:latin typeface="Calibri" charset="0"/>
              </a:rPr>
              <a:pPr/>
              <a:t>26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60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B71683-E82E-1146-BEC7-F77C680879CD}" type="slidenum">
              <a:rPr lang="en-US" altLang="en-US">
                <a:latin typeface="Calibri" charset="0"/>
              </a:rPr>
              <a:pPr/>
              <a:t>27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93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6D99D-D1A3-0945-8D5C-D093374D9A41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9BD02-5580-7748-B1CB-5810294DE84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985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indent="0">
              <a:buFont typeface="Wingdings" pitchFamily="2" charset="2"/>
              <a:buNone/>
              <a:defRPr/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8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9FE2-FB4F-8348-8F6A-3806C6A186FA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FBA2B-F3ED-9F44-A5CB-22B5510C8D4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01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D5B2F-E8E4-6D46-B5D2-C9E76EB05150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AE215-6E59-5843-A5D2-826B06562FF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22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7373C-9C2F-D448-BFA1-6175646521B5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2EE21-05A7-B840-82DE-53EDE3CF83B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13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16D6B-CD8F-6F40-B14D-3562327B9051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AEAC3-7316-8E4F-920F-56318C9666E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908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2F314-4FFF-BF40-BF1D-465562E77614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0BFB4-CC33-7B44-BEF5-E657C9EA176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3162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78B24-7A5E-FE40-81AD-63664D90033B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7F53E-15B7-C540-A6A8-152063FAA25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3602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8CE39-29B1-584E-A741-A5DB5E888816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87F71-1436-9B4F-9BA8-0CB9CD16E7B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667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DD360-247D-834F-A41C-8B529E58348F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18FED-E907-6D42-97BF-A03F80D3B74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10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813F3-1B04-534A-BD68-753B3D060025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FE350-9B39-8D4C-AC7E-9B34935748A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92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 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E930D5C-9C31-AD4B-B7E4-5CB00FC04D3F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593B201-F693-C444-83E2-3A2C9CE18AA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9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−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.wwnorton.com/bornfire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5" descr="Cover: Born in Blood and Fire, A concise history of Latin America, by John Charles Chasteen. The cover image shows a crowded place with people doing various activities and a few guards with weapon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9300" y="0"/>
            <a:ext cx="4584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431D351-4D8B-97D3-0470-250B14CD4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14375"/>
            <a:ext cx="3981450" cy="157162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  <a:t>Born in Blood &amp; Fire</a:t>
            </a:r>
            <a:b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A Concise History of Latin America</a:t>
            </a:r>
            <a:b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altLang="en-US" sz="2000" baseline="30000" dirty="0"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 Edition</a:t>
            </a:r>
            <a:endParaRPr lang="en-US" alt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80E0-A6AE-2542-BD8F-D7BB61D4E455}"/>
              </a:ext>
            </a:extLst>
          </p:cNvPr>
          <p:cNvSpPr txBox="1">
            <a:spLocks/>
          </p:cNvSpPr>
          <p:nvPr/>
        </p:nvSpPr>
        <p:spPr bwMode="auto">
          <a:xfrm>
            <a:off x="745529" y="2286000"/>
            <a:ext cx="3252391" cy="385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By</a:t>
            </a:r>
          </a:p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John Charles Chasteen</a:t>
            </a:r>
          </a:p>
          <a:p>
            <a:pPr marL="0" indent="0" algn="ctr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Chapter 6:</a:t>
            </a: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Conservatism</a:t>
            </a:r>
          </a:p>
        </p:txBody>
      </p:sp>
      <p:sp>
        <p:nvSpPr>
          <p:cNvPr id="15362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indent="-457200" eaLnBrk="1" hangingPunct="1">
              <a:buFont typeface="Arial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Conservatism was dominant in the aftermath of independence.</a:t>
            </a:r>
          </a:p>
          <a:p>
            <a:pPr marL="800100" indent="-457200" eaLnBrk="1" hangingPunct="1">
              <a:buFont typeface="Arial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After 1850, liberals made a comeback.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They initiated social and economic changes that mobilized them during the struggle for independence.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Rise and Reaction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Conservative ascendance</a:t>
            </a:r>
            <a:endParaRPr lang="en-US" altLang="en-US" sz="24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Promised security, tradition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Ill-distribution of benefits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Those outside patronage system look for change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reaction </a:t>
            </a:r>
            <a:endParaRPr lang="en-US" altLang="en-US" sz="24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Landowners wanted greater export possibilities.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Urban dwellers wanted public works.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Industrialization in Europe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Increased international investment in Latin America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Transportation Revolution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Steamships overtook old wood sailing ships.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Steam-powered railroad replaces mules and carts.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Mules and carts limited the quantity of exportable material.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Railroads were expensive, but valuable.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Telegraph lines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Allowed instant communication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Carried electricity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1874: transatlantic telegraph connects Brazil to Europe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ain passes over an elevated bridge. The bridge is supported by large brick pillars and runs along the side of a mountai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66800"/>
            <a:ext cx="73152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4639CC5-CFA4-C3B0-5C99-287E70C1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Railroads and Trestles</a:t>
            </a:r>
          </a:p>
        </p:txBody>
      </p:sp>
    </p:spTree>
    <p:extLst>
      <p:ext uri="{BB962C8B-B14F-4D97-AF65-F5344CB8AC3E}">
        <p14:creationId xmlns:p14="http://schemas.microsoft.com/office/powerpoint/2010/main" val="112492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Progress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idea of progress becomes the new hegemonic ideal.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Focused on model, products, culture of Europe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Export earnings could bring in European goods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Fixated on technology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parties ride this wave to power.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lvl="1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Church was more powerful in Mexico than anywhere else.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Held vast properties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Chief moneylending institution</a:t>
            </a:r>
          </a:p>
          <a:p>
            <a:pPr lvl="2" eaLnBrk="1" hangingPunct="1"/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Fuero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10 percent of income went to the Church</a:t>
            </a:r>
          </a:p>
          <a:p>
            <a:pPr marL="685800" lvl="1" indent="-342900" eaLnBrk="1" hangingPunct="1"/>
            <a:r>
              <a:rPr lang="en-US" altLang="en-US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Ultramontane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conservatism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Church turned away from progressive priests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Coming from Rome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Catholicism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Power of Church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Church and politics</a:t>
            </a:r>
            <a:endParaRPr lang="en-US" altLang="en-US" sz="24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Independence articulated in religious language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Church became conservative, liberals became anti-Church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Power of Church was an affront to Progress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3" eaLnBrk="1" hangingPunct="1"/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attacked </a:t>
            </a:r>
            <a:r>
              <a:rPr lang="en-US" altLang="en-US" sz="2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fuero</a:t>
            </a:r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	</a:t>
            </a:r>
          </a:p>
          <a:p>
            <a:pPr lvl="3" eaLnBrk="1" hangingPunct="1"/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Unproductive wealth of church</a:t>
            </a:r>
          </a:p>
          <a:p>
            <a:pPr lvl="3" eaLnBrk="1" hangingPunct="1"/>
            <a:r>
              <a:rPr lang="en-US" altLang="en-US" sz="2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Ultramontane </a:t>
            </a:r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– church conservatism led by priests who refused to accept government control over church affairs </a:t>
            </a:r>
            <a:endParaRPr lang="en-US" altLang="en-US" sz="2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Conservatives adopt rallying cry: 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religion and </a:t>
            </a:r>
            <a:r>
              <a:rPr lang="en-US" altLang="ja-JP" i="1" dirty="0">
                <a:latin typeface="Times New Roman" charset="0"/>
                <a:ea typeface="Times New Roman" charset="0"/>
                <a:cs typeface="Times New Roman" charset="0"/>
              </a:rPr>
              <a:t>fueros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!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Ascendance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Reaction against rule of Santa Anna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Juan Alvarez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Melchor Ocampo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Benito Juárez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Reforms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Juárez Law </a:t>
            </a:r>
          </a:p>
          <a:p>
            <a:pPr marL="1200150" lvl="2" indent="-4572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Attacked military and ecclesiastical fueros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Lerdo Law</a:t>
            </a:r>
          </a:p>
          <a:p>
            <a:pPr marL="1200150" lvl="2" indent="-4572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Abolished collective landholding (Catholic Church and Indigenous villages)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hoped to encourage individual effort and responsibility.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Turned many indigenous against the Liberal Party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Indigenous joined conservatives in defense of tradition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Civil War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 conservative general overthrew the president and dissolved congress.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Juárez was chosen to command liberal forces.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retake Mexico City.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War bankrupted the state.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It suspended payment of foreign debts.</a:t>
            </a:r>
          </a:p>
          <a:p>
            <a:pPr marL="1200150" lvl="2" indent="-4572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France, Spain, and Britain retaliated by occupying Veracruz.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an conservatives appealed for the French to stay.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Installing a Monarchy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Conservatives appeal to Napoleon III in search of a monarch.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Maximilian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French invade Mexico in 1862.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Maximilian installed as emperor in 1864.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Nationalist Reaction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Juárez leads nationalist reaction.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More convincing nationalist leader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United States aids Juárez, threatened by French incursion in the Americas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French withdraw troops.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Maximilian is captured and executed.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Juárez becomes president</a:t>
            </a:r>
            <a:endParaRPr lang="en-US" altLang="en-US" sz="24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Conservatives are permanently discredited.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Church never regains past power.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Trend in Colombia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attack the church with independence.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Conservative post-independence surge</a:t>
            </a:r>
          </a:p>
          <a:p>
            <a:pPr marL="1200150" lvl="2" indent="-4572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Reinstates Catholic Church privileges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Brings back Jesuits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resurgence in 1850s</a:t>
            </a:r>
          </a:p>
          <a:p>
            <a:pPr marL="1200150" lvl="2" indent="-4572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Anticlerical moves again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Throws out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Jesuits again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Tomás Cipriano de Mosquera</a:t>
            </a:r>
          </a:p>
          <a:p>
            <a:pPr marL="742950" lvl="2" indent="0" eaLnBrk="1" hangingPunct="1">
              <a:buNone/>
            </a:pP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Trend in Chile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Very different from Mexico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Politics marked by conservative stability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Only three presidents in three decades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Joaquín Prieto, Manuel </a:t>
            </a:r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Bulnes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, Manuel Montt </a:t>
            </a:r>
          </a:p>
          <a:p>
            <a:pPr marL="800100" lvl="1" indent="-457200" eaLnBrk="1" hangingPunct="1"/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Mapuches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are not part of national society.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attacked traditional Church-State connections.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remained in control for three decades.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Significant modernization projects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419100" y="304800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Trend in Central America 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Followed similar path as other Latin American states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Guatemala, El Salvador, Costa Rica, and Honduras all joined liberal swell.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Only Nicaragua resisted.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Nicaraguan liberals invited foreign intervention.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William Walker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Limits of Progress for Women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 mid-1800s, women saw few benefits from liberalism.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Education expanded very slowly.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Still confined to home life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Few occupied leading roles in public life.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Women and Writing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 few women achieved fame through writing.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Gertrudis Gómez de Avellaneda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Juana Manuela Gorriti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Clorinda Matto de Turner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Models of Progress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Argentine liberal leaders exemplify European obsession, focus on written culture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Juan Bautista Alberdi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Bartolomé Mitre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Domingo Faustino Sarmiento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Scientific Racism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Liberals accepted European scientific racism as well.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They viewed racial mixing as a national tragedy.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Sarmiento derided Argentina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gauchos as subhuman.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Brazilian Liberalism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lvl="1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Society was not well-suited to liberal thinking.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Monarchy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Slavery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Mixed-race population</a:t>
            </a:r>
          </a:p>
          <a:p>
            <a:pPr eaLnBrk="1" hangingPunct="1">
              <a:buFont typeface="Wingdings" charset="2"/>
              <a:buNone/>
            </a:pPr>
            <a:endParaRPr lang="en-US" altLang="en-US" sz="36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Catalyst for Change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Triple Alliance War becomes the catalyst for change.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1865–1870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Argentina, Brazil, and Uruguay defeated Paraguay.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War created disillusionment in Brazil.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Called up hundreds of thousands of volunteers to fight Paraguayan 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tyranny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War was in the service of liberalism and civilization.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Caused many to question Brazilian civilization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Re-emergence of Liberalism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Liberalism re-emerged.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Elite Brazilians believed Brazil was unready for democracy.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Emperor Pedro II argued that Brazil was backward.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 the 1860s, many conservatives broke away to join the liberals.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Pedro II sided with the conservative military commander against the liberal prime minister during the Triple Alliance War.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Infuriating liberals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Manifestos of Liberalism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 manifesto of 1869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Calls for democratic reform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Gradual emancipation of slaves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More radical group issues second manifesto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Demands limitations on emperor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power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Immediate abolition of slavery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Third manifesto in 1870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Calls for ouster of the emperor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End of slavery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Creation of Brazilian republic</a:t>
            </a:r>
          </a:p>
          <a:p>
            <a:pPr lvl="2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March of Progress</a:t>
            </a: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1871, 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free birth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law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Conservative governments ruled, but progress caught on.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Joaquim Nabuco becomes leading abolitionist.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Pedro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daughter Isabel signs 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Golden Law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of freedom in 1888.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Brazilian monarchy collapses in 1889.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International Wars (1/2)</a:t>
            </a: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Wars have been rare but catalyzing events in Latin America.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Mexican-American War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Triple Alliance War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International Wars (2/2)</a:t>
            </a: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Chaco War (1932–1935)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Paraguay fought Bolivia over the Chaco.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War emerged after oil discovered.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Paraguayan victory doubled national territory.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Bolivia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Defeat was third defeat on Pacific coast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War of Peruvian-Bolivian Confederation (1836–1839)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War of the Pacific (1879–1884)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0F05E6-0F85-F136-C7F9-231D9A2D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92" y="838200"/>
            <a:ext cx="6823213" cy="3143250"/>
          </a:xfrm>
        </p:spPr>
        <p:txBody>
          <a:bodyPr anchor="t">
            <a:normAutofit/>
          </a:bodyPr>
          <a:lstStyle/>
          <a:p>
            <a: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  <a:t>This concludes the PowerPoint presentation for </a:t>
            </a:r>
            <a:b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Chapter 6: </a:t>
            </a:r>
            <a:b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Progress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EB6891-7D7F-5F4C-77AA-B9DAAAB7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395" y="4572000"/>
            <a:ext cx="6013205" cy="17526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For additional resources, visit </a:t>
            </a:r>
            <a:r>
              <a:rPr lang="en-US" altLang="en-US" sz="2400" dirty="0">
                <a:latin typeface="Times New Roman" charset="0"/>
                <a:ea typeface="Times New Roman" charset="0"/>
                <a:cs typeface="Times New Roman" charset="0"/>
                <a:hlinkClick r:id="rId2"/>
              </a:rPr>
              <a:t>https://digital.wwnorton.com/bornfire5</a:t>
            </a:r>
            <a:endParaRPr lang="en-US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79004"/>
      </p:ext>
    </p:extLst>
  </p:cSld>
  <p:clrMapOvr>
    <a:masterClrMapping/>
  </p:clrMapOvr>
</p:sld>
</file>

<file path=ppt/theme/theme1.xml><?xml version="1.0" encoding="utf-8"?>
<a:theme xmlns:a="http://schemas.openxmlformats.org/drawingml/2006/main" name="Chasteen_Ch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c fon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9AFE3D876FE4297EE28B5F70DC3F8" ma:contentTypeVersion="18" ma:contentTypeDescription="Create a new document." ma:contentTypeScope="" ma:versionID="24168822608d9d77dd2a031d1dc4320d">
  <xsd:schema xmlns:xsd="http://www.w3.org/2001/XMLSchema" xmlns:xs="http://www.w3.org/2001/XMLSchema" xmlns:p="http://schemas.microsoft.com/office/2006/metadata/properties" xmlns:ns2="d1c7c9a4-d043-4a67-96e5-2ff5b742a303" xmlns:ns3="9d64b6a7-e13d-4012-aff2-02bdd52222eb" targetNamespace="http://schemas.microsoft.com/office/2006/metadata/properties" ma:root="true" ma:fieldsID="974d88cf474a8c2222dc8cf659776bc2" ns2:_="" ns3:_="">
    <xsd:import namespace="d1c7c9a4-d043-4a67-96e5-2ff5b742a303"/>
    <xsd:import namespace="9d64b6a7-e13d-4012-aff2-02bdd52222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7c9a4-d043-4a67-96e5-2ff5b742a3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5876ee3-2b79-4d5d-9b03-6d87568316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4b6a7-e13d-4012-aff2-02bdd52222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26d98fc-0af3-417b-8254-413504fc40c8}" ma:internalName="TaxCatchAll" ma:showField="CatchAllData" ma:web="9d64b6a7-e13d-4012-aff2-02bdd52222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c7c9a4-d043-4a67-96e5-2ff5b742a303">
      <Terms xmlns="http://schemas.microsoft.com/office/infopath/2007/PartnerControls"/>
    </lcf76f155ced4ddcb4097134ff3c332f>
    <TaxCatchAll xmlns="9d64b6a7-e13d-4012-aff2-02bdd52222eb" xsi:nil="true"/>
  </documentManagement>
</p:properties>
</file>

<file path=customXml/itemProps1.xml><?xml version="1.0" encoding="utf-8"?>
<ds:datastoreItem xmlns:ds="http://schemas.openxmlformats.org/officeDocument/2006/customXml" ds:itemID="{3775C2CF-F1E5-4EBA-B8E7-AA33648B05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547D76-2F9F-4544-844D-66FC684EB4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7c9a4-d043-4a67-96e5-2ff5b742a303"/>
    <ds:schemaRef ds:uri="9d64b6a7-e13d-4012-aff2-02bdd522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62FBBE-E210-447F-B0C4-A2AC4F842A80}">
  <ds:schemaRefs>
    <ds:schemaRef ds:uri="http://www.w3.org/XML/1998/namespace"/>
    <ds:schemaRef ds:uri="http://schemas.microsoft.com/office/2006/metadata/properties"/>
    <ds:schemaRef ds:uri="9d64b6a7-e13d-4012-aff2-02bdd52222eb"/>
    <ds:schemaRef ds:uri="http://purl.org/dc/terms/"/>
    <ds:schemaRef ds:uri="d1c7c9a4-d043-4a67-96e5-2ff5b742a303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Chasteen_Ch2</Template>
  <TotalTime>1223</TotalTime>
  <Words>1112</Words>
  <Application>Microsoft Macintosh PowerPoint</Application>
  <PresentationFormat>On-screen Show (4:3)</PresentationFormat>
  <Paragraphs>214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Black</vt:lpstr>
      <vt:lpstr>Calibri</vt:lpstr>
      <vt:lpstr>Times New Roman</vt:lpstr>
      <vt:lpstr>Wingdings</vt:lpstr>
      <vt:lpstr>Chasteen_Ch2</vt:lpstr>
      <vt:lpstr>Born in Blood &amp; Fire A Concise History of Latin America 5th Edition</vt:lpstr>
      <vt:lpstr>Conservatism</vt:lpstr>
      <vt:lpstr>Rise and Reaction</vt:lpstr>
      <vt:lpstr>Transportation Revolution</vt:lpstr>
      <vt:lpstr>Railroads and Trestles</vt:lpstr>
      <vt:lpstr>Progress</vt:lpstr>
      <vt:lpstr>Catholicism</vt:lpstr>
      <vt:lpstr>Power of Church</vt:lpstr>
      <vt:lpstr>Liberal Ascendance</vt:lpstr>
      <vt:lpstr>Liberal Reforms</vt:lpstr>
      <vt:lpstr>Civil War</vt:lpstr>
      <vt:lpstr>Installing a Monarchy</vt:lpstr>
      <vt:lpstr>Nationalist Reaction</vt:lpstr>
      <vt:lpstr>Liberal Trend in Colombia</vt:lpstr>
      <vt:lpstr>Liberal Trend in Chile</vt:lpstr>
      <vt:lpstr>Liberal Trend in Central America </vt:lpstr>
      <vt:lpstr>Limits of Progress for Women</vt:lpstr>
      <vt:lpstr>Women and Writing</vt:lpstr>
      <vt:lpstr>Models of Progress</vt:lpstr>
      <vt:lpstr>Scientific Racism</vt:lpstr>
      <vt:lpstr>Brazilian Liberalism</vt:lpstr>
      <vt:lpstr>Catalyst for Change</vt:lpstr>
      <vt:lpstr>Re-emergence of Liberalism</vt:lpstr>
      <vt:lpstr>Manifestos of Liberalism</vt:lpstr>
      <vt:lpstr>March of Progress</vt:lpstr>
      <vt:lpstr>International Wars (1/2)</vt:lpstr>
      <vt:lpstr>International Wars (2/2)</vt:lpstr>
      <vt:lpstr>This concludes the PowerPoint presentation for  Chapter 6: 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in Blood &amp; Fire</dc:title>
  <dc:creator>Rob</dc:creator>
  <cp:lastModifiedBy>Kopp, Katherine</cp:lastModifiedBy>
  <cp:revision>35</cp:revision>
  <dcterms:created xsi:type="dcterms:W3CDTF">2011-05-19T14:12:55Z</dcterms:created>
  <dcterms:modified xsi:type="dcterms:W3CDTF">2024-06-06T18:16:02Z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0x0101002D69AFE3D876FE4297EE28B5F70DC3F8</vt:lpwstr>
  </property>
</Properties>
</file>