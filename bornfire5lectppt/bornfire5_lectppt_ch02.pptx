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sldIdLst>
    <p:sldId id="256" r:id="rId5"/>
    <p:sldId id="257" r:id="rId6"/>
    <p:sldId id="292" r:id="rId7"/>
    <p:sldId id="258" r:id="rId8"/>
    <p:sldId id="259" r:id="rId9"/>
    <p:sldId id="260" r:id="rId10"/>
    <p:sldId id="261" r:id="rId11"/>
    <p:sldId id="262" r:id="rId12"/>
    <p:sldId id="263" r:id="rId13"/>
    <p:sldId id="265" r:id="rId14"/>
    <p:sldId id="266" r:id="rId15"/>
    <p:sldId id="267" r:id="rId16"/>
    <p:sldId id="291" r:id="rId17"/>
    <p:sldId id="269" r:id="rId18"/>
    <p:sldId id="271" r:id="rId19"/>
    <p:sldId id="272" r:id="rId20"/>
    <p:sldId id="304" r:id="rId21"/>
    <p:sldId id="274" r:id="rId22"/>
    <p:sldId id="275" r:id="rId23"/>
    <p:sldId id="276"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4B8190-D1DC-CC4E-95BA-B1E5CF43123F}" v="4" dt="2024-06-06T18:11:53.2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93" autoAdjust="0"/>
    <p:restoredTop sz="75510" autoAdjust="0"/>
  </p:normalViewPr>
  <p:slideViewPr>
    <p:cSldViewPr>
      <p:cViewPr varScale="1">
        <p:scale>
          <a:sx n="78" d="100"/>
          <a:sy n="78" d="100"/>
        </p:scale>
        <p:origin x="85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pp, Katherine" userId="8975c588-54e8-41b7-a546-07e477ad4a5d" providerId="ADAL" clId="{EA4B8190-D1DC-CC4E-95BA-B1E5CF43123F}"/>
    <pc:docChg chg="modSld">
      <pc:chgData name="Kopp, Katherine" userId="8975c588-54e8-41b7-a546-07e477ad4a5d" providerId="ADAL" clId="{EA4B8190-D1DC-CC4E-95BA-B1E5CF43123F}" dt="2024-06-06T18:29:50.127" v="5" actId="962"/>
      <pc:docMkLst>
        <pc:docMk/>
      </pc:docMkLst>
      <pc:sldChg chg="modSp mod">
        <pc:chgData name="Kopp, Katherine" userId="8975c588-54e8-41b7-a546-07e477ad4a5d" providerId="ADAL" clId="{EA4B8190-D1DC-CC4E-95BA-B1E5CF43123F}" dt="2024-06-06T18:29:50.127" v="5" actId="962"/>
        <pc:sldMkLst>
          <pc:docMk/>
          <pc:sldMk cId="1964153793" sldId="304"/>
        </pc:sldMkLst>
        <pc:picChg chg="mod">
          <ac:chgData name="Kopp, Katherine" userId="8975c588-54e8-41b7-a546-07e477ad4a5d" providerId="ADAL" clId="{EA4B8190-D1DC-CC4E-95BA-B1E5CF43123F}" dt="2024-06-06T18:29:50.127" v="5" actId="962"/>
          <ac:picMkLst>
            <pc:docMk/>
            <pc:sldMk cId="1964153793" sldId="304"/>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charset="0"/>
              </a:defRPr>
            </a:lvl1pPr>
          </a:lstStyle>
          <a:p>
            <a:pPr>
              <a:defRPr/>
            </a:pPr>
            <a:fld id="{B1C5FDE3-0D94-914C-A90A-CA802DCF07CE}" type="datetime1">
              <a:rPr lang="en-US" altLang="en-US"/>
              <a:pPr>
                <a:defRPr/>
              </a:pPr>
              <a:t>5/8/2025</a:t>
            </a:fld>
            <a:endParaRPr lang="en-US" alt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charset="0"/>
              </a:defRPr>
            </a:lvl1pPr>
          </a:lstStyle>
          <a:p>
            <a:pPr>
              <a:defRPr/>
            </a:pPr>
            <a:fld id="{F9E97AAA-88B5-C040-8989-817335FC6EED}" type="slidenum">
              <a:rPr lang="en-US" altLang="en-US"/>
              <a:pPr>
                <a:defRPr/>
              </a:pPr>
              <a:t>‹Nº›</a:t>
            </a:fld>
            <a:endParaRPr lang="en-US" altLang="en-US" dirty="0"/>
          </a:p>
        </p:txBody>
      </p:sp>
    </p:spTree>
    <p:extLst>
      <p:ext uri="{BB962C8B-B14F-4D97-AF65-F5344CB8AC3E}">
        <p14:creationId xmlns:p14="http://schemas.microsoft.com/office/powerpoint/2010/main" val="1595744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43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92F2F4D-9A2B-CB40-B0DC-37BE5C54AC80}" type="slidenum">
              <a:rPr lang="en-US" altLang="en-US"/>
              <a:pPr>
                <a:spcBef>
                  <a:spcPct val="0"/>
                </a:spcBef>
              </a:pPr>
              <a:t>1</a:t>
            </a:fld>
            <a:endParaRPr lang="en-US" altLang="en-US" dirty="0"/>
          </a:p>
        </p:txBody>
      </p:sp>
    </p:spTree>
    <p:extLst>
      <p:ext uri="{BB962C8B-B14F-4D97-AF65-F5344CB8AC3E}">
        <p14:creationId xmlns:p14="http://schemas.microsoft.com/office/powerpoint/2010/main" val="1908878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63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63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8C9DB44-4E6E-CA4C-B316-5E4BB15610F3}" type="slidenum">
              <a:rPr lang="en-US" altLang="en-US"/>
              <a:pPr>
                <a:spcBef>
                  <a:spcPct val="0"/>
                </a:spcBef>
              </a:pPr>
              <a:t>2</a:t>
            </a:fld>
            <a:endParaRPr lang="en-US" altLang="en-US" dirty="0"/>
          </a:p>
        </p:txBody>
      </p:sp>
    </p:spTree>
    <p:extLst>
      <p:ext uri="{BB962C8B-B14F-4D97-AF65-F5344CB8AC3E}">
        <p14:creationId xmlns:p14="http://schemas.microsoft.com/office/powerpoint/2010/main" val="1267469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COLUMBUS AND CABRAL ESTABLISHED SPANISH AND PORTUGUESE CLAIMS TO MUCH OF THE NEW WORLD</a:t>
            </a:r>
            <a:r>
              <a:rPr lang="en-US" dirty="0"/>
              <a:t>. This early engraving by Theodor de </a:t>
            </a:r>
            <a:r>
              <a:rPr lang="en-US" dirty="0" err="1"/>
              <a:t>Bry</a:t>
            </a:r>
            <a:r>
              <a:rPr lang="en-US" dirty="0"/>
              <a:t> shows how these momentous encounters were pictured in Europe, where the nakedness of the indigenous people attracted great interest, suggesting comparisons with the biblical Garden of Eden. </a:t>
            </a:r>
            <a:r>
              <a:rPr lang="en-US" i="1" dirty="0"/>
              <a:t>The Granger Collection, New York.</a:t>
            </a:r>
          </a:p>
        </p:txBody>
      </p:sp>
      <p:sp>
        <p:nvSpPr>
          <p:cNvPr id="4" name="Slide Number Placeholder 3"/>
          <p:cNvSpPr>
            <a:spLocks noGrp="1"/>
          </p:cNvSpPr>
          <p:nvPr>
            <p:ph type="sldNum" sz="quarter" idx="10"/>
          </p:nvPr>
        </p:nvSpPr>
        <p:spPr/>
        <p:txBody>
          <a:bodyPr/>
          <a:lstStyle/>
          <a:p>
            <a:fld id="{C9CDF101-C185-844F-9839-0B79CB8E1A4A}" type="slidenum">
              <a:rPr lang="en-US" smtClean="0"/>
              <a:pPr/>
              <a:t>3</a:t>
            </a:fld>
            <a:endParaRPr lang="en-US"/>
          </a:p>
        </p:txBody>
      </p:sp>
    </p:spTree>
    <p:extLst>
      <p:ext uri="{BB962C8B-B14F-4D97-AF65-F5344CB8AC3E}">
        <p14:creationId xmlns:p14="http://schemas.microsoft.com/office/powerpoint/2010/main" val="199267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84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84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C549597-1E79-084A-BA32-8A101A0CA159}" type="slidenum">
              <a:rPr lang="en-US" altLang="en-US"/>
              <a:pPr>
                <a:spcBef>
                  <a:spcPct val="0"/>
                </a:spcBef>
              </a:pPr>
              <a:t>4</a:t>
            </a:fld>
            <a:endParaRPr lang="en-US" altLang="en-US" dirty="0"/>
          </a:p>
        </p:txBody>
      </p:sp>
    </p:spTree>
    <p:extLst>
      <p:ext uri="{BB962C8B-B14F-4D97-AF65-F5344CB8AC3E}">
        <p14:creationId xmlns:p14="http://schemas.microsoft.com/office/powerpoint/2010/main" val="1473524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04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04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10CCE250-BFAB-544D-A334-330DFEF3C24B}" type="slidenum">
              <a:rPr lang="en-US" altLang="en-US"/>
              <a:pPr>
                <a:spcBef>
                  <a:spcPct val="0"/>
                </a:spcBef>
              </a:pPr>
              <a:t>5</a:t>
            </a:fld>
            <a:endParaRPr lang="en-US" altLang="en-US" dirty="0"/>
          </a:p>
        </p:txBody>
      </p:sp>
    </p:spTree>
    <p:extLst>
      <p:ext uri="{BB962C8B-B14F-4D97-AF65-F5344CB8AC3E}">
        <p14:creationId xmlns:p14="http://schemas.microsoft.com/office/powerpoint/2010/main" val="748972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25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25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D25EB79D-AF73-DD48-A5B1-38930DC9A589}" type="slidenum">
              <a:rPr lang="en-US" altLang="en-US"/>
              <a:pPr>
                <a:spcBef>
                  <a:spcPct val="0"/>
                </a:spcBef>
              </a:pPr>
              <a:t>6</a:t>
            </a:fld>
            <a:endParaRPr lang="en-US" altLang="en-US" dirty="0"/>
          </a:p>
        </p:txBody>
      </p:sp>
    </p:spTree>
    <p:extLst>
      <p:ext uri="{BB962C8B-B14F-4D97-AF65-F5344CB8AC3E}">
        <p14:creationId xmlns:p14="http://schemas.microsoft.com/office/powerpoint/2010/main" val="1570933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4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45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8C3BB5E5-5487-9442-9670-45BBE069C10A}" type="slidenum">
              <a:rPr lang="en-US" altLang="en-US"/>
              <a:pPr>
                <a:spcBef>
                  <a:spcPct val="0"/>
                </a:spcBef>
              </a:pPr>
              <a:t>7</a:t>
            </a:fld>
            <a:endParaRPr lang="en-US" altLang="en-US" dirty="0"/>
          </a:p>
        </p:txBody>
      </p:sp>
    </p:spTree>
    <p:extLst>
      <p:ext uri="{BB962C8B-B14F-4D97-AF65-F5344CB8AC3E}">
        <p14:creationId xmlns:p14="http://schemas.microsoft.com/office/powerpoint/2010/main" val="1520588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66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662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9F4357BF-6594-484C-BDF9-99D21AF4602B}" type="slidenum">
              <a:rPr lang="en-US" altLang="en-US"/>
              <a:pPr>
                <a:spcBef>
                  <a:spcPct val="0"/>
                </a:spcBef>
              </a:pPr>
              <a:t>8</a:t>
            </a:fld>
            <a:endParaRPr lang="en-US" altLang="en-US" dirty="0"/>
          </a:p>
        </p:txBody>
      </p:sp>
    </p:spTree>
    <p:extLst>
      <p:ext uri="{BB962C8B-B14F-4D97-AF65-F5344CB8AC3E}">
        <p14:creationId xmlns:p14="http://schemas.microsoft.com/office/powerpoint/2010/main" val="1474713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8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86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042F850-9EBD-1446-935D-14A44CC6C1BA}" type="slidenum">
              <a:rPr lang="en-US" altLang="en-US"/>
              <a:pPr>
                <a:spcBef>
                  <a:spcPct val="0"/>
                </a:spcBef>
              </a:pPr>
              <a:t>9</a:t>
            </a:fld>
            <a:endParaRPr lang="en-US" altLang="en-US" dirty="0"/>
          </a:p>
        </p:txBody>
      </p:sp>
    </p:spTree>
    <p:extLst>
      <p:ext uri="{BB962C8B-B14F-4D97-AF65-F5344CB8AC3E}">
        <p14:creationId xmlns:p14="http://schemas.microsoft.com/office/powerpoint/2010/main" val="1400419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07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07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C10B651-7CDC-594B-8137-7D7C3602B5BD}" type="slidenum">
              <a:rPr lang="en-US" altLang="en-US"/>
              <a:pPr>
                <a:spcBef>
                  <a:spcPct val="0"/>
                </a:spcBef>
              </a:pPr>
              <a:t>10</a:t>
            </a:fld>
            <a:endParaRPr lang="en-US" altLang="en-US" dirty="0"/>
          </a:p>
        </p:txBody>
      </p:sp>
    </p:spTree>
    <p:extLst>
      <p:ext uri="{BB962C8B-B14F-4D97-AF65-F5344CB8AC3E}">
        <p14:creationId xmlns:p14="http://schemas.microsoft.com/office/powerpoint/2010/main" val="428437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27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27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A9008AC-5809-B845-87BC-6AE78A46B8C5}" type="slidenum">
              <a:rPr lang="en-US" altLang="en-US"/>
              <a:pPr>
                <a:spcBef>
                  <a:spcPct val="0"/>
                </a:spcBef>
              </a:pPr>
              <a:t>11</a:t>
            </a:fld>
            <a:endParaRPr lang="en-US" altLang="en-US" dirty="0"/>
          </a:p>
        </p:txBody>
      </p:sp>
    </p:spTree>
    <p:extLst>
      <p:ext uri="{BB962C8B-B14F-4D97-AF65-F5344CB8AC3E}">
        <p14:creationId xmlns:p14="http://schemas.microsoft.com/office/powerpoint/2010/main" val="238528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48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8AEE93A-6799-E842-9736-862893CB3F3D}" type="slidenum">
              <a:rPr lang="en-US" altLang="en-US"/>
              <a:pPr>
                <a:spcBef>
                  <a:spcPct val="0"/>
                </a:spcBef>
              </a:pPr>
              <a:t>12</a:t>
            </a:fld>
            <a:endParaRPr lang="en-US" altLang="en-US" dirty="0"/>
          </a:p>
        </p:txBody>
      </p:sp>
    </p:spTree>
    <p:extLst>
      <p:ext uri="{BB962C8B-B14F-4D97-AF65-F5344CB8AC3E}">
        <p14:creationId xmlns:p14="http://schemas.microsoft.com/office/powerpoint/2010/main" val="17456612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773AD8CE-3C0D-A649-951F-0DA268A48FD2}" type="slidenum">
              <a:rPr lang="en-US" altLang="en-US"/>
              <a:pPr>
                <a:spcBef>
                  <a:spcPct val="0"/>
                </a:spcBef>
              </a:pPr>
              <a:t>13</a:t>
            </a:fld>
            <a:endParaRPr lang="en-US" altLang="en-US" dirty="0"/>
          </a:p>
        </p:txBody>
      </p:sp>
    </p:spTree>
    <p:extLst>
      <p:ext uri="{BB962C8B-B14F-4D97-AF65-F5344CB8AC3E}">
        <p14:creationId xmlns:p14="http://schemas.microsoft.com/office/powerpoint/2010/main" val="4076148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89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9FE4F1E-6E55-B74E-948F-BC7419C26F81}" type="slidenum">
              <a:rPr lang="en-US" altLang="en-US"/>
              <a:pPr>
                <a:spcBef>
                  <a:spcPct val="0"/>
                </a:spcBef>
              </a:pPr>
              <a:t>14</a:t>
            </a:fld>
            <a:endParaRPr lang="en-US" altLang="en-US" dirty="0"/>
          </a:p>
        </p:txBody>
      </p:sp>
    </p:spTree>
    <p:extLst>
      <p:ext uri="{BB962C8B-B14F-4D97-AF65-F5344CB8AC3E}">
        <p14:creationId xmlns:p14="http://schemas.microsoft.com/office/powerpoint/2010/main" val="3103533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09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60AEA11-CF08-FD4F-B726-811C8DB834F5}" type="slidenum">
              <a:rPr lang="en-US" altLang="en-US"/>
              <a:pPr>
                <a:spcBef>
                  <a:spcPct val="0"/>
                </a:spcBef>
              </a:pPr>
              <a:t>15</a:t>
            </a:fld>
            <a:endParaRPr lang="en-US" altLang="en-US" dirty="0"/>
          </a:p>
        </p:txBody>
      </p:sp>
    </p:spTree>
    <p:extLst>
      <p:ext uri="{BB962C8B-B14F-4D97-AF65-F5344CB8AC3E}">
        <p14:creationId xmlns:p14="http://schemas.microsoft.com/office/powerpoint/2010/main" val="20190972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3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301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8936CFE2-ABCD-1B44-92A2-0CC5C7378F3E}" type="slidenum">
              <a:rPr lang="en-US" altLang="en-US"/>
              <a:pPr>
                <a:spcBef>
                  <a:spcPct val="0"/>
                </a:spcBef>
              </a:pPr>
              <a:t>16</a:t>
            </a:fld>
            <a:endParaRPr lang="en-US" altLang="en-US" dirty="0"/>
          </a:p>
        </p:txBody>
      </p:sp>
    </p:spTree>
    <p:extLst>
      <p:ext uri="{BB962C8B-B14F-4D97-AF65-F5344CB8AC3E}">
        <p14:creationId xmlns:p14="http://schemas.microsoft.com/office/powerpoint/2010/main" val="430050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INDIGENOUS GROUPS AND IBERIAN INVASIONS.</a:t>
            </a:r>
          </a:p>
        </p:txBody>
      </p:sp>
      <p:sp>
        <p:nvSpPr>
          <p:cNvPr id="4" name="Slide Number Placeholder 3"/>
          <p:cNvSpPr>
            <a:spLocks noGrp="1"/>
          </p:cNvSpPr>
          <p:nvPr>
            <p:ph type="sldNum" sz="quarter" idx="10"/>
          </p:nvPr>
        </p:nvSpPr>
        <p:spPr/>
        <p:txBody>
          <a:bodyPr/>
          <a:lstStyle/>
          <a:p>
            <a:fld id="{C9CDF101-C185-844F-9839-0B79CB8E1A4A}" type="slidenum">
              <a:rPr lang="en-US" smtClean="0"/>
              <a:pPr/>
              <a:t>17</a:t>
            </a:fld>
            <a:endParaRPr lang="en-US"/>
          </a:p>
        </p:txBody>
      </p:sp>
    </p:spTree>
    <p:extLst>
      <p:ext uri="{BB962C8B-B14F-4D97-AF65-F5344CB8AC3E}">
        <p14:creationId xmlns:p14="http://schemas.microsoft.com/office/powerpoint/2010/main" val="414177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5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505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3F979CC-0DD8-5845-8F56-E80DBB1C1B79}" type="slidenum">
              <a:rPr lang="en-US" altLang="en-US"/>
              <a:pPr>
                <a:spcBef>
                  <a:spcPct val="0"/>
                </a:spcBef>
              </a:pPr>
              <a:t>18</a:t>
            </a:fld>
            <a:endParaRPr lang="en-US" altLang="en-US" dirty="0"/>
          </a:p>
        </p:txBody>
      </p:sp>
    </p:spTree>
    <p:extLst>
      <p:ext uri="{BB962C8B-B14F-4D97-AF65-F5344CB8AC3E}">
        <p14:creationId xmlns:p14="http://schemas.microsoft.com/office/powerpoint/2010/main" val="15763821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71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71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5B7E161E-95D8-B44E-BA84-51CE253F7545}" type="slidenum">
              <a:rPr lang="en-US" altLang="en-US"/>
              <a:pPr>
                <a:spcBef>
                  <a:spcPct val="0"/>
                </a:spcBef>
              </a:pPr>
              <a:t>19</a:t>
            </a:fld>
            <a:endParaRPr lang="en-US" altLang="en-US" dirty="0"/>
          </a:p>
        </p:txBody>
      </p:sp>
    </p:spTree>
    <p:extLst>
      <p:ext uri="{BB962C8B-B14F-4D97-AF65-F5344CB8AC3E}">
        <p14:creationId xmlns:p14="http://schemas.microsoft.com/office/powerpoint/2010/main" val="7496638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915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D691F110-1D67-6D48-869D-A66C93735DB3}" type="slidenum">
              <a:rPr lang="en-US" altLang="en-US"/>
              <a:pPr>
                <a:spcBef>
                  <a:spcPct val="0"/>
                </a:spcBef>
              </a:pPr>
              <a:t>20</a:t>
            </a:fld>
            <a:endParaRPr lang="en-US" altLang="en-US" dirty="0"/>
          </a:p>
        </p:txBody>
      </p:sp>
    </p:spTree>
    <p:extLst>
      <p:ext uri="{BB962C8B-B14F-4D97-AF65-F5344CB8AC3E}">
        <p14:creationId xmlns:p14="http://schemas.microsoft.com/office/powerpoint/2010/main" val="3141061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120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120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091ABAB-FE91-EA4B-8909-004586241FDE}" type="slidenum">
              <a:rPr lang="en-US" altLang="en-US"/>
              <a:pPr>
                <a:spcBef>
                  <a:spcPct val="0"/>
                </a:spcBef>
              </a:pPr>
              <a:t>21</a:t>
            </a:fld>
            <a:endParaRPr lang="en-US" altLang="en-US" dirty="0"/>
          </a:p>
        </p:txBody>
      </p:sp>
    </p:spTree>
    <p:extLst>
      <p:ext uri="{BB962C8B-B14F-4D97-AF65-F5344CB8AC3E}">
        <p14:creationId xmlns:p14="http://schemas.microsoft.com/office/powerpoint/2010/main" val="6671074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32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32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98C81CD-4211-D845-9EBF-2FEFA60197EA}" type="slidenum">
              <a:rPr lang="en-US" altLang="en-US"/>
              <a:pPr>
                <a:spcBef>
                  <a:spcPct val="0"/>
                </a:spcBef>
              </a:pPr>
              <a:t>22</a:t>
            </a:fld>
            <a:endParaRPr lang="en-US" altLang="en-US" dirty="0"/>
          </a:p>
        </p:txBody>
      </p:sp>
    </p:spTree>
    <p:extLst>
      <p:ext uri="{BB962C8B-B14F-4D97-AF65-F5344CB8AC3E}">
        <p14:creationId xmlns:p14="http://schemas.microsoft.com/office/powerpoint/2010/main" val="62976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52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529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9CC0A09-2E44-F042-A3EA-9670C367D13B}" type="slidenum">
              <a:rPr lang="en-US" altLang="en-US"/>
              <a:pPr>
                <a:spcBef>
                  <a:spcPct val="0"/>
                </a:spcBef>
              </a:pPr>
              <a:t>23</a:t>
            </a:fld>
            <a:endParaRPr lang="en-US" altLang="en-US" dirty="0"/>
          </a:p>
        </p:txBody>
      </p:sp>
    </p:spTree>
    <p:extLst>
      <p:ext uri="{BB962C8B-B14F-4D97-AF65-F5344CB8AC3E}">
        <p14:creationId xmlns:p14="http://schemas.microsoft.com/office/powerpoint/2010/main" val="18763499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73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73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A202DE4-6DF3-E444-A499-7082F531BBFE}" type="slidenum">
              <a:rPr lang="en-US" altLang="en-US"/>
              <a:pPr>
                <a:spcBef>
                  <a:spcPct val="0"/>
                </a:spcBef>
              </a:pPr>
              <a:t>24</a:t>
            </a:fld>
            <a:endParaRPr lang="en-US" altLang="en-US" dirty="0"/>
          </a:p>
        </p:txBody>
      </p:sp>
    </p:spTree>
    <p:extLst>
      <p:ext uri="{BB962C8B-B14F-4D97-AF65-F5344CB8AC3E}">
        <p14:creationId xmlns:p14="http://schemas.microsoft.com/office/powerpoint/2010/main" val="163542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93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93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EE0F721-C094-554E-AF6F-1C425BDF56F5}" type="slidenum">
              <a:rPr lang="en-US" altLang="en-US"/>
              <a:pPr>
                <a:spcBef>
                  <a:spcPct val="0"/>
                </a:spcBef>
              </a:pPr>
              <a:t>25</a:t>
            </a:fld>
            <a:endParaRPr lang="en-US" altLang="en-US" dirty="0"/>
          </a:p>
        </p:txBody>
      </p:sp>
    </p:spTree>
    <p:extLst>
      <p:ext uri="{BB962C8B-B14F-4D97-AF65-F5344CB8AC3E}">
        <p14:creationId xmlns:p14="http://schemas.microsoft.com/office/powerpoint/2010/main" val="21362465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14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614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86F85A70-F42B-5549-83DB-04E20F9AC9A0}" type="slidenum">
              <a:rPr lang="en-US" altLang="en-US"/>
              <a:pPr>
                <a:spcBef>
                  <a:spcPct val="0"/>
                </a:spcBef>
              </a:pPr>
              <a:t>26</a:t>
            </a:fld>
            <a:endParaRPr lang="en-US" altLang="en-US" dirty="0"/>
          </a:p>
        </p:txBody>
      </p:sp>
    </p:spTree>
    <p:extLst>
      <p:ext uri="{BB962C8B-B14F-4D97-AF65-F5344CB8AC3E}">
        <p14:creationId xmlns:p14="http://schemas.microsoft.com/office/powerpoint/2010/main" val="1159993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34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6349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359E038-1F80-2C46-AF3B-FF93A9D7AFCB}" type="slidenum">
              <a:rPr lang="en-US" altLang="en-US"/>
              <a:pPr>
                <a:spcBef>
                  <a:spcPct val="0"/>
                </a:spcBef>
              </a:pPr>
              <a:t>27</a:t>
            </a:fld>
            <a:endParaRPr lang="en-US" altLang="en-US" dirty="0"/>
          </a:p>
        </p:txBody>
      </p:sp>
    </p:spTree>
    <p:extLst>
      <p:ext uri="{BB962C8B-B14F-4D97-AF65-F5344CB8AC3E}">
        <p14:creationId xmlns:p14="http://schemas.microsoft.com/office/powerpoint/2010/main" val="18338614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55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A7B54E92-148F-EC4D-83A1-27C6E7BEDD11}" type="slidenum">
              <a:rPr lang="en-US" altLang="en-US"/>
              <a:pPr>
                <a:spcBef>
                  <a:spcPct val="0"/>
                </a:spcBef>
              </a:pPr>
              <a:t>28</a:t>
            </a:fld>
            <a:endParaRPr lang="en-US" altLang="en-US" dirty="0"/>
          </a:p>
        </p:txBody>
      </p:sp>
    </p:spTree>
    <p:extLst>
      <p:ext uri="{BB962C8B-B14F-4D97-AF65-F5344CB8AC3E}">
        <p14:creationId xmlns:p14="http://schemas.microsoft.com/office/powerpoint/2010/main" val="10234161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75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675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9F87ED0E-C59B-4A45-9928-70F584426169}" type="slidenum">
              <a:rPr lang="en-US" altLang="en-US"/>
              <a:pPr>
                <a:spcBef>
                  <a:spcPct val="0"/>
                </a:spcBef>
              </a:pPr>
              <a:t>29</a:t>
            </a:fld>
            <a:endParaRPr lang="en-US" altLang="en-US" dirty="0"/>
          </a:p>
        </p:txBody>
      </p:sp>
    </p:spTree>
    <p:extLst>
      <p:ext uri="{BB962C8B-B14F-4D97-AF65-F5344CB8AC3E}">
        <p14:creationId xmlns:p14="http://schemas.microsoft.com/office/powerpoint/2010/main" val="13583008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96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696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D2D9D24-B6A0-DA44-9DB0-0B794BD4BC63}" type="slidenum">
              <a:rPr lang="en-US" altLang="en-US"/>
              <a:pPr>
                <a:spcBef>
                  <a:spcPct val="0"/>
                </a:spcBef>
              </a:pPr>
              <a:t>30</a:t>
            </a:fld>
            <a:endParaRPr lang="en-US" altLang="en-US" dirty="0"/>
          </a:p>
        </p:txBody>
      </p:sp>
    </p:spTree>
    <p:extLst>
      <p:ext uri="{BB962C8B-B14F-4D97-AF65-F5344CB8AC3E}">
        <p14:creationId xmlns:p14="http://schemas.microsoft.com/office/powerpoint/2010/main" val="12113696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16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716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42A7B768-5A7D-7040-97F2-67253621359C}" type="slidenum">
              <a:rPr lang="en-US" altLang="en-US"/>
              <a:pPr>
                <a:spcBef>
                  <a:spcPct val="0"/>
                </a:spcBef>
              </a:pPr>
              <a:t>31</a:t>
            </a:fld>
            <a:endParaRPr lang="en-US" altLang="en-US" dirty="0"/>
          </a:p>
        </p:txBody>
      </p:sp>
    </p:spTree>
    <p:extLst>
      <p:ext uri="{BB962C8B-B14F-4D97-AF65-F5344CB8AC3E}">
        <p14:creationId xmlns:p14="http://schemas.microsoft.com/office/powerpoint/2010/main" val="13439440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37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737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DD74D732-60C4-7F4E-8CCD-F2E79BEC237C}" type="slidenum">
              <a:rPr lang="en-US" altLang="en-US"/>
              <a:pPr>
                <a:spcBef>
                  <a:spcPct val="0"/>
                </a:spcBef>
              </a:pPr>
              <a:t>32</a:t>
            </a:fld>
            <a:endParaRPr lang="en-US" altLang="en-US" dirty="0"/>
          </a:p>
        </p:txBody>
      </p:sp>
    </p:spTree>
    <p:extLst>
      <p:ext uri="{BB962C8B-B14F-4D97-AF65-F5344CB8AC3E}">
        <p14:creationId xmlns:p14="http://schemas.microsoft.com/office/powerpoint/2010/main" val="4348340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57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757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7A0E9AD-4F56-C446-A519-AB7FA1F67CE9}" type="slidenum">
              <a:rPr lang="en-US" altLang="en-US"/>
              <a:pPr>
                <a:spcBef>
                  <a:spcPct val="0"/>
                </a:spcBef>
              </a:pPr>
              <a:t>33</a:t>
            </a:fld>
            <a:endParaRPr lang="en-US" altLang="en-US" dirty="0"/>
          </a:p>
        </p:txBody>
      </p:sp>
    </p:spTree>
    <p:extLst>
      <p:ext uri="{BB962C8B-B14F-4D97-AF65-F5344CB8AC3E}">
        <p14:creationId xmlns:p14="http://schemas.microsoft.com/office/powerpoint/2010/main" val="369548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74CEA08-9955-AD43-8093-B42BFEFC7399}" type="datetime1">
              <a:rPr lang="en-US" altLang="en-US"/>
              <a:pPr>
                <a:defRPr/>
              </a:pPr>
              <a:t>5/8/2025</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15AE5DE-1F7C-2F44-B2E7-C805405503D7}" type="slidenum">
              <a:rPr lang="en-US" altLang="en-US"/>
              <a:pPr>
                <a:defRPr/>
              </a:pPr>
              <a:t>‹Nº›</a:t>
            </a:fld>
            <a:endParaRPr lang="en-US" altLang="en-US" dirty="0"/>
          </a:p>
        </p:txBody>
      </p:sp>
    </p:spTree>
    <p:extLst>
      <p:ext uri="{BB962C8B-B14F-4D97-AF65-F5344CB8AC3E}">
        <p14:creationId xmlns:p14="http://schemas.microsoft.com/office/powerpoint/2010/main" val="91674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baseline="0">
                <a:solidFill>
                  <a:schemeClr val="accent2">
                    <a:lumMod val="75000"/>
                  </a:schemeClr>
                </a:solidFill>
                <a:latin typeface="Arial"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indent="0">
              <a:buFont typeface="Wingdings" pitchFamily="2" charset="2"/>
              <a:buNone/>
              <a:defRPr/>
            </a:lvl1pPr>
            <a:lvl2pPr>
              <a:defRPr>
                <a:solidFill>
                  <a:schemeClr val="accent2">
                    <a:lumMod val="75000"/>
                  </a:schemeClr>
                </a:solidFill>
              </a:defRPr>
            </a:lvl2pPr>
            <a:lvl4pPr>
              <a:defRPr>
                <a:solidFill>
                  <a:schemeClr val="accent6">
                    <a:lumMod val="50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2477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D2931C6-57B8-F949-84D5-9A64B5246FD9}" type="datetime1">
              <a:rPr lang="en-US" altLang="en-US"/>
              <a:pPr>
                <a:defRPr/>
              </a:pPr>
              <a:t>5/8/2025</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75092A8-8C66-854F-9214-D3FB2224470C}" type="slidenum">
              <a:rPr lang="en-US" altLang="en-US"/>
              <a:pPr>
                <a:defRPr/>
              </a:pPr>
              <a:t>‹Nº›</a:t>
            </a:fld>
            <a:endParaRPr lang="en-US" altLang="en-US" dirty="0"/>
          </a:p>
        </p:txBody>
      </p:sp>
    </p:spTree>
    <p:extLst>
      <p:ext uri="{BB962C8B-B14F-4D97-AF65-F5344CB8AC3E}">
        <p14:creationId xmlns:p14="http://schemas.microsoft.com/office/powerpoint/2010/main" val="1727700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BA162A1-E013-2A4F-A367-78F523A1BB07}" type="datetime1">
              <a:rPr lang="en-US" altLang="en-US"/>
              <a:pPr>
                <a:defRPr/>
              </a:pPr>
              <a:t>5/8/2025</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D4B5076C-4875-E240-B5D6-7AD4203B741E}" type="slidenum">
              <a:rPr lang="en-US" altLang="en-US"/>
              <a:pPr>
                <a:defRPr/>
              </a:pPr>
              <a:t>‹Nº›</a:t>
            </a:fld>
            <a:endParaRPr lang="en-US" altLang="en-US" dirty="0"/>
          </a:p>
        </p:txBody>
      </p:sp>
    </p:spTree>
    <p:extLst>
      <p:ext uri="{BB962C8B-B14F-4D97-AF65-F5344CB8AC3E}">
        <p14:creationId xmlns:p14="http://schemas.microsoft.com/office/powerpoint/2010/main" val="1330618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92ECA5A8-41AC-0B47-8D8D-F4C6A8C41424}" type="datetime1">
              <a:rPr lang="en-US" altLang="en-US"/>
              <a:pPr>
                <a:defRPr/>
              </a:pPr>
              <a:t>5/8/2025</a:t>
            </a:fld>
            <a:endParaRPr lang="en-US" alt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A01AE6EF-3A0C-7344-8D53-C57115127131}" type="slidenum">
              <a:rPr lang="en-US" altLang="en-US"/>
              <a:pPr>
                <a:defRPr/>
              </a:pPr>
              <a:t>‹Nº›</a:t>
            </a:fld>
            <a:endParaRPr lang="en-US" altLang="en-US" dirty="0"/>
          </a:p>
        </p:txBody>
      </p:sp>
    </p:spTree>
    <p:extLst>
      <p:ext uri="{BB962C8B-B14F-4D97-AF65-F5344CB8AC3E}">
        <p14:creationId xmlns:p14="http://schemas.microsoft.com/office/powerpoint/2010/main" val="1953005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6305D81E-CDF3-6F44-BDA8-EC63BAD74F00}" type="datetime1">
              <a:rPr lang="en-US" altLang="en-US"/>
              <a:pPr>
                <a:defRPr/>
              </a:pPr>
              <a:t>5/8/2025</a:t>
            </a:fld>
            <a:endParaRPr lang="en-US" alt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3C6CDFAC-2278-C44B-B472-3C13DD3F0E2F}" type="slidenum">
              <a:rPr lang="en-US" altLang="en-US"/>
              <a:pPr>
                <a:defRPr/>
              </a:pPr>
              <a:t>‹Nº›</a:t>
            </a:fld>
            <a:endParaRPr lang="en-US" altLang="en-US" dirty="0"/>
          </a:p>
        </p:txBody>
      </p:sp>
    </p:spTree>
    <p:extLst>
      <p:ext uri="{BB962C8B-B14F-4D97-AF65-F5344CB8AC3E}">
        <p14:creationId xmlns:p14="http://schemas.microsoft.com/office/powerpoint/2010/main" val="2025814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D2AE6FF-E954-C34A-AADB-F02B4FFC0699}" type="datetime1">
              <a:rPr lang="en-US" altLang="en-US"/>
              <a:pPr>
                <a:defRPr/>
              </a:pPr>
              <a:t>5/8/2025</a:t>
            </a:fld>
            <a:endParaRPr lang="en-US" alt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97894A55-FEBF-D045-AB58-D0A0EA79E271}" type="slidenum">
              <a:rPr lang="en-US" altLang="en-US"/>
              <a:pPr>
                <a:defRPr/>
              </a:pPr>
              <a:t>‹Nº›</a:t>
            </a:fld>
            <a:endParaRPr lang="en-US" altLang="en-US" dirty="0"/>
          </a:p>
        </p:txBody>
      </p:sp>
    </p:spTree>
    <p:extLst>
      <p:ext uri="{BB962C8B-B14F-4D97-AF65-F5344CB8AC3E}">
        <p14:creationId xmlns:p14="http://schemas.microsoft.com/office/powerpoint/2010/main" val="1663049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08E4B75-74DE-BE4F-9F86-365C917249FC}" type="datetime1">
              <a:rPr lang="en-US" altLang="en-US"/>
              <a:pPr>
                <a:defRPr/>
              </a:pPr>
              <a:t>5/8/2025</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251E109-E141-EF4B-B1BF-A9B974FE13CD}" type="slidenum">
              <a:rPr lang="en-US" altLang="en-US"/>
              <a:pPr>
                <a:defRPr/>
              </a:pPr>
              <a:t>‹Nº›</a:t>
            </a:fld>
            <a:endParaRPr lang="en-US" altLang="en-US" dirty="0"/>
          </a:p>
        </p:txBody>
      </p:sp>
    </p:spTree>
    <p:extLst>
      <p:ext uri="{BB962C8B-B14F-4D97-AF65-F5344CB8AC3E}">
        <p14:creationId xmlns:p14="http://schemas.microsoft.com/office/powerpoint/2010/main" val="1372121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0641837-46D5-604E-8426-9F4975C7CB0B}" type="datetime1">
              <a:rPr lang="en-US" altLang="en-US"/>
              <a:pPr>
                <a:defRPr/>
              </a:pPr>
              <a:t>5/8/2025</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4D5E17D-ACDB-1E44-873E-24B02E002CA6}" type="slidenum">
              <a:rPr lang="en-US" altLang="en-US"/>
              <a:pPr>
                <a:defRPr/>
              </a:pPr>
              <a:t>‹Nº›</a:t>
            </a:fld>
            <a:endParaRPr lang="en-US" altLang="en-US" dirty="0"/>
          </a:p>
        </p:txBody>
      </p:sp>
    </p:spTree>
    <p:extLst>
      <p:ext uri="{BB962C8B-B14F-4D97-AF65-F5344CB8AC3E}">
        <p14:creationId xmlns:p14="http://schemas.microsoft.com/office/powerpoint/2010/main" val="1560127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D601094-349F-DE45-B100-CE4D5EF57ED0}" type="datetime1">
              <a:rPr lang="en-US" altLang="en-US"/>
              <a:pPr>
                <a:defRPr/>
              </a:pPr>
              <a:t>5/8/2025</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5227342-124A-344E-A294-C8B10D732703}" type="slidenum">
              <a:rPr lang="en-US" altLang="en-US"/>
              <a:pPr>
                <a:defRPr/>
              </a:pPr>
              <a:t>‹Nº›</a:t>
            </a:fld>
            <a:endParaRPr lang="en-US" altLang="en-US" dirty="0"/>
          </a:p>
        </p:txBody>
      </p:sp>
    </p:spTree>
    <p:extLst>
      <p:ext uri="{BB962C8B-B14F-4D97-AF65-F5344CB8AC3E}">
        <p14:creationId xmlns:p14="http://schemas.microsoft.com/office/powerpoint/2010/main" val="294251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FD97DFD-DA1F-C74F-BA16-BBEB0BDAA5FB}" type="datetime1">
              <a:rPr lang="en-US" altLang="en-US"/>
              <a:pPr>
                <a:defRPr/>
              </a:pPr>
              <a:t>5/8/2025</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FA550B2-B136-A74C-B153-3D712785BC59}" type="slidenum">
              <a:rPr lang="en-US" altLang="en-US"/>
              <a:pPr>
                <a:defRPr/>
              </a:pPr>
              <a:t>‹Nº›</a:t>
            </a:fld>
            <a:endParaRPr lang="en-US" altLang="en-US" dirty="0"/>
          </a:p>
        </p:txBody>
      </p:sp>
    </p:spTree>
    <p:extLst>
      <p:ext uri="{BB962C8B-B14F-4D97-AF65-F5344CB8AC3E}">
        <p14:creationId xmlns:p14="http://schemas.microsoft.com/office/powerpoint/2010/main" val="1982916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smtClean="0">
                <a:solidFill>
                  <a:srgbClr val="898989"/>
                </a:solidFill>
              </a:defRPr>
            </a:lvl1pPr>
          </a:lstStyle>
          <a:p>
            <a:pPr>
              <a:defRPr/>
            </a:pPr>
            <a:fld id="{613DF1DA-6147-6944-BBD0-C7566465E699}" type="datetime1">
              <a:rPr lang="en-US" altLang="en-US"/>
              <a:pPr>
                <a:defRPr/>
              </a:pPr>
              <a:t>5/8/2025</a:t>
            </a:fld>
            <a:endParaRPr lang="en-US" alt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0100C30D-4E3B-DD4E-B16C-0C834A51A20D}" type="slidenum">
              <a:rPr lang="en-US" altLang="en-US"/>
              <a:pPr>
                <a:defRPr/>
              </a:pPr>
              <a:t>‹Nº›</a:t>
            </a:fld>
            <a:endParaRPr lang="en-US" altLang="en-US" dirty="0"/>
          </a:p>
        </p:txBody>
      </p:sp>
    </p:spTree>
  </p:cSld>
  <p:clrMap bg1="lt1" tx1="dk1" bg2="lt2" tx2="dk2" accent1="accent1" accent2="accent2" accent3="accent3" accent4="accent4" accent5="accent5" accent6="accent6" hlink="hlink" folHlink="folHlink"/>
  <p:sldLayoutIdLst>
    <p:sldLayoutId id="2147483805" r:id="rId1"/>
    <p:sldLayoutId id="214748381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Georgia"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Georgia"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Georgia"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Georgia" charset="0"/>
          <a:ea typeface="ＭＳ Ｐゴシック" charset="-128"/>
          <a:cs typeface="ＭＳ Ｐゴシック" charset="-128"/>
        </a:defRPr>
      </a:lvl5pPr>
      <a:lvl6pPr marL="457200" algn="ctr" rtl="0" fontAlgn="base">
        <a:spcBef>
          <a:spcPct val="0"/>
        </a:spcBef>
        <a:spcAft>
          <a:spcPct val="0"/>
        </a:spcAft>
        <a:defRPr sz="4400">
          <a:solidFill>
            <a:schemeClr val="tx1"/>
          </a:solidFill>
          <a:latin typeface="Arial Black" pitchFamily="34" charset="0"/>
        </a:defRPr>
      </a:lvl6pPr>
      <a:lvl7pPr marL="914400" algn="ctr" rtl="0" fontAlgn="base">
        <a:spcBef>
          <a:spcPct val="0"/>
        </a:spcBef>
        <a:spcAft>
          <a:spcPct val="0"/>
        </a:spcAft>
        <a:defRPr sz="4400">
          <a:solidFill>
            <a:schemeClr val="tx1"/>
          </a:solidFill>
          <a:latin typeface="Arial Black" pitchFamily="34" charset="0"/>
        </a:defRPr>
      </a:lvl7pPr>
      <a:lvl8pPr marL="1371600" algn="ctr" rtl="0" fontAlgn="base">
        <a:spcBef>
          <a:spcPct val="0"/>
        </a:spcBef>
        <a:spcAft>
          <a:spcPct val="0"/>
        </a:spcAft>
        <a:defRPr sz="4400">
          <a:solidFill>
            <a:schemeClr val="tx1"/>
          </a:solidFill>
          <a:latin typeface="Arial Black" pitchFamily="34" charset="0"/>
        </a:defRPr>
      </a:lvl8pPr>
      <a:lvl9pPr marL="1828800" algn="ctr" rtl="0" fontAlgn="base">
        <a:spcBef>
          <a:spcPct val="0"/>
        </a:spcBef>
        <a:spcAft>
          <a:spcPct val="0"/>
        </a:spcAft>
        <a:defRPr sz="4400">
          <a:solidFill>
            <a:schemeClr val="tx1"/>
          </a:solidFill>
          <a:latin typeface="Arial Black" pitchFamily="34" charset="0"/>
        </a:defRPr>
      </a:lvl9pPr>
    </p:titleStyle>
    <p:body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5" descr="Cover: Born in Blood and Fire, A concise history of Latin America, by John Charles Chasteen. The cover image shows a crowded place with people doing various activities and a few guards with weapons."/>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4559300" y="0"/>
            <a:ext cx="4584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2431D351-4D8B-97D3-0470-250B14CD402B}"/>
              </a:ext>
            </a:extLst>
          </p:cNvPr>
          <p:cNvSpPr>
            <a:spLocks noGrp="1"/>
          </p:cNvSpPr>
          <p:nvPr>
            <p:ph type="ctrTitle"/>
          </p:nvPr>
        </p:nvSpPr>
        <p:spPr>
          <a:xfrm>
            <a:off x="381000" y="714375"/>
            <a:ext cx="3981450" cy="1571625"/>
          </a:xfrm>
        </p:spPr>
        <p:txBody>
          <a:bodyPr/>
          <a:lstStyle/>
          <a:p>
            <a:pPr eaLnBrk="1" hangingPunct="1"/>
            <a:r>
              <a:rPr lang="en-US" altLang="en-US" sz="2800" b="1" dirty="0">
                <a:latin typeface="Times New Roman" charset="0"/>
                <a:ea typeface="Times New Roman" charset="0"/>
                <a:cs typeface="Times New Roman" charset="0"/>
              </a:rPr>
              <a:t>Born in Blood &amp; Fire</a:t>
            </a:r>
            <a:br>
              <a:rPr lang="en-US" altLang="en-US" sz="2800" b="1"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A Concise History of Latin America</a:t>
            </a:r>
            <a:br>
              <a:rPr lang="en-US" altLang="en-US" sz="2000"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5</a:t>
            </a:r>
            <a:r>
              <a:rPr lang="en-US" altLang="en-US" sz="2000" baseline="30000" dirty="0">
                <a:latin typeface="Times New Roman" charset="0"/>
                <a:ea typeface="Times New Roman" charset="0"/>
                <a:cs typeface="Times New Roman" charset="0"/>
              </a:rPr>
              <a:t>th</a:t>
            </a:r>
            <a:r>
              <a:rPr lang="en-US" altLang="en-US" sz="2000" dirty="0">
                <a:latin typeface="Times New Roman" charset="0"/>
                <a:ea typeface="Times New Roman" charset="0"/>
                <a:cs typeface="Times New Roman" charset="0"/>
              </a:rPr>
              <a:t> Edition</a:t>
            </a:r>
            <a:endParaRPr lang="en-US" altLang="en-US" sz="2800" dirty="0">
              <a:latin typeface="Times New Roman" charset="0"/>
              <a:ea typeface="Times New Roman" charset="0"/>
              <a:cs typeface="Times New Roman" charset="0"/>
            </a:endParaRPr>
          </a:p>
        </p:txBody>
      </p:sp>
      <p:sp>
        <p:nvSpPr>
          <p:cNvPr id="5" name="Text Placeholder 9">
            <a:extLst>
              <a:ext uri="{FF2B5EF4-FFF2-40B4-BE49-F238E27FC236}">
                <a16:creationId xmlns:a16="http://schemas.microsoft.com/office/drawing/2014/main" id="{24E880E0-A6AE-2542-BD8F-D7BB61D4E455}"/>
              </a:ext>
            </a:extLst>
          </p:cNvPr>
          <p:cNvSpPr txBox="1">
            <a:spLocks/>
          </p:cNvSpPr>
          <p:nvPr/>
        </p:nvSpPr>
        <p:spPr bwMode="auto">
          <a:xfrm>
            <a:off x="867569" y="2286000"/>
            <a:ext cx="3008312" cy="385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r>
              <a:rPr lang="en-US" altLang="en-US" sz="1800" dirty="0">
                <a:latin typeface="Times New Roman" charset="0"/>
                <a:ea typeface="Times New Roman" charset="0"/>
                <a:cs typeface="Times New Roman" charset="0"/>
              </a:rPr>
              <a:t>By</a:t>
            </a:r>
          </a:p>
          <a:p>
            <a:pPr marL="0" indent="0" algn="ctr" eaLnBrk="1" hangingPunct="1"/>
            <a:r>
              <a:rPr lang="en-US" altLang="en-US" sz="1800" dirty="0">
                <a:latin typeface="Times New Roman" charset="0"/>
                <a:ea typeface="Times New Roman" charset="0"/>
                <a:cs typeface="Times New Roman" charset="0"/>
              </a:rPr>
              <a:t>John Charles Chasteen</a:t>
            </a:r>
          </a:p>
          <a:p>
            <a:pPr marL="0" indent="0" algn="ctr" eaLnBrk="1" hangingPunct="1"/>
            <a:endParaRPr lang="en-US" altLang="en-US" dirty="0">
              <a:latin typeface="Times New Roman" charset="0"/>
              <a:ea typeface="Times New Roman" charset="0"/>
              <a:cs typeface="Times New Roman" charset="0"/>
            </a:endParaRPr>
          </a:p>
          <a:p>
            <a:pPr marL="0" indent="0" algn="ctr" eaLnBrk="1" hangingPunct="1"/>
            <a:r>
              <a:rPr lang="en-US" altLang="en-US" dirty="0">
                <a:latin typeface="Times New Roman" charset="0"/>
                <a:ea typeface="Times New Roman" charset="0"/>
                <a:cs typeface="Times New Roman" charset="0"/>
              </a:rPr>
              <a:t>Chapter 2:</a:t>
            </a:r>
          </a:p>
          <a:p>
            <a:pPr marL="0" indent="0" algn="ctr" eaLnBrk="1" hangingPunct="1"/>
            <a:r>
              <a:rPr lang="en-US" altLang="en-US" dirty="0">
                <a:latin typeface="Times New Roman" charset="0"/>
                <a:ea typeface="Times New Roman" charset="0"/>
                <a:cs typeface="Times New Roman" charset="0"/>
              </a:rPr>
              <a:t>Encounter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rtlCol="0">
            <a:normAutofit/>
          </a:bodyPr>
          <a:lstStyle/>
          <a:p>
            <a:pPr eaLnBrk="1" fontAlgn="auto" hangingPunct="1">
              <a:spcAft>
                <a:spcPts val="0"/>
              </a:spcAft>
              <a:defRPr/>
            </a:pPr>
            <a:r>
              <a:rPr lang="en-US" sz="2800" dirty="0">
                <a:latin typeface="Times New Roman" charset="0"/>
                <a:ea typeface="Times New Roman" charset="0"/>
                <a:cs typeface="Times New Roman" charset="0"/>
              </a:rPr>
              <a:t>Indigenous Americans, Europeans, and Africans</a:t>
            </a:r>
          </a:p>
          <a:p>
            <a:pPr lvl="1" eaLnBrk="1" fontAlgn="auto" hangingPunct="1">
              <a:spcAft>
                <a:spcPts val="0"/>
              </a:spcAft>
              <a:buFont typeface="Arial" pitchFamily="34" charset="0"/>
              <a:buChar char="•"/>
              <a:defRPr/>
            </a:pPr>
            <a:r>
              <a:rPr lang="en-US" dirty="0">
                <a:latin typeface="Times New Roman" charset="0"/>
                <a:ea typeface="Times New Roman" charset="0"/>
                <a:cs typeface="Times New Roman" charset="0"/>
              </a:rPr>
              <a:t>Encounter shaped by:</a:t>
            </a:r>
          </a:p>
          <a:p>
            <a:pPr lvl="2" eaLnBrk="1" fontAlgn="auto" hangingPunct="1">
              <a:spcAft>
                <a:spcPts val="0"/>
              </a:spcAft>
              <a:buFont typeface="Arial" pitchFamily="34" charset="0"/>
              <a:buChar char="−"/>
              <a:defRPr/>
            </a:pPr>
            <a:r>
              <a:rPr lang="en-US" dirty="0">
                <a:latin typeface="Times New Roman" charset="0"/>
                <a:ea typeface="Times New Roman" charset="0"/>
                <a:cs typeface="Times New Roman" charset="0"/>
              </a:rPr>
              <a:t>Religion</a:t>
            </a:r>
          </a:p>
          <a:p>
            <a:pPr lvl="2" eaLnBrk="1" fontAlgn="auto" hangingPunct="1">
              <a:spcAft>
                <a:spcPts val="0"/>
              </a:spcAft>
              <a:buFont typeface="Arial" pitchFamily="34" charset="0"/>
              <a:buChar char="−"/>
              <a:defRPr/>
            </a:pPr>
            <a:r>
              <a:rPr lang="en-US" dirty="0">
                <a:latin typeface="Times New Roman" charset="0"/>
                <a:ea typeface="Times New Roman" charset="0"/>
                <a:cs typeface="Times New Roman" charset="0"/>
              </a:rPr>
              <a:t>Geography</a:t>
            </a:r>
          </a:p>
          <a:p>
            <a:pPr lvl="2" eaLnBrk="1" fontAlgn="auto" hangingPunct="1">
              <a:spcAft>
                <a:spcPts val="0"/>
              </a:spcAft>
              <a:buFont typeface="Arial" pitchFamily="34" charset="0"/>
              <a:buChar char="−"/>
              <a:defRPr/>
            </a:pPr>
            <a:r>
              <a:rPr lang="en-US" dirty="0">
                <a:latin typeface="Times New Roman" charset="0"/>
                <a:ea typeface="Times New Roman" charset="0"/>
                <a:cs typeface="Times New Roman" charset="0"/>
              </a:rPr>
              <a:t>Culture</a:t>
            </a:r>
          </a:p>
        </p:txBody>
      </p:sp>
      <p:sp>
        <p:nvSpPr>
          <p:cNvPr id="3" name="Title 6">
            <a:extLst>
              <a:ext uri="{FF2B5EF4-FFF2-40B4-BE49-F238E27FC236}">
                <a16:creationId xmlns:a16="http://schemas.microsoft.com/office/drawing/2014/main" id="{8A5E34D0-428D-EB05-8421-C3801D91E297}"/>
              </a:ext>
            </a:extLst>
          </p:cNvPr>
          <p:cNvSpPr>
            <a:spLocks noGrp="1"/>
          </p:cNvSpPr>
          <p:nvPr>
            <p:ph type="title"/>
          </p:nvPr>
        </p:nvSpPr>
        <p:spPr>
          <a:xfrm>
            <a:off x="457200" y="274638"/>
            <a:ext cx="8229600" cy="1143000"/>
          </a:xfrm>
        </p:spPr>
        <p:txBody>
          <a:bodyPr rtlCol="0">
            <a:normAutofit/>
          </a:bodyPr>
          <a:lstStyle/>
          <a:p>
            <a:pPr eaLnBrk="1" fontAlgn="auto" hangingPunct="1">
              <a:spcAft>
                <a:spcPts val="0"/>
              </a:spcAft>
              <a:defRPr/>
            </a:pPr>
            <a:r>
              <a:rPr lang="en-US" dirty="0">
                <a:latin typeface="Times New Roman" charset="0"/>
                <a:ea typeface="Times New Roman" charset="0"/>
                <a:cs typeface="Times New Roman" charset="0"/>
              </a:rPr>
              <a:t>Encounter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ainting of nude men carrying bows and arrows and gifts of fish in canoes while approaching a ship of men in colorful European clothing."/>
          <p:cNvPicPr>
            <a:picLocks noChangeAspect="1"/>
          </p:cNvPicPr>
          <p:nvPr/>
        </p:nvPicPr>
        <p:blipFill>
          <a:blip r:embed="rId3">
            <a:extLst>
              <a:ext uri="{28A0092B-C50C-407E-A947-70E740481C1C}">
                <a14:useLocalDpi xmlns:a14="http://schemas.microsoft.com/office/drawing/2010/main" val="0"/>
              </a:ext>
            </a:extLst>
          </a:blip>
          <a:srcRect/>
          <a:stretch/>
        </p:blipFill>
        <p:spPr>
          <a:xfrm>
            <a:off x="1066219" y="914400"/>
            <a:ext cx="7011561" cy="5512713"/>
          </a:xfrm>
          <a:prstGeom prst="rect">
            <a:avLst/>
          </a:prstGeom>
        </p:spPr>
      </p:pic>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4" name="Title 3"/>
          <p:cNvSpPr>
            <a:spLocks noGrp="1"/>
          </p:cNvSpPr>
          <p:nvPr>
            <p:ph type="title"/>
          </p:nvPr>
        </p:nvSpPr>
        <p:spPr>
          <a:xfrm>
            <a:off x="457200" y="0"/>
            <a:ext cx="8229600" cy="1143000"/>
          </a:xfrm>
        </p:spPr>
        <p:txBody>
          <a:bodyPr/>
          <a:lstStyle/>
          <a:p>
            <a:r>
              <a:rPr lang="en-US" sz="4000" dirty="0">
                <a:latin typeface="Times New Roman" charset="0"/>
                <a:ea typeface="Times New Roman" charset="0"/>
                <a:cs typeface="Times New Roman" charset="0"/>
              </a:rPr>
              <a:t>Columbus and Cabral</a:t>
            </a:r>
          </a:p>
        </p:txBody>
      </p:sp>
    </p:spTree>
    <p:extLst>
      <p:ext uri="{BB962C8B-B14F-4D97-AF65-F5344CB8AC3E}">
        <p14:creationId xmlns:p14="http://schemas.microsoft.com/office/powerpoint/2010/main" val="714647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rtlCol="0">
            <a:normAutofit/>
          </a:bodyPr>
          <a:lstStyle/>
          <a:p>
            <a:pPr eaLnBrk="1" fontAlgn="auto" hangingPunct="1">
              <a:spcAft>
                <a:spcPts val="0"/>
              </a:spcAft>
              <a:defRPr/>
            </a:pPr>
            <a:r>
              <a:rPr lang="en-US" dirty="0">
                <a:latin typeface="Times New Roman" charset="0"/>
                <a:ea typeface="Times New Roman" charset="0"/>
                <a:cs typeface="Times New Roman" charset="0"/>
              </a:rPr>
              <a:t>Forms of Social Organization</a:t>
            </a:r>
          </a:p>
        </p:txBody>
      </p:sp>
      <p:sp>
        <p:nvSpPr>
          <p:cNvPr id="17410" name="Content Placeholder 2"/>
          <p:cNvSpPr>
            <a:spLocks noGrp="1"/>
          </p:cNvSpPr>
          <p:nvPr>
            <p:ph idx="1"/>
          </p:nvPr>
        </p:nvSpPr>
        <p:spPr/>
        <p:txBody>
          <a:bodyPr/>
          <a:lstStyle/>
          <a:p>
            <a:pPr marL="342900" lvl="1" indent="0" eaLnBrk="1" hangingPunct="1">
              <a:buNone/>
            </a:pPr>
            <a:r>
              <a:rPr lang="en-US" altLang="en-US" dirty="0" err="1">
                <a:solidFill>
                  <a:schemeClr val="tx1"/>
                </a:solidFill>
                <a:latin typeface="Times New Roman" charset="0"/>
                <a:ea typeface="Times New Roman" charset="0"/>
                <a:cs typeface="Times New Roman" charset="0"/>
              </a:rPr>
              <a:t>Nonsedentary</a:t>
            </a:r>
            <a:r>
              <a:rPr lang="en-US" altLang="en-US" dirty="0">
                <a:solidFill>
                  <a:schemeClr val="tx1"/>
                </a:solidFill>
                <a:latin typeface="Times New Roman" charset="0"/>
                <a:ea typeface="Times New Roman" charset="0"/>
                <a:cs typeface="Times New Roman" charset="0"/>
              </a:rPr>
              <a:t> peoples</a:t>
            </a:r>
          </a:p>
          <a:p>
            <a:pPr lvl="2" eaLnBrk="1" hangingPunct="1">
              <a:buFont typeface="Arial" pitchFamily="34" charset="0"/>
              <a:buChar char="•"/>
            </a:pPr>
            <a:r>
              <a:rPr lang="en-US" altLang="en-US" sz="2800" dirty="0">
                <a:latin typeface="Times New Roman" charset="0"/>
                <a:ea typeface="Times New Roman" charset="0"/>
                <a:cs typeface="Times New Roman" charset="0"/>
              </a:rPr>
              <a:t>Mobile communities</a:t>
            </a:r>
          </a:p>
          <a:p>
            <a:pPr lvl="2" eaLnBrk="1" hangingPunct="1">
              <a:buFont typeface="Arial" pitchFamily="34" charset="0"/>
              <a:buChar char="•"/>
            </a:pPr>
            <a:r>
              <a:rPr lang="en-US" altLang="en-US" sz="2800" dirty="0">
                <a:latin typeface="Times New Roman" charset="0"/>
                <a:ea typeface="Times New Roman" charset="0"/>
                <a:cs typeface="Times New Roman" charset="0"/>
              </a:rPr>
              <a:t>Hunters and gatherers</a:t>
            </a:r>
          </a:p>
          <a:p>
            <a:pPr lvl="2" eaLnBrk="1" hangingPunct="1">
              <a:buFont typeface="Arial" pitchFamily="34" charset="0"/>
              <a:buChar char="•"/>
            </a:pPr>
            <a:r>
              <a:rPr lang="en-US" altLang="en-US" sz="2800" dirty="0">
                <a:latin typeface="Times New Roman" charset="0"/>
                <a:ea typeface="Times New Roman" charset="0"/>
                <a:cs typeface="Times New Roman" charset="0"/>
              </a:rPr>
              <a:t>Relatively simple</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dirty="0">
                <a:latin typeface="Times New Roman" charset="0"/>
                <a:ea typeface="Times New Roman" charset="0"/>
                <a:cs typeface="Times New Roman" charset="0"/>
              </a:rPr>
              <a:t>Semisedentary Peoples</a:t>
            </a:r>
          </a:p>
        </p:txBody>
      </p:sp>
      <p:sp>
        <p:nvSpPr>
          <p:cNvPr id="19458" name="Content Placeholder 2"/>
          <p:cNvSpPr>
            <a:spLocks noGrp="1"/>
          </p:cNvSpPr>
          <p:nvPr>
            <p:ph idx="1"/>
          </p:nvPr>
        </p:nvSpPr>
        <p:spPr/>
        <p:txBody>
          <a:bodyPr/>
          <a:lstStyle/>
          <a:p>
            <a:pPr lvl="1" eaLnBrk="1" hangingPunct="1">
              <a:defRPr/>
            </a:pPr>
            <a:r>
              <a:rPr lang="en-US" altLang="en-US" dirty="0">
                <a:latin typeface="Times New Roman" charset="0"/>
                <a:ea typeface="Times New Roman" charset="0"/>
                <a:cs typeface="Times New Roman" charset="0"/>
              </a:rPr>
              <a:t>Often lived in forests</a:t>
            </a:r>
          </a:p>
          <a:p>
            <a:pPr lvl="1" eaLnBrk="1" hangingPunct="1">
              <a:defRPr/>
            </a:pPr>
            <a:r>
              <a:rPr lang="en-US" altLang="en-US" dirty="0">
                <a:latin typeface="Times New Roman" charset="0"/>
                <a:ea typeface="Times New Roman" charset="0"/>
                <a:cs typeface="Times New Roman" charset="0"/>
              </a:rPr>
              <a:t>Relied on agriculture and hunting</a:t>
            </a:r>
          </a:p>
          <a:p>
            <a:pPr lvl="1" eaLnBrk="1" hangingPunct="1">
              <a:defRPr/>
            </a:pPr>
            <a:r>
              <a:rPr lang="en-US" altLang="en-US" dirty="0">
                <a:latin typeface="Times New Roman" charset="0"/>
                <a:ea typeface="Times New Roman" charset="0"/>
                <a:cs typeface="Times New Roman" charset="0"/>
              </a:rPr>
              <a:t>Built villages, but moved frequently</a:t>
            </a:r>
          </a:p>
          <a:p>
            <a:pPr lvl="1" eaLnBrk="1" hangingPunct="1">
              <a:defRPr/>
            </a:pPr>
            <a:r>
              <a:rPr lang="ja-JP" altLang="en-US" dirty="0">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Shifting cultivation</a:t>
            </a:r>
            <a:r>
              <a:rPr lang="ja-JP" altLang="en-US" dirty="0">
                <a:latin typeface="Times New Roman" charset="0"/>
                <a:ea typeface="Times New Roman" charset="0"/>
                <a:cs typeface="Times New Roman" charset="0"/>
              </a:rPr>
              <a:t>”</a:t>
            </a:r>
            <a:endParaRPr lang="en-US" altLang="ja-JP" dirty="0">
              <a:latin typeface="Times New Roman" charset="0"/>
              <a:ea typeface="Times New Roman" charset="0"/>
              <a:cs typeface="Times New Roman"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dirty="0">
                <a:latin typeface="Times New Roman" charset="0"/>
                <a:ea typeface="Times New Roman" charset="0"/>
                <a:cs typeface="Times New Roman" charset="0"/>
              </a:rPr>
              <a:t>Fully Sedentary Peoples</a:t>
            </a:r>
          </a:p>
        </p:txBody>
      </p:sp>
      <p:sp>
        <p:nvSpPr>
          <p:cNvPr id="21506" name="Content Placeholder 2"/>
          <p:cNvSpPr>
            <a:spLocks noGrp="1"/>
          </p:cNvSpPr>
          <p:nvPr>
            <p:ph idx="1"/>
          </p:nvPr>
        </p:nvSpPr>
        <p:spPr/>
        <p:txBody>
          <a:bodyPr/>
          <a:lstStyle/>
          <a:p>
            <a:pPr marL="800100" indent="-457200" eaLnBrk="1" hangingPunct="1">
              <a:buFont typeface="Arial" charset="0"/>
              <a:buChar char="•"/>
            </a:pPr>
            <a:r>
              <a:rPr lang="en-US" altLang="en-US" sz="2800" dirty="0">
                <a:latin typeface="Times New Roman" charset="0"/>
                <a:ea typeface="Times New Roman" charset="0"/>
                <a:cs typeface="Times New Roman" charset="0"/>
              </a:rPr>
              <a:t>Permanent settlements</a:t>
            </a:r>
          </a:p>
          <a:p>
            <a:pPr marL="800100" indent="-457200" eaLnBrk="1" hangingPunct="1">
              <a:buFont typeface="Arial" charset="0"/>
              <a:buChar char="•"/>
            </a:pPr>
            <a:r>
              <a:rPr lang="en-US" altLang="en-US" sz="2800" dirty="0">
                <a:latin typeface="Times New Roman" charset="0"/>
                <a:ea typeface="Times New Roman" charset="0"/>
                <a:cs typeface="Times New Roman" charset="0"/>
              </a:rPr>
              <a:t>Settled on high plateaus</a:t>
            </a:r>
          </a:p>
          <a:p>
            <a:pPr marL="800100" indent="-457200" eaLnBrk="1" hangingPunct="1">
              <a:buFont typeface="Arial" charset="0"/>
              <a:buChar char="•"/>
            </a:pPr>
            <a:r>
              <a:rPr lang="en-US" altLang="en-US" sz="2800" dirty="0">
                <a:latin typeface="Times New Roman" charset="0"/>
                <a:ea typeface="Times New Roman" charset="0"/>
                <a:cs typeface="Times New Roman" charset="0"/>
              </a:rPr>
              <a:t>Stability allowed for complex societies</a:t>
            </a:r>
          </a:p>
          <a:p>
            <a:pPr marL="800100" indent="-457200" eaLnBrk="1" hangingPunct="1">
              <a:buFont typeface="Arial" charset="0"/>
              <a:buChar char="•"/>
            </a:pPr>
            <a:r>
              <a:rPr lang="en-US" altLang="en-US" sz="2800" dirty="0">
                <a:latin typeface="Times New Roman" charset="0"/>
                <a:ea typeface="Times New Roman" charset="0"/>
                <a:cs typeface="Times New Roman" charset="0"/>
              </a:rPr>
              <a:t>Used irrigation</a:t>
            </a:r>
          </a:p>
          <a:p>
            <a:pPr marL="800100" indent="-457200" eaLnBrk="1" hangingPunct="1">
              <a:buFont typeface="Arial" charset="0"/>
              <a:buChar char="•"/>
            </a:pPr>
            <a:r>
              <a:rPr lang="en-US" altLang="en-US" sz="2800" dirty="0">
                <a:latin typeface="Times New Roman" charset="0"/>
                <a:ea typeface="Times New Roman" charset="0"/>
                <a:cs typeface="Times New Roman" charset="0"/>
              </a:rPr>
              <a:t>City-states or empires</a:t>
            </a:r>
          </a:p>
          <a:p>
            <a:pPr marL="800100" indent="-457200" eaLnBrk="1" hangingPunct="1">
              <a:buFont typeface="Arial" charset="0"/>
              <a:buChar char="•"/>
            </a:pPr>
            <a:r>
              <a:rPr lang="en-US" altLang="en-US" sz="2800" dirty="0">
                <a:latin typeface="Times New Roman" charset="0"/>
                <a:ea typeface="Times New Roman" charset="0"/>
                <a:cs typeface="Times New Roman" charset="0"/>
              </a:rPr>
              <a:t>Highly stratified</a:t>
            </a:r>
          </a:p>
          <a:p>
            <a:pPr marL="800100" indent="-457200" eaLnBrk="1" hangingPunct="1">
              <a:buFont typeface="Arial" charset="0"/>
              <a:buChar char="•"/>
            </a:pPr>
            <a:r>
              <a:rPr lang="en-US" altLang="en-US" sz="2800" dirty="0">
                <a:latin typeface="Times New Roman" charset="0"/>
                <a:ea typeface="Times New Roman" charset="0"/>
                <a:cs typeface="Times New Roman" charset="0"/>
              </a:rPr>
              <a:t>Examples: Aztec, Inca, Maya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a:xfrm>
            <a:off x="0" y="274638"/>
            <a:ext cx="9144000" cy="1143000"/>
          </a:xfrm>
        </p:spPr>
        <p:txBody>
          <a:bodyPr/>
          <a:lstStyle/>
          <a:p>
            <a:pPr marL="342900" indent="-342900" eaLnBrk="1" hangingPunct="1"/>
            <a:r>
              <a:rPr lang="en-US" altLang="en-US" dirty="0">
                <a:solidFill>
                  <a:schemeClr val="tx1"/>
                </a:solidFill>
                <a:latin typeface="Times New Roman" charset="0"/>
                <a:ea typeface="Times New Roman" charset="0"/>
                <a:cs typeface="Times New Roman" charset="0"/>
              </a:rPr>
              <a:t>Aztec Empire</a:t>
            </a:r>
          </a:p>
        </p:txBody>
      </p:sp>
      <p:sp>
        <p:nvSpPr>
          <p:cNvPr id="23554" name="Content Placeholder 2"/>
          <p:cNvSpPr>
            <a:spLocks noGrp="1"/>
          </p:cNvSpPr>
          <p:nvPr>
            <p:ph idx="1"/>
          </p:nvPr>
        </p:nvSpPr>
        <p:spPr>
          <a:xfrm>
            <a:off x="0" y="1600200"/>
            <a:ext cx="4343400" cy="4525963"/>
          </a:xfrm>
        </p:spPr>
        <p:txBody>
          <a:bodyPr/>
          <a:lstStyle/>
          <a:p>
            <a:pPr lvl="1" eaLnBrk="1" hangingPunct="1"/>
            <a:r>
              <a:rPr lang="en-US" altLang="en-US" dirty="0">
                <a:solidFill>
                  <a:schemeClr val="tx1"/>
                </a:solidFill>
                <a:latin typeface="Times New Roman" charset="0"/>
                <a:ea typeface="Times New Roman" charset="0"/>
                <a:cs typeface="Times New Roman" charset="0"/>
              </a:rPr>
              <a:t>Refers to empire, not people</a:t>
            </a:r>
          </a:p>
          <a:p>
            <a:pPr lvl="1" eaLnBrk="1" hangingPunct="1"/>
            <a:r>
              <a:rPr lang="en-US" altLang="en-US" dirty="0">
                <a:solidFill>
                  <a:schemeClr val="tx1"/>
                </a:solidFill>
                <a:latin typeface="Times New Roman" charset="0"/>
                <a:ea typeface="Times New Roman" charset="0"/>
                <a:cs typeface="Times New Roman" charset="0"/>
              </a:rPr>
              <a:t>In modern-day Mexico</a:t>
            </a:r>
          </a:p>
          <a:p>
            <a:pPr lvl="1" eaLnBrk="1" hangingPunct="1"/>
            <a:r>
              <a:rPr lang="en-US" altLang="en-US" dirty="0">
                <a:solidFill>
                  <a:schemeClr val="tx1"/>
                </a:solidFill>
                <a:latin typeface="Times New Roman" charset="0"/>
                <a:ea typeface="Times New Roman" charset="0"/>
                <a:cs typeface="Times New Roman" charset="0"/>
              </a:rPr>
              <a:t>Ruled by Mexican people</a:t>
            </a:r>
          </a:p>
          <a:p>
            <a:pPr lvl="1" eaLnBrk="1" hangingPunct="1"/>
            <a:r>
              <a:rPr lang="en-US" altLang="en-US" dirty="0">
                <a:solidFill>
                  <a:schemeClr val="tx1"/>
                </a:solidFill>
                <a:latin typeface="Times New Roman" charset="0"/>
                <a:ea typeface="Times New Roman" charset="0"/>
                <a:cs typeface="Times New Roman" charset="0"/>
              </a:rPr>
              <a:t>Nahuatl-speaking </a:t>
            </a:r>
          </a:p>
          <a:p>
            <a:pPr lvl="1" eaLnBrk="1" hangingPunct="1"/>
            <a:r>
              <a:rPr lang="en-US" altLang="en-US" dirty="0">
                <a:solidFill>
                  <a:schemeClr val="tx1"/>
                </a:solidFill>
                <a:latin typeface="Times New Roman" charset="0"/>
                <a:ea typeface="Times New Roman" charset="0"/>
                <a:cs typeface="Times New Roman" charset="0"/>
              </a:rPr>
              <a:t>Tenochtitlan – capital city </a:t>
            </a:r>
          </a:p>
          <a:p>
            <a:pPr lvl="1" eaLnBrk="1" hangingPunct="1"/>
            <a:endParaRPr lang="en-US" altLang="en-US" dirty="0">
              <a:solidFill>
                <a:schemeClr val="tx1"/>
              </a:solidFill>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pic>
        <p:nvPicPr>
          <p:cNvPr id="2" name="Imagen 1">
            <a:extLst>
              <a:ext uri="{FF2B5EF4-FFF2-40B4-BE49-F238E27FC236}">
                <a16:creationId xmlns:a16="http://schemas.microsoft.com/office/drawing/2014/main" id="{5B082E3B-B94A-3D93-3DC6-049F7662CC0C}"/>
              </a:ext>
            </a:extLst>
          </p:cNvPr>
          <p:cNvPicPr>
            <a:picLocks noChangeAspect="1"/>
          </p:cNvPicPr>
          <p:nvPr/>
        </p:nvPicPr>
        <p:blipFill>
          <a:blip r:embed="rId3"/>
          <a:stretch>
            <a:fillRect/>
          </a:stretch>
        </p:blipFill>
        <p:spPr>
          <a:xfrm>
            <a:off x="4495800" y="1219200"/>
            <a:ext cx="4499238" cy="547468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0" y="274638"/>
            <a:ext cx="9144000" cy="1143000"/>
          </a:xfrm>
        </p:spPr>
        <p:txBody>
          <a:bodyPr/>
          <a:lstStyle/>
          <a:p>
            <a:pPr eaLnBrk="1" hangingPunct="1"/>
            <a:r>
              <a:rPr lang="en-US" altLang="en-US" dirty="0">
                <a:solidFill>
                  <a:schemeClr val="tx1"/>
                </a:solidFill>
                <a:latin typeface="Times New Roman" charset="0"/>
                <a:ea typeface="Times New Roman" charset="0"/>
                <a:cs typeface="Times New Roman" charset="0"/>
              </a:rPr>
              <a:t>Inca Empire</a:t>
            </a:r>
          </a:p>
        </p:txBody>
      </p:sp>
      <p:sp>
        <p:nvSpPr>
          <p:cNvPr id="2560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Refers to emperor and empire, not people</a:t>
            </a:r>
          </a:p>
          <a:p>
            <a:pPr lvl="1" eaLnBrk="1" hangingPunct="1"/>
            <a:r>
              <a:rPr lang="en-US" altLang="en-US" dirty="0">
                <a:solidFill>
                  <a:schemeClr val="tx1"/>
                </a:solidFill>
                <a:latin typeface="Times New Roman" charset="0"/>
                <a:ea typeface="Times New Roman" charset="0"/>
                <a:cs typeface="Times New Roman" charset="0"/>
              </a:rPr>
              <a:t>Located in the Andes of South America</a:t>
            </a:r>
          </a:p>
          <a:p>
            <a:pPr lvl="1" eaLnBrk="1" hangingPunct="1"/>
            <a:r>
              <a:rPr lang="en-US" altLang="en-US" dirty="0">
                <a:solidFill>
                  <a:schemeClr val="tx1"/>
                </a:solidFill>
                <a:latin typeface="Times New Roman" charset="0"/>
                <a:ea typeface="Times New Roman" charset="0"/>
                <a:cs typeface="Times New Roman" charset="0"/>
              </a:rPr>
              <a:t>Capital at Cuzco: </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navel of the universe</a:t>
            </a:r>
            <a:r>
              <a:rPr lang="ja-JP" altLang="en-US">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Quechua speakers </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Mayan Empire</a:t>
            </a:r>
          </a:p>
        </p:txBody>
      </p:sp>
      <p:sp>
        <p:nvSpPr>
          <p:cNvPr id="2765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In modern-day Central America</a:t>
            </a:r>
          </a:p>
          <a:p>
            <a:pPr lvl="1" eaLnBrk="1" hangingPunct="1"/>
            <a:r>
              <a:rPr lang="en-US" altLang="en-US" dirty="0">
                <a:solidFill>
                  <a:schemeClr val="tx1"/>
                </a:solidFill>
                <a:latin typeface="Times New Roman" charset="0"/>
                <a:ea typeface="Times New Roman" charset="0"/>
                <a:cs typeface="Times New Roman" charset="0"/>
              </a:rPr>
              <a:t>More decentralized than Aztec or Inca</a:t>
            </a:r>
          </a:p>
          <a:p>
            <a:pPr lvl="1" eaLnBrk="1" hangingPunct="1"/>
            <a:r>
              <a:rPr lang="en-US" altLang="en-US" dirty="0">
                <a:solidFill>
                  <a:schemeClr val="tx1"/>
                </a:solidFill>
                <a:latin typeface="Times New Roman" charset="0"/>
                <a:ea typeface="Times New Roman" charset="0"/>
                <a:cs typeface="Times New Roman" charset="0"/>
              </a:rPr>
              <a:t>Highly advanced art, architecture, and astronomy</a:t>
            </a:r>
          </a:p>
          <a:p>
            <a:pPr lvl="1" eaLnBrk="1" hangingPunct="1"/>
            <a:r>
              <a:rPr lang="en-US" altLang="en-US" dirty="0">
                <a:solidFill>
                  <a:schemeClr val="tx1"/>
                </a:solidFill>
                <a:latin typeface="Times New Roman" charset="0"/>
                <a:ea typeface="Times New Roman" charset="0"/>
                <a:cs typeface="Times New Roman" charset="0"/>
              </a:rPr>
              <a:t>Declined before Europeans arrived </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Origins: Crusading Mentality</a:t>
            </a:r>
          </a:p>
        </p:txBody>
      </p:sp>
      <p:sp>
        <p:nvSpPr>
          <p:cNvPr id="2" name="Content Placeholder 2"/>
          <p:cNvSpPr>
            <a:spLocks noGrp="1"/>
          </p:cNvSpPr>
          <p:nvPr>
            <p:ph idx="1"/>
          </p:nvPr>
        </p:nvSpPr>
        <p:spPr/>
        <p:txBody>
          <a:bodyPr/>
          <a:lstStyle/>
          <a:p>
            <a:pPr marL="400050" lvl="1" indent="-57150" eaLnBrk="1" hangingPunct="1">
              <a:buFont typeface="Arial" charset="0"/>
              <a:buNone/>
              <a:defRPr/>
            </a:pPr>
            <a:r>
              <a:rPr lang="en-US" altLang="en-US" dirty="0">
                <a:solidFill>
                  <a:schemeClr val="tx1"/>
                </a:solidFill>
                <a:latin typeface="Times New Roman" charset="0"/>
                <a:ea typeface="Times New Roman" charset="0"/>
                <a:cs typeface="Times New Roman" charset="0"/>
              </a:rPr>
              <a:t>Iberians: history of conquest and crusade</a:t>
            </a:r>
          </a:p>
          <a:p>
            <a:pPr marL="685800" lvl="1" indent="-342900" eaLnBrk="1" hangingPunct="1">
              <a:defRPr/>
            </a:pPr>
            <a:r>
              <a:rPr lang="en-US" altLang="en-US" dirty="0">
                <a:solidFill>
                  <a:schemeClr val="tx1"/>
                </a:solidFill>
                <a:latin typeface="Times New Roman" panose="02020603050405020304" pitchFamily="18" charset="0"/>
                <a:ea typeface="Times New Roman" charset="0"/>
                <a:cs typeface="Times New Roman" panose="02020603050405020304" pitchFamily="18" charset="0"/>
              </a:rPr>
              <a:t>Iberian Peninsula—Spain and Portugal</a:t>
            </a:r>
          </a:p>
          <a:p>
            <a:pPr marL="685800" lvl="1" indent="-342900" eaLnBrk="1" hangingPunct="1">
              <a:defRPr/>
            </a:pPr>
            <a:r>
              <a:rPr lang="en-US" altLang="en-US" dirty="0">
                <a:solidFill>
                  <a:schemeClr val="tx1"/>
                </a:solidFill>
                <a:latin typeface="Times New Roman" panose="02020603050405020304" pitchFamily="18" charset="0"/>
                <a:ea typeface="Times New Roman" charset="0"/>
                <a:cs typeface="Times New Roman" panose="02020603050405020304" pitchFamily="18" charset="0"/>
              </a:rPr>
              <a:t>Moors (from North Africa)</a:t>
            </a:r>
          </a:p>
          <a:p>
            <a:pPr lvl="2" eaLnBrk="1" hangingPunct="1">
              <a:defRPr/>
            </a:pPr>
            <a:r>
              <a:rPr lang="en-US" altLang="en-US" dirty="0">
                <a:latin typeface="Times New Roman" charset="0"/>
                <a:ea typeface="Times New Roman" charset="0"/>
                <a:cs typeface="Times New Roman" charset="0"/>
              </a:rPr>
              <a:t>Seized peninsula from its former Christian rulers</a:t>
            </a:r>
          </a:p>
          <a:p>
            <a:pPr lvl="2" eaLnBrk="1" hangingPunct="1">
              <a:defRPr/>
            </a:pPr>
            <a:r>
              <a:rPr lang="en-US" altLang="en-US" dirty="0">
                <a:latin typeface="Times New Roman" charset="0"/>
                <a:ea typeface="Times New Roman" charset="0"/>
                <a:cs typeface="Times New Roman" charset="0"/>
              </a:rPr>
              <a:t>Scientific, mathematic, agricultural advancements</a:t>
            </a:r>
          </a:p>
          <a:p>
            <a:pPr lvl="2" eaLnBrk="1" hangingPunct="1">
              <a:defRPr/>
            </a:pPr>
            <a:r>
              <a:rPr lang="en-US" altLang="en-US" dirty="0">
                <a:latin typeface="Times New Roman" charset="0"/>
                <a:ea typeface="Times New Roman" charset="0"/>
                <a:cs typeface="Times New Roman" charset="0"/>
              </a:rPr>
              <a:t>Ruled for more than 800 years </a:t>
            </a:r>
          </a:p>
          <a:p>
            <a:pPr marL="342900" lvl="1" indent="0" eaLnBrk="1" hangingPunct="1">
              <a:defRPr/>
            </a:pPr>
            <a:endParaRPr lang="en-US" altLang="en-US" dirty="0">
              <a:solidFill>
                <a:schemeClr val="tx1"/>
              </a:solidFill>
              <a:latin typeface="Times New Roman" charset="0"/>
              <a:ea typeface="Times New Roman" charset="0"/>
              <a:cs typeface="Times New Roman" charset="0"/>
            </a:endParaRPr>
          </a:p>
          <a:p>
            <a:pPr marL="342900" lvl="1" indent="0" eaLnBrk="1" hangingPunct="1">
              <a:defRPr/>
            </a:pPr>
            <a:endParaRPr lang="en-US" altLang="en-US" dirty="0">
              <a:solidFill>
                <a:schemeClr val="tx1"/>
              </a:solidFill>
              <a:latin typeface="Times New Roman" charset="0"/>
              <a:ea typeface="Times New Roman" charset="0"/>
              <a:cs typeface="Times New Roman" charset="0"/>
            </a:endParaRPr>
          </a:p>
          <a:p>
            <a:pPr marL="342900" lvl="1" indent="0" eaLnBrk="1" hangingPunct="1">
              <a:buFont typeface="Arial" charset="0"/>
              <a:buNone/>
              <a:defRPr/>
            </a:pPr>
            <a:endParaRPr lang="en-US" altLang="en-US" sz="3200" dirty="0">
              <a:solidFill>
                <a:schemeClr val="tx1"/>
              </a:solidFill>
              <a:latin typeface="Times New Roman" charset="0"/>
              <a:ea typeface="Times New Roman" charset="0"/>
              <a:cs typeface="Times New Roman" charset="0"/>
            </a:endParaRPr>
          </a:p>
          <a:p>
            <a:pPr eaLnBrk="1" hangingPunct="1">
              <a:buFont typeface="Wingdings" charset="2"/>
              <a:buNone/>
              <a:defRPr/>
            </a:pPr>
            <a:endParaRPr lang="en-US" altLang="en-US" dirty="0">
              <a:latin typeface="Times New Roman" charset="0"/>
              <a:ea typeface="Times New Roman" charset="0"/>
              <a:cs typeface="Times New Roman"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Reconquest</a:t>
            </a:r>
          </a:p>
        </p:txBody>
      </p:sp>
      <p:sp>
        <p:nvSpPr>
          <p:cNvPr id="31746" name="Content Placeholder 2"/>
          <p:cNvSpPr>
            <a:spLocks noGrp="1"/>
          </p:cNvSpPr>
          <p:nvPr>
            <p:ph idx="1"/>
          </p:nvPr>
        </p:nvSpPr>
        <p:spPr/>
        <p:txBody>
          <a:bodyPr/>
          <a:lstStyle/>
          <a:p>
            <a:pPr lvl="1" eaLnBrk="1" hangingPunct="1">
              <a:buNone/>
            </a:pP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Re-conquest</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of Iberia</a:t>
            </a:r>
          </a:p>
          <a:p>
            <a:pPr marL="1028700" lvl="2" indent="-342900" eaLnBrk="1" hangingPunct="1">
              <a:buFont typeface="Arial" pitchFamily="34" charset="0"/>
              <a:buChar char="•"/>
            </a:pPr>
            <a:r>
              <a:rPr lang="en-US" altLang="en-US" sz="2800" dirty="0">
                <a:latin typeface="Times New Roman" charset="0"/>
                <a:ea typeface="Times New Roman" charset="0"/>
                <a:cs typeface="Times New Roman" charset="0"/>
              </a:rPr>
              <a:t>Christian kingdoms took over territories in Iberia.</a:t>
            </a:r>
          </a:p>
          <a:p>
            <a:pPr marL="1028700" lvl="2" indent="-342900" eaLnBrk="1" hangingPunct="1">
              <a:buFont typeface="Arial" pitchFamily="34" charset="0"/>
              <a:buChar char="•"/>
            </a:pPr>
            <a:r>
              <a:rPr lang="en-US" altLang="en-US" sz="2800" dirty="0">
                <a:latin typeface="Times New Roman" charset="0"/>
                <a:ea typeface="Times New Roman" charset="0"/>
                <a:cs typeface="Times New Roman" charset="0"/>
              </a:rPr>
              <a:t>Subjugated and converted populations</a:t>
            </a:r>
          </a:p>
          <a:p>
            <a:pPr marL="1028700" lvl="2" indent="-342900" eaLnBrk="1" hangingPunct="1">
              <a:buFont typeface="Arial" pitchFamily="34" charset="0"/>
              <a:buChar char="•"/>
            </a:pPr>
            <a:r>
              <a:rPr lang="en-US" altLang="en-US" sz="2800" dirty="0">
                <a:latin typeface="Times New Roman" charset="0"/>
                <a:ea typeface="Times New Roman" charset="0"/>
                <a:cs typeface="Times New Roman" charset="0"/>
              </a:rPr>
              <a:t>Kingdom of Castile </a:t>
            </a:r>
          </a:p>
          <a:p>
            <a:pPr marL="1028700" lvl="2" indent="-342900" eaLnBrk="1" hangingPunct="1">
              <a:buFont typeface="Arial" pitchFamily="34" charset="0"/>
              <a:buChar char="•"/>
            </a:pPr>
            <a:r>
              <a:rPr lang="en-US" altLang="en-US" sz="2800" dirty="0">
                <a:latin typeface="Times New Roman" charset="0"/>
                <a:ea typeface="Times New Roman" charset="0"/>
                <a:cs typeface="Times New Roman" charset="0"/>
              </a:rPr>
              <a:t>Granada fell in 1492, completing conquest of Iberia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Role of Religion</a:t>
            </a:r>
          </a:p>
        </p:txBody>
      </p:sp>
      <p:sp>
        <p:nvSpPr>
          <p:cNvPr id="33794" name="Content Placeholder 2"/>
          <p:cNvSpPr>
            <a:spLocks noGrp="1"/>
          </p:cNvSpPr>
          <p:nvPr>
            <p:ph idx="1"/>
          </p:nvPr>
        </p:nvSpPr>
        <p:spPr>
          <a:xfrm>
            <a:off x="381000" y="1600200"/>
            <a:ext cx="8305800" cy="4525963"/>
          </a:xfrm>
        </p:spPr>
        <p:txBody>
          <a:bodyPr/>
          <a:lstStyle/>
          <a:p>
            <a:pPr eaLnBrk="1" hangingPunct="1">
              <a:buFont typeface="Wingdings" charset="2"/>
              <a:buNone/>
            </a:pPr>
            <a:r>
              <a:rPr lang="en-US" altLang="en-US" sz="2800" dirty="0">
                <a:latin typeface="Times New Roman" charset="0"/>
                <a:ea typeface="Times New Roman" charset="0"/>
                <a:cs typeface="Times New Roman" charset="0"/>
              </a:rPr>
              <a:t>Religious foundations of overseas exploration</a:t>
            </a:r>
          </a:p>
          <a:p>
            <a:pPr lvl="1" eaLnBrk="1" hangingPunct="1"/>
            <a:r>
              <a:rPr lang="en-US" altLang="en-US" dirty="0">
                <a:solidFill>
                  <a:schemeClr val="tx1"/>
                </a:solidFill>
                <a:latin typeface="Times New Roman" charset="0"/>
                <a:ea typeface="Times New Roman" charset="0"/>
                <a:cs typeface="Times New Roman" charset="0"/>
              </a:rPr>
              <a:t>Defeat of Moors solidified crusading mentality</a:t>
            </a:r>
          </a:p>
          <a:p>
            <a:pPr lvl="1" eaLnBrk="1" hangingPunct="1"/>
            <a:r>
              <a:rPr lang="en-US" altLang="en-US" dirty="0">
                <a:solidFill>
                  <a:schemeClr val="tx1"/>
                </a:solidFill>
                <a:latin typeface="Times New Roman" charset="0"/>
                <a:ea typeface="Times New Roman" charset="0"/>
                <a:cs typeface="Times New Roman" charset="0"/>
              </a:rPr>
              <a:t>Queen Isabel committed to spreading Catholicism</a:t>
            </a:r>
          </a:p>
          <a:p>
            <a:pPr lvl="1" eaLnBrk="1" hangingPunct="1"/>
            <a:r>
              <a:rPr lang="en-US" altLang="en-US" dirty="0">
                <a:solidFill>
                  <a:schemeClr val="tx1"/>
                </a:solidFill>
                <a:latin typeface="Times New Roman" charset="0"/>
                <a:ea typeface="Times New Roman" charset="0"/>
                <a:cs typeface="Times New Roman" charset="0"/>
              </a:rPr>
              <a:t>Catholic monarchies purged non-Catholics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Early Exploration</a:t>
            </a:r>
          </a:p>
        </p:txBody>
      </p:sp>
      <p:sp>
        <p:nvSpPr>
          <p:cNvPr id="35842"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Portuguese explore West Africa after reconquest.</a:t>
            </a:r>
          </a:p>
          <a:p>
            <a:pPr marL="685800" lvl="1" indent="-342900" eaLnBrk="1" hangingPunct="1"/>
            <a:r>
              <a:rPr lang="en-US" altLang="en-US" dirty="0">
                <a:solidFill>
                  <a:schemeClr val="tx1"/>
                </a:solidFill>
                <a:latin typeface="Times New Roman" charset="0"/>
                <a:ea typeface="Times New Roman" charset="0"/>
                <a:cs typeface="Times New Roman" charset="0"/>
              </a:rPr>
              <a:t>They explore with goal of reaching Asia (the Indies).</a:t>
            </a:r>
          </a:p>
          <a:p>
            <a:pPr marL="685800" lvl="1" indent="-342900" eaLnBrk="1" hangingPunct="1"/>
            <a:r>
              <a:rPr lang="en-US" altLang="en-US" dirty="0">
                <a:solidFill>
                  <a:schemeClr val="tx1"/>
                </a:solidFill>
                <a:latin typeface="Times New Roman" charset="0"/>
                <a:ea typeface="Times New Roman" charset="0"/>
                <a:cs typeface="Times New Roman" charset="0"/>
              </a:rPr>
              <a:t>Queen Isabella bankrolls Columbus expedition.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Brazilian Counterexample</a:t>
            </a:r>
          </a:p>
        </p:txBody>
      </p:sp>
      <p:sp>
        <p:nvSpPr>
          <p:cNvPr id="37890" name="Content Placeholder 2"/>
          <p:cNvSpPr>
            <a:spLocks noGrp="1"/>
          </p:cNvSpPr>
          <p:nvPr>
            <p:ph idx="1"/>
          </p:nvPr>
        </p:nvSpPr>
        <p:spPr>
          <a:xfrm>
            <a:off x="381000" y="1600200"/>
            <a:ext cx="8458200" cy="4525963"/>
          </a:xfrm>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1500: first Portuguese fleet makes landfall in Brazil</a:t>
            </a:r>
          </a:p>
          <a:p>
            <a:pPr lvl="1" eaLnBrk="1" hangingPunct="1"/>
            <a:r>
              <a:rPr lang="en-US" altLang="en-US" dirty="0">
                <a:solidFill>
                  <a:schemeClr val="tx1"/>
                </a:solidFill>
                <a:latin typeface="Times New Roman" charset="0"/>
                <a:ea typeface="Times New Roman" charset="0"/>
                <a:cs typeface="Times New Roman" charset="0"/>
              </a:rPr>
              <a:t>Pedro Alvares Cabral</a:t>
            </a:r>
          </a:p>
          <a:p>
            <a:pPr lvl="1" eaLnBrk="1" hangingPunct="1"/>
            <a:r>
              <a:rPr lang="en-US" altLang="en-US" dirty="0">
                <a:solidFill>
                  <a:schemeClr val="tx1"/>
                </a:solidFill>
                <a:latin typeface="Times New Roman" charset="0"/>
                <a:ea typeface="Times New Roman" charset="0"/>
                <a:cs typeface="Times New Roman" charset="0"/>
              </a:rPr>
              <a:t>Portuguese did not initially see Brazil as an important find.</a:t>
            </a:r>
          </a:p>
          <a:p>
            <a:pPr lvl="2" eaLnBrk="1" hangingPunct="1"/>
            <a:r>
              <a:rPr lang="en-US" altLang="en-US" dirty="0">
                <a:latin typeface="Times New Roman" charset="0"/>
                <a:ea typeface="Times New Roman" charset="0"/>
                <a:cs typeface="Times New Roman" charset="0"/>
              </a:rPr>
              <a:t>Trade routes in Asia and Africa already profitable </a:t>
            </a:r>
          </a:p>
          <a:p>
            <a:pPr lvl="2" eaLnBrk="1" hangingPunct="1"/>
            <a:r>
              <a:rPr lang="en-US" altLang="en-US" dirty="0">
                <a:latin typeface="Times New Roman" charset="0"/>
                <a:ea typeface="Times New Roman" charset="0"/>
                <a:cs typeface="Times New Roman" charset="0"/>
              </a:rPr>
              <a:t>Access to spices, silk, gold, and silver in Asia</a:t>
            </a:r>
          </a:p>
          <a:p>
            <a:pPr marL="342900" lvl="1" indent="0" eaLnBrk="1" hangingPunct="1"/>
            <a:endParaRPr lang="en-US" altLang="en-US" dirty="0">
              <a:solidFill>
                <a:schemeClr val="tx1"/>
              </a:solidFill>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Initial Forays into Brazil</a:t>
            </a:r>
          </a:p>
        </p:txBody>
      </p:sp>
      <p:sp>
        <p:nvSpPr>
          <p:cNvPr id="39938"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Portuguese compared to Garden of Eden</a:t>
            </a:r>
          </a:p>
          <a:p>
            <a:pPr marL="685800" lvl="1" indent="-342900" eaLnBrk="1" hangingPunct="1"/>
            <a:r>
              <a:rPr lang="en-US" altLang="en-US" dirty="0">
                <a:solidFill>
                  <a:schemeClr val="tx1"/>
                </a:solidFill>
                <a:latin typeface="Times New Roman" charset="0"/>
                <a:ea typeface="Times New Roman" charset="0"/>
                <a:cs typeface="Times New Roman" charset="0"/>
              </a:rPr>
              <a:t>Red dye from </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brazilwood</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tree</a:t>
            </a:r>
          </a:p>
          <a:p>
            <a:pPr marL="685800" lvl="1" indent="-342900" eaLnBrk="1" hangingPunct="1"/>
            <a:r>
              <a:rPr lang="en-US" altLang="en-US" dirty="0">
                <a:solidFill>
                  <a:schemeClr val="tx1"/>
                </a:solidFill>
                <a:latin typeface="Times New Roman" charset="0"/>
                <a:ea typeface="Times New Roman" charset="0"/>
                <a:cs typeface="Times New Roman" charset="0"/>
              </a:rPr>
              <a:t>Spreading Christianity</a:t>
            </a:r>
          </a:p>
          <a:p>
            <a:pPr marL="685800" lvl="1" indent="-342900" eaLnBrk="1" hangingPunct="1"/>
            <a:r>
              <a:rPr lang="en-US" altLang="en-US" dirty="0">
                <a:solidFill>
                  <a:schemeClr val="tx1"/>
                </a:solidFill>
                <a:latin typeface="Times New Roman" charset="0"/>
                <a:ea typeface="Times New Roman" charset="0"/>
                <a:cs typeface="Times New Roman" charset="0"/>
              </a:rPr>
              <a:t>Trade between Portuguese and Tupi</a:t>
            </a:r>
          </a:p>
          <a:p>
            <a:pPr marL="685800" lvl="1" indent="-342900" eaLnBrk="1" hangingPunct="1"/>
            <a:r>
              <a:rPr lang="en-US" altLang="en-US" dirty="0">
                <a:solidFill>
                  <a:schemeClr val="tx1"/>
                </a:solidFill>
                <a:latin typeface="Times New Roman" charset="0"/>
                <a:ea typeface="Times New Roman" charset="0"/>
                <a:cs typeface="Times New Roman" charset="0"/>
              </a:rPr>
              <a:t>Some Portuguese </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went native.</a:t>
            </a:r>
            <a:r>
              <a:rPr lang="ja-JP" altLang="en-US">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Conquest of Brazil</a:t>
            </a:r>
          </a:p>
        </p:txBody>
      </p:sp>
      <p:sp>
        <p:nvSpPr>
          <p:cNvPr id="41986"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Arrival of French</a:t>
            </a:r>
          </a:p>
          <a:p>
            <a:pPr marL="685800" lvl="1" indent="-342900" eaLnBrk="1" hangingPunct="1"/>
            <a:r>
              <a:rPr lang="en-US" altLang="en-US" dirty="0">
                <a:solidFill>
                  <a:schemeClr val="tx1"/>
                </a:solidFill>
                <a:latin typeface="Times New Roman" charset="0"/>
                <a:ea typeface="Times New Roman" charset="0"/>
                <a:cs typeface="Times New Roman" charset="0"/>
              </a:rPr>
              <a:t>Sugarcane</a:t>
            </a:r>
          </a:p>
          <a:p>
            <a:pPr lvl="2" eaLnBrk="1" hangingPunct="1"/>
            <a:r>
              <a:rPr lang="en-US" altLang="en-US" dirty="0">
                <a:latin typeface="Times New Roman" charset="0"/>
                <a:ea typeface="Times New Roman" charset="0"/>
                <a:cs typeface="Times New Roman" charset="0"/>
              </a:rPr>
              <a:t>Major export potential</a:t>
            </a:r>
          </a:p>
          <a:p>
            <a:pPr lvl="2" eaLnBrk="1" hangingPunct="1"/>
            <a:r>
              <a:rPr lang="en-US" altLang="en-US" dirty="0">
                <a:latin typeface="Times New Roman" charset="0"/>
                <a:ea typeface="Times New Roman" charset="0"/>
                <a:cs typeface="Times New Roman" charset="0"/>
              </a:rPr>
              <a:t>Required lots of land and labor</a:t>
            </a:r>
          </a:p>
          <a:p>
            <a:pPr marL="685800" lvl="1" indent="-342900" eaLnBrk="1" hangingPunct="1"/>
            <a:r>
              <a:rPr lang="en-US" altLang="en-US" dirty="0">
                <a:solidFill>
                  <a:schemeClr val="tx1"/>
                </a:solidFill>
                <a:latin typeface="Times New Roman" charset="0"/>
                <a:ea typeface="Times New Roman" charset="0"/>
                <a:cs typeface="Times New Roman" charset="0"/>
              </a:rPr>
              <a:t>Portuguese invaded to secure land and labor</a:t>
            </a:r>
          </a:p>
          <a:p>
            <a:pPr lvl="2" eaLnBrk="1" hangingPunct="1"/>
            <a:r>
              <a:rPr lang="en-US" altLang="en-US" dirty="0">
                <a:latin typeface="Times New Roman" charset="0"/>
                <a:ea typeface="Times New Roman" charset="0"/>
                <a:cs typeface="Times New Roman" charset="0"/>
              </a:rPr>
              <a:t>Terrain</a:t>
            </a:r>
          </a:p>
          <a:p>
            <a:pPr lvl="2" eaLnBrk="1" hangingPunct="1"/>
            <a:r>
              <a:rPr lang="en-US" altLang="en-US" dirty="0">
                <a:latin typeface="Times New Roman" charset="0"/>
                <a:ea typeface="Times New Roman" charset="0"/>
                <a:cs typeface="Times New Roman" charset="0"/>
              </a:rPr>
              <a:t>Successful plantations minimized conflict </a:t>
            </a:r>
          </a:p>
          <a:p>
            <a:pPr lvl="2" eaLnBrk="1" hangingPunct="1">
              <a:buFont typeface="Arial" charset="0"/>
              <a:buNone/>
            </a:pPr>
            <a:endParaRPr lang="en-US" altLang="en-US" dirty="0">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map titled, Indigenous Groups and Iberian Invasions. The map shows that the Spanish Invasion with Cortés from 1519 to 1521 traveled west from the Atlantic Ocean and went through the territory of the Arawaks in the Caribbean and the Aztec Empire in Mexico. Another expedition spanned from the Chichimecas' territory in northern Mexico and through the Aztec Empire and former Mayan Empire into present-day Honduras. One expedition went directly into present-day Nicaragua. Another voyage entered into the territory of the Caribs near Venezuela. Pizarro's 1532 expedition invaded the Inca Empire on the East Coast of South America near Peru. The Portuguese Invasion of Cabral in 1500 traveled through the Tupinambá peoples' territory on the east coast of South America. Not shown as affected by invasions on the map are the Chibchas, Shuar, Muras, Tobajaras, Tapajós, Caiapós, Tupi, Bororós, Payaguás, Guaraníes, Charrúas, Pampas, and Araucanos or Mapuches groups."/>
          <p:cNvPicPr>
            <a:picLocks noChangeAspect="1"/>
          </p:cNvPicPr>
          <p:nvPr/>
        </p:nvPicPr>
        <p:blipFill>
          <a:blip r:embed="rId3"/>
          <a:stretch>
            <a:fillRect/>
          </a:stretch>
        </p:blipFill>
        <p:spPr>
          <a:xfrm>
            <a:off x="0" y="-8860"/>
            <a:ext cx="4724400" cy="6866860"/>
          </a:xfrm>
          <a:prstGeom prst="rect">
            <a:avLst/>
          </a:prstGeom>
        </p:spPr>
      </p:pic>
      <p:sp>
        <p:nvSpPr>
          <p:cNvPr id="4" name="TextBox 3"/>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5" name="Title 4"/>
          <p:cNvSpPr>
            <a:spLocks noGrp="1"/>
          </p:cNvSpPr>
          <p:nvPr>
            <p:ph type="title"/>
          </p:nvPr>
        </p:nvSpPr>
        <p:spPr>
          <a:xfrm>
            <a:off x="4953000" y="0"/>
            <a:ext cx="3962400" cy="2057400"/>
          </a:xfrm>
        </p:spPr>
        <p:txBody>
          <a:bodyPr/>
          <a:lstStyle/>
          <a:p>
            <a:r>
              <a:rPr lang="en-US" sz="3600" dirty="0">
                <a:latin typeface="Times New Roman" panose="02020603050405020304" pitchFamily="18" charset="0"/>
                <a:cs typeface="Times New Roman" panose="02020603050405020304" pitchFamily="18" charset="0"/>
              </a:rPr>
              <a:t>Indigenous Groups and Iberian Invasions</a:t>
            </a:r>
          </a:p>
        </p:txBody>
      </p:sp>
    </p:spTree>
    <p:extLst>
      <p:ext uri="{BB962C8B-B14F-4D97-AF65-F5344CB8AC3E}">
        <p14:creationId xmlns:p14="http://schemas.microsoft.com/office/powerpoint/2010/main" val="1964153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Rebellion and Resistance</a:t>
            </a:r>
          </a:p>
        </p:txBody>
      </p:sp>
      <p:sp>
        <p:nvSpPr>
          <p:cNvPr id="4403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Indigenous rebellions threatened to destroy settlements by mid 1540s.</a:t>
            </a:r>
          </a:p>
          <a:p>
            <a:pPr lvl="1" eaLnBrk="1" hangingPunct="1"/>
            <a:r>
              <a:rPr lang="en-US" altLang="en-US" dirty="0">
                <a:solidFill>
                  <a:schemeClr val="tx1"/>
                </a:solidFill>
                <a:latin typeface="Times New Roman" charset="0"/>
                <a:ea typeface="Times New Roman" charset="0"/>
                <a:cs typeface="Times New Roman" charset="0"/>
              </a:rPr>
              <a:t>Portuguese king sought to secure settlements </a:t>
            </a:r>
          </a:p>
          <a:p>
            <a:pPr lvl="2" eaLnBrk="1" hangingPunct="1"/>
            <a:r>
              <a:rPr lang="en-US" altLang="en-US" dirty="0">
                <a:latin typeface="Times New Roman" charset="0"/>
                <a:ea typeface="Times New Roman" charset="0"/>
                <a:cs typeface="Times New Roman" charset="0"/>
              </a:rPr>
              <a:t>Built capital city, Salvador (Bahía)</a:t>
            </a:r>
          </a:p>
          <a:p>
            <a:pPr lvl="2" eaLnBrk="1" hangingPunct="1"/>
            <a:r>
              <a:rPr lang="en-US" altLang="en-US" dirty="0">
                <a:latin typeface="Times New Roman" charset="0"/>
                <a:ea typeface="Times New Roman" charset="0"/>
                <a:cs typeface="Times New Roman" charset="0"/>
              </a:rPr>
              <a:t>Appointed royal governor </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Demographic Catastrophe</a:t>
            </a:r>
          </a:p>
        </p:txBody>
      </p:sp>
      <p:sp>
        <p:nvSpPr>
          <p:cNvPr id="46082"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Conquest wiped out Tupinambá</a:t>
            </a:r>
          </a:p>
          <a:p>
            <a:pPr marL="685800" lvl="1" indent="-342900" eaLnBrk="1" hangingPunct="1"/>
            <a:r>
              <a:rPr lang="en-US" altLang="en-US" dirty="0">
                <a:solidFill>
                  <a:schemeClr val="tx1"/>
                </a:solidFill>
                <a:latin typeface="Times New Roman" charset="0"/>
                <a:ea typeface="Times New Roman" charset="0"/>
                <a:cs typeface="Times New Roman" charset="0"/>
              </a:rPr>
              <a:t>Diseases ravaged indigenous communities.</a:t>
            </a:r>
          </a:p>
          <a:p>
            <a:pPr lvl="2" eaLnBrk="1" hangingPunct="1"/>
            <a:r>
              <a:rPr lang="en-US" altLang="en-US" dirty="0">
                <a:latin typeface="Times New Roman" charset="0"/>
                <a:ea typeface="Times New Roman" charset="0"/>
                <a:cs typeface="Times New Roman" charset="0"/>
              </a:rPr>
              <a:t>No immunities to European diseases</a:t>
            </a:r>
          </a:p>
          <a:p>
            <a:pPr marL="685800" lvl="1" indent="-342900" eaLnBrk="1" hangingPunct="1"/>
            <a:r>
              <a:rPr lang="en-US" altLang="en-US" dirty="0">
                <a:solidFill>
                  <a:schemeClr val="tx1"/>
                </a:solidFill>
                <a:latin typeface="Times New Roman" charset="0"/>
                <a:ea typeface="Times New Roman" charset="0"/>
                <a:cs typeface="Times New Roman" charset="0"/>
              </a:rPr>
              <a:t>Jesuits tried to defend indigenous people.</a:t>
            </a:r>
          </a:p>
          <a:p>
            <a:pPr lvl="2" eaLnBrk="1" hangingPunct="1"/>
            <a:r>
              <a:rPr lang="en-US" altLang="en-US" dirty="0">
                <a:latin typeface="Times New Roman" charset="0"/>
                <a:ea typeface="Times New Roman" charset="0"/>
                <a:cs typeface="Times New Roman" charset="0"/>
              </a:rPr>
              <a:t>Unable to stop disease</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Africa and Slave Trade</a:t>
            </a:r>
          </a:p>
        </p:txBody>
      </p:sp>
      <p:sp>
        <p:nvSpPr>
          <p:cNvPr id="48130" name="Content Placeholder 2"/>
          <p:cNvSpPr>
            <a:spLocks noGrp="1"/>
          </p:cNvSpPr>
          <p:nvPr>
            <p:ph idx="1"/>
          </p:nvPr>
        </p:nvSpPr>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The collapse of indigenous populations created the need for new labor. </a:t>
            </a:r>
          </a:p>
          <a:p>
            <a:pPr lvl="1" indent="-342900" eaLnBrk="1" hangingPunct="1"/>
            <a:r>
              <a:rPr lang="en-US" altLang="en-US" dirty="0">
                <a:solidFill>
                  <a:schemeClr val="tx1"/>
                </a:solidFill>
                <a:latin typeface="Times New Roman" charset="0"/>
                <a:ea typeface="Times New Roman" charset="0"/>
                <a:cs typeface="Times New Roman" charset="0"/>
              </a:rPr>
              <a:t>Europeans began importing enslaved Africans.</a:t>
            </a:r>
          </a:p>
          <a:p>
            <a:pPr lvl="2" eaLnBrk="1" hangingPunct="1"/>
            <a:r>
              <a:rPr lang="en-US" altLang="en-US" dirty="0">
                <a:latin typeface="Times New Roman" charset="0"/>
                <a:ea typeface="Times New Roman" charset="0"/>
                <a:cs typeface="Times New Roman" charset="0"/>
              </a:rPr>
              <a:t>Exposure to European diseases, experience with agriculture, livestock, iron working</a:t>
            </a:r>
          </a:p>
          <a:p>
            <a:pPr marL="685800" lvl="1" indent="-342900" eaLnBrk="1" hangingPunct="1"/>
            <a:r>
              <a:rPr lang="en-US" altLang="en-US" dirty="0">
                <a:solidFill>
                  <a:schemeClr val="tx1"/>
                </a:solidFill>
                <a:latin typeface="Times New Roman" charset="0"/>
                <a:ea typeface="Times New Roman" charset="0"/>
                <a:cs typeface="Times New Roman" charset="0"/>
              </a:rPr>
              <a:t>Slavery was part of African societies. </a:t>
            </a:r>
          </a:p>
          <a:p>
            <a:pPr lvl="2" eaLnBrk="1" hangingPunct="1"/>
            <a:r>
              <a:rPr lang="en-US" altLang="en-US" dirty="0">
                <a:latin typeface="Times New Roman" charset="0"/>
                <a:ea typeface="Times New Roman" charset="0"/>
                <a:cs typeface="Times New Roman" charset="0"/>
              </a:rPr>
              <a:t>War captives</a:t>
            </a:r>
          </a:p>
          <a:p>
            <a:pPr lvl="2" eaLnBrk="1" hangingPunct="1"/>
            <a:r>
              <a:rPr lang="en-US" altLang="en-US" dirty="0">
                <a:latin typeface="Times New Roman" charset="0"/>
                <a:ea typeface="Times New Roman" charset="0"/>
                <a:cs typeface="Times New Roman" charset="0"/>
              </a:rPr>
              <a:t>Descendents integrated back into free society</a:t>
            </a:r>
          </a:p>
          <a:p>
            <a:pPr lvl="2" eaLnBrk="1" hangingPunct="1"/>
            <a:r>
              <a:rPr lang="en-US" altLang="en-US" dirty="0">
                <a:latin typeface="Times New Roman" charset="0"/>
                <a:ea typeface="Times New Roman" charset="0"/>
                <a:cs typeface="Times New Roman" charset="0"/>
              </a:rPr>
              <a:t>Trading of slaves took off after arrival of Portuguese </a:t>
            </a:r>
          </a:p>
          <a:p>
            <a:pPr lvl="2" eaLnBrk="1" hangingPunct="1"/>
            <a:endParaRPr lang="en-US" altLang="en-US" sz="1800" dirty="0">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Portugal Slave Trade</a:t>
            </a:r>
          </a:p>
        </p:txBody>
      </p:sp>
      <p:sp>
        <p:nvSpPr>
          <p:cNvPr id="50178" name="Content Placeholder 2"/>
          <p:cNvSpPr>
            <a:spLocks noGrp="1"/>
          </p:cNvSpPr>
          <p:nvPr>
            <p:ph idx="1"/>
          </p:nvPr>
        </p:nvSpPr>
        <p:spPr/>
        <p:txBody>
          <a:bodyPr/>
          <a:lstStyle/>
          <a:p>
            <a:pPr eaLnBrk="1" hangingPunct="1">
              <a:defRPr/>
            </a:pPr>
            <a:r>
              <a:rPr lang="en-US" altLang="en-US" sz="2800" dirty="0">
                <a:latin typeface="Times New Roman" charset="0"/>
                <a:ea typeface="Times New Roman" charset="0"/>
                <a:cs typeface="Times New Roman" charset="0"/>
              </a:rPr>
              <a:t>Portuguese traded along western coast </a:t>
            </a:r>
          </a:p>
          <a:p>
            <a:pPr lvl="1" eaLnBrk="1" hangingPunct="1">
              <a:defRPr/>
            </a:pPr>
            <a:r>
              <a:rPr lang="en-US" altLang="en-US" dirty="0">
                <a:latin typeface="Times New Roman" charset="0"/>
                <a:ea typeface="Times New Roman" charset="0"/>
                <a:cs typeface="Times New Roman" charset="0"/>
              </a:rPr>
              <a:t>African traders exchanged slaves for goods.</a:t>
            </a:r>
          </a:p>
          <a:p>
            <a:pPr lvl="1" eaLnBrk="1" hangingPunct="1">
              <a:defRPr/>
            </a:pPr>
            <a:r>
              <a:rPr lang="en-US" altLang="en-US" dirty="0">
                <a:latin typeface="Times New Roman" charset="0"/>
                <a:ea typeface="Times New Roman" charset="0"/>
                <a:cs typeface="Times New Roman" charset="0"/>
              </a:rPr>
              <a:t>Profitability = new stimulus for more wars</a:t>
            </a:r>
          </a:p>
          <a:p>
            <a:pPr lvl="1" eaLnBrk="1" hangingPunct="1">
              <a:defRPr/>
            </a:pPr>
            <a:r>
              <a:rPr lang="en-US" altLang="en-US" dirty="0">
                <a:latin typeface="Times New Roman" charset="0"/>
                <a:ea typeface="Times New Roman" charset="0"/>
                <a:cs typeface="Times New Roman" charset="0"/>
              </a:rPr>
              <a:t>Portuguese used Christianity as justification.</a:t>
            </a:r>
          </a:p>
          <a:p>
            <a:pPr lvl="1" eaLnBrk="1" hangingPunct="1">
              <a:defRPr/>
            </a:pPr>
            <a:r>
              <a:rPr lang="en-US" altLang="en-US" dirty="0">
                <a:latin typeface="Times New Roman" charset="0"/>
                <a:ea typeface="Times New Roman" charset="0"/>
                <a:cs typeface="Times New Roman" charset="0"/>
              </a:rPr>
              <a:t>Dominated slave trade for more than a century</a:t>
            </a:r>
          </a:p>
          <a:p>
            <a:pPr lvl="1" eaLnBrk="1" hangingPunct="1">
              <a:defRPr/>
            </a:pPr>
            <a:r>
              <a:rPr lang="en-US" altLang="en-US" dirty="0">
                <a:latin typeface="Times New Roman" charset="0"/>
                <a:ea typeface="Times New Roman" charset="0"/>
                <a:cs typeface="Times New Roman" charset="0"/>
              </a:rPr>
              <a:t>More than a million people died in passage to America.</a:t>
            </a:r>
          </a:p>
          <a:p>
            <a:pPr lvl="2" eaLnBrk="1" hangingPunct="1">
              <a:defRPr/>
            </a:pPr>
            <a:r>
              <a:rPr lang="en-US" altLang="en-US" dirty="0">
                <a:latin typeface="Times New Roman" charset="0"/>
                <a:ea typeface="Times New Roman" charset="0"/>
                <a:cs typeface="Times New Roman" charset="0"/>
              </a:rPr>
              <a:t>15–20 percent of captives died on voyage</a:t>
            </a:r>
          </a:p>
          <a:p>
            <a:pPr lvl="2" eaLnBrk="1" hangingPunct="1">
              <a:defRPr/>
            </a:pPr>
            <a:r>
              <a:rPr lang="en-US" altLang="en-US" dirty="0">
                <a:latin typeface="Times New Roman" charset="0"/>
                <a:ea typeface="Times New Roman" charset="0"/>
                <a:cs typeface="Times New Roman" charset="0"/>
              </a:rPr>
              <a:t>Olaudah Equiano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West Coast Trade</a:t>
            </a:r>
          </a:p>
        </p:txBody>
      </p:sp>
      <p:sp>
        <p:nvSpPr>
          <p:cNvPr id="52226" name="Content Placeholder 2"/>
          <p:cNvSpPr>
            <a:spLocks noGrp="1"/>
          </p:cNvSpPr>
          <p:nvPr>
            <p:ph idx="1"/>
          </p:nvPr>
        </p:nvSpPr>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West Africa most affected by slave trade</a:t>
            </a:r>
          </a:p>
          <a:p>
            <a:pPr marL="685800" lvl="1" indent="-342900" eaLnBrk="1" hangingPunct="1"/>
            <a:r>
              <a:rPr lang="en-US" altLang="en-US" dirty="0">
                <a:solidFill>
                  <a:schemeClr val="tx1"/>
                </a:solidFill>
                <a:latin typeface="Times New Roman" charset="0"/>
                <a:ea typeface="Times New Roman" charset="0"/>
                <a:cs typeface="Times New Roman" charset="0"/>
              </a:rPr>
              <a:t>Between modern Senegal to Nigeria</a:t>
            </a:r>
          </a:p>
          <a:p>
            <a:pPr marL="685800" lvl="1" indent="-342900" eaLnBrk="1" hangingPunct="1"/>
            <a:r>
              <a:rPr lang="en-US" altLang="en-US" dirty="0">
                <a:solidFill>
                  <a:schemeClr val="tx1"/>
                </a:solidFill>
                <a:latin typeface="Times New Roman" charset="0"/>
                <a:ea typeface="Times New Roman" charset="0"/>
                <a:cs typeface="Times New Roman" charset="0"/>
              </a:rPr>
              <a:t>Along Niger River, kingdoms famous for gold</a:t>
            </a:r>
          </a:p>
          <a:p>
            <a:pPr lvl="2" eaLnBrk="1" hangingPunct="1"/>
            <a:r>
              <a:rPr lang="en-US" altLang="en-US" dirty="0">
                <a:latin typeface="Times New Roman" charset="0"/>
                <a:ea typeface="Times New Roman" charset="0"/>
                <a:cs typeface="Times New Roman" charset="0"/>
              </a:rPr>
              <a:t>Brought traders from Europe and Middle East</a:t>
            </a:r>
          </a:p>
          <a:p>
            <a:pPr marL="685800" lvl="1" indent="-342900" eaLnBrk="1" hangingPunct="1"/>
            <a:r>
              <a:rPr lang="en-US" altLang="en-US" dirty="0">
                <a:solidFill>
                  <a:schemeClr val="tx1"/>
                </a:solidFill>
                <a:latin typeface="Times New Roman" charset="0"/>
                <a:ea typeface="Times New Roman" charset="0"/>
                <a:cs typeface="Times New Roman" charset="0"/>
              </a:rPr>
              <a:t>Portuguese dominated Angola and Mozambique</a:t>
            </a:r>
          </a:p>
          <a:p>
            <a:pPr marL="342900" lvl="1" indent="0" eaLnBrk="1" hangingPunct="1">
              <a:buFont typeface="Arial" charset="0"/>
              <a:buNone/>
            </a:pPr>
            <a:endParaRPr lang="en-US" altLang="en-US" dirty="0">
              <a:solidFill>
                <a:schemeClr val="tx1"/>
              </a:solidFill>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br>
              <a:rPr lang="en-US" altLang="en-US" sz="4000" dirty="0">
                <a:solidFill>
                  <a:schemeClr val="tx1"/>
                </a:solidFill>
                <a:latin typeface="Times New Roman" charset="0"/>
                <a:ea typeface="Times New Roman" charset="0"/>
                <a:cs typeface="Times New Roman" charset="0"/>
              </a:rPr>
            </a:br>
            <a:r>
              <a:rPr lang="en-US" altLang="en-US" sz="4000" dirty="0">
                <a:solidFill>
                  <a:schemeClr val="tx1"/>
                </a:solidFill>
                <a:latin typeface="Times New Roman" charset="0"/>
                <a:ea typeface="Times New Roman" charset="0"/>
                <a:cs typeface="Times New Roman" charset="0"/>
              </a:rPr>
              <a:t>Cortés and the Aztec Empire</a:t>
            </a:r>
            <a:br>
              <a:rPr lang="en-US" altLang="en-US" sz="4000" dirty="0">
                <a:solidFill>
                  <a:schemeClr val="tx1"/>
                </a:solidFill>
                <a:latin typeface="Times New Roman" charset="0"/>
                <a:ea typeface="Times New Roman" charset="0"/>
                <a:cs typeface="Times New Roman" charset="0"/>
              </a:rPr>
            </a:br>
            <a:endParaRPr lang="en-US" altLang="en-US" sz="4000" dirty="0">
              <a:solidFill>
                <a:schemeClr val="tx1"/>
              </a:solidFill>
              <a:latin typeface="Times New Roman" charset="0"/>
              <a:ea typeface="Times New Roman" charset="0"/>
              <a:cs typeface="Times New Roman" charset="0"/>
            </a:endParaRPr>
          </a:p>
        </p:txBody>
      </p:sp>
      <p:sp>
        <p:nvSpPr>
          <p:cNvPr id="5427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Spanish subjugated Caribbean before moving on to Mexico</a:t>
            </a:r>
          </a:p>
          <a:p>
            <a:pPr lvl="1" eaLnBrk="1" hangingPunct="1"/>
            <a:r>
              <a:rPr lang="en-US" altLang="en-US" dirty="0">
                <a:solidFill>
                  <a:schemeClr val="tx1"/>
                </a:solidFill>
                <a:latin typeface="Times New Roman" charset="0"/>
                <a:ea typeface="Times New Roman" charset="0"/>
                <a:cs typeface="Times New Roman" charset="0"/>
              </a:rPr>
              <a:t>Spanish invaders were private adventurers and fortune seekers.</a:t>
            </a:r>
          </a:p>
          <a:p>
            <a:pPr lvl="1" eaLnBrk="1" hangingPunct="1"/>
            <a:r>
              <a:rPr lang="en-US" altLang="en-US" dirty="0">
                <a:solidFill>
                  <a:schemeClr val="tx1"/>
                </a:solidFill>
                <a:latin typeface="Times New Roman" charset="0"/>
                <a:ea typeface="Times New Roman" charset="0"/>
                <a:cs typeface="Times New Roman" charset="0"/>
              </a:rPr>
              <a:t>Hernán Cortés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Power and Strategy</a:t>
            </a:r>
          </a:p>
        </p:txBody>
      </p:sp>
      <p:sp>
        <p:nvSpPr>
          <p:cNvPr id="56322" name="Content Placeholder 2"/>
          <p:cNvSpPr>
            <a:spLocks noGrp="1"/>
          </p:cNvSpPr>
          <p:nvPr>
            <p:ph idx="1"/>
          </p:nvPr>
        </p:nvSpPr>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Aztec Empire had greater forces, but Spanish had strategic advantages.</a:t>
            </a:r>
          </a:p>
          <a:p>
            <a:pPr marL="685800" lvl="1" indent="-342900" eaLnBrk="1" hangingPunct="1"/>
            <a:r>
              <a:rPr lang="en-US" altLang="en-US" dirty="0">
                <a:solidFill>
                  <a:schemeClr val="tx1"/>
                </a:solidFill>
                <a:latin typeface="Times New Roman" charset="0"/>
                <a:ea typeface="Times New Roman" charset="0"/>
                <a:cs typeface="Times New Roman" charset="0"/>
              </a:rPr>
              <a:t>Moctezuma did not know about Spanish. </a:t>
            </a:r>
          </a:p>
          <a:p>
            <a:pPr marL="685800" lvl="1" indent="-342900" eaLnBrk="1" hangingPunct="1"/>
            <a:r>
              <a:rPr lang="en-US" altLang="en-US" dirty="0">
                <a:solidFill>
                  <a:schemeClr val="tx1"/>
                </a:solidFill>
                <a:latin typeface="Times New Roman" charset="0"/>
                <a:ea typeface="Times New Roman" charset="0"/>
                <a:cs typeface="Times New Roman" charset="0"/>
              </a:rPr>
              <a:t>Cortés could plan for conquest.</a:t>
            </a:r>
          </a:p>
          <a:p>
            <a:pPr marL="685800" lvl="1" indent="-342900" eaLnBrk="1" hangingPunct="1"/>
            <a:r>
              <a:rPr lang="en-US" altLang="en-US" dirty="0">
                <a:solidFill>
                  <a:schemeClr val="tx1"/>
                </a:solidFill>
                <a:latin typeface="Times New Roman" charset="0"/>
                <a:ea typeface="Times New Roman" charset="0"/>
                <a:cs typeface="Times New Roman" charset="0"/>
              </a:rPr>
              <a:t>Moctezuma may have believed Spaniards to be supernatural, but not gods, contrary to the myth.</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Colonial Introductions</a:t>
            </a:r>
          </a:p>
        </p:txBody>
      </p:sp>
      <p:sp>
        <p:nvSpPr>
          <p:cNvPr id="58370" name="Content Placeholder 2"/>
          <p:cNvSpPr>
            <a:spLocks noGrp="1"/>
          </p:cNvSpPr>
          <p:nvPr>
            <p:ph idx="1"/>
          </p:nvPr>
        </p:nvSpPr>
        <p:spPr/>
        <p:txBody>
          <a:bodyPr/>
          <a:lstStyle/>
          <a:p>
            <a:pPr marL="457200" lvl="1" indent="0" eaLnBrk="1" hangingPunct="1">
              <a:buNone/>
            </a:pPr>
            <a:r>
              <a:rPr lang="en-US" altLang="en-US" dirty="0">
                <a:solidFill>
                  <a:schemeClr val="tx1"/>
                </a:solidFill>
                <a:latin typeface="Times New Roman" charset="0"/>
                <a:ea typeface="Times New Roman" charset="0"/>
                <a:cs typeface="Times New Roman" charset="0"/>
              </a:rPr>
              <a:t>Spanish brought things Mexica had never seen:</a:t>
            </a:r>
          </a:p>
          <a:p>
            <a:pPr marL="857250" lvl="2" indent="-285750" eaLnBrk="1" hangingPunct="1">
              <a:buFont typeface="Arial" pitchFamily="34" charset="0"/>
              <a:buChar char="•"/>
            </a:pPr>
            <a:r>
              <a:rPr lang="en-US" altLang="en-US" sz="2800" dirty="0">
                <a:latin typeface="Times New Roman" charset="0"/>
                <a:ea typeface="Times New Roman" charset="0"/>
                <a:cs typeface="Times New Roman" charset="0"/>
              </a:rPr>
              <a:t>Horses</a:t>
            </a:r>
          </a:p>
          <a:p>
            <a:pPr marL="857250" lvl="2" indent="-285750" eaLnBrk="1" hangingPunct="1">
              <a:buFont typeface="Arial" pitchFamily="34" charset="0"/>
              <a:buChar char="•"/>
            </a:pPr>
            <a:r>
              <a:rPr lang="en-US" altLang="en-US" sz="2800" dirty="0">
                <a:latin typeface="Times New Roman" charset="0"/>
                <a:ea typeface="Times New Roman" charset="0"/>
                <a:cs typeface="Times New Roman" charset="0"/>
              </a:rPr>
              <a:t>Attack dogs</a:t>
            </a:r>
          </a:p>
          <a:p>
            <a:pPr marL="857250" lvl="2" indent="-285750" eaLnBrk="1" hangingPunct="1">
              <a:buFont typeface="Arial" pitchFamily="34" charset="0"/>
              <a:buChar char="•"/>
            </a:pPr>
            <a:r>
              <a:rPr lang="en-US" altLang="en-US" sz="2800" dirty="0">
                <a:latin typeface="Times New Roman" charset="0"/>
                <a:ea typeface="Times New Roman" charset="0"/>
                <a:cs typeface="Times New Roman" charset="0"/>
              </a:rPr>
              <a:t>Tall ships</a:t>
            </a:r>
          </a:p>
          <a:p>
            <a:pPr marL="857250" lvl="2" indent="-285750" eaLnBrk="1" hangingPunct="1">
              <a:buFont typeface="Arial" pitchFamily="34" charset="0"/>
              <a:buChar char="•"/>
            </a:pPr>
            <a:r>
              <a:rPr lang="en-US" altLang="en-US" sz="2800" dirty="0">
                <a:latin typeface="Times New Roman" charset="0"/>
                <a:ea typeface="Times New Roman" charset="0"/>
                <a:cs typeface="Times New Roman" charset="0"/>
              </a:rPr>
              <a:t>Cannons</a:t>
            </a:r>
          </a:p>
          <a:p>
            <a:pPr marL="857250" lvl="2" indent="-285750" eaLnBrk="1" hangingPunct="1">
              <a:buFont typeface="Arial" pitchFamily="34" charset="0"/>
              <a:buChar char="•"/>
            </a:pPr>
            <a:r>
              <a:rPr lang="en-US" altLang="en-US" sz="2800" dirty="0">
                <a:latin typeface="Times New Roman" charset="0"/>
                <a:ea typeface="Times New Roman" charset="0"/>
                <a:cs typeface="Times New Roman" charset="0"/>
              </a:rPr>
              <a:t>Steel blades</a:t>
            </a:r>
          </a:p>
          <a:p>
            <a:pPr marL="857250" lvl="2" indent="-285750" eaLnBrk="1" hangingPunct="1">
              <a:buFont typeface="Arial" pitchFamily="34" charset="0"/>
              <a:buChar char="•"/>
            </a:pPr>
            <a:r>
              <a:rPr lang="en-US" altLang="en-US" sz="2800" dirty="0">
                <a:latin typeface="Times New Roman" charset="0"/>
                <a:ea typeface="Times New Roman" charset="0"/>
                <a:cs typeface="Times New Roman" charset="0"/>
              </a:rPr>
              <a:t>Body armor</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Defeat of the Aztec Empire</a:t>
            </a:r>
          </a:p>
        </p:txBody>
      </p:sp>
      <p:sp>
        <p:nvSpPr>
          <p:cNvPr id="6041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Moctezuma invited Spanish into Tenochtitlan.</a:t>
            </a:r>
          </a:p>
          <a:p>
            <a:pPr lvl="1" eaLnBrk="1" hangingPunct="1"/>
            <a:r>
              <a:rPr lang="en-US" altLang="en-US" dirty="0">
                <a:solidFill>
                  <a:schemeClr val="tx1"/>
                </a:solidFill>
                <a:latin typeface="Times New Roman" charset="0"/>
                <a:ea typeface="Times New Roman" charset="0"/>
                <a:cs typeface="Times New Roman" charset="0"/>
              </a:rPr>
              <a:t>Spanish took Moctezuma hostage.</a:t>
            </a:r>
          </a:p>
          <a:p>
            <a:pPr lvl="1" eaLnBrk="1" hangingPunct="1"/>
            <a:r>
              <a:rPr lang="en-US" altLang="en-US" dirty="0">
                <a:solidFill>
                  <a:schemeClr val="tx1"/>
                </a:solidFill>
                <a:latin typeface="Times New Roman" charset="0"/>
                <a:ea typeface="Times New Roman" charset="0"/>
                <a:cs typeface="Times New Roman" charset="0"/>
              </a:rPr>
              <a:t>Indigenous allies fought with Cortés, evening their numbers.</a:t>
            </a:r>
          </a:p>
          <a:p>
            <a:pPr lvl="1" eaLnBrk="1" hangingPunct="1"/>
            <a:r>
              <a:rPr lang="en-US" altLang="en-US" dirty="0">
                <a:solidFill>
                  <a:schemeClr val="tx1"/>
                </a:solidFill>
                <a:latin typeface="Times New Roman" charset="0"/>
                <a:ea typeface="Times New Roman" charset="0"/>
                <a:cs typeface="Times New Roman" charset="0"/>
              </a:rPr>
              <a:t>Disease ravaged the Aztec Empire.</a:t>
            </a:r>
          </a:p>
          <a:p>
            <a:pPr lvl="1" eaLnBrk="1" hangingPunct="1"/>
            <a:r>
              <a:rPr lang="en-US" altLang="en-US" dirty="0">
                <a:solidFill>
                  <a:schemeClr val="tx1"/>
                </a:solidFill>
                <a:latin typeface="Times New Roman" charset="0"/>
                <a:ea typeface="Times New Roman" charset="0"/>
                <a:cs typeface="Times New Roman" charset="0"/>
              </a:rPr>
              <a:t>Tenochtitlan fell in 1521, followed by the rest of the empire.</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Conquest of Inca</a:t>
            </a:r>
          </a:p>
        </p:txBody>
      </p:sp>
      <p:sp>
        <p:nvSpPr>
          <p:cNvPr id="62466"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Francisco Pizarro</a:t>
            </a:r>
          </a:p>
          <a:p>
            <a:pPr lvl="2" eaLnBrk="1" hangingPunct="1"/>
            <a:r>
              <a:rPr lang="en-US" altLang="en-US" dirty="0">
                <a:latin typeface="Times New Roman" charset="0"/>
                <a:ea typeface="Times New Roman" charset="0"/>
                <a:cs typeface="Times New Roman" charset="0"/>
              </a:rPr>
              <a:t>Taken Inca ruler Atahualpa hostage</a:t>
            </a:r>
          </a:p>
          <a:p>
            <a:pPr lvl="2" eaLnBrk="1" hangingPunct="1"/>
            <a:r>
              <a:rPr lang="en-US" altLang="en-US" dirty="0">
                <a:latin typeface="Times New Roman" charset="0"/>
                <a:ea typeface="Times New Roman" charset="0"/>
                <a:cs typeface="Times New Roman" charset="0"/>
              </a:rPr>
              <a:t>Massacred Inca nobles</a:t>
            </a:r>
          </a:p>
          <a:p>
            <a:pPr marL="685800" lvl="1" indent="-342900" eaLnBrk="1" hangingPunct="1"/>
            <a:r>
              <a:rPr lang="en-US" altLang="en-US" dirty="0">
                <a:solidFill>
                  <a:schemeClr val="tx1"/>
                </a:solidFill>
                <a:latin typeface="Times New Roman" charset="0"/>
                <a:ea typeface="Times New Roman" charset="0"/>
                <a:cs typeface="Times New Roman" charset="0"/>
              </a:rPr>
              <a:t>Spanish horses and steel</a:t>
            </a:r>
          </a:p>
          <a:p>
            <a:pPr marL="342900" lvl="1" indent="0" eaLnBrk="1" hangingPunct="1">
              <a:buFont typeface="Arial" charset="0"/>
              <a:buNone/>
            </a:pPr>
            <a:endParaRPr lang="en-US" altLang="en-US" sz="2400" dirty="0">
              <a:solidFill>
                <a:schemeClr val="tx1"/>
              </a:solidFill>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Role of Indigenous Allies</a:t>
            </a:r>
          </a:p>
        </p:txBody>
      </p:sp>
      <p:sp>
        <p:nvSpPr>
          <p:cNvPr id="64514" name="Content Placeholder 2"/>
          <p:cNvSpPr>
            <a:spLocks noGrp="1"/>
          </p:cNvSpPr>
          <p:nvPr>
            <p:ph idx="1"/>
          </p:nvPr>
        </p:nvSpPr>
        <p:spPr/>
        <p:txBody>
          <a:bodyPr/>
          <a:lstStyle/>
          <a:p>
            <a:pPr marL="685800" lvl="1" indent="-342900" eaLnBrk="1" hangingPunct="1">
              <a:lnSpc>
                <a:spcPct val="90000"/>
              </a:lnSpc>
            </a:pPr>
            <a:r>
              <a:rPr lang="en-US" altLang="en-US" dirty="0">
                <a:solidFill>
                  <a:schemeClr val="tx1"/>
                </a:solidFill>
                <a:latin typeface="Times New Roman" charset="0"/>
                <a:ea typeface="Times New Roman" charset="0"/>
                <a:cs typeface="Times New Roman" charset="0"/>
              </a:rPr>
              <a:t>Cortés vs. Aztec </a:t>
            </a:r>
          </a:p>
          <a:p>
            <a:pPr lvl="2" eaLnBrk="1" hangingPunct="1">
              <a:lnSpc>
                <a:spcPct val="90000"/>
              </a:lnSpc>
            </a:pPr>
            <a:r>
              <a:rPr lang="en-US" altLang="en-US" dirty="0">
                <a:latin typeface="Times New Roman" charset="0"/>
                <a:ea typeface="Times New Roman" charset="0"/>
                <a:cs typeface="Times New Roman" charset="0"/>
              </a:rPr>
              <a:t>Tribute requirements and taxes </a:t>
            </a:r>
          </a:p>
          <a:p>
            <a:pPr lvl="2" eaLnBrk="1" hangingPunct="1">
              <a:lnSpc>
                <a:spcPct val="90000"/>
              </a:lnSpc>
            </a:pPr>
            <a:r>
              <a:rPr lang="en-US" altLang="en-US" dirty="0">
                <a:latin typeface="Times New Roman" charset="0"/>
                <a:ea typeface="Times New Roman" charset="0"/>
                <a:cs typeface="Times New Roman" charset="0"/>
              </a:rPr>
              <a:t>Religious sacrifices </a:t>
            </a:r>
          </a:p>
          <a:p>
            <a:pPr lvl="2" eaLnBrk="1" hangingPunct="1">
              <a:lnSpc>
                <a:spcPct val="90000"/>
              </a:lnSpc>
            </a:pPr>
            <a:r>
              <a:rPr lang="en-US" altLang="en-US" dirty="0">
                <a:latin typeface="Times New Roman" charset="0"/>
                <a:ea typeface="Times New Roman" charset="0"/>
                <a:cs typeface="Times New Roman" charset="0"/>
              </a:rPr>
              <a:t>Expansion</a:t>
            </a:r>
          </a:p>
          <a:p>
            <a:pPr marL="685800" lvl="1" indent="-342900" eaLnBrk="1" hangingPunct="1">
              <a:lnSpc>
                <a:spcPct val="90000"/>
              </a:lnSpc>
            </a:pPr>
            <a:r>
              <a:rPr lang="en-US" altLang="en-US" dirty="0">
                <a:solidFill>
                  <a:schemeClr val="tx1"/>
                </a:solidFill>
                <a:latin typeface="Times New Roman" charset="0"/>
                <a:ea typeface="Times New Roman" charset="0"/>
                <a:cs typeface="Times New Roman" charset="0"/>
              </a:rPr>
              <a:t>Pizarro vs. Inca </a:t>
            </a:r>
          </a:p>
          <a:p>
            <a:pPr lvl="2" eaLnBrk="1" hangingPunct="1">
              <a:lnSpc>
                <a:spcPct val="90000"/>
              </a:lnSpc>
            </a:pPr>
            <a:r>
              <a:rPr lang="en-US" altLang="en-US" dirty="0">
                <a:latin typeface="Times New Roman" charset="0"/>
                <a:ea typeface="Times New Roman" charset="0"/>
                <a:cs typeface="Times New Roman" charset="0"/>
              </a:rPr>
              <a:t>Broken up rival city-states</a:t>
            </a:r>
          </a:p>
          <a:p>
            <a:pPr lvl="2" eaLnBrk="1" hangingPunct="1">
              <a:lnSpc>
                <a:spcPct val="90000"/>
              </a:lnSpc>
            </a:pPr>
            <a:r>
              <a:rPr lang="en-US" altLang="en-US" dirty="0">
                <a:latin typeface="Times New Roman" charset="0"/>
                <a:ea typeface="Times New Roman" charset="0"/>
                <a:cs typeface="Times New Roman" charset="0"/>
              </a:rPr>
              <a:t>Power struggle after death of emperor and successor</a:t>
            </a:r>
          </a:p>
          <a:p>
            <a:pPr eaLnBrk="1" hangingPunct="1">
              <a:lnSpc>
                <a:spcPct val="90000"/>
              </a:lnSpc>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Encomienda</a:t>
            </a:r>
          </a:p>
        </p:txBody>
      </p:sp>
      <p:sp>
        <p:nvSpPr>
          <p:cNvPr id="66562" name="Content Placeholder 2"/>
          <p:cNvSpPr>
            <a:spLocks noGrp="1"/>
          </p:cNvSpPr>
          <p:nvPr>
            <p:ph idx="1"/>
          </p:nvPr>
        </p:nvSpPr>
        <p:spPr/>
        <p:txBody>
          <a:bodyPr/>
          <a:lstStyle/>
          <a:p>
            <a:pPr marL="342900" lvl="1" indent="0" eaLnBrk="1" hangingPunct="1">
              <a:buFont typeface="Arial" charset="0"/>
              <a:buNone/>
            </a:pPr>
            <a:r>
              <a:rPr lang="en-US" altLang="en-US" i="1" dirty="0" err="1">
                <a:solidFill>
                  <a:schemeClr val="tx1"/>
                </a:solidFill>
                <a:latin typeface="Times New Roman" charset="0"/>
                <a:ea typeface="Times New Roman" charset="0"/>
                <a:cs typeface="Times New Roman" charset="0"/>
              </a:rPr>
              <a:t>Encomienda</a:t>
            </a:r>
            <a:r>
              <a:rPr lang="en-US" altLang="en-US" dirty="0">
                <a:solidFill>
                  <a:schemeClr val="tx1"/>
                </a:solidFill>
                <a:latin typeface="Times New Roman" charset="0"/>
                <a:ea typeface="Times New Roman" charset="0"/>
                <a:cs typeface="Times New Roman" charset="0"/>
              </a:rPr>
              <a:t> system rewarded Spanish conquerors with people to work land.</a:t>
            </a:r>
          </a:p>
          <a:p>
            <a:pPr marL="685800" lvl="1" indent="-342900" eaLnBrk="1" hangingPunct="1">
              <a:lnSpc>
                <a:spcPct val="90000"/>
              </a:lnSpc>
            </a:pPr>
            <a:r>
              <a:rPr lang="en-US" altLang="en-US" dirty="0">
                <a:solidFill>
                  <a:schemeClr val="tx1"/>
                </a:solidFill>
                <a:latin typeface="Times New Roman" charset="0"/>
                <a:ea typeface="Times New Roman" charset="0"/>
                <a:cs typeface="Times New Roman" charset="0"/>
              </a:rPr>
              <a:t>Responsibility to Christianize them</a:t>
            </a:r>
          </a:p>
          <a:p>
            <a:pPr marL="685800" lvl="1" indent="-342900" eaLnBrk="1" hangingPunct="1">
              <a:lnSpc>
                <a:spcPct val="90000"/>
              </a:lnSpc>
            </a:pPr>
            <a:r>
              <a:rPr lang="en-US" altLang="en-US" dirty="0">
                <a:solidFill>
                  <a:schemeClr val="tx1"/>
                </a:solidFill>
                <a:latin typeface="Times New Roman" charset="0"/>
                <a:ea typeface="Times New Roman" charset="0"/>
                <a:cs typeface="Times New Roman" charset="0"/>
              </a:rPr>
              <a:t>Based on system used during Moors conquest </a:t>
            </a:r>
          </a:p>
          <a:p>
            <a:pPr marL="685800" lvl="1" indent="-342900" eaLnBrk="1" hangingPunct="1">
              <a:lnSpc>
                <a:spcPct val="90000"/>
              </a:lnSpc>
            </a:pPr>
            <a:r>
              <a:rPr lang="en-US" altLang="en-US" dirty="0">
                <a:solidFill>
                  <a:schemeClr val="tx1"/>
                </a:solidFill>
                <a:latin typeface="Times New Roman" charset="0"/>
                <a:ea typeface="Times New Roman" charset="0"/>
                <a:cs typeface="Times New Roman" charset="0"/>
              </a:rPr>
              <a:t>Farmers who paid tribute to Aztec or Inca now paid to the Spanish.</a:t>
            </a:r>
          </a:p>
          <a:p>
            <a:pPr marL="685800" lvl="1" indent="-342900" eaLnBrk="1" hangingPunct="1">
              <a:lnSpc>
                <a:spcPct val="90000"/>
              </a:lnSpc>
            </a:pPr>
            <a:r>
              <a:rPr lang="en-US" altLang="en-US" i="1" dirty="0">
                <a:solidFill>
                  <a:schemeClr val="tx1"/>
                </a:solidFill>
                <a:latin typeface="Times New Roman" charset="0"/>
                <a:ea typeface="Times New Roman" charset="0"/>
                <a:cs typeface="Times New Roman" charset="0"/>
              </a:rPr>
              <a:t>Caciques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Birth of Spanish America</a:t>
            </a:r>
          </a:p>
        </p:txBody>
      </p:sp>
      <p:sp>
        <p:nvSpPr>
          <p:cNvPr id="68610" name="Content Placeholder 2"/>
          <p:cNvSpPr>
            <a:spLocks noGrp="1"/>
          </p:cNvSpPr>
          <p:nvPr>
            <p:ph idx="1"/>
          </p:nvPr>
        </p:nvSpPr>
        <p:spPr/>
        <p:txBody>
          <a:bodyPr/>
          <a:lstStyle/>
          <a:p>
            <a:pPr marL="342900" lvl="1" indent="0" eaLnBrk="1" hangingPunct="1">
              <a:buFont typeface="Arial" charset="0"/>
              <a:buNone/>
            </a:pPr>
            <a:r>
              <a:rPr lang="en-US" altLang="en-US" dirty="0">
                <a:solidFill>
                  <a:schemeClr val="tx1"/>
                </a:solidFill>
                <a:latin typeface="Times New Roman" charset="0"/>
                <a:ea typeface="Times New Roman" charset="0"/>
                <a:cs typeface="Times New Roman" charset="0"/>
              </a:rPr>
              <a:t>Mexico becomes </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New Spain.</a:t>
            </a:r>
            <a:r>
              <a:rPr lang="ja-JP" altLang="en-US">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marL="685800" lvl="1" indent="-342900" eaLnBrk="1" hangingPunct="1">
              <a:lnSpc>
                <a:spcPct val="90000"/>
              </a:lnSpc>
            </a:pPr>
            <a:r>
              <a:rPr lang="en-US" altLang="en-US" dirty="0">
                <a:solidFill>
                  <a:schemeClr val="tx1"/>
                </a:solidFill>
                <a:latin typeface="Times New Roman" charset="0"/>
                <a:ea typeface="Times New Roman" charset="0"/>
                <a:cs typeface="Times New Roman" charset="0"/>
              </a:rPr>
              <a:t>Importance of women</a:t>
            </a:r>
          </a:p>
          <a:p>
            <a:pPr lvl="2" eaLnBrk="1" hangingPunct="1"/>
            <a:r>
              <a:rPr lang="en-US" altLang="en-US" dirty="0">
                <a:latin typeface="Times New Roman" charset="0"/>
                <a:ea typeface="Times New Roman" charset="0"/>
                <a:cs typeface="Times New Roman" charset="0"/>
              </a:rPr>
              <a:t>Intermarriage </a:t>
            </a:r>
          </a:p>
          <a:p>
            <a:pPr lvl="3" eaLnBrk="1" hangingPunct="1"/>
            <a:r>
              <a:rPr lang="en-US" altLang="en-US" sz="2400" dirty="0">
                <a:solidFill>
                  <a:schemeClr val="tx1"/>
                </a:solidFill>
                <a:latin typeface="Times New Roman" charset="0"/>
                <a:ea typeface="Times New Roman" charset="0"/>
                <a:cs typeface="Times New Roman" charset="0"/>
              </a:rPr>
              <a:t>Malinche</a:t>
            </a:r>
          </a:p>
          <a:p>
            <a:pPr lvl="3" eaLnBrk="1" hangingPunct="1"/>
            <a:r>
              <a:rPr lang="en-US" altLang="en-US" sz="2400" dirty="0">
                <a:solidFill>
                  <a:schemeClr val="tx1"/>
                </a:solidFill>
                <a:latin typeface="Times New Roman" charset="0"/>
                <a:ea typeface="Times New Roman" charset="0"/>
                <a:cs typeface="Times New Roman" charset="0"/>
              </a:rPr>
              <a:t>Techichpotzín</a:t>
            </a:r>
          </a:p>
          <a:p>
            <a:pPr lvl="3" eaLnBrk="1" hangingPunct="1"/>
            <a:r>
              <a:rPr lang="en-US" altLang="en-US" sz="2400" dirty="0">
                <a:solidFill>
                  <a:schemeClr val="tx1"/>
                </a:solidFill>
                <a:latin typeface="Times New Roman" charset="0"/>
                <a:ea typeface="Times New Roman" charset="0"/>
                <a:cs typeface="Times New Roman" charset="0"/>
              </a:rPr>
              <a:t>Children of Spanish-indigenous union were known as </a:t>
            </a:r>
            <a:r>
              <a:rPr lang="ja-JP" altLang="en-US" sz="2400">
                <a:solidFill>
                  <a:schemeClr val="tx1"/>
                </a:solidFill>
                <a:latin typeface="Times New Roman" charset="0"/>
                <a:ea typeface="Times New Roman" charset="0"/>
                <a:cs typeface="Times New Roman" charset="0"/>
              </a:rPr>
              <a:t>“</a:t>
            </a:r>
            <a:r>
              <a:rPr lang="en-US" altLang="ja-JP" sz="2400" dirty="0">
                <a:solidFill>
                  <a:schemeClr val="tx1"/>
                </a:solidFill>
                <a:latin typeface="Times New Roman" charset="0"/>
                <a:ea typeface="Times New Roman" charset="0"/>
                <a:cs typeface="Times New Roman" charset="0"/>
              </a:rPr>
              <a:t>mestizo.</a:t>
            </a:r>
            <a:r>
              <a:rPr lang="ja-JP" altLang="en-US" sz="240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lvl="4" eaLnBrk="1" hangingPunct="1"/>
            <a:r>
              <a:rPr lang="en-US" altLang="en-US" sz="2400" dirty="0">
                <a:latin typeface="Times New Roman" charset="0"/>
                <a:ea typeface="Times New Roman" charset="0"/>
                <a:cs typeface="Times New Roman" charset="0"/>
              </a:rPr>
              <a:t>Usually inherited little or nothing from their fathers</a:t>
            </a:r>
            <a:endParaRPr lang="en-US" altLang="en-US" dirty="0">
              <a:latin typeface="Times New Roman" charset="0"/>
              <a:ea typeface="Times New Roman" charset="0"/>
              <a:cs typeface="Times New Roman" charset="0"/>
            </a:endParaRPr>
          </a:p>
          <a:p>
            <a:pPr lvl="4" eaLnBrk="1" hangingPunct="1"/>
            <a:r>
              <a:rPr lang="en-US" altLang="en-US" sz="2400" dirty="0">
                <a:latin typeface="Times New Roman" charset="0"/>
                <a:ea typeface="Times New Roman" charset="0"/>
                <a:cs typeface="Times New Roman" charset="0"/>
              </a:rPr>
              <a:t>Faced discrimination </a:t>
            </a:r>
            <a:endParaRPr lang="en-US" altLang="en-US" dirty="0">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Role of Spanish Women</a:t>
            </a:r>
          </a:p>
        </p:txBody>
      </p:sp>
      <p:sp>
        <p:nvSpPr>
          <p:cNvPr id="70658"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Spanish women arrived in greater numbers.</a:t>
            </a:r>
          </a:p>
          <a:p>
            <a:pPr marL="800100" lvl="1" indent="-457200" eaLnBrk="1" hangingPunct="1">
              <a:lnSpc>
                <a:spcPct val="90000"/>
              </a:lnSpc>
            </a:pPr>
            <a:r>
              <a:rPr lang="en-US" altLang="en-US" dirty="0">
                <a:solidFill>
                  <a:schemeClr val="tx1"/>
                </a:solidFill>
                <a:latin typeface="Times New Roman" charset="0"/>
                <a:ea typeface="Times New Roman" charset="0"/>
                <a:cs typeface="Times New Roman" charset="0"/>
              </a:rPr>
              <a:t>Mostly after fighting was complete, but there were exceptions</a:t>
            </a:r>
          </a:p>
          <a:p>
            <a:pPr lvl="2" eaLnBrk="1" hangingPunct="1"/>
            <a:r>
              <a:rPr lang="en-US" altLang="en-US" dirty="0">
                <a:latin typeface="Times New Roman" charset="0"/>
                <a:ea typeface="Times New Roman" charset="0"/>
                <a:cs typeface="Times New Roman" charset="0"/>
              </a:rPr>
              <a:t>Isabel de Guevara</a:t>
            </a:r>
          </a:p>
          <a:p>
            <a:pPr lvl="2" eaLnBrk="1" hangingPunct="1"/>
            <a:r>
              <a:rPr lang="en-US" altLang="en-US" dirty="0">
                <a:latin typeface="Times New Roman" charset="0"/>
                <a:ea typeface="Times New Roman" charset="0"/>
                <a:cs typeface="Times New Roman" charset="0"/>
              </a:rPr>
              <a:t>Inés Suárez</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Religious Conversions</a:t>
            </a:r>
          </a:p>
        </p:txBody>
      </p:sp>
      <p:sp>
        <p:nvSpPr>
          <p:cNvPr id="72706" name="Content Placeholder 2"/>
          <p:cNvSpPr>
            <a:spLocks noGrp="1"/>
          </p:cNvSpPr>
          <p:nvPr>
            <p:ph idx="1"/>
          </p:nvPr>
        </p:nvSpPr>
        <p:spPr/>
        <p:txBody>
          <a:bodyPr/>
          <a:lstStyle/>
          <a:p>
            <a:pPr marL="688975" lvl="1" indent="-346075" eaLnBrk="1" hangingPunct="1">
              <a:lnSpc>
                <a:spcPct val="90000"/>
              </a:lnSpc>
            </a:pPr>
            <a:r>
              <a:rPr lang="en-US" altLang="en-US" dirty="0">
                <a:solidFill>
                  <a:schemeClr val="tx1"/>
                </a:solidFill>
                <a:latin typeface="Times New Roman" charset="0"/>
                <a:ea typeface="Times New Roman" charset="0"/>
                <a:cs typeface="Times New Roman" charset="0"/>
              </a:rPr>
              <a:t>Indigenous Americans accustomed to accepting religion of rulers</a:t>
            </a:r>
          </a:p>
          <a:p>
            <a:pPr marL="688975" lvl="1" indent="-346075" eaLnBrk="1" hangingPunct="1">
              <a:lnSpc>
                <a:spcPct val="90000"/>
              </a:lnSpc>
            </a:pPr>
            <a:r>
              <a:rPr lang="en-US" altLang="en-US" dirty="0">
                <a:solidFill>
                  <a:schemeClr val="tx1"/>
                </a:solidFill>
                <a:latin typeface="Times New Roman" charset="0"/>
                <a:ea typeface="Times New Roman" charset="0"/>
                <a:cs typeface="Times New Roman" charset="0"/>
              </a:rPr>
              <a:t>Spanish erected churches on sites already holy to indigenous Americans. </a:t>
            </a:r>
          </a:p>
          <a:p>
            <a:pPr marL="688975" lvl="1" indent="-346075" eaLnBrk="1" hangingPunct="1">
              <a:lnSpc>
                <a:spcPct val="90000"/>
              </a:lnSpc>
            </a:pPr>
            <a:r>
              <a:rPr lang="en-US" altLang="en-US" dirty="0">
                <a:solidFill>
                  <a:schemeClr val="tx1"/>
                </a:solidFill>
                <a:latin typeface="Times New Roman" charset="0"/>
                <a:ea typeface="Times New Roman" charset="0"/>
                <a:cs typeface="Times New Roman" charset="0"/>
              </a:rPr>
              <a:t>Spanish often converted indigenous people in mass ceremonies.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Spanish Rule</a:t>
            </a:r>
          </a:p>
        </p:txBody>
      </p:sp>
      <p:sp>
        <p:nvSpPr>
          <p:cNvPr id="74754"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Transitions to Spanish rule</a:t>
            </a:r>
          </a:p>
          <a:p>
            <a:pPr marL="800100" lvl="1" indent="-457200" eaLnBrk="1" hangingPunct="1">
              <a:lnSpc>
                <a:spcPct val="90000"/>
              </a:lnSpc>
            </a:pPr>
            <a:r>
              <a:rPr lang="en-US" altLang="en-US" dirty="0">
                <a:solidFill>
                  <a:schemeClr val="tx1"/>
                </a:solidFill>
                <a:latin typeface="Times New Roman" charset="0"/>
                <a:ea typeface="Times New Roman" charset="0"/>
                <a:cs typeface="Times New Roman" charset="0"/>
              </a:rPr>
              <a:t>Sedentary peoples survived conquest far better than Tupi.</a:t>
            </a:r>
          </a:p>
          <a:p>
            <a:pPr marL="800100" lvl="1" indent="-457200" eaLnBrk="1" hangingPunct="1">
              <a:lnSpc>
                <a:spcPct val="90000"/>
              </a:lnSpc>
            </a:pPr>
            <a:r>
              <a:rPr lang="en-US" altLang="en-US" dirty="0">
                <a:solidFill>
                  <a:schemeClr val="tx1"/>
                </a:solidFill>
                <a:latin typeface="Times New Roman" charset="0"/>
                <a:ea typeface="Times New Roman" charset="0"/>
                <a:cs typeface="Times New Roman" charset="0"/>
              </a:rPr>
              <a:t>Former imperial subjects suffered.</a:t>
            </a:r>
          </a:p>
          <a:p>
            <a:pPr lvl="2" eaLnBrk="1" hangingPunct="1"/>
            <a:r>
              <a:rPr lang="en-US" altLang="en-US" dirty="0">
                <a:latin typeface="Times New Roman" charset="0"/>
                <a:ea typeface="Times New Roman" charset="0"/>
                <a:cs typeface="Times New Roman" charset="0"/>
              </a:rPr>
              <a:t>Greater tributes</a:t>
            </a:r>
          </a:p>
          <a:p>
            <a:pPr lvl="2" eaLnBrk="1" hangingPunct="1"/>
            <a:r>
              <a:rPr lang="en-US" altLang="en-US" i="1" dirty="0">
                <a:latin typeface="Times New Roman" charset="0"/>
                <a:ea typeface="Times New Roman" charset="0"/>
                <a:cs typeface="Times New Roman" charset="0"/>
              </a:rPr>
              <a:t>Mita</a:t>
            </a:r>
            <a:r>
              <a:rPr lang="en-US" altLang="en-US" dirty="0">
                <a:latin typeface="Times New Roman" charset="0"/>
                <a:ea typeface="Times New Roman" charset="0"/>
                <a:cs typeface="Times New Roman" charset="0"/>
              </a:rPr>
              <a:t> labor draft </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5B9BD5"/>
      </a:accent1>
      <a:accent2>
        <a:srgbClr val="000000"/>
      </a:accent2>
      <a:accent3>
        <a:srgbClr val="A5A5A5"/>
      </a:accent3>
      <a:accent4>
        <a:srgbClr val="FFC000"/>
      </a:accent4>
      <a:accent5>
        <a:srgbClr val="4472C4"/>
      </a:accent5>
      <a:accent6>
        <a:srgbClr val="70AD47"/>
      </a:accent6>
      <a:hlink>
        <a:srgbClr val="0563C1"/>
      </a:hlink>
      <a:folHlink>
        <a:srgbClr val="000000"/>
      </a:folHlink>
    </a:clrScheme>
    <a:fontScheme name="Georgia">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D69AFE3D876FE4297EE28B5F70DC3F8" ma:contentTypeVersion="18" ma:contentTypeDescription="Create a new document." ma:contentTypeScope="" ma:versionID="24168822608d9d77dd2a031d1dc4320d">
  <xsd:schema xmlns:xsd="http://www.w3.org/2001/XMLSchema" xmlns:xs="http://www.w3.org/2001/XMLSchema" xmlns:p="http://schemas.microsoft.com/office/2006/metadata/properties" xmlns:ns2="d1c7c9a4-d043-4a67-96e5-2ff5b742a303" xmlns:ns3="9d64b6a7-e13d-4012-aff2-02bdd52222eb" targetNamespace="http://schemas.microsoft.com/office/2006/metadata/properties" ma:root="true" ma:fieldsID="974d88cf474a8c2222dc8cf659776bc2" ns2:_="" ns3:_="">
    <xsd:import namespace="d1c7c9a4-d043-4a67-96e5-2ff5b742a303"/>
    <xsd:import namespace="9d64b6a7-e13d-4012-aff2-02bdd52222e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c7c9a4-d043-4a67-96e5-2ff5b742a3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5876ee3-2b79-4d5d-9b03-6d8756831634"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64b6a7-e13d-4012-aff2-02bdd52222e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b26d98fc-0af3-417b-8254-413504fc40c8}" ma:internalName="TaxCatchAll" ma:showField="CatchAllData" ma:web="9d64b6a7-e13d-4012-aff2-02bdd52222e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1c7c9a4-d043-4a67-96e5-2ff5b742a303">
      <Terms xmlns="http://schemas.microsoft.com/office/infopath/2007/PartnerControls"/>
    </lcf76f155ced4ddcb4097134ff3c332f>
    <TaxCatchAll xmlns="9d64b6a7-e13d-4012-aff2-02bdd52222eb" xsi:nil="true"/>
  </documentManagement>
</p:properties>
</file>

<file path=customXml/itemProps1.xml><?xml version="1.0" encoding="utf-8"?>
<ds:datastoreItem xmlns:ds="http://schemas.openxmlformats.org/officeDocument/2006/customXml" ds:itemID="{C93A162A-C3BD-4465-A386-0E5A73EBFD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c7c9a4-d043-4a67-96e5-2ff5b742a303"/>
    <ds:schemaRef ds:uri="9d64b6a7-e13d-4012-aff2-02bdd52222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8AED79-3AAF-43BD-A984-DA875CAB889B}">
  <ds:schemaRefs>
    <ds:schemaRef ds:uri="http://schemas.microsoft.com/sharepoint/v3/contenttype/forms"/>
  </ds:schemaRefs>
</ds:datastoreItem>
</file>

<file path=customXml/itemProps3.xml><?xml version="1.0" encoding="utf-8"?>
<ds:datastoreItem xmlns:ds="http://schemas.openxmlformats.org/officeDocument/2006/customXml" ds:itemID="{90B1B2BC-B2AD-4CC8-9339-24A549B9456D}">
  <ds:schemaRefs>
    <ds:schemaRef ds:uri="http://schemas.microsoft.com/office/2006/documentManagement/types"/>
    <ds:schemaRef ds:uri="http://purl.org/dc/terms/"/>
    <ds:schemaRef ds:uri="http://schemas.microsoft.com/office/infopath/2007/PartnerControls"/>
    <ds:schemaRef ds:uri="d1c7c9a4-d043-4a67-96e5-2ff5b742a303"/>
    <ds:schemaRef ds:uri="http://schemas.openxmlformats.org/package/2006/metadata/core-properties"/>
    <ds:schemaRef ds:uri="http://purl.org/dc/elements/1.1/"/>
    <ds:schemaRef ds:uri="http://www.w3.org/XML/1998/namespace"/>
    <ds:schemaRef ds:uri="9d64b6a7-e13d-4012-aff2-02bdd52222eb"/>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3516</TotalTime>
  <Words>1090</Words>
  <Application>Microsoft Office PowerPoint</Application>
  <PresentationFormat>Presentación en pantalla (4:3)</PresentationFormat>
  <Paragraphs>231</Paragraphs>
  <Slides>33</Slides>
  <Notes>33</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33</vt:i4>
      </vt:variant>
    </vt:vector>
  </HeadingPairs>
  <TitlesOfParts>
    <vt:vector size="40" baseType="lpstr">
      <vt:lpstr>Arial</vt:lpstr>
      <vt:lpstr>Arial Black</vt:lpstr>
      <vt:lpstr>Calibri</vt:lpstr>
      <vt:lpstr>Georgia</vt:lpstr>
      <vt:lpstr>Times New Roman</vt:lpstr>
      <vt:lpstr>Wingdings</vt:lpstr>
      <vt:lpstr>Office Theme</vt:lpstr>
      <vt:lpstr>Born in Blood &amp; Fire A Concise History of Latin America 5th Edition</vt:lpstr>
      <vt:lpstr>Encounter</vt:lpstr>
      <vt:lpstr>Columbus and Cabral</vt:lpstr>
      <vt:lpstr>Forms of Social Organization</vt:lpstr>
      <vt:lpstr>Semisedentary Peoples</vt:lpstr>
      <vt:lpstr>Fully Sedentary Peoples</vt:lpstr>
      <vt:lpstr>Aztec Empire</vt:lpstr>
      <vt:lpstr>Inca Empire</vt:lpstr>
      <vt:lpstr>Mayan Empire</vt:lpstr>
      <vt:lpstr>Origins: Crusading Mentality</vt:lpstr>
      <vt:lpstr>Reconquest</vt:lpstr>
      <vt:lpstr>Role of Religion</vt:lpstr>
      <vt:lpstr>Early Exploration</vt:lpstr>
      <vt:lpstr>Brazilian Counterexample</vt:lpstr>
      <vt:lpstr>Initial Forays into Brazil</vt:lpstr>
      <vt:lpstr>Conquest of Brazil</vt:lpstr>
      <vt:lpstr>Indigenous Groups and Iberian Invasions</vt:lpstr>
      <vt:lpstr>Rebellion and Resistance</vt:lpstr>
      <vt:lpstr>Demographic Catastrophe</vt:lpstr>
      <vt:lpstr>Africa and Slave Trade</vt:lpstr>
      <vt:lpstr>Portugal Slave Trade</vt:lpstr>
      <vt:lpstr>West Coast Trade</vt:lpstr>
      <vt:lpstr> Cortés and the Aztec Empire </vt:lpstr>
      <vt:lpstr>Power and Strategy</vt:lpstr>
      <vt:lpstr>Colonial Introductions</vt:lpstr>
      <vt:lpstr>Defeat of the Aztec Empire</vt:lpstr>
      <vt:lpstr>Conquest of Inca</vt:lpstr>
      <vt:lpstr>Role of Indigenous Allies</vt:lpstr>
      <vt:lpstr>Encomienda</vt:lpstr>
      <vt:lpstr>Birth of Spanish America</vt:lpstr>
      <vt:lpstr>Role of Spanish Women</vt:lpstr>
      <vt:lpstr>Religious Conversions</vt:lpstr>
      <vt:lpstr>Spanish Rule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Born in Blood &amp; Fire</dc:title>
  <dc:creator>Beau D.J. Gaitors</dc:creator>
  <cp:lastModifiedBy>Claudio Robelo</cp:lastModifiedBy>
  <cp:revision>72</cp:revision>
  <dcterms:created xsi:type="dcterms:W3CDTF">2011-06-14T19:57:16Z</dcterms:created>
  <dcterms:modified xsi:type="dcterms:W3CDTF">2025-05-08T18:00:23Z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0x0101002D69AFE3D876FE4297EE28B5F70DC3F8</vt:lpwstr>
  </property>
</Properties>
</file>