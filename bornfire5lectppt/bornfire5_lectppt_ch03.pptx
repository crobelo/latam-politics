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sldIdLst>
    <p:sldId id="256" r:id="rId5"/>
    <p:sldId id="257" r:id="rId6"/>
    <p:sldId id="258" r:id="rId7"/>
    <p:sldId id="292" r:id="rId8"/>
    <p:sldId id="259" r:id="rId9"/>
    <p:sldId id="260" r:id="rId10"/>
    <p:sldId id="296" r:id="rId11"/>
    <p:sldId id="261" r:id="rId12"/>
    <p:sldId id="297" r:id="rId13"/>
    <p:sldId id="262" r:id="rId14"/>
    <p:sldId id="263" r:id="rId15"/>
    <p:sldId id="264" r:id="rId16"/>
    <p:sldId id="265" r:id="rId17"/>
    <p:sldId id="266" r:id="rId18"/>
    <p:sldId id="267" r:id="rId19"/>
    <p:sldId id="268" r:id="rId20"/>
    <p:sldId id="298" r:id="rId21"/>
    <p:sldId id="29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306" r:id="rId3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FD47F4-D62F-29E1-A4A5-60559B0A1BD1}" name="Kopp, Katherine" initials="KK" userId="S::kkopp@wwnorton.com::8975c588-54e8-41b7-a546-07e477ad4a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071B1A-A3E9-7C40-9E59-478D69751077}" v="4" dt="2024-06-06T18:12:40.0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223"/>
    <p:restoredTop sz="74830"/>
  </p:normalViewPr>
  <p:slideViewPr>
    <p:cSldViewPr>
      <p:cViewPr varScale="1">
        <p:scale>
          <a:sx n="90" d="100"/>
          <a:sy n="90" d="100"/>
        </p:scale>
        <p:origin x="84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charset="0"/>
              </a:defRPr>
            </a:lvl1pPr>
          </a:lstStyle>
          <a:p>
            <a:pPr>
              <a:defRPr/>
            </a:pPr>
            <a:fld id="{5832ACB5-56FC-CE4D-9C1D-87C3CA9E06D8}" type="datetime1">
              <a:rPr lang="en-US" altLang="en-US"/>
              <a:pPr>
                <a:defRPr/>
              </a:pPr>
              <a:t>6/6/24</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charset="0"/>
              </a:defRPr>
            </a:lvl1pPr>
          </a:lstStyle>
          <a:p>
            <a:pPr>
              <a:defRPr/>
            </a:pPr>
            <a:fld id="{A8CBF8B9-E1A9-5A4F-9B5F-65C41162AE04}" type="slidenum">
              <a:rPr lang="en-US" altLang="en-US"/>
              <a:pPr>
                <a:defRPr/>
              </a:pPr>
              <a:t>‹#›</a:t>
            </a:fld>
            <a:endParaRPr lang="en-US" altLang="en-US"/>
          </a:p>
        </p:txBody>
      </p:sp>
    </p:spTree>
    <p:extLst>
      <p:ext uri="{BB962C8B-B14F-4D97-AF65-F5344CB8AC3E}">
        <p14:creationId xmlns:p14="http://schemas.microsoft.com/office/powerpoint/2010/main" val="14559800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3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92F2F4D-9A2B-CB40-B0DC-37BE5C54AC80}" type="slidenum">
              <a:rPr lang="en-US" altLang="en-US"/>
              <a:pPr>
                <a:spcBef>
                  <a:spcPct val="0"/>
                </a:spcBef>
              </a:pPr>
              <a:t>1</a:t>
            </a:fld>
            <a:endParaRPr lang="en-US" altLang="en-US" dirty="0"/>
          </a:p>
        </p:txBody>
      </p:sp>
    </p:spTree>
    <p:extLst>
      <p:ext uri="{BB962C8B-B14F-4D97-AF65-F5344CB8AC3E}">
        <p14:creationId xmlns:p14="http://schemas.microsoft.com/office/powerpoint/2010/main" val="1908878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22C3A7B-BE05-BE4E-AE08-A26FBB1B5C9B}" type="slidenum">
              <a:rPr lang="en-US" altLang="en-US"/>
              <a:pPr>
                <a:spcBef>
                  <a:spcPct val="0"/>
                </a:spcBef>
              </a:pPr>
              <a:t>2</a:t>
            </a:fld>
            <a:endParaRPr lang="en-US" altLang="en-US"/>
          </a:p>
        </p:txBody>
      </p:sp>
    </p:spTree>
    <p:extLst>
      <p:ext uri="{BB962C8B-B14F-4D97-AF65-F5344CB8AC3E}">
        <p14:creationId xmlns:p14="http://schemas.microsoft.com/office/powerpoint/2010/main" val="1782113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8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dirty="0"/>
          </a:p>
        </p:txBody>
      </p:sp>
      <p:sp>
        <p:nvSpPr>
          <p:cNvPr id="184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2573DAB-EAC7-ED47-A374-D5B37D443BA8}" type="slidenum">
              <a:rPr lang="en-US" altLang="en-US"/>
              <a:pPr>
                <a:spcBef>
                  <a:spcPct val="0"/>
                </a:spcBef>
              </a:pPr>
              <a:t>3</a:t>
            </a:fld>
            <a:endParaRPr lang="en-US" altLang="en-US"/>
          </a:p>
        </p:txBody>
      </p:sp>
    </p:spTree>
    <p:extLst>
      <p:ext uri="{BB962C8B-B14F-4D97-AF65-F5344CB8AC3E}">
        <p14:creationId xmlns:p14="http://schemas.microsoft.com/office/powerpoint/2010/main" val="1031590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POTOSÍ.</a:t>
            </a:r>
            <a:r>
              <a:rPr lang="en-US" dirty="0"/>
              <a:t> Honeycombed with mine shafts, the “mountain of silver” looms over the city of Potosí in modern Bolivia—called Upper Peru at the time of this 1584 painting. In the foreground, silver ore is being crushed by water-powered machinery and mixed with mercury to extract the precious metal. </a:t>
            </a:r>
            <a:r>
              <a:rPr lang="en-US" i="1" dirty="0"/>
              <a:t>The Granger Collection, New York.</a:t>
            </a:r>
          </a:p>
        </p:txBody>
      </p:sp>
      <p:sp>
        <p:nvSpPr>
          <p:cNvPr id="4" name="Slide Number Placeholder 3"/>
          <p:cNvSpPr>
            <a:spLocks noGrp="1"/>
          </p:cNvSpPr>
          <p:nvPr>
            <p:ph type="sldNum" sz="quarter" idx="10"/>
          </p:nvPr>
        </p:nvSpPr>
        <p:spPr/>
        <p:txBody>
          <a:bodyPr/>
          <a:lstStyle/>
          <a:p>
            <a:fld id="{C9CDF101-C185-844F-9839-0B79CB8E1A4A}" type="slidenum">
              <a:rPr lang="en-US" smtClean="0"/>
              <a:pPr/>
              <a:t>4</a:t>
            </a:fld>
            <a:endParaRPr lang="en-US"/>
          </a:p>
        </p:txBody>
      </p:sp>
    </p:spTree>
    <p:extLst>
      <p:ext uri="{BB962C8B-B14F-4D97-AF65-F5344CB8AC3E}">
        <p14:creationId xmlns:p14="http://schemas.microsoft.com/office/powerpoint/2010/main" val="199267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04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204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F014A62-FFB4-7E4A-A10B-8F2D157A47EB}" type="slidenum">
              <a:rPr lang="en-US" altLang="en-US"/>
              <a:pPr>
                <a:spcBef>
                  <a:spcPct val="0"/>
                </a:spcBef>
              </a:pPr>
              <a:t>5</a:t>
            </a:fld>
            <a:endParaRPr lang="en-US" altLang="en-US"/>
          </a:p>
        </p:txBody>
      </p:sp>
    </p:spTree>
    <p:extLst>
      <p:ext uri="{BB962C8B-B14F-4D97-AF65-F5344CB8AC3E}">
        <p14:creationId xmlns:p14="http://schemas.microsoft.com/office/powerpoint/2010/main" val="1298185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25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225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86818CC-7535-FB46-BE38-1D69044A6418}" type="slidenum">
              <a:rPr lang="en-US" altLang="en-US"/>
              <a:pPr>
                <a:spcBef>
                  <a:spcPct val="0"/>
                </a:spcBef>
              </a:pPr>
              <a:t>6</a:t>
            </a:fld>
            <a:endParaRPr lang="en-US" altLang="en-US"/>
          </a:p>
        </p:txBody>
      </p:sp>
    </p:spTree>
    <p:extLst>
      <p:ext uri="{BB962C8B-B14F-4D97-AF65-F5344CB8AC3E}">
        <p14:creationId xmlns:p14="http://schemas.microsoft.com/office/powerpoint/2010/main" val="171408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i="0" dirty="0">
                <a:effectLst/>
                <a:latin typeface="Helvetica" pitchFamily="2" charset="0"/>
              </a:rPr>
              <a:t>A BRAZILIAN SUGAR MILL. </a:t>
            </a:r>
            <a:r>
              <a:rPr lang="en-US" i="0" dirty="0">
                <a:effectLst/>
                <a:latin typeface="Helvetica" pitchFamily="2" charset="0"/>
              </a:rPr>
              <a:t>In this nineteenth-century engraving, sugarcane is being unloaded from an oxcart and fed into an </a:t>
            </a:r>
            <a:r>
              <a:rPr lang="en-US" i="1" dirty="0">
                <a:effectLst/>
                <a:latin typeface="Helvetica" pitchFamily="2" charset="0"/>
              </a:rPr>
              <a:t>engenho</a:t>
            </a:r>
            <a:r>
              <a:rPr lang="en-US" i="0" dirty="0">
                <a:effectLst/>
                <a:latin typeface="Helvetica" pitchFamily="2" charset="0"/>
              </a:rPr>
              <a:t>’s grinding mechanism, producing gallons of sweet sap that will be boiled down into bricks of sugar for shipment. The </a:t>
            </a:r>
            <a:r>
              <a:rPr lang="en-US" i="1" u="none" dirty="0">
                <a:effectLst/>
                <a:latin typeface="Helvetica" pitchFamily="2" charset="0"/>
              </a:rPr>
              <a:t>senhor de engenho </a:t>
            </a:r>
            <a:r>
              <a:rPr lang="en-US" i="0" dirty="0">
                <a:effectLst/>
                <a:latin typeface="Helvetica" pitchFamily="2" charset="0"/>
              </a:rPr>
              <a:t>looks on. </a:t>
            </a:r>
            <a:r>
              <a:rPr lang="en-US" i="1" dirty="0"/>
              <a:t>The Granger Collection, New York.</a:t>
            </a:r>
            <a:endParaRPr lang="en-US" i="0" dirty="0">
              <a:effectLst/>
              <a:latin typeface="Helvetica" pitchFamily="2" charset="0"/>
            </a:endParaRPr>
          </a:p>
        </p:txBody>
      </p:sp>
      <p:sp>
        <p:nvSpPr>
          <p:cNvPr id="4" name="Slide Number Placeholder 3"/>
          <p:cNvSpPr>
            <a:spLocks noGrp="1"/>
          </p:cNvSpPr>
          <p:nvPr>
            <p:ph type="sldNum" sz="quarter" idx="10"/>
          </p:nvPr>
        </p:nvSpPr>
        <p:spPr/>
        <p:txBody>
          <a:bodyPr/>
          <a:lstStyle/>
          <a:p>
            <a:fld id="{C9CDF101-C185-844F-9839-0B79CB8E1A4A}" type="slidenum">
              <a:rPr lang="en-US" smtClean="0"/>
              <a:pPr/>
              <a:t>7</a:t>
            </a:fld>
            <a:endParaRPr lang="en-US"/>
          </a:p>
        </p:txBody>
      </p:sp>
    </p:spTree>
    <p:extLst>
      <p:ext uri="{BB962C8B-B14F-4D97-AF65-F5344CB8AC3E}">
        <p14:creationId xmlns:p14="http://schemas.microsoft.com/office/powerpoint/2010/main" val="2717091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0235F22-B499-2540-9203-41FD56A0796B}" type="slidenum">
              <a:rPr lang="en-US" altLang="en-US"/>
              <a:pPr>
                <a:spcBef>
                  <a:spcPct val="0"/>
                </a:spcBef>
              </a:pPr>
              <a:t>8</a:t>
            </a:fld>
            <a:endParaRPr lang="en-US" altLang="en-US"/>
          </a:p>
        </p:txBody>
      </p:sp>
    </p:spTree>
    <p:extLst>
      <p:ext uri="{BB962C8B-B14F-4D97-AF65-F5344CB8AC3E}">
        <p14:creationId xmlns:p14="http://schemas.microsoft.com/office/powerpoint/2010/main" val="1079206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0235F22-B499-2540-9203-41FD56A0796B}" type="slidenum">
              <a:rPr lang="en-US" altLang="en-US"/>
              <a:pPr>
                <a:spcBef>
                  <a:spcPct val="0"/>
                </a:spcBef>
              </a:pPr>
              <a:t>9</a:t>
            </a:fld>
            <a:endParaRPr lang="en-US" altLang="en-US"/>
          </a:p>
        </p:txBody>
      </p:sp>
    </p:spTree>
    <p:extLst>
      <p:ext uri="{BB962C8B-B14F-4D97-AF65-F5344CB8AC3E}">
        <p14:creationId xmlns:p14="http://schemas.microsoft.com/office/powerpoint/2010/main" val="2870119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66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266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4B17F04-BBB7-5E4C-A40A-E3884E15DACB}" type="slidenum">
              <a:rPr lang="en-US" altLang="en-US"/>
              <a:pPr>
                <a:spcBef>
                  <a:spcPct val="0"/>
                </a:spcBef>
              </a:pPr>
              <a:t>10</a:t>
            </a:fld>
            <a:endParaRPr lang="en-US" altLang="en-US"/>
          </a:p>
        </p:txBody>
      </p:sp>
    </p:spTree>
    <p:extLst>
      <p:ext uri="{BB962C8B-B14F-4D97-AF65-F5344CB8AC3E}">
        <p14:creationId xmlns:p14="http://schemas.microsoft.com/office/powerpoint/2010/main" val="574914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7D1132B-7366-484A-B55B-1B678C3C39EC}" type="slidenum">
              <a:rPr lang="en-US" altLang="en-US"/>
              <a:pPr>
                <a:spcBef>
                  <a:spcPct val="0"/>
                </a:spcBef>
              </a:pPr>
              <a:t>11</a:t>
            </a:fld>
            <a:endParaRPr lang="en-US" altLang="en-US"/>
          </a:p>
        </p:txBody>
      </p:sp>
    </p:spTree>
    <p:extLst>
      <p:ext uri="{BB962C8B-B14F-4D97-AF65-F5344CB8AC3E}">
        <p14:creationId xmlns:p14="http://schemas.microsoft.com/office/powerpoint/2010/main" val="1053493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4F12971-B1AF-AA41-A441-B81287DD5100}" type="slidenum">
              <a:rPr lang="en-US" altLang="en-US"/>
              <a:pPr>
                <a:spcBef>
                  <a:spcPct val="0"/>
                </a:spcBef>
              </a:pPr>
              <a:t>12</a:t>
            </a:fld>
            <a:endParaRPr lang="en-US" altLang="en-US"/>
          </a:p>
        </p:txBody>
      </p:sp>
    </p:spTree>
    <p:extLst>
      <p:ext uri="{BB962C8B-B14F-4D97-AF65-F5344CB8AC3E}">
        <p14:creationId xmlns:p14="http://schemas.microsoft.com/office/powerpoint/2010/main" val="66332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327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3A88ABE-830C-F744-8F0E-74123C7428B7}" type="slidenum">
              <a:rPr lang="en-US" altLang="en-US"/>
              <a:pPr>
                <a:spcBef>
                  <a:spcPct val="0"/>
                </a:spcBef>
              </a:pPr>
              <a:t>13</a:t>
            </a:fld>
            <a:endParaRPr lang="en-US" altLang="en-US"/>
          </a:p>
        </p:txBody>
      </p:sp>
    </p:spTree>
    <p:extLst>
      <p:ext uri="{BB962C8B-B14F-4D97-AF65-F5344CB8AC3E}">
        <p14:creationId xmlns:p14="http://schemas.microsoft.com/office/powerpoint/2010/main" val="313810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1AA3340-8576-B646-B2F8-9131DDFBAD8E}" type="slidenum">
              <a:rPr lang="en-US" altLang="en-US"/>
              <a:pPr>
                <a:spcBef>
                  <a:spcPct val="0"/>
                </a:spcBef>
              </a:pPr>
              <a:t>14</a:t>
            </a:fld>
            <a:endParaRPr lang="en-US" altLang="en-US"/>
          </a:p>
        </p:txBody>
      </p:sp>
    </p:spTree>
    <p:extLst>
      <p:ext uri="{BB962C8B-B14F-4D97-AF65-F5344CB8AC3E}">
        <p14:creationId xmlns:p14="http://schemas.microsoft.com/office/powerpoint/2010/main" val="2142888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368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58BB64A-C25C-194E-BD5F-2666E37CB154}" type="slidenum">
              <a:rPr lang="en-US" altLang="en-US"/>
              <a:pPr>
                <a:spcBef>
                  <a:spcPct val="0"/>
                </a:spcBef>
              </a:pPr>
              <a:t>15</a:t>
            </a:fld>
            <a:endParaRPr lang="en-US" altLang="en-US"/>
          </a:p>
        </p:txBody>
      </p:sp>
    </p:spTree>
    <p:extLst>
      <p:ext uri="{BB962C8B-B14F-4D97-AF65-F5344CB8AC3E}">
        <p14:creationId xmlns:p14="http://schemas.microsoft.com/office/powerpoint/2010/main" val="74036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389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35B1204-0251-3B48-BF03-70E3F2A0F082}" type="slidenum">
              <a:rPr lang="en-US" altLang="en-US"/>
              <a:pPr>
                <a:spcBef>
                  <a:spcPct val="0"/>
                </a:spcBef>
              </a:pPr>
              <a:t>16</a:t>
            </a:fld>
            <a:endParaRPr lang="en-US" altLang="en-US"/>
          </a:p>
        </p:txBody>
      </p:sp>
    </p:spTree>
    <p:extLst>
      <p:ext uri="{BB962C8B-B14F-4D97-AF65-F5344CB8AC3E}">
        <p14:creationId xmlns:p14="http://schemas.microsoft.com/office/powerpoint/2010/main" val="9315162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72DF880-C6A4-4541-BC69-BC25F3613B92}" type="slidenum">
              <a:rPr lang="en-US" altLang="en-US"/>
              <a:pPr>
                <a:spcBef>
                  <a:spcPct val="0"/>
                </a:spcBef>
              </a:pPr>
              <a:t>17</a:t>
            </a:fld>
            <a:endParaRPr lang="en-US" altLang="en-US"/>
          </a:p>
        </p:txBody>
      </p:sp>
    </p:spTree>
    <p:extLst>
      <p:ext uri="{BB962C8B-B14F-4D97-AF65-F5344CB8AC3E}">
        <p14:creationId xmlns:p14="http://schemas.microsoft.com/office/powerpoint/2010/main" val="3740132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72DF880-C6A4-4541-BC69-BC25F3613B92}" type="slidenum">
              <a:rPr lang="en-US" altLang="en-US"/>
              <a:pPr>
                <a:spcBef>
                  <a:spcPct val="0"/>
                </a:spcBef>
              </a:pPr>
              <a:t>18</a:t>
            </a:fld>
            <a:endParaRPr lang="en-US" altLang="en-US"/>
          </a:p>
        </p:txBody>
      </p:sp>
    </p:spTree>
    <p:extLst>
      <p:ext uri="{BB962C8B-B14F-4D97-AF65-F5344CB8AC3E}">
        <p14:creationId xmlns:p14="http://schemas.microsoft.com/office/powerpoint/2010/main" val="21024155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72DF880-C6A4-4541-BC69-BC25F3613B92}" type="slidenum">
              <a:rPr lang="en-US" altLang="en-US"/>
              <a:pPr>
                <a:spcBef>
                  <a:spcPct val="0"/>
                </a:spcBef>
              </a:pPr>
              <a:t>19</a:t>
            </a:fld>
            <a:endParaRPr lang="en-US" altLang="en-US"/>
          </a:p>
        </p:txBody>
      </p:sp>
    </p:spTree>
    <p:extLst>
      <p:ext uri="{BB962C8B-B14F-4D97-AF65-F5344CB8AC3E}">
        <p14:creationId xmlns:p14="http://schemas.microsoft.com/office/powerpoint/2010/main" val="1896024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5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450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C8C1D10-5004-9048-B954-58E5FBDCA24F}" type="slidenum">
              <a:rPr lang="en-US" altLang="en-US"/>
              <a:pPr>
                <a:spcBef>
                  <a:spcPct val="0"/>
                </a:spcBef>
              </a:pPr>
              <a:t>20</a:t>
            </a:fld>
            <a:endParaRPr lang="en-US" altLang="en-US"/>
          </a:p>
        </p:txBody>
      </p:sp>
    </p:spTree>
    <p:extLst>
      <p:ext uri="{BB962C8B-B14F-4D97-AF65-F5344CB8AC3E}">
        <p14:creationId xmlns:p14="http://schemas.microsoft.com/office/powerpoint/2010/main" val="2119450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9EDC9A4-CA93-DF4C-8866-BD81F29B4596}" type="slidenum">
              <a:rPr lang="en-US" altLang="en-US"/>
              <a:pPr>
                <a:spcBef>
                  <a:spcPct val="0"/>
                </a:spcBef>
              </a:pPr>
              <a:t>21</a:t>
            </a:fld>
            <a:endParaRPr lang="en-US" altLang="en-US"/>
          </a:p>
        </p:txBody>
      </p:sp>
    </p:spTree>
    <p:extLst>
      <p:ext uri="{BB962C8B-B14F-4D97-AF65-F5344CB8AC3E}">
        <p14:creationId xmlns:p14="http://schemas.microsoft.com/office/powerpoint/2010/main" val="12999394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491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29FAC01-67C4-C14C-A1A1-B67C525253F0}" type="slidenum">
              <a:rPr lang="en-US" altLang="en-US"/>
              <a:pPr>
                <a:spcBef>
                  <a:spcPct val="0"/>
                </a:spcBef>
              </a:pPr>
              <a:t>22</a:t>
            </a:fld>
            <a:endParaRPr lang="en-US" altLang="en-US"/>
          </a:p>
        </p:txBody>
      </p:sp>
    </p:spTree>
    <p:extLst>
      <p:ext uri="{BB962C8B-B14F-4D97-AF65-F5344CB8AC3E}">
        <p14:creationId xmlns:p14="http://schemas.microsoft.com/office/powerpoint/2010/main" val="17316322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512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D196410-7138-9B4D-9339-DA8A282522B5}" type="slidenum">
              <a:rPr lang="en-US" altLang="en-US"/>
              <a:pPr>
                <a:spcBef>
                  <a:spcPct val="0"/>
                </a:spcBef>
              </a:pPr>
              <a:t>23</a:t>
            </a:fld>
            <a:endParaRPr lang="en-US" altLang="en-US"/>
          </a:p>
        </p:txBody>
      </p:sp>
    </p:spTree>
    <p:extLst>
      <p:ext uri="{BB962C8B-B14F-4D97-AF65-F5344CB8AC3E}">
        <p14:creationId xmlns:p14="http://schemas.microsoft.com/office/powerpoint/2010/main" val="844018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D19E9FB-68FC-4B42-B2A5-CBFC6A3B2229}" type="slidenum">
              <a:rPr lang="en-US" altLang="en-US"/>
              <a:pPr>
                <a:spcBef>
                  <a:spcPct val="0"/>
                </a:spcBef>
              </a:pPr>
              <a:t>24</a:t>
            </a:fld>
            <a:endParaRPr lang="en-US" altLang="en-US"/>
          </a:p>
        </p:txBody>
      </p:sp>
    </p:spTree>
    <p:extLst>
      <p:ext uri="{BB962C8B-B14F-4D97-AF65-F5344CB8AC3E}">
        <p14:creationId xmlns:p14="http://schemas.microsoft.com/office/powerpoint/2010/main" val="1282096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AC88026-18F0-5249-955E-023D89446AE2}" type="slidenum">
              <a:rPr lang="en-US" altLang="en-US"/>
              <a:pPr>
                <a:spcBef>
                  <a:spcPct val="0"/>
                </a:spcBef>
              </a:pPr>
              <a:t>25</a:t>
            </a:fld>
            <a:endParaRPr lang="en-US" altLang="en-US"/>
          </a:p>
        </p:txBody>
      </p:sp>
    </p:spTree>
    <p:extLst>
      <p:ext uri="{BB962C8B-B14F-4D97-AF65-F5344CB8AC3E}">
        <p14:creationId xmlns:p14="http://schemas.microsoft.com/office/powerpoint/2010/main" val="3433816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73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573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A8E2EBA-2435-1A48-87F5-6D6A11336B91}" type="slidenum">
              <a:rPr lang="en-US" altLang="en-US"/>
              <a:pPr>
                <a:spcBef>
                  <a:spcPct val="0"/>
                </a:spcBef>
              </a:pPr>
              <a:t>26</a:t>
            </a:fld>
            <a:endParaRPr lang="en-US" altLang="en-US"/>
          </a:p>
        </p:txBody>
      </p:sp>
    </p:spTree>
    <p:extLst>
      <p:ext uri="{BB962C8B-B14F-4D97-AF65-F5344CB8AC3E}">
        <p14:creationId xmlns:p14="http://schemas.microsoft.com/office/powerpoint/2010/main" val="9267312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0A098A4-A78E-2140-B59E-C33F913BA3FF}" type="slidenum">
              <a:rPr lang="en-US" altLang="en-US"/>
              <a:pPr>
                <a:spcBef>
                  <a:spcPct val="0"/>
                </a:spcBef>
              </a:pPr>
              <a:t>27</a:t>
            </a:fld>
            <a:endParaRPr lang="en-US" altLang="en-US"/>
          </a:p>
        </p:txBody>
      </p:sp>
    </p:spTree>
    <p:extLst>
      <p:ext uri="{BB962C8B-B14F-4D97-AF65-F5344CB8AC3E}">
        <p14:creationId xmlns:p14="http://schemas.microsoft.com/office/powerpoint/2010/main" val="20201896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614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9BEED2F-68AC-3F44-814C-77FF6069FFC9}" type="slidenum">
              <a:rPr lang="en-US" altLang="en-US"/>
              <a:pPr>
                <a:spcBef>
                  <a:spcPct val="0"/>
                </a:spcBef>
              </a:pPr>
              <a:t>28</a:t>
            </a:fld>
            <a:endParaRPr lang="en-US" altLang="en-US"/>
          </a:p>
        </p:txBody>
      </p:sp>
    </p:spTree>
    <p:extLst>
      <p:ext uri="{BB962C8B-B14F-4D97-AF65-F5344CB8AC3E}">
        <p14:creationId xmlns:p14="http://schemas.microsoft.com/office/powerpoint/2010/main" val="16116439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634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82C6E6A-974E-4942-98A0-9E2D4A9E6044}" type="slidenum">
              <a:rPr lang="en-US" altLang="en-US"/>
              <a:pPr>
                <a:spcBef>
                  <a:spcPct val="0"/>
                </a:spcBef>
              </a:pPr>
              <a:t>29</a:t>
            </a:fld>
            <a:endParaRPr lang="en-US" altLang="en-US"/>
          </a:p>
        </p:txBody>
      </p:sp>
    </p:spTree>
    <p:extLst>
      <p:ext uri="{BB962C8B-B14F-4D97-AF65-F5344CB8AC3E}">
        <p14:creationId xmlns:p14="http://schemas.microsoft.com/office/powerpoint/2010/main" val="6886784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55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9493309-258A-9840-B91F-D4B6E52A3C9A}" type="slidenum">
              <a:rPr lang="en-US" altLang="en-US"/>
              <a:pPr>
                <a:spcBef>
                  <a:spcPct val="0"/>
                </a:spcBef>
              </a:pPr>
              <a:t>30</a:t>
            </a:fld>
            <a:endParaRPr lang="en-US" altLang="en-US"/>
          </a:p>
        </p:txBody>
      </p:sp>
    </p:spTree>
    <p:extLst>
      <p:ext uri="{BB962C8B-B14F-4D97-AF65-F5344CB8AC3E}">
        <p14:creationId xmlns:p14="http://schemas.microsoft.com/office/powerpoint/2010/main" val="18295035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675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8844929-8AF6-2A45-93D0-57FA3D994FAB}" type="slidenum">
              <a:rPr lang="en-US" altLang="en-US"/>
              <a:pPr>
                <a:spcBef>
                  <a:spcPct val="0"/>
                </a:spcBef>
              </a:pPr>
              <a:t>31</a:t>
            </a:fld>
            <a:endParaRPr lang="en-US" altLang="en-US"/>
          </a:p>
        </p:txBody>
      </p:sp>
    </p:spTree>
    <p:extLst>
      <p:ext uri="{BB962C8B-B14F-4D97-AF65-F5344CB8AC3E}">
        <p14:creationId xmlns:p14="http://schemas.microsoft.com/office/powerpoint/2010/main" val="7950886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p>
        </p:txBody>
      </p:sp>
      <p:sp>
        <p:nvSpPr>
          <p:cNvPr id="696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91D1B59-2FC2-8947-A17D-39F806192500}" type="slidenum">
              <a:rPr lang="en-US" altLang="en-US"/>
              <a:pPr>
                <a:spcBef>
                  <a:spcPct val="0"/>
                </a:spcBef>
              </a:pPr>
              <a:t>32</a:t>
            </a:fld>
            <a:endParaRPr lang="en-US" altLang="en-US"/>
          </a:p>
        </p:txBody>
      </p:sp>
    </p:spTree>
    <p:extLst>
      <p:ext uri="{BB962C8B-B14F-4D97-AF65-F5344CB8AC3E}">
        <p14:creationId xmlns:p14="http://schemas.microsoft.com/office/powerpoint/2010/main" val="1411067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EADCBF9-C2E0-164E-BDEF-1F3C828516C5}" type="datetime1">
              <a:rPr lang="en-US" altLang="en-US"/>
              <a:pPr>
                <a:defRPr/>
              </a:pPr>
              <a:t>6/6/24</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3F900D6-ECC2-CE40-B598-B3780C92DEE4}" type="slidenum">
              <a:rPr lang="en-US" altLang="en-US"/>
              <a:pPr>
                <a:defRPr/>
              </a:pPr>
              <a:t>‹#›</a:t>
            </a:fld>
            <a:endParaRPr lang="en-US" altLang="en-US"/>
          </a:p>
        </p:txBody>
      </p:sp>
    </p:spTree>
    <p:extLst>
      <p:ext uri="{BB962C8B-B14F-4D97-AF65-F5344CB8AC3E}">
        <p14:creationId xmlns:p14="http://schemas.microsoft.com/office/powerpoint/2010/main" val="320983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baseline="0">
                <a:solidFill>
                  <a:schemeClr val="accent2">
                    <a:lumMod val="75000"/>
                  </a:schemeClr>
                </a:solidFill>
                <a:latin typeface="Arial"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indent="0">
              <a:buFont typeface="Wingdings" pitchFamily="2" charset="2"/>
              <a:buNone/>
              <a:defRPr/>
            </a:lvl1pPr>
            <a:lvl2pPr>
              <a:defRPr>
                <a:solidFill>
                  <a:schemeClr val="accent2">
                    <a:lumMod val="75000"/>
                  </a:schemeClr>
                </a:solidFill>
              </a:defRPr>
            </a:lvl2pPr>
            <a:lvl4pPr>
              <a:defRPr>
                <a:solidFill>
                  <a:schemeClr val="accent6">
                    <a:lumMod val="50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3563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8A3FC974-AA30-D14A-867E-BADB07F27B4E}" type="datetime1">
              <a:rPr lang="en-US" altLang="en-US"/>
              <a:pPr>
                <a:defRPr/>
              </a:pPr>
              <a:t>6/6/24</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4C62133-6E7D-DF4B-B0DB-46BE2EE428D1}" type="slidenum">
              <a:rPr lang="en-US" altLang="en-US"/>
              <a:pPr>
                <a:defRPr/>
              </a:pPr>
              <a:t>‹#›</a:t>
            </a:fld>
            <a:endParaRPr lang="en-US" altLang="en-US"/>
          </a:p>
        </p:txBody>
      </p:sp>
    </p:spTree>
    <p:extLst>
      <p:ext uri="{BB962C8B-B14F-4D97-AF65-F5344CB8AC3E}">
        <p14:creationId xmlns:p14="http://schemas.microsoft.com/office/powerpoint/2010/main" val="284578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340C0A9-CE6D-974C-BA33-17FBA63477A8}" type="datetime1">
              <a:rPr lang="en-US" altLang="en-US"/>
              <a:pPr>
                <a:defRPr/>
              </a:pPr>
              <a:t>6/6/24</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5ED3204-631B-2B49-A0CA-4CAB5EE60A1B}" type="slidenum">
              <a:rPr lang="en-US" altLang="en-US"/>
              <a:pPr>
                <a:defRPr/>
              </a:pPr>
              <a:t>‹#›</a:t>
            </a:fld>
            <a:endParaRPr lang="en-US" altLang="en-US"/>
          </a:p>
        </p:txBody>
      </p:sp>
    </p:spTree>
    <p:extLst>
      <p:ext uri="{BB962C8B-B14F-4D97-AF65-F5344CB8AC3E}">
        <p14:creationId xmlns:p14="http://schemas.microsoft.com/office/powerpoint/2010/main" val="460733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CC45B76-5FCA-8E4C-A50B-D6795DC4383E}" type="datetime1">
              <a:rPr lang="en-US" altLang="en-US"/>
              <a:pPr>
                <a:defRPr/>
              </a:pPr>
              <a:t>6/6/24</a:t>
            </a:fld>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F8BFE32-3AF7-C640-B10A-0181B47A6CBD}" type="slidenum">
              <a:rPr lang="en-US" altLang="en-US"/>
              <a:pPr>
                <a:defRPr/>
              </a:pPr>
              <a:t>‹#›</a:t>
            </a:fld>
            <a:endParaRPr lang="en-US" altLang="en-US"/>
          </a:p>
        </p:txBody>
      </p:sp>
    </p:spTree>
    <p:extLst>
      <p:ext uri="{BB962C8B-B14F-4D97-AF65-F5344CB8AC3E}">
        <p14:creationId xmlns:p14="http://schemas.microsoft.com/office/powerpoint/2010/main" val="1876967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8CB954D-4A29-B945-BA3B-191FB5FBA983}" type="datetime1">
              <a:rPr lang="en-US" altLang="en-US"/>
              <a:pPr>
                <a:defRPr/>
              </a:pPr>
              <a:t>6/6/24</a:t>
            </a:fld>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3CB6665-2328-B749-8E4E-A0897632CFC0}" type="slidenum">
              <a:rPr lang="en-US" altLang="en-US"/>
              <a:pPr>
                <a:defRPr/>
              </a:pPr>
              <a:t>‹#›</a:t>
            </a:fld>
            <a:endParaRPr lang="en-US" altLang="en-US"/>
          </a:p>
        </p:txBody>
      </p:sp>
    </p:spTree>
    <p:extLst>
      <p:ext uri="{BB962C8B-B14F-4D97-AF65-F5344CB8AC3E}">
        <p14:creationId xmlns:p14="http://schemas.microsoft.com/office/powerpoint/2010/main" val="179744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8EC952D-73EC-0B49-93E6-B7E55FF45AC0}" type="datetime1">
              <a:rPr lang="en-US" altLang="en-US"/>
              <a:pPr>
                <a:defRPr/>
              </a:pPr>
              <a:t>6/6/24</a:t>
            </a:fld>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0F5E7FC-9C64-6A40-8655-EFB017574794}" type="slidenum">
              <a:rPr lang="en-US" altLang="en-US"/>
              <a:pPr>
                <a:defRPr/>
              </a:pPr>
              <a:t>‹#›</a:t>
            </a:fld>
            <a:endParaRPr lang="en-US" altLang="en-US"/>
          </a:p>
        </p:txBody>
      </p:sp>
    </p:spTree>
    <p:extLst>
      <p:ext uri="{BB962C8B-B14F-4D97-AF65-F5344CB8AC3E}">
        <p14:creationId xmlns:p14="http://schemas.microsoft.com/office/powerpoint/2010/main" val="1055586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05DEAB5-C8B8-5843-9DE6-A9CCD7101AFD}" type="datetime1">
              <a:rPr lang="en-US" altLang="en-US"/>
              <a:pPr>
                <a:defRPr/>
              </a:pPr>
              <a:t>6/6/24</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D089D83-9A1E-1946-A49B-4EFBBD437A7E}" type="slidenum">
              <a:rPr lang="en-US" altLang="en-US"/>
              <a:pPr>
                <a:defRPr/>
              </a:pPr>
              <a:t>‹#›</a:t>
            </a:fld>
            <a:endParaRPr lang="en-US" altLang="en-US"/>
          </a:p>
        </p:txBody>
      </p:sp>
    </p:spTree>
    <p:extLst>
      <p:ext uri="{BB962C8B-B14F-4D97-AF65-F5344CB8AC3E}">
        <p14:creationId xmlns:p14="http://schemas.microsoft.com/office/powerpoint/2010/main" val="875662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C5535B2-C386-2749-A8DE-1AB027162F54}" type="datetime1">
              <a:rPr lang="en-US" altLang="en-US"/>
              <a:pPr>
                <a:defRPr/>
              </a:pPr>
              <a:t>6/6/24</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03C3B67-5114-3147-9269-2AFE7C9B3BD0}" type="slidenum">
              <a:rPr lang="en-US" altLang="en-US"/>
              <a:pPr>
                <a:defRPr/>
              </a:pPr>
              <a:t>‹#›</a:t>
            </a:fld>
            <a:endParaRPr lang="en-US" altLang="en-US"/>
          </a:p>
        </p:txBody>
      </p:sp>
    </p:spTree>
    <p:extLst>
      <p:ext uri="{BB962C8B-B14F-4D97-AF65-F5344CB8AC3E}">
        <p14:creationId xmlns:p14="http://schemas.microsoft.com/office/powerpoint/2010/main" val="550322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022C849-5ABC-A348-A13E-402B3FB36F93}" type="datetime1">
              <a:rPr lang="en-US" altLang="en-US"/>
              <a:pPr>
                <a:defRPr/>
              </a:pPr>
              <a:t>6/6/24</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461236F-293B-4349-B6CA-9AA571AEE75D}" type="slidenum">
              <a:rPr lang="en-US" altLang="en-US"/>
              <a:pPr>
                <a:defRPr/>
              </a:pPr>
              <a:t>‹#›</a:t>
            </a:fld>
            <a:endParaRPr lang="en-US" altLang="en-US"/>
          </a:p>
        </p:txBody>
      </p:sp>
    </p:spTree>
    <p:extLst>
      <p:ext uri="{BB962C8B-B14F-4D97-AF65-F5344CB8AC3E}">
        <p14:creationId xmlns:p14="http://schemas.microsoft.com/office/powerpoint/2010/main" val="53013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267661A-74ED-944A-84F7-30337232B708}" type="datetime1">
              <a:rPr lang="en-US" altLang="en-US"/>
              <a:pPr>
                <a:defRPr/>
              </a:pPr>
              <a:t>6/6/24</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CD46B2F-208A-304F-A837-256EFC4BED37}" type="slidenum">
              <a:rPr lang="en-US" altLang="en-US"/>
              <a:pPr>
                <a:defRPr/>
              </a:pPr>
              <a:t>‹#›</a:t>
            </a:fld>
            <a:endParaRPr lang="en-US" altLang="en-US"/>
          </a:p>
        </p:txBody>
      </p:sp>
    </p:spTree>
    <p:extLst>
      <p:ext uri="{BB962C8B-B14F-4D97-AF65-F5344CB8AC3E}">
        <p14:creationId xmlns:p14="http://schemas.microsoft.com/office/powerpoint/2010/main" val="1936555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smtClean="0">
                <a:solidFill>
                  <a:srgbClr val="898989"/>
                </a:solidFill>
              </a:defRPr>
            </a:lvl1pPr>
          </a:lstStyle>
          <a:p>
            <a:pPr>
              <a:defRPr/>
            </a:pPr>
            <a:fld id="{CFD7F7F8-2DDB-DF46-B63E-BADB1C3ACF18}" type="datetime1">
              <a:rPr lang="en-US" altLang="en-US"/>
              <a:pPr>
                <a:defRPr/>
              </a:pPr>
              <a:t>6/6/24</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44C53CD5-1085-8842-8BAF-6AD7E97C6C9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93" r:id="rId1"/>
    <p:sldLayoutId id="214748380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5pPr>
      <a:lvl6pPr marL="457200" algn="ctr" rtl="0" eaLnBrk="1" fontAlgn="base" hangingPunct="1">
        <a:spcBef>
          <a:spcPct val="0"/>
        </a:spcBef>
        <a:spcAft>
          <a:spcPct val="0"/>
        </a:spcAft>
        <a:defRPr sz="4400">
          <a:solidFill>
            <a:schemeClr val="tx1"/>
          </a:solidFill>
          <a:latin typeface="Arial Black" pitchFamily="34" charset="0"/>
        </a:defRPr>
      </a:lvl6pPr>
      <a:lvl7pPr marL="914400" algn="ctr" rtl="0" eaLnBrk="1" fontAlgn="base" hangingPunct="1">
        <a:spcBef>
          <a:spcPct val="0"/>
        </a:spcBef>
        <a:spcAft>
          <a:spcPct val="0"/>
        </a:spcAft>
        <a:defRPr sz="4400">
          <a:solidFill>
            <a:schemeClr val="tx1"/>
          </a:solidFill>
          <a:latin typeface="Arial Black" pitchFamily="34" charset="0"/>
        </a:defRPr>
      </a:lvl7pPr>
      <a:lvl8pPr marL="1371600" algn="ctr" rtl="0" eaLnBrk="1" fontAlgn="base" hangingPunct="1">
        <a:spcBef>
          <a:spcPct val="0"/>
        </a:spcBef>
        <a:spcAft>
          <a:spcPct val="0"/>
        </a:spcAft>
        <a:defRPr sz="4400">
          <a:solidFill>
            <a:schemeClr val="tx1"/>
          </a:solidFill>
          <a:latin typeface="Arial Black" pitchFamily="34" charset="0"/>
        </a:defRPr>
      </a:lvl8pPr>
      <a:lvl9pPr marL="1828800" algn="ctr" rtl="0" eaLnBrk="1" fontAlgn="base" hangingPunct="1">
        <a:spcBef>
          <a:spcPct val="0"/>
        </a:spcBef>
        <a:spcAft>
          <a:spcPct val="0"/>
        </a:spcAft>
        <a:defRPr sz="4400">
          <a:solidFill>
            <a:schemeClr val="tx1"/>
          </a:solidFill>
          <a:latin typeface="Arial Black" pitchFamily="34" charset="0"/>
        </a:defRPr>
      </a:lvl9pPr>
    </p:titleStyle>
    <p:body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digital.wwnorton.com/bornfire5"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5" descr="Cover: Born in Blood and Fire, A concise history of Latin America, by John Charles Chasteen. The cover image shows a crowded place with people doing various activities and a few guards with weapons."/>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4559300" y="0"/>
            <a:ext cx="4584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2431D351-4D8B-97D3-0470-250B14CD402B}"/>
              </a:ext>
            </a:extLst>
          </p:cNvPr>
          <p:cNvSpPr>
            <a:spLocks noGrp="1"/>
          </p:cNvSpPr>
          <p:nvPr>
            <p:ph type="ctrTitle"/>
          </p:nvPr>
        </p:nvSpPr>
        <p:spPr>
          <a:xfrm>
            <a:off x="381000" y="714375"/>
            <a:ext cx="3981450" cy="1571625"/>
          </a:xfrm>
        </p:spPr>
        <p:txBody>
          <a:bodyPr/>
          <a:lstStyle/>
          <a:p>
            <a:pPr eaLnBrk="1" hangingPunct="1"/>
            <a:r>
              <a:rPr lang="en-US" altLang="en-US" sz="2800" b="1" dirty="0">
                <a:latin typeface="Times New Roman" charset="0"/>
                <a:ea typeface="Times New Roman" charset="0"/>
                <a:cs typeface="Times New Roman" charset="0"/>
              </a:rPr>
              <a:t>Born in Blood &amp; Fire</a:t>
            </a:r>
            <a:br>
              <a:rPr lang="en-US" altLang="en-US" sz="2800" b="1"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A Concise History of Latin America</a:t>
            </a:r>
            <a:br>
              <a:rPr lang="en-US" altLang="en-US" sz="2000"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5</a:t>
            </a:r>
            <a:r>
              <a:rPr lang="en-US" altLang="en-US" sz="2000" baseline="30000" dirty="0">
                <a:latin typeface="Times New Roman" charset="0"/>
                <a:ea typeface="Times New Roman" charset="0"/>
                <a:cs typeface="Times New Roman" charset="0"/>
              </a:rPr>
              <a:t>th</a:t>
            </a:r>
            <a:r>
              <a:rPr lang="en-US" altLang="en-US" sz="2000" dirty="0">
                <a:latin typeface="Times New Roman" charset="0"/>
                <a:ea typeface="Times New Roman" charset="0"/>
                <a:cs typeface="Times New Roman" charset="0"/>
              </a:rPr>
              <a:t> Edition</a:t>
            </a:r>
            <a:endParaRPr lang="en-US" altLang="en-US" sz="2800" dirty="0">
              <a:latin typeface="Times New Roman" charset="0"/>
              <a:ea typeface="Times New Roman" charset="0"/>
              <a:cs typeface="Times New Roman" charset="0"/>
            </a:endParaRPr>
          </a:p>
        </p:txBody>
      </p:sp>
      <p:sp>
        <p:nvSpPr>
          <p:cNvPr id="5" name="Text Placeholder 9">
            <a:extLst>
              <a:ext uri="{FF2B5EF4-FFF2-40B4-BE49-F238E27FC236}">
                <a16:creationId xmlns:a16="http://schemas.microsoft.com/office/drawing/2014/main" id="{24E880E0-A6AE-2542-BD8F-D7BB61D4E455}"/>
              </a:ext>
            </a:extLst>
          </p:cNvPr>
          <p:cNvSpPr txBox="1">
            <a:spLocks/>
          </p:cNvSpPr>
          <p:nvPr/>
        </p:nvSpPr>
        <p:spPr bwMode="auto">
          <a:xfrm>
            <a:off x="786209" y="2293257"/>
            <a:ext cx="3171031" cy="38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r>
              <a:rPr lang="en-US" altLang="en-US" sz="1800" dirty="0">
                <a:latin typeface="Times New Roman" charset="0"/>
                <a:ea typeface="Times New Roman" charset="0"/>
                <a:cs typeface="Times New Roman" charset="0"/>
              </a:rPr>
              <a:t>By</a:t>
            </a:r>
          </a:p>
          <a:p>
            <a:pPr marL="0" indent="0" algn="ctr" eaLnBrk="1" hangingPunct="1"/>
            <a:r>
              <a:rPr lang="en-US" altLang="en-US" sz="1800" dirty="0">
                <a:latin typeface="Times New Roman" charset="0"/>
                <a:ea typeface="Times New Roman" charset="0"/>
                <a:cs typeface="Times New Roman" charset="0"/>
              </a:rPr>
              <a:t>John Charles Chasteen</a:t>
            </a:r>
          </a:p>
          <a:p>
            <a:pPr marL="0" indent="0" algn="ctr" eaLnBrk="1" hangingPunct="1"/>
            <a:endParaRPr lang="en-US" altLang="en-US" dirty="0">
              <a:latin typeface="Times New Roman" charset="0"/>
              <a:ea typeface="Times New Roman" charset="0"/>
              <a:cs typeface="Times New Roman" charset="0"/>
            </a:endParaRPr>
          </a:p>
          <a:p>
            <a:pPr marL="0" indent="0" algn="ctr" eaLnBrk="1" hangingPunct="1"/>
            <a:r>
              <a:rPr lang="en-US" altLang="en-US" dirty="0">
                <a:latin typeface="Times New Roman" charset="0"/>
                <a:ea typeface="Times New Roman" charset="0"/>
                <a:cs typeface="Times New Roman" charset="0"/>
              </a:rPr>
              <a:t>Chapter 3:</a:t>
            </a:r>
          </a:p>
          <a:p>
            <a:pPr marL="0" indent="0" algn="ctr" eaLnBrk="1" hangingPunct="1"/>
            <a:r>
              <a:rPr lang="en-US" altLang="en-US" dirty="0">
                <a:latin typeface="Times New Roman" charset="0"/>
                <a:ea typeface="Times New Roman" charset="0"/>
                <a:cs typeface="Times New Roman" charset="0"/>
              </a:rPr>
              <a:t>Colonial Crucible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6"/>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Colonial Crucible</a:t>
            </a:r>
          </a:p>
        </p:txBody>
      </p:sp>
      <p:sp>
        <p:nvSpPr>
          <p:cNvPr id="15362" name="Content Placeholder 7"/>
          <p:cNvSpPr>
            <a:spLocks noGrp="1"/>
          </p:cNvSpPr>
          <p:nvPr>
            <p:ph idx="1"/>
          </p:nvPr>
        </p:nvSpPr>
        <p:spPr/>
        <p:txBody>
          <a:bodyPr/>
          <a:lstStyle/>
          <a:p>
            <a:pPr eaLnBrk="1" hangingPunct="1">
              <a:buFont typeface="Wingdings" charset="2"/>
              <a:buNone/>
            </a:pPr>
            <a:r>
              <a:rPr lang="en-US" altLang="en-US" sz="2800" dirty="0">
                <a:latin typeface="Times New Roman" charset="0"/>
                <a:ea typeface="Times New Roman" charset="0"/>
                <a:cs typeface="Times New Roman" charset="0"/>
              </a:rPr>
              <a:t>Colonization was a process.</a:t>
            </a:r>
          </a:p>
          <a:p>
            <a:pPr lvl="1" eaLnBrk="1" hangingPunct="1"/>
            <a:r>
              <a:rPr lang="en-US" altLang="en-US" dirty="0">
                <a:solidFill>
                  <a:schemeClr val="tx1"/>
                </a:solidFill>
                <a:latin typeface="Times New Roman" charset="0"/>
                <a:ea typeface="Times New Roman" charset="0"/>
                <a:cs typeface="Times New Roman" charset="0"/>
              </a:rPr>
              <a:t>African, Indigenous and European descendants</a:t>
            </a:r>
          </a:p>
          <a:p>
            <a:pPr lvl="1" eaLnBrk="1" hangingPunct="1"/>
            <a:r>
              <a:rPr lang="en-US" altLang="en-US" dirty="0">
                <a:solidFill>
                  <a:schemeClr val="tx1"/>
                </a:solidFill>
                <a:latin typeface="Times New Roman" charset="0"/>
                <a:ea typeface="Times New Roman" charset="0"/>
                <a:cs typeface="Times New Roman" charset="0"/>
              </a:rPr>
              <a:t>Society </a:t>
            </a:r>
          </a:p>
          <a:p>
            <a:pPr lvl="1" eaLnBrk="1" hangingPunct="1"/>
            <a:r>
              <a:rPr lang="en-US" altLang="en-US" dirty="0">
                <a:solidFill>
                  <a:schemeClr val="tx1"/>
                </a:solidFill>
                <a:latin typeface="Times New Roman" charset="0"/>
                <a:ea typeface="Times New Roman" charset="0"/>
                <a:cs typeface="Times New Roman" charset="0"/>
              </a:rPr>
              <a:t>Culture</a:t>
            </a:r>
          </a:p>
          <a:p>
            <a:pPr lvl="1" eaLnBrk="1" hangingPunct="1"/>
            <a:r>
              <a:rPr lang="en-US" altLang="en-US" dirty="0">
                <a:solidFill>
                  <a:schemeClr val="tx1"/>
                </a:solidFill>
                <a:latin typeface="Times New Roman" charset="0"/>
                <a:ea typeface="Times New Roman" charset="0"/>
                <a:cs typeface="Times New Roman" charset="0"/>
              </a:rPr>
              <a:t>Psychology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Role of Mining</a:t>
            </a:r>
          </a:p>
        </p:txBody>
      </p:sp>
      <p:sp>
        <p:nvSpPr>
          <p:cNvPr id="17410" name="Content Placeholder 2"/>
          <p:cNvSpPr>
            <a:spLocks noGrp="1"/>
          </p:cNvSpPr>
          <p:nvPr>
            <p:ph idx="1"/>
          </p:nvPr>
        </p:nvSpPr>
        <p:spPr>
          <a:xfrm>
            <a:off x="457200" y="1600200"/>
            <a:ext cx="8229600" cy="4953000"/>
          </a:xfrm>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Mining shaped economics and organization. </a:t>
            </a:r>
          </a:p>
          <a:p>
            <a:pPr marL="692150" lvl="1" indent="-349250" eaLnBrk="1" hangingPunct="1"/>
            <a:r>
              <a:rPr lang="en-US" altLang="en-US" dirty="0">
                <a:solidFill>
                  <a:schemeClr val="tx1"/>
                </a:solidFill>
                <a:latin typeface="Times New Roman" charset="0"/>
                <a:ea typeface="Times New Roman" charset="0"/>
                <a:cs typeface="Times New Roman" charset="0"/>
              </a:rPr>
              <a:t>Gold </a:t>
            </a:r>
          </a:p>
          <a:p>
            <a:pPr lvl="2" eaLnBrk="1" hangingPunct="1"/>
            <a:r>
              <a:rPr lang="en-US" altLang="en-US" dirty="0">
                <a:latin typeface="Times New Roman" charset="0"/>
                <a:ea typeface="Times New Roman" charset="0"/>
                <a:cs typeface="Times New Roman" charset="0"/>
              </a:rPr>
              <a:t>First precious metal sought by Europeans </a:t>
            </a:r>
          </a:p>
          <a:p>
            <a:pPr lvl="2" eaLnBrk="1" hangingPunct="1"/>
            <a:r>
              <a:rPr lang="en-US" altLang="en-US" dirty="0">
                <a:latin typeface="Times New Roman" charset="0"/>
                <a:ea typeface="Times New Roman" charset="0"/>
                <a:cs typeface="Times New Roman" charset="0"/>
              </a:rPr>
              <a:t>From Aztec and Inca, treasures were quickly exhausted</a:t>
            </a:r>
          </a:p>
          <a:p>
            <a:pPr lvl="2" eaLnBrk="1" hangingPunct="1"/>
            <a:r>
              <a:rPr lang="en-US" altLang="en-US" dirty="0">
                <a:latin typeface="Times New Roman" charset="0"/>
                <a:ea typeface="Times New Roman" charset="0"/>
                <a:cs typeface="Times New Roman" charset="0"/>
              </a:rPr>
              <a:t>Helped destroy Arawak population</a:t>
            </a:r>
          </a:p>
          <a:p>
            <a:pPr marL="692150" lvl="1" indent="-349250" eaLnBrk="1" hangingPunct="1"/>
            <a:r>
              <a:rPr lang="en-US" altLang="en-US" dirty="0">
                <a:solidFill>
                  <a:schemeClr val="tx1"/>
                </a:solidFill>
                <a:latin typeface="Times New Roman" charset="0"/>
                <a:ea typeface="Times New Roman" charset="0"/>
                <a:cs typeface="Times New Roman" charset="0"/>
              </a:rPr>
              <a:t>Silver</a:t>
            </a:r>
            <a:r>
              <a:rPr lang="en-US" altLang="en-US" sz="2400" dirty="0">
                <a:solidFill>
                  <a:schemeClr val="tx1"/>
                </a:solidFill>
                <a:latin typeface="Times New Roman" charset="0"/>
                <a:ea typeface="Times New Roman" charset="0"/>
                <a:cs typeface="Times New Roman" charset="0"/>
              </a:rPr>
              <a:t> </a:t>
            </a:r>
          </a:p>
          <a:p>
            <a:pPr lvl="2" eaLnBrk="1" hangingPunct="1"/>
            <a:r>
              <a:rPr lang="en-US" altLang="en-US" dirty="0">
                <a:latin typeface="Times New Roman" charset="0"/>
                <a:ea typeface="Times New Roman" charset="0"/>
                <a:cs typeface="Times New Roman" charset="0"/>
              </a:rPr>
              <a:t>Mines opened in 1540s</a:t>
            </a:r>
          </a:p>
          <a:p>
            <a:pPr lvl="3" eaLnBrk="1" hangingPunct="1"/>
            <a:r>
              <a:rPr lang="en-US" altLang="en-US" dirty="0">
                <a:solidFill>
                  <a:schemeClr val="tx1"/>
                </a:solidFill>
                <a:latin typeface="Times New Roman" charset="0"/>
                <a:ea typeface="Times New Roman" charset="0"/>
                <a:cs typeface="Times New Roman" charset="0"/>
              </a:rPr>
              <a:t>Zacatecas (Mexico)</a:t>
            </a:r>
          </a:p>
          <a:p>
            <a:pPr lvl="3" eaLnBrk="1" hangingPunct="1"/>
            <a:r>
              <a:rPr lang="en-US" altLang="en-US" dirty="0">
                <a:solidFill>
                  <a:schemeClr val="tx1"/>
                </a:solidFill>
                <a:latin typeface="Times New Roman" charset="0"/>
                <a:ea typeface="Times New Roman" charset="0"/>
                <a:cs typeface="Times New Roman" charset="0"/>
              </a:rPr>
              <a:t>Potosí (Peru)</a:t>
            </a:r>
          </a:p>
          <a:p>
            <a:pPr lvl="2" eaLnBrk="1" hangingPunct="1"/>
            <a:r>
              <a:rPr lang="en-US" altLang="en-US" dirty="0">
                <a:latin typeface="Times New Roman" charset="0"/>
                <a:ea typeface="Times New Roman" charset="0"/>
                <a:cs typeface="Times New Roman" charset="0"/>
              </a:rPr>
              <a:t>Mingling of indigenous and European peoples</a:t>
            </a:r>
          </a:p>
          <a:p>
            <a:pPr lvl="2" eaLnBrk="1" hangingPunct="1"/>
            <a:r>
              <a:rPr lang="en-US" altLang="en-US" dirty="0">
                <a:latin typeface="Times New Roman" charset="0"/>
                <a:ea typeface="Times New Roman" charset="0"/>
                <a:cs typeface="Times New Roman" charset="0"/>
              </a:rPr>
              <a:t>Created primary export and secondary supply activities</a:t>
            </a:r>
          </a:p>
          <a:p>
            <a:pPr lvl="3" eaLnBrk="1" hangingPunct="1"/>
            <a:endParaRPr lang="en-US" altLang="en-US" dirty="0">
              <a:solidFill>
                <a:schemeClr val="tx1"/>
              </a:solidFill>
              <a:latin typeface="Times New Roman" charset="0"/>
              <a:ea typeface="Times New Roman" charset="0"/>
              <a:cs typeface="Times New Roman" charset="0"/>
            </a:endParaRPr>
          </a:p>
          <a:p>
            <a:pPr lvl="3" eaLnBrk="1" hangingPunct="1">
              <a:buFont typeface="Arial" charset="0"/>
              <a:buNone/>
            </a:pPr>
            <a:endParaRPr lang="en-US" altLang="en-US" sz="1800"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town, with a mountain in the background. A group of people walk toward the mountain. In the town, people are doing work with raw materials and machinery."/>
          <p:cNvPicPr>
            <a:picLocks noChangeAspect="1"/>
          </p:cNvPicPr>
          <p:nvPr/>
        </p:nvPicPr>
        <p:blipFill>
          <a:blip r:embed="rId3">
            <a:extLst>
              <a:ext uri="{28A0092B-C50C-407E-A947-70E740481C1C}">
                <a14:useLocalDpi xmlns:a14="http://schemas.microsoft.com/office/drawing/2010/main" val="0"/>
              </a:ext>
            </a:extLst>
          </a:blip>
          <a:srcRect/>
          <a:stretch/>
        </p:blipFill>
        <p:spPr>
          <a:xfrm>
            <a:off x="941930" y="914400"/>
            <a:ext cx="7260139" cy="5512713"/>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4" name="Title 3"/>
          <p:cNvSpPr>
            <a:spLocks noGrp="1"/>
          </p:cNvSpPr>
          <p:nvPr>
            <p:ph type="title"/>
          </p:nvPr>
        </p:nvSpPr>
        <p:spPr>
          <a:xfrm>
            <a:off x="457200" y="0"/>
            <a:ext cx="8229600" cy="1143000"/>
          </a:xfrm>
        </p:spPr>
        <p:txBody>
          <a:bodyPr/>
          <a:lstStyle/>
          <a:p>
            <a:r>
              <a:rPr lang="en-US" sz="4000" dirty="0">
                <a:latin typeface="Times New Roman" charset="0"/>
                <a:ea typeface="Times New Roman" charset="0"/>
                <a:cs typeface="Times New Roman" charset="0"/>
              </a:rPr>
              <a:t>Potosí</a:t>
            </a:r>
          </a:p>
        </p:txBody>
      </p:sp>
    </p:spTree>
    <p:extLst>
      <p:ext uri="{BB962C8B-B14F-4D97-AF65-F5344CB8AC3E}">
        <p14:creationId xmlns:p14="http://schemas.microsoft.com/office/powerpoint/2010/main" val="714647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Colonial Economics</a:t>
            </a:r>
          </a:p>
        </p:txBody>
      </p:sp>
      <p:sp>
        <p:nvSpPr>
          <p:cNvPr id="19458" name="Content Placeholder 2"/>
          <p:cNvSpPr>
            <a:spLocks noGrp="1"/>
          </p:cNvSpPr>
          <p:nvPr>
            <p:ph idx="1"/>
          </p:nvPr>
        </p:nvSpPr>
        <p:spPr/>
        <p:txBody>
          <a:bodyPr/>
          <a:lstStyle/>
          <a:p>
            <a:pPr marL="512763" lvl="1" indent="-55563" eaLnBrk="1" hangingPunct="1">
              <a:buNone/>
            </a:pPr>
            <a:r>
              <a:rPr lang="en-US" altLang="en-US" dirty="0">
                <a:solidFill>
                  <a:schemeClr val="tx1"/>
                </a:solidFill>
                <a:latin typeface="Times New Roman" charset="0"/>
                <a:ea typeface="Times New Roman" charset="0"/>
                <a:cs typeface="Times New Roman" charset="0"/>
              </a:rPr>
              <a:t>Economic priorities of Spanish crown shaped political organization.</a:t>
            </a:r>
          </a:p>
          <a:p>
            <a:pPr lvl="2" eaLnBrk="1" hangingPunct="1">
              <a:buFont typeface="Arial" pitchFamily="34" charset="0"/>
              <a:buChar char="•"/>
            </a:pPr>
            <a:r>
              <a:rPr lang="en-US" altLang="en-US" dirty="0">
                <a:latin typeface="Times New Roman" charset="0"/>
                <a:ea typeface="Times New Roman" charset="0"/>
                <a:cs typeface="Times New Roman" charset="0"/>
              </a:rPr>
              <a:t>The </a:t>
            </a: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royal fifth</a:t>
            </a:r>
            <a:r>
              <a:rPr lang="ja-JP" altLang="en-US" dirty="0">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a:p>
            <a:pPr lvl="2" eaLnBrk="1" hangingPunct="1">
              <a:buFont typeface="Arial" pitchFamily="34" charset="0"/>
              <a:buChar char="•"/>
            </a:pPr>
            <a:r>
              <a:rPr lang="en-US" altLang="en-US" dirty="0">
                <a:latin typeface="Times New Roman" charset="0"/>
                <a:ea typeface="Times New Roman" charset="0"/>
                <a:cs typeface="Times New Roman" charset="0"/>
              </a:rPr>
              <a:t>Colonial governments organized into viceroyalties to secure tax.</a:t>
            </a:r>
          </a:p>
          <a:p>
            <a:pPr lvl="3" eaLnBrk="1" hangingPunct="1">
              <a:buFont typeface="Calibri" pitchFamily="34" charset="0"/>
              <a:buChar char="–"/>
            </a:pP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New Spain</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a:t>
            </a:r>
          </a:p>
          <a:p>
            <a:pPr lvl="3" eaLnBrk="1" hangingPunct="1">
              <a:buFont typeface="Calibri" pitchFamily="34" charset="0"/>
              <a:buChar char="–"/>
            </a:pP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Peru</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3" eaLnBrk="1" hangingPunct="1">
              <a:buFont typeface="Calibri" pitchFamily="34" charset="0"/>
              <a:buChar char="–"/>
            </a:pP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New Grenada</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3" eaLnBrk="1" hangingPunct="1">
              <a:buFont typeface="Calibri" pitchFamily="34" charset="0"/>
              <a:buChar char="–"/>
            </a:pP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Rio de la Plata</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2" eaLnBrk="1" hangingPunct="1">
              <a:buFont typeface="Arial" pitchFamily="34" charset="0"/>
              <a:buChar char="•"/>
            </a:pPr>
            <a:r>
              <a:rPr lang="en-US" altLang="en-US" dirty="0">
                <a:latin typeface="Times New Roman" charset="0"/>
                <a:ea typeface="Times New Roman" charset="0"/>
                <a:cs typeface="Times New Roman" charset="0"/>
              </a:rPr>
              <a:t>Peru and New Spain (Mexico) remained the center of Spanish colonization.</a:t>
            </a:r>
          </a:p>
          <a:p>
            <a:pPr lvl="4" eaLnBrk="1" hangingPunct="1"/>
            <a:endParaRPr lang="en-US" altLang="en-US"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Sugar</a:t>
            </a:r>
          </a:p>
        </p:txBody>
      </p:sp>
      <p:sp>
        <p:nvSpPr>
          <p:cNvPr id="21506"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Sugar: central economic activity of Brazil</a:t>
            </a:r>
          </a:p>
          <a:p>
            <a:pPr marL="692150" lvl="1" indent="-349250" eaLnBrk="1" hangingPunct="1"/>
            <a:r>
              <a:rPr lang="en-US" altLang="en-US" dirty="0">
                <a:solidFill>
                  <a:schemeClr val="tx1"/>
                </a:solidFill>
                <a:latin typeface="Times New Roman" charset="0"/>
                <a:ea typeface="Times New Roman" charset="0"/>
                <a:cs typeface="Times New Roman" charset="0"/>
              </a:rPr>
              <a:t>Rich soil in northeast Brazil </a:t>
            </a:r>
          </a:p>
          <a:p>
            <a:pPr lvl="2" eaLnBrk="1" hangingPunct="1"/>
            <a:r>
              <a:rPr lang="en-US" altLang="en-US" dirty="0" err="1">
                <a:latin typeface="Times New Roman" charset="0"/>
                <a:ea typeface="Times New Roman" charset="0"/>
                <a:cs typeface="Times New Roman" charset="0"/>
              </a:rPr>
              <a:t>Pernambuco</a:t>
            </a:r>
            <a:r>
              <a:rPr lang="en-US" altLang="en-US" dirty="0">
                <a:latin typeface="Times New Roman" charset="0"/>
                <a:ea typeface="Times New Roman" charset="0"/>
                <a:cs typeface="Times New Roman" charset="0"/>
              </a:rPr>
              <a:t> and Bay of All Saints</a:t>
            </a:r>
          </a:p>
          <a:p>
            <a:pPr lvl="2" eaLnBrk="1" hangingPunct="1"/>
            <a:r>
              <a:rPr lang="en-US" altLang="en-US" dirty="0">
                <a:latin typeface="Times New Roman" charset="0"/>
                <a:ea typeface="Times New Roman" charset="0"/>
                <a:cs typeface="Times New Roman" charset="0"/>
              </a:rPr>
              <a:t>Taxes on sugar = income for Portuguese crown</a:t>
            </a:r>
          </a:p>
          <a:p>
            <a:pPr marL="692150" lvl="1" indent="-346075" eaLnBrk="1" hangingPunct="1"/>
            <a:r>
              <a:rPr lang="en-US" altLang="en-US" dirty="0">
                <a:solidFill>
                  <a:schemeClr val="tx1"/>
                </a:solidFill>
                <a:latin typeface="Times New Roman" charset="0"/>
                <a:ea typeface="Times New Roman" charset="0"/>
                <a:cs typeface="Times New Roman" charset="0"/>
              </a:rPr>
              <a:t>Sugar shapes society.</a:t>
            </a:r>
          </a:p>
          <a:p>
            <a:pPr lvl="2" eaLnBrk="1" hangingPunct="1"/>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Mill Lords</a:t>
            </a: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 – </a:t>
            </a:r>
            <a:r>
              <a:rPr lang="en-US" altLang="ja-JP" i="1" dirty="0">
                <a:latin typeface="Times New Roman" charset="0"/>
                <a:ea typeface="Times New Roman" charset="0"/>
                <a:cs typeface="Times New Roman" charset="0"/>
              </a:rPr>
              <a:t>senhores de engenho</a:t>
            </a:r>
            <a:endParaRPr lang="en-US" altLang="ja-JP" dirty="0">
              <a:latin typeface="Times New Roman" charset="0"/>
              <a:ea typeface="Times New Roman" charset="0"/>
              <a:cs typeface="Times New Roman" charset="0"/>
            </a:endParaRPr>
          </a:p>
          <a:p>
            <a:pPr lvl="2" eaLnBrk="1" hangingPunct="1"/>
            <a:r>
              <a:rPr lang="en-US" altLang="ja-JP" dirty="0">
                <a:latin typeface="Times New Roman" charset="0"/>
                <a:ea typeface="Times New Roman" charset="0"/>
                <a:cs typeface="Times New Roman" charset="0"/>
              </a:rPr>
              <a:t>Hundreds of enslaved on each plantation</a:t>
            </a:r>
          </a:p>
          <a:p>
            <a:pPr lvl="2" eaLnBrk="1" hangingPunct="1"/>
            <a:r>
              <a:rPr lang="en-US" altLang="en-US" dirty="0">
                <a:latin typeface="Times New Roman" charset="0"/>
                <a:ea typeface="Times New Roman" charset="0"/>
                <a:cs typeface="Times New Roman" charset="0"/>
              </a:rPr>
              <a:t>Plantations undercut the growth of urban centers.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n and women work outside a house. There is a grinding machine, a goat, a mule, and two cows with them. The men carry sugar canes to the grinder. "/>
          <p:cNvPicPr>
            <a:picLocks noChangeAspect="1"/>
          </p:cNvPicPr>
          <p:nvPr/>
        </p:nvPicPr>
        <p:blipFill>
          <a:blip r:embed="rId3">
            <a:extLst>
              <a:ext uri="{28A0092B-C50C-407E-A947-70E740481C1C}">
                <a14:useLocalDpi xmlns:a14="http://schemas.microsoft.com/office/drawing/2010/main" val="0"/>
              </a:ext>
            </a:extLst>
          </a:blip>
          <a:srcRect/>
          <a:stretch/>
        </p:blipFill>
        <p:spPr>
          <a:xfrm>
            <a:off x="872969" y="1312625"/>
            <a:ext cx="7398061" cy="4716263"/>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4" name="Title 3"/>
          <p:cNvSpPr>
            <a:spLocks noGrp="1"/>
          </p:cNvSpPr>
          <p:nvPr>
            <p:ph type="title"/>
          </p:nvPr>
        </p:nvSpPr>
        <p:spPr>
          <a:xfrm>
            <a:off x="457200" y="0"/>
            <a:ext cx="8229600" cy="1143000"/>
          </a:xfrm>
        </p:spPr>
        <p:txBody>
          <a:bodyPr/>
          <a:lstStyle/>
          <a:p>
            <a:r>
              <a:rPr lang="en-US" sz="4000" dirty="0">
                <a:latin typeface="Times New Roman" charset="0"/>
                <a:ea typeface="Times New Roman" charset="0"/>
                <a:cs typeface="Times New Roman" charset="0"/>
              </a:rPr>
              <a:t>A Brazilian Sugar Mill</a:t>
            </a:r>
          </a:p>
        </p:txBody>
      </p:sp>
    </p:spTree>
    <p:extLst>
      <p:ext uri="{BB962C8B-B14F-4D97-AF65-F5344CB8AC3E}">
        <p14:creationId xmlns:p14="http://schemas.microsoft.com/office/powerpoint/2010/main" val="3317873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Brazil</a:t>
            </a:r>
          </a:p>
        </p:txBody>
      </p:sp>
      <p:sp>
        <p:nvSpPr>
          <p:cNvPr id="23554" name="Content Placeholder 2"/>
          <p:cNvSpPr>
            <a:spLocks noGrp="1"/>
          </p:cNvSpPr>
          <p:nvPr>
            <p:ph idx="1"/>
          </p:nvPr>
        </p:nvSpPr>
        <p:spPr/>
        <p:txBody>
          <a:bodyPr/>
          <a:lstStyle/>
          <a:p>
            <a:pPr marL="457200" lvl="1" indent="0" eaLnBrk="1" hangingPunct="1">
              <a:buNone/>
            </a:pPr>
            <a:r>
              <a:rPr lang="en-US" altLang="en-US" dirty="0">
                <a:solidFill>
                  <a:schemeClr val="tx1"/>
                </a:solidFill>
                <a:latin typeface="Times New Roman" charset="0"/>
                <a:ea typeface="Times New Roman" charset="0"/>
                <a:cs typeface="Times New Roman" charset="0"/>
              </a:rPr>
              <a:t>Brazil remained less populous and profitable than Spanish America.</a:t>
            </a:r>
          </a:p>
          <a:p>
            <a:pPr lvl="2" eaLnBrk="1" hangingPunct="1">
              <a:buFont typeface="Arial" pitchFamily="34" charset="0"/>
              <a:buChar char="•"/>
            </a:pPr>
            <a:r>
              <a:rPr lang="en-US" altLang="en-US" sz="2800" dirty="0">
                <a:latin typeface="Times New Roman" charset="0"/>
                <a:ea typeface="Times New Roman" charset="0"/>
                <a:cs typeface="Times New Roman" charset="0"/>
              </a:rPr>
              <a:t>Outside of the Northeast, Brazil was sparsely settled.</a:t>
            </a:r>
          </a:p>
          <a:p>
            <a:pPr lvl="2" eaLnBrk="1" hangingPunct="1">
              <a:buFont typeface="Arial" pitchFamily="34" charset="0"/>
              <a:buChar char="•"/>
            </a:pPr>
            <a:r>
              <a:rPr lang="en-US" altLang="en-US" sz="2800" dirty="0">
                <a:latin typeface="Times New Roman" charset="0"/>
                <a:ea typeface="Times New Roman" charset="0"/>
                <a:cs typeface="Times New Roman" charset="0"/>
              </a:rPr>
              <a:t>Portugal focused on profitable outposts in Africa and Asia.</a:t>
            </a:r>
          </a:p>
          <a:p>
            <a:pPr lvl="2" eaLnBrk="1" hangingPunct="1">
              <a:buFont typeface="Arial" pitchFamily="34" charset="0"/>
              <a:buChar char="•"/>
            </a:pPr>
            <a:r>
              <a:rPr lang="en-US" altLang="en-US" sz="2800" dirty="0">
                <a:latin typeface="Times New Roman" charset="0"/>
                <a:ea typeface="Times New Roman" charset="0"/>
                <a:cs typeface="Times New Roman" charset="0"/>
              </a:rPr>
              <a:t>More loosely governed by viceroys</a:t>
            </a:r>
            <a:endParaRPr lang="en-US" altLang="en-US" sz="2400"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Silver</a:t>
            </a:r>
          </a:p>
        </p:txBody>
      </p:sp>
      <p:sp>
        <p:nvSpPr>
          <p:cNvPr id="23554" name="Content Placeholder 2"/>
          <p:cNvSpPr>
            <a:spLocks noGrp="1"/>
          </p:cNvSpPr>
          <p:nvPr>
            <p:ph idx="1"/>
          </p:nvPr>
        </p:nvSpPr>
        <p:spPr>
          <a:xfrm>
            <a:off x="457200" y="1600200"/>
            <a:ext cx="8229600" cy="4648200"/>
          </a:xfrm>
        </p:spPr>
        <p:txBody>
          <a:bodyPr/>
          <a:lstStyle/>
          <a:p>
            <a:pPr marL="457200" lvl="1" indent="0" eaLnBrk="1" hangingPunct="1">
              <a:buNone/>
            </a:pPr>
            <a:r>
              <a:rPr lang="en-US" altLang="en-US" dirty="0">
                <a:solidFill>
                  <a:schemeClr val="tx1"/>
                </a:solidFill>
                <a:latin typeface="Times New Roman" charset="0"/>
                <a:ea typeface="Times New Roman" charset="0"/>
                <a:cs typeface="Times New Roman" charset="0"/>
              </a:rPr>
              <a:t>Linked Latin America to the Pacific World</a:t>
            </a:r>
          </a:p>
          <a:p>
            <a:pPr lvl="2" eaLnBrk="1" hangingPunct="1">
              <a:buFont typeface="Arial" pitchFamily="34" charset="0"/>
              <a:buChar char="•"/>
            </a:pPr>
            <a:r>
              <a:rPr lang="en-US" altLang="en-US" sz="2800" dirty="0">
                <a:latin typeface="Times New Roman" charset="0"/>
                <a:ea typeface="Times New Roman" charset="0"/>
                <a:cs typeface="Times New Roman" charset="0"/>
              </a:rPr>
              <a:t>Trade with Asia between Acapulco and Manila (Philippine Islands)</a:t>
            </a:r>
          </a:p>
          <a:p>
            <a:pPr lvl="3" eaLnBrk="1" hangingPunct="1">
              <a:buFont typeface="Arial" pitchFamily="34" charset="0"/>
              <a:buChar char="•"/>
            </a:pPr>
            <a:r>
              <a:rPr lang="en-US" altLang="en-US" sz="2400" dirty="0">
                <a:solidFill>
                  <a:schemeClr val="tx1"/>
                </a:solidFill>
                <a:latin typeface="Times New Roman" charset="0"/>
                <a:ea typeface="Times New Roman" charset="0"/>
                <a:cs typeface="Times New Roman" charset="0"/>
              </a:rPr>
              <a:t>Voyages made by “Manila Galleons”</a:t>
            </a:r>
          </a:p>
          <a:p>
            <a:pPr lvl="3" eaLnBrk="1" hangingPunct="1">
              <a:buFont typeface="Arial" pitchFamily="34" charset="0"/>
              <a:buChar char="•"/>
            </a:pPr>
            <a:r>
              <a:rPr lang="en-US" altLang="en-US" sz="2400" dirty="0">
                <a:solidFill>
                  <a:schemeClr val="tx1"/>
                </a:solidFill>
                <a:latin typeface="Times New Roman" charset="0"/>
                <a:ea typeface="Times New Roman" charset="0"/>
                <a:cs typeface="Times New Roman" charset="0"/>
              </a:rPr>
              <a:t>Traded Mexican silver for Chinese porcelain and silk (among other items)</a:t>
            </a:r>
          </a:p>
          <a:p>
            <a:pPr lvl="3" eaLnBrk="1" hangingPunct="1">
              <a:buFont typeface="Arial" pitchFamily="34" charset="0"/>
              <a:buChar char="•"/>
            </a:pPr>
            <a:r>
              <a:rPr lang="en-US" altLang="en-US" sz="2400" dirty="0">
                <a:solidFill>
                  <a:schemeClr val="tx1"/>
                </a:solidFill>
                <a:latin typeface="Times New Roman" charset="0"/>
                <a:ea typeface="Times New Roman" charset="0"/>
                <a:cs typeface="Times New Roman" charset="0"/>
              </a:rPr>
              <a:t>Brought in Asian migrants to Latin America</a:t>
            </a:r>
          </a:p>
          <a:p>
            <a:pPr lvl="2" eaLnBrk="1" hangingPunct="1">
              <a:buFont typeface="Arial" pitchFamily="34" charset="0"/>
              <a:buChar char="•"/>
            </a:pPr>
            <a:r>
              <a:rPr lang="en-US" altLang="en-US" sz="2800" dirty="0">
                <a:solidFill>
                  <a:schemeClr val="tx1"/>
                </a:solidFill>
                <a:latin typeface="Times New Roman" charset="0"/>
                <a:ea typeface="Times New Roman" charset="0"/>
                <a:cs typeface="Times New Roman" charset="0"/>
              </a:rPr>
              <a:t>Pacific ports such as </a:t>
            </a:r>
            <a:r>
              <a:rPr lang="en-US" altLang="en-US" sz="2800" dirty="0">
                <a:latin typeface="Times New Roman" charset="0"/>
                <a:ea typeface="Times New Roman" charset="0"/>
                <a:cs typeface="Times New Roman" charset="0"/>
              </a:rPr>
              <a:t>Lima also participated</a:t>
            </a:r>
          </a:p>
          <a:p>
            <a:pPr lvl="2" eaLnBrk="1" hangingPunct="1">
              <a:buFont typeface="Arial" pitchFamily="34" charset="0"/>
              <a:buChar char="•"/>
            </a:pPr>
            <a:r>
              <a:rPr lang="en-US" altLang="en-US" sz="2800" dirty="0">
                <a:solidFill>
                  <a:schemeClr val="tx1"/>
                </a:solidFill>
                <a:latin typeface="Times New Roman" charset="0"/>
                <a:ea typeface="Times New Roman" charset="0"/>
                <a:cs typeface="Times New Roman" charset="0"/>
              </a:rPr>
              <a:t>Exchange impacted Asian diets and Latin </a:t>
            </a:r>
            <a:r>
              <a:rPr lang="en-US" altLang="en-US" sz="2800" dirty="0">
                <a:latin typeface="Times New Roman" charset="0"/>
                <a:ea typeface="Times New Roman" charset="0"/>
                <a:cs typeface="Times New Roman" charset="0"/>
              </a:rPr>
              <a:t>American fashion</a:t>
            </a:r>
            <a:endParaRPr lang="en-US" altLang="en-US" sz="2400"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971313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pPr eaLnBrk="1" hangingPunct="1"/>
            <a:br>
              <a:rPr lang="en-US" altLang="en-US" dirty="0">
                <a:solidFill>
                  <a:schemeClr val="tx1"/>
                </a:solidFill>
                <a:latin typeface="Times New Roman" charset="0"/>
                <a:ea typeface="Times New Roman" charset="0"/>
                <a:cs typeface="Times New Roman" charset="0"/>
              </a:rPr>
            </a:br>
            <a:r>
              <a:rPr lang="en-US" altLang="en-US" dirty="0">
                <a:solidFill>
                  <a:schemeClr val="tx1"/>
                </a:solidFill>
                <a:latin typeface="Times New Roman" charset="0"/>
                <a:ea typeface="Times New Roman" charset="0"/>
                <a:cs typeface="Times New Roman" charset="0"/>
              </a:rPr>
              <a:t>A Power Called Hegemony</a:t>
            </a:r>
            <a:br>
              <a:rPr lang="en-US" altLang="en-US" dirty="0">
                <a:solidFill>
                  <a:schemeClr val="tx1"/>
                </a:solidFill>
                <a:latin typeface="Times New Roman" charset="0"/>
                <a:ea typeface="Times New Roman" charset="0"/>
                <a:cs typeface="Times New Roman" charset="0"/>
              </a:rPr>
            </a:br>
            <a:endParaRPr lang="en-US" altLang="en-US" dirty="0">
              <a:solidFill>
                <a:schemeClr val="tx1"/>
              </a:solidFill>
              <a:latin typeface="Times New Roman" charset="0"/>
              <a:ea typeface="Times New Roman" charset="0"/>
              <a:cs typeface="Times New Roman" charset="0"/>
            </a:endParaRPr>
          </a:p>
        </p:txBody>
      </p:sp>
      <p:sp>
        <p:nvSpPr>
          <p:cNvPr id="25602"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Does not rely on force</a:t>
            </a:r>
          </a:p>
          <a:p>
            <a:pPr marL="685800" lvl="1" indent="-342900" eaLnBrk="1" hangingPunct="1"/>
            <a:r>
              <a:rPr lang="en-US" altLang="en-US" dirty="0">
                <a:solidFill>
                  <a:schemeClr val="tx1"/>
                </a:solidFill>
                <a:latin typeface="Times New Roman" charset="0"/>
                <a:ea typeface="Times New Roman" charset="0"/>
                <a:cs typeface="Times New Roman" charset="0"/>
              </a:rPr>
              <a:t>Some consent</a:t>
            </a:r>
          </a:p>
          <a:p>
            <a:pPr marL="685800" lvl="1" indent="-342900" eaLnBrk="1" hangingPunct="1"/>
            <a:r>
              <a:rPr lang="en-US" altLang="en-US" dirty="0">
                <a:solidFill>
                  <a:schemeClr val="tx1"/>
                </a:solidFill>
                <a:latin typeface="Times New Roman" charset="0"/>
                <a:ea typeface="Times New Roman" charset="0"/>
                <a:cs typeface="Times New Roman" charset="0"/>
              </a:rPr>
              <a:t>Resilient, powerful, damaging to bottom</a:t>
            </a:r>
          </a:p>
          <a:p>
            <a:pPr marL="685800" lvl="1" indent="-342900" eaLnBrk="1" hangingPunct="1"/>
            <a:r>
              <a:rPr lang="en-US" altLang="en-US" dirty="0">
                <a:solidFill>
                  <a:schemeClr val="tx1"/>
                </a:solidFill>
                <a:latin typeface="Times New Roman" charset="0"/>
                <a:ea typeface="Times New Roman" charset="0"/>
                <a:cs typeface="Times New Roman" charset="0"/>
              </a:rPr>
              <a:t>Convinces people to accept inferior place</a:t>
            </a:r>
          </a:p>
          <a:p>
            <a:pPr lvl="2" eaLnBrk="1" hangingPunct="1"/>
            <a:r>
              <a:rPr lang="en-US" altLang="en-US" dirty="0" err="1">
                <a:latin typeface="Times New Roman" charset="0"/>
                <a:ea typeface="Times New Roman" charset="0"/>
                <a:cs typeface="Times New Roman" charset="0"/>
              </a:rPr>
              <a:t>Sor</a:t>
            </a:r>
            <a:r>
              <a:rPr lang="en-US" altLang="en-US" dirty="0">
                <a:latin typeface="Times New Roman" charset="0"/>
                <a:ea typeface="Times New Roman" charset="0"/>
                <a:cs typeface="Times New Roman" charset="0"/>
              </a:rPr>
              <a:t> Juana </a:t>
            </a:r>
            <a:r>
              <a:rPr lang="en-US" altLang="en-US" dirty="0" err="1">
                <a:latin typeface="Times New Roman" charset="0"/>
                <a:ea typeface="Times New Roman" charset="0"/>
                <a:cs typeface="Times New Roman" charset="0"/>
              </a:rPr>
              <a:t>Inés</a:t>
            </a:r>
            <a:r>
              <a:rPr lang="en-US" altLang="en-US" dirty="0">
                <a:latin typeface="Times New Roman" charset="0"/>
                <a:ea typeface="Times New Roman" charset="0"/>
                <a:cs typeface="Times New Roman" charset="0"/>
              </a:rPr>
              <a:t> de la Cruz</a:t>
            </a:r>
          </a:p>
          <a:p>
            <a:pPr marL="342900" lvl="1" indent="0" eaLnBrk="1" hangingPunct="1"/>
            <a:endParaRPr lang="en-US" altLang="en-US"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Hegemonic Forces: Religion</a:t>
            </a:r>
          </a:p>
        </p:txBody>
      </p:sp>
      <p:sp>
        <p:nvSpPr>
          <p:cNvPr id="27650" name="Content Placeholder 2"/>
          <p:cNvSpPr>
            <a:spLocks noGrp="1"/>
          </p:cNvSpPr>
          <p:nvPr>
            <p:ph idx="1"/>
          </p:nvPr>
        </p:nvSpPr>
        <p:spPr/>
        <p:txBody>
          <a:bodyPr/>
          <a:lstStyle/>
          <a:p>
            <a:pPr marL="342900" lvl="1" indent="0" eaLnBrk="1" hangingPunct="1">
              <a:defRPr/>
            </a:pPr>
            <a:r>
              <a:rPr lang="en-US" altLang="en-US" dirty="0">
                <a:solidFill>
                  <a:schemeClr val="tx1"/>
                </a:solidFill>
                <a:latin typeface="Times New Roman" charset="0"/>
                <a:ea typeface="Times New Roman" charset="0"/>
                <a:cs typeface="Times New Roman" charset="0"/>
              </a:rPr>
              <a:t> Catholic church was means of European control</a:t>
            </a:r>
          </a:p>
          <a:p>
            <a:pPr lvl="2" eaLnBrk="1" hangingPunct="1">
              <a:defRPr/>
            </a:pP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Divine right</a:t>
            </a:r>
            <a:r>
              <a:rPr lang="ja-JP" altLang="en-US" dirty="0">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a:p>
            <a:pPr lvl="2" eaLnBrk="1" hangingPunct="1">
              <a:defRPr/>
            </a:pPr>
            <a:r>
              <a:rPr lang="en-US" altLang="ja-JP" dirty="0">
                <a:latin typeface="Times New Roman" charset="0"/>
                <a:ea typeface="Times New Roman" charset="0"/>
                <a:cs typeface="Times New Roman" charset="0"/>
              </a:rPr>
              <a:t>Close relationship between religious and royal authority</a:t>
            </a:r>
          </a:p>
          <a:p>
            <a:pPr lvl="1" eaLnBrk="1" hangingPunct="1">
              <a:defRPr/>
            </a:pPr>
            <a:r>
              <a:rPr lang="en-US" altLang="en-US" dirty="0">
                <a:solidFill>
                  <a:schemeClr val="tx1"/>
                </a:solidFill>
                <a:latin typeface="Times New Roman" charset="0"/>
                <a:ea typeface="Times New Roman" charset="0"/>
                <a:cs typeface="Times New Roman" charset="0"/>
              </a:rPr>
              <a:t>Church was omnipresent in colonial life.</a:t>
            </a:r>
          </a:p>
          <a:p>
            <a:pPr lvl="2" eaLnBrk="1" hangingPunct="1">
              <a:defRPr/>
            </a:pPr>
            <a:r>
              <a:rPr lang="en-US" altLang="en-US" dirty="0">
                <a:latin typeface="Times New Roman" charset="0"/>
                <a:ea typeface="Times New Roman" charset="0"/>
                <a:cs typeface="Times New Roman" charset="0"/>
              </a:rPr>
              <a:t>Controlled educational institutions</a:t>
            </a:r>
          </a:p>
          <a:p>
            <a:pPr lvl="2" eaLnBrk="1" hangingPunct="1">
              <a:defRPr/>
            </a:pPr>
            <a:r>
              <a:rPr lang="en-US" altLang="en-US" dirty="0">
                <a:latin typeface="Times New Roman" charset="0"/>
                <a:ea typeface="Times New Roman" charset="0"/>
                <a:cs typeface="Times New Roman" charset="0"/>
              </a:rPr>
              <a:t>Calendars structured daily life</a:t>
            </a:r>
          </a:p>
          <a:p>
            <a:pPr lvl="2" eaLnBrk="1" hangingPunct="1">
              <a:defRPr/>
            </a:pPr>
            <a:r>
              <a:rPr lang="en-US" altLang="en-US" dirty="0">
                <a:latin typeface="Times New Roman" charset="0"/>
                <a:ea typeface="Times New Roman" charset="0"/>
                <a:cs typeface="Times New Roman" charset="0"/>
              </a:rPr>
              <a:t>Sacraments marked life events</a:t>
            </a:r>
          </a:p>
          <a:p>
            <a:pPr lvl="2" eaLnBrk="1" hangingPunct="1">
              <a:defRPr/>
            </a:pPr>
            <a:r>
              <a:rPr lang="en-US" altLang="en-US" dirty="0">
                <a:latin typeface="Times New Roman" charset="0"/>
                <a:ea typeface="Times New Roman" charset="0"/>
                <a:cs typeface="Times New Roman" charset="0"/>
              </a:rPr>
              <a:t>Towns and cities named for saints; each had patron saint</a:t>
            </a:r>
          </a:p>
          <a:p>
            <a:pPr eaLnBrk="1" hangingPunct="1">
              <a:buFont typeface="Wingdings" charset="2"/>
              <a:buNone/>
              <a:defRPr/>
            </a:pPr>
            <a:endParaRPr lang="en-US" altLang="en-US" dirty="0">
              <a:latin typeface="Times New Roman" charset="0"/>
              <a:ea typeface="Times New Roman" charset="0"/>
              <a:cs typeface="Times New Roman"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Hegemonic Forces: Patriarchy</a:t>
            </a:r>
          </a:p>
        </p:txBody>
      </p:sp>
      <p:sp>
        <p:nvSpPr>
          <p:cNvPr id="29698" name="Content Placeholder 2"/>
          <p:cNvSpPr>
            <a:spLocks noGrp="1"/>
          </p:cNvSpPr>
          <p:nvPr>
            <p:ph idx="1"/>
          </p:nvPr>
        </p:nvSpPr>
        <p:spPr>
          <a:xfrm>
            <a:off x="457200" y="1524000"/>
            <a:ext cx="8229600" cy="4602163"/>
          </a:xfrm>
        </p:spPr>
        <p:txBody>
          <a:bodyPr/>
          <a:lstStyle/>
          <a:p>
            <a:pPr lvl="1" eaLnBrk="1" hangingPunct="1"/>
            <a:r>
              <a:rPr lang="en-US" altLang="en-US" dirty="0">
                <a:solidFill>
                  <a:schemeClr val="tx1"/>
                </a:solidFill>
                <a:latin typeface="Times New Roman" charset="0"/>
                <a:ea typeface="Times New Roman" charset="0"/>
                <a:cs typeface="Times New Roman" charset="0"/>
              </a:rPr>
              <a:t>Fathers ruled at all levels of colonial society.</a:t>
            </a:r>
          </a:p>
          <a:p>
            <a:pPr lvl="1" eaLnBrk="1" hangingPunct="1"/>
            <a:r>
              <a:rPr lang="en-US" altLang="en-US" dirty="0">
                <a:solidFill>
                  <a:schemeClr val="tx1"/>
                </a:solidFill>
                <a:latin typeface="Times New Roman" charset="0"/>
                <a:ea typeface="Times New Roman" charset="0"/>
                <a:cs typeface="Times New Roman" charset="0"/>
              </a:rPr>
              <a:t>Iberian concepts of honor, for men:</a:t>
            </a:r>
          </a:p>
          <a:p>
            <a:pPr lvl="2" eaLnBrk="1" hangingPunct="1"/>
            <a:r>
              <a:rPr lang="en-US" altLang="en-US" dirty="0">
                <a:latin typeface="Times New Roman" charset="0"/>
                <a:ea typeface="Times New Roman" charset="0"/>
                <a:cs typeface="Times New Roman" charset="0"/>
              </a:rPr>
              <a:t>Defending daughters</a:t>
            </a: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 virginity</a:t>
            </a:r>
          </a:p>
          <a:p>
            <a:pPr lvl="2" eaLnBrk="1" hangingPunct="1"/>
            <a:r>
              <a:rPr lang="en-US" altLang="en-US" dirty="0">
                <a:latin typeface="Times New Roman" charset="0"/>
                <a:ea typeface="Times New Roman" charset="0"/>
                <a:cs typeface="Times New Roman" charset="0"/>
              </a:rPr>
              <a:t>Sexual exclusivity of wives</a:t>
            </a:r>
          </a:p>
          <a:p>
            <a:pPr lvl="1" eaLnBrk="1" hangingPunct="1"/>
            <a:r>
              <a:rPr lang="en-US" altLang="en-US" dirty="0">
                <a:solidFill>
                  <a:schemeClr val="tx1"/>
                </a:solidFill>
                <a:latin typeface="Times New Roman" charset="0"/>
                <a:ea typeface="Times New Roman" charset="0"/>
                <a:cs typeface="Times New Roman" charset="0"/>
              </a:rPr>
              <a:t>For women, honor dictated avoiding extramarital contact with men.</a:t>
            </a:r>
          </a:p>
          <a:p>
            <a:pPr lvl="2" eaLnBrk="1" hangingPunct="1"/>
            <a:r>
              <a:rPr lang="en-US" altLang="en-US" dirty="0">
                <a:latin typeface="Times New Roman" charset="0"/>
                <a:ea typeface="Times New Roman" charset="0"/>
                <a:cs typeface="Times New Roman" charset="0"/>
              </a:rPr>
              <a:t>Independent-minded women were targeted.</a:t>
            </a:r>
          </a:p>
          <a:p>
            <a:pPr lvl="2" eaLnBrk="1" hangingPunct="1"/>
            <a:r>
              <a:rPr lang="en-US" altLang="en-US" dirty="0">
                <a:latin typeface="Times New Roman" charset="0"/>
                <a:ea typeface="Times New Roman" charset="0"/>
                <a:cs typeface="Times New Roman" charset="0"/>
              </a:rPr>
              <a:t>Women often resisted.</a:t>
            </a:r>
          </a:p>
          <a:p>
            <a:pPr lvl="2" eaLnBrk="1" hangingPunct="1"/>
            <a:r>
              <a:rPr lang="en-US" altLang="en-US" dirty="0">
                <a:latin typeface="Times New Roman" charset="0"/>
                <a:ea typeface="Times New Roman" charset="0"/>
                <a:cs typeface="Times New Roman" charset="0"/>
              </a:rPr>
              <a:t>Spanish and Portuguese Inquisition were often used against women.</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br>
              <a:rPr lang="en-US" altLang="en-US">
                <a:solidFill>
                  <a:schemeClr val="tx1"/>
                </a:solidFill>
                <a:latin typeface="Times New Roman" charset="0"/>
                <a:ea typeface="Times New Roman" charset="0"/>
                <a:cs typeface="Times New Roman" charset="0"/>
              </a:rPr>
            </a:br>
            <a:r>
              <a:rPr lang="en-US" altLang="en-US">
                <a:solidFill>
                  <a:schemeClr val="tx1"/>
                </a:solidFill>
                <a:latin typeface="Times New Roman" charset="0"/>
                <a:ea typeface="Times New Roman" charset="0"/>
                <a:cs typeface="Times New Roman" charset="0"/>
              </a:rPr>
              <a:t>Transculturation </a:t>
            </a:r>
            <a:br>
              <a:rPr lang="en-US" altLang="en-US">
                <a:solidFill>
                  <a:schemeClr val="tx1"/>
                </a:solidFill>
                <a:latin typeface="Times New Roman" charset="0"/>
                <a:ea typeface="Times New Roman" charset="0"/>
                <a:cs typeface="Times New Roman" charset="0"/>
              </a:rPr>
            </a:br>
            <a:endParaRPr lang="en-US" altLang="en-US">
              <a:solidFill>
                <a:schemeClr val="tx1"/>
              </a:solidFill>
              <a:latin typeface="Times New Roman" charset="0"/>
              <a:ea typeface="Times New Roman" charset="0"/>
              <a:cs typeface="Times New Roman" charset="0"/>
            </a:endParaRPr>
          </a:p>
        </p:txBody>
      </p:sp>
      <p:sp>
        <p:nvSpPr>
          <p:cNvPr id="31746"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New Latin American cultures emerged from the interaction of European, African, and Indigenous peoples.</a:t>
            </a:r>
          </a:p>
          <a:p>
            <a:pPr marL="800100" lvl="1" indent="-457200" eaLnBrk="1" hangingPunct="1"/>
            <a:r>
              <a:rPr lang="en-US" altLang="en-US" dirty="0">
                <a:solidFill>
                  <a:schemeClr val="tx1"/>
                </a:solidFill>
                <a:latin typeface="Times New Roman" charset="0"/>
                <a:ea typeface="Times New Roman" charset="0"/>
                <a:cs typeface="Times New Roman" charset="0"/>
              </a:rPr>
              <a:t>Power relations</a:t>
            </a:r>
          </a:p>
          <a:p>
            <a:pPr marL="1200150" lvl="2" indent="-457200" eaLnBrk="1" hangingPunct="1"/>
            <a:r>
              <a:rPr lang="en-US" altLang="en-US" dirty="0">
                <a:latin typeface="Times New Roman" charset="0"/>
                <a:ea typeface="Times New Roman" charset="0"/>
                <a:cs typeface="Times New Roman" charset="0"/>
              </a:rPr>
              <a:t>Give and take </a:t>
            </a:r>
            <a:endParaRPr lang="en-US" altLang="en-US" dirty="0">
              <a:solidFill>
                <a:schemeClr val="tx1"/>
              </a:solidFill>
              <a:latin typeface="Times New Roman" charset="0"/>
              <a:ea typeface="Times New Roman" charset="0"/>
              <a:cs typeface="Times New Roman" charset="0"/>
            </a:endParaRPr>
          </a:p>
          <a:p>
            <a:pPr marL="800100" lvl="1" indent="-457200" eaLnBrk="1" hangingPunct="1"/>
            <a:r>
              <a:rPr lang="en-US" altLang="en-US" dirty="0">
                <a:solidFill>
                  <a:schemeClr val="tx1"/>
                </a:solidFill>
                <a:latin typeface="Times New Roman" charset="0"/>
                <a:ea typeface="Times New Roman" charset="0"/>
                <a:cs typeface="Times New Roman" charset="0"/>
              </a:rPr>
              <a:t>Religion </a:t>
            </a:r>
          </a:p>
          <a:p>
            <a:pPr lvl="2" eaLnBrk="1" hangingPunct="1"/>
            <a:r>
              <a:rPr lang="en-US" altLang="en-US" dirty="0">
                <a:latin typeface="Times New Roman" charset="0"/>
                <a:ea typeface="Times New Roman" charset="0"/>
                <a:cs typeface="Times New Roman" charset="0"/>
              </a:rPr>
              <a:t>The church had great power. </a:t>
            </a:r>
          </a:p>
          <a:p>
            <a:pPr lvl="2" eaLnBrk="1" hangingPunct="1"/>
            <a:r>
              <a:rPr lang="en-US" altLang="en-US" dirty="0">
                <a:latin typeface="Times New Roman" charset="0"/>
                <a:ea typeface="Times New Roman" charset="0"/>
                <a:cs typeface="Times New Roman" charset="0"/>
              </a:rPr>
              <a:t>Resistance occurred in spiritual sphere.</a:t>
            </a:r>
          </a:p>
          <a:p>
            <a:pPr marL="800100" indent="-457200" eaLnBrk="1" hangingPunct="1">
              <a:buFont typeface="Arial" charset="0"/>
              <a:buChar char="•"/>
            </a:pPr>
            <a:endParaRPr lang="en-US" altLang="en-US" sz="2800" dirty="0">
              <a:latin typeface="Times New Roman" charset="0"/>
              <a:ea typeface="Times New Roman" charset="0"/>
              <a:cs typeface="Times New Roman"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Town and Country</a:t>
            </a:r>
          </a:p>
        </p:txBody>
      </p:sp>
      <p:sp>
        <p:nvSpPr>
          <p:cNvPr id="3379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Cities</a:t>
            </a:r>
            <a:endParaRPr lang="en-US" altLang="en-US" sz="2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Colonial governance existed in cities.</a:t>
            </a:r>
          </a:p>
          <a:p>
            <a:pPr lvl="2" eaLnBrk="1" hangingPunct="1"/>
            <a:r>
              <a:rPr lang="en-US" altLang="en-US" dirty="0">
                <a:latin typeface="Times New Roman" charset="0"/>
                <a:ea typeface="Times New Roman" charset="0"/>
                <a:cs typeface="Times New Roman" charset="0"/>
              </a:rPr>
              <a:t>Many Indigenous people migrated to urban areas.</a:t>
            </a:r>
            <a:endParaRPr lang="en-US" altLang="en-US" sz="2000"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Urban slaves had greater freedom.</a:t>
            </a:r>
            <a:endParaRPr lang="en-US" altLang="en-US" sz="2000"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Slaves and free blacks worked as artisans, often alongside poor whites.</a:t>
            </a:r>
            <a:endParaRPr lang="en-US" altLang="en-US" sz="2000" dirty="0">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Rural areas</a:t>
            </a:r>
            <a:endParaRPr lang="en-US" altLang="en-US" sz="2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Plantation slaves were highly restricted and isolated.</a:t>
            </a:r>
            <a:endParaRPr lang="en-US" altLang="en-US" sz="2000"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Rural Indigenous people lived more separately.</a:t>
            </a:r>
            <a:endParaRPr lang="en-US" altLang="en-US" sz="2000"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Whites were also more isolated.</a:t>
            </a:r>
            <a:endParaRPr lang="en-US" altLang="en-US" sz="2000"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Transculturation and Power</a:t>
            </a:r>
          </a:p>
        </p:txBody>
      </p:sp>
      <p:sp>
        <p:nvSpPr>
          <p:cNvPr id="35842" name="Content Placeholder 2"/>
          <p:cNvSpPr>
            <a:spLocks noGrp="1"/>
          </p:cNvSpPr>
          <p:nvPr>
            <p:ph idx="1"/>
          </p:nvPr>
        </p:nvSpPr>
        <p:spPr/>
        <p:txBody>
          <a:bodyPr/>
          <a:lstStyle/>
          <a:p>
            <a:pPr lvl="1" eaLnBrk="1" hangingPunct="1"/>
            <a:r>
              <a:rPr lang="en-US" altLang="en-US" dirty="0" err="1">
                <a:solidFill>
                  <a:schemeClr val="tx1"/>
                </a:solidFill>
                <a:latin typeface="Times New Roman" charset="0"/>
                <a:ea typeface="Times New Roman" charset="0"/>
                <a:cs typeface="Times New Roman" charset="0"/>
              </a:rPr>
              <a:t>Transculturation</a:t>
            </a:r>
            <a:r>
              <a:rPr lang="en-US" altLang="en-US" dirty="0">
                <a:solidFill>
                  <a:schemeClr val="tx1"/>
                </a:solidFill>
                <a:latin typeface="Times New Roman" charset="0"/>
                <a:ea typeface="Times New Roman" charset="0"/>
                <a:cs typeface="Times New Roman" charset="0"/>
              </a:rPr>
              <a:t> was a blessing and a curse for subjugated groups.</a:t>
            </a:r>
          </a:p>
          <a:p>
            <a:pPr lvl="2" eaLnBrk="1" hangingPunct="1"/>
            <a:r>
              <a:rPr lang="en-US" altLang="en-US" dirty="0">
                <a:latin typeface="Times New Roman" charset="0"/>
                <a:ea typeface="Times New Roman" charset="0"/>
                <a:cs typeface="Times New Roman" charset="0"/>
              </a:rPr>
              <a:t>Virgin of Guadalupe</a:t>
            </a:r>
          </a:p>
          <a:p>
            <a:pPr lvl="2" eaLnBrk="1" hangingPunct="1"/>
            <a:r>
              <a:rPr lang="en-US" altLang="en-US" dirty="0" err="1">
                <a:latin typeface="Times New Roman" charset="0"/>
                <a:ea typeface="Times New Roman" charset="0"/>
                <a:cs typeface="Times New Roman" charset="0"/>
              </a:rPr>
              <a:t>Garcilaso</a:t>
            </a:r>
            <a:r>
              <a:rPr lang="en-US" altLang="en-US" dirty="0">
                <a:latin typeface="Times New Roman" charset="0"/>
                <a:ea typeface="Times New Roman" charset="0"/>
                <a:cs typeface="Times New Roman" charset="0"/>
              </a:rPr>
              <a:t> and </a:t>
            </a:r>
            <a:r>
              <a:rPr lang="en-US" altLang="en-US" dirty="0" err="1">
                <a:latin typeface="Times New Roman" charset="0"/>
                <a:ea typeface="Times New Roman" charset="0"/>
                <a:cs typeface="Times New Roman" charset="0"/>
              </a:rPr>
              <a:t>Guaman</a:t>
            </a:r>
            <a:r>
              <a:rPr lang="en-US" altLang="en-US" dirty="0">
                <a:latin typeface="Times New Roman" charset="0"/>
                <a:ea typeface="Times New Roman" charset="0"/>
                <a:cs typeface="Times New Roman" charset="0"/>
              </a:rPr>
              <a:t> Poma</a:t>
            </a:r>
          </a:p>
          <a:p>
            <a:pPr lvl="2" eaLnBrk="1" hangingPunct="1"/>
            <a:r>
              <a:rPr lang="en-US" altLang="en-US" dirty="0">
                <a:latin typeface="Times New Roman" charset="0"/>
                <a:ea typeface="Times New Roman" charset="0"/>
                <a:cs typeface="Times New Roman" charset="0"/>
              </a:rPr>
              <a:t>Antonio Vieira</a:t>
            </a:r>
          </a:p>
          <a:p>
            <a:pPr lvl="1" eaLnBrk="1" hangingPunct="1"/>
            <a:r>
              <a:rPr lang="en-US" altLang="en-US" dirty="0" err="1">
                <a:solidFill>
                  <a:schemeClr val="tx1"/>
                </a:solidFill>
                <a:latin typeface="Times New Roman" charset="0"/>
                <a:ea typeface="Times New Roman" charset="0"/>
                <a:cs typeface="Times New Roman" charset="0"/>
              </a:rPr>
              <a:t>Transculturation</a:t>
            </a:r>
            <a:r>
              <a:rPr lang="en-US" altLang="en-US" dirty="0">
                <a:solidFill>
                  <a:schemeClr val="tx1"/>
                </a:solidFill>
                <a:latin typeface="Times New Roman" charset="0"/>
                <a:ea typeface="Times New Roman" charset="0"/>
                <a:cs typeface="Times New Roman" charset="0"/>
              </a:rPr>
              <a:t> and hegemony often went hand-in-hand.</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Fringes of Colonization</a:t>
            </a:r>
          </a:p>
        </p:txBody>
      </p:sp>
      <p:sp>
        <p:nvSpPr>
          <p:cNvPr id="37890" name="Content Placeholder 2"/>
          <p:cNvSpPr>
            <a:spLocks noGrp="1"/>
          </p:cNvSpPr>
          <p:nvPr>
            <p:ph idx="1"/>
          </p:nvPr>
        </p:nvSpPr>
        <p:spPr>
          <a:xfrm>
            <a:off x="458788" y="1600200"/>
            <a:ext cx="8229600" cy="4525963"/>
          </a:xfrm>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Fringes lay outside economic centers of colonies.</a:t>
            </a:r>
          </a:p>
          <a:p>
            <a:pPr marL="1085850" lvl="2" indent="-342900" eaLnBrk="1" hangingPunct="1"/>
            <a:r>
              <a:rPr lang="en-US" altLang="en-US" dirty="0">
                <a:solidFill>
                  <a:schemeClr val="tx1"/>
                </a:solidFill>
                <a:latin typeface="Times New Roman" charset="0"/>
                <a:ea typeface="Times New Roman" charset="0"/>
                <a:cs typeface="Times New Roman" charset="0"/>
              </a:rPr>
              <a:t>More sparsely populated</a:t>
            </a:r>
          </a:p>
          <a:p>
            <a:pPr marL="1085850" lvl="2" indent="-342900" eaLnBrk="1" hangingPunct="1"/>
            <a:r>
              <a:rPr lang="en-US" altLang="en-US" dirty="0">
                <a:solidFill>
                  <a:schemeClr val="tx1"/>
                </a:solidFill>
                <a:latin typeface="Times New Roman" charset="0"/>
                <a:ea typeface="Times New Roman" charset="0"/>
                <a:cs typeface="Times New Roman" charset="0"/>
              </a:rPr>
              <a:t>Less economic stratification</a:t>
            </a:r>
          </a:p>
          <a:p>
            <a:pPr marL="1085850" lvl="2" indent="-342900" eaLnBrk="1" hangingPunct="1"/>
            <a:r>
              <a:rPr lang="en-US" altLang="en-US" dirty="0">
                <a:solidFill>
                  <a:schemeClr val="tx1"/>
                </a:solidFill>
                <a:latin typeface="Times New Roman" charset="0"/>
                <a:ea typeface="Times New Roman" charset="0"/>
                <a:cs typeface="Times New Roman" charset="0"/>
              </a:rPr>
              <a:t>More subsistence living</a:t>
            </a:r>
          </a:p>
          <a:p>
            <a:pPr marL="1085850" lvl="2" indent="-342900" eaLnBrk="1" hangingPunct="1"/>
            <a:r>
              <a:rPr lang="en-US" altLang="en-US" dirty="0">
                <a:latin typeface="Times New Roman" charset="0"/>
                <a:ea typeface="Times New Roman" charset="0"/>
                <a:cs typeface="Times New Roman" charset="0"/>
              </a:rPr>
              <a:t>Not much to export</a:t>
            </a:r>
            <a:endParaRPr lang="en-US" altLang="en-US" dirty="0">
              <a:solidFill>
                <a:schemeClr val="tx1"/>
              </a:solidFill>
              <a:latin typeface="Times New Roman" charset="0"/>
              <a:ea typeface="Times New Roman" charset="0"/>
              <a:cs typeface="Times New Roman" charset="0"/>
            </a:endParaRPr>
          </a:p>
          <a:p>
            <a:pPr marL="1085850" lvl="2" indent="-342900" eaLnBrk="1" hangingPunct="1"/>
            <a:r>
              <a:rPr lang="en-US" altLang="en-US" dirty="0">
                <a:solidFill>
                  <a:schemeClr val="tx1"/>
                </a:solidFill>
                <a:latin typeface="Times New Roman" charset="0"/>
                <a:ea typeface="Times New Roman" charset="0"/>
                <a:cs typeface="Times New Roman" charset="0"/>
              </a:rPr>
              <a:t>Those at the bottom of the hierarchy became more important. </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Paraguay: Case Study</a:t>
            </a:r>
          </a:p>
        </p:txBody>
      </p:sp>
      <p:sp>
        <p:nvSpPr>
          <p:cNvPr id="4198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Missions for conversion of indigenous people</a:t>
            </a:r>
          </a:p>
          <a:p>
            <a:pPr lvl="1" eaLnBrk="1" hangingPunct="1"/>
            <a:r>
              <a:rPr lang="en-US" altLang="en-US" dirty="0">
                <a:solidFill>
                  <a:schemeClr val="tx1"/>
                </a:solidFill>
                <a:latin typeface="Times New Roman" charset="0"/>
                <a:ea typeface="Times New Roman" charset="0"/>
                <a:cs typeface="Times New Roman" charset="0"/>
              </a:rPr>
              <a:t>Remote and landlocked</a:t>
            </a:r>
          </a:p>
          <a:p>
            <a:pPr lvl="1" eaLnBrk="1" hangingPunct="1"/>
            <a:r>
              <a:rPr lang="en-US" altLang="en-US" dirty="0">
                <a:solidFill>
                  <a:schemeClr val="tx1"/>
                </a:solidFill>
                <a:latin typeface="Times New Roman" charset="0"/>
                <a:ea typeface="Times New Roman" charset="0"/>
                <a:cs typeface="Times New Roman" charset="0"/>
              </a:rPr>
              <a:t>Became permeated by Guaraní influence</a:t>
            </a:r>
          </a:p>
        </p:txBody>
      </p:sp>
    </p:spTree>
    <p:extLst>
      <p:ext uri="{BB962C8B-B14F-4D97-AF65-F5344CB8AC3E}">
        <p14:creationId xmlns:p14="http://schemas.microsoft.com/office/powerpoint/2010/main" val="945760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a:xfrm>
            <a:off x="381000" y="267381"/>
            <a:ext cx="8382000" cy="1143000"/>
          </a:xfrm>
        </p:spPr>
        <p:txBody>
          <a:bodyPr/>
          <a:lstStyle/>
          <a:p>
            <a:pPr eaLnBrk="1" hangingPunct="1"/>
            <a:r>
              <a:rPr lang="en-US" altLang="en-US" dirty="0">
                <a:solidFill>
                  <a:schemeClr val="tx1"/>
                </a:solidFill>
                <a:latin typeface="Times New Roman" charset="0"/>
                <a:ea typeface="Times New Roman" charset="0"/>
                <a:cs typeface="Times New Roman" charset="0"/>
              </a:rPr>
              <a:t>Rio de la Plata – “River of Silver”</a:t>
            </a:r>
          </a:p>
        </p:txBody>
      </p:sp>
      <p:sp>
        <p:nvSpPr>
          <p:cNvPr id="4198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Less isolated than Paraguay</a:t>
            </a:r>
          </a:p>
          <a:p>
            <a:pPr lvl="1" eaLnBrk="1" hangingPunct="1"/>
            <a:r>
              <a:rPr lang="en-US" altLang="en-US" dirty="0">
                <a:solidFill>
                  <a:schemeClr val="tx1"/>
                </a:solidFill>
                <a:latin typeface="Times New Roman" charset="0"/>
                <a:ea typeface="Times New Roman" charset="0"/>
                <a:cs typeface="Times New Roman" charset="0"/>
              </a:rPr>
              <a:t>Cattle ranching economy</a:t>
            </a:r>
          </a:p>
          <a:p>
            <a:pPr lvl="1" eaLnBrk="1" hangingPunct="1"/>
            <a:r>
              <a:rPr lang="en-US" altLang="en-US" dirty="0">
                <a:solidFill>
                  <a:schemeClr val="tx1"/>
                </a:solidFill>
                <a:latin typeface="Times New Roman" charset="0"/>
                <a:ea typeface="Times New Roman" charset="0"/>
                <a:cs typeface="Times New Roman" charset="0"/>
              </a:rPr>
              <a:t>Ongoing raids by indigenous societies</a:t>
            </a:r>
          </a:p>
          <a:p>
            <a:pPr lvl="1" eaLnBrk="1" hangingPunct="1"/>
            <a:r>
              <a:rPr lang="en-US" altLang="en-US" dirty="0">
                <a:solidFill>
                  <a:schemeClr val="tx1"/>
                </a:solidFill>
                <a:latin typeface="Times New Roman" charset="0"/>
                <a:ea typeface="Times New Roman" charset="0"/>
                <a:cs typeface="Times New Roman" charset="0"/>
              </a:rPr>
              <a:t>Abundance of cattle and horses</a:t>
            </a:r>
          </a:p>
        </p:txBody>
      </p:sp>
    </p:spTree>
    <p:extLst>
      <p:ext uri="{BB962C8B-B14F-4D97-AF65-F5344CB8AC3E}">
        <p14:creationId xmlns:p14="http://schemas.microsoft.com/office/powerpoint/2010/main" val="2445913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Fringes of Colonization: Chile</a:t>
            </a:r>
          </a:p>
        </p:txBody>
      </p:sp>
      <p:sp>
        <p:nvSpPr>
          <p:cNvPr id="4198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Isolated despite huge coastline</a:t>
            </a:r>
          </a:p>
          <a:p>
            <a:pPr lvl="2" eaLnBrk="1" hangingPunct="1"/>
            <a:r>
              <a:rPr lang="en-US" altLang="en-US" dirty="0">
                <a:latin typeface="Times New Roman" charset="0"/>
                <a:ea typeface="Times New Roman" charset="0"/>
                <a:cs typeface="Times New Roman" charset="0"/>
              </a:rPr>
              <a:t>Subordinate to viceroyalty of Peru</a:t>
            </a:r>
            <a:endParaRPr lang="en-US" altLang="en-US" sz="2200" dirty="0">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Chile could not offer settlers many indigenous servants.</a:t>
            </a:r>
          </a:p>
          <a:p>
            <a:pPr lvl="1" eaLnBrk="1" hangingPunct="1"/>
            <a:r>
              <a:rPr lang="en-US" altLang="en-US" dirty="0">
                <a:solidFill>
                  <a:schemeClr val="tx1"/>
                </a:solidFill>
                <a:latin typeface="Times New Roman" charset="0"/>
                <a:ea typeface="Times New Roman" charset="0"/>
                <a:cs typeface="Times New Roman" charset="0"/>
              </a:rPr>
              <a:t>Grew wheat to supply Peruvian mines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Elsewhere on the Fringe</a:t>
            </a:r>
          </a:p>
        </p:txBody>
      </p:sp>
      <p:sp>
        <p:nvSpPr>
          <p:cNvPr id="4403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Spanish fringe areas were often cattle frontiers.</a:t>
            </a:r>
          </a:p>
          <a:p>
            <a:pPr lvl="2" eaLnBrk="1" hangingPunct="1"/>
            <a:r>
              <a:rPr lang="en-US" altLang="en-US" i="1" dirty="0">
                <a:latin typeface="Times New Roman" charset="0"/>
                <a:ea typeface="Times New Roman" charset="0"/>
                <a:cs typeface="Times New Roman" charset="0"/>
              </a:rPr>
              <a:t>Gauchos </a:t>
            </a:r>
            <a:r>
              <a:rPr lang="en-US" altLang="en-US" dirty="0">
                <a:latin typeface="Times New Roman" charset="0"/>
                <a:ea typeface="Times New Roman" charset="0"/>
                <a:cs typeface="Times New Roman" charset="0"/>
              </a:rPr>
              <a:t>(Rio de la Plata), </a:t>
            </a:r>
            <a:r>
              <a:rPr lang="en-US" altLang="en-US" i="1" dirty="0" err="1">
                <a:latin typeface="Times New Roman" charset="0"/>
                <a:ea typeface="Times New Roman" charset="0"/>
                <a:cs typeface="Times New Roman" charset="0"/>
              </a:rPr>
              <a:t>guasos</a:t>
            </a:r>
            <a:r>
              <a:rPr lang="en-US" altLang="en-US" i="1" dirty="0">
                <a:latin typeface="Times New Roman" charset="0"/>
                <a:ea typeface="Times New Roman" charset="0"/>
                <a:cs typeface="Times New Roman" charset="0"/>
              </a:rPr>
              <a:t> </a:t>
            </a:r>
            <a:r>
              <a:rPr lang="en-US" altLang="en-US" dirty="0">
                <a:latin typeface="Times New Roman" charset="0"/>
                <a:ea typeface="Times New Roman" charset="0"/>
                <a:cs typeface="Times New Roman" charset="0"/>
              </a:rPr>
              <a:t>(Chile)</a:t>
            </a:r>
            <a:r>
              <a:rPr lang="en-US" altLang="en-US" i="1" dirty="0">
                <a:latin typeface="Times New Roman" charset="0"/>
                <a:ea typeface="Times New Roman" charset="0"/>
                <a:cs typeface="Times New Roman" charset="0"/>
              </a:rPr>
              <a:t>, vaqueros </a:t>
            </a:r>
            <a:r>
              <a:rPr lang="en-US" altLang="en-US" dirty="0">
                <a:latin typeface="Times New Roman" charset="0"/>
                <a:ea typeface="Times New Roman" charset="0"/>
                <a:cs typeface="Times New Roman" charset="0"/>
              </a:rPr>
              <a:t>(Mexico)</a:t>
            </a:r>
            <a:endParaRPr lang="en-US" altLang="en-US" sz="2200" dirty="0">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Many Caribbean islands remained as fringe area.</a:t>
            </a:r>
          </a:p>
          <a:p>
            <a:pPr lvl="1" eaLnBrk="1" hangingPunct="1"/>
            <a:r>
              <a:rPr lang="en-US" altLang="en-US" dirty="0">
                <a:solidFill>
                  <a:schemeClr val="tx1"/>
                </a:solidFill>
                <a:latin typeface="Times New Roman" charset="0"/>
                <a:ea typeface="Times New Roman" charset="0"/>
                <a:cs typeface="Times New Roman" charset="0"/>
              </a:rPr>
              <a:t>New Granada was a complex mix.</a:t>
            </a:r>
          </a:p>
          <a:p>
            <a:pPr lvl="2" eaLnBrk="1" hangingPunct="1"/>
            <a:r>
              <a:rPr lang="en-US" altLang="en-US" dirty="0">
                <a:latin typeface="Times New Roman" charset="0"/>
                <a:ea typeface="Times New Roman" charset="0"/>
                <a:cs typeface="Times New Roman" charset="0"/>
              </a:rPr>
              <a:t>Dense populations of fully sedentary indigenous people</a:t>
            </a:r>
            <a:endParaRPr lang="en-US" altLang="en-US" sz="2200"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No silver mines</a:t>
            </a:r>
            <a:endParaRPr lang="en-US" altLang="en-US" sz="2200"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Rain forests and cattle frontier</a:t>
            </a:r>
            <a:endParaRPr lang="en-US" altLang="en-US" sz="2200" dirty="0">
              <a:latin typeface="Times New Roman" charset="0"/>
              <a:ea typeface="Times New Roman" charset="0"/>
              <a:cs typeface="Times New Roman"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Fringe Economic Boom</a:t>
            </a:r>
          </a:p>
        </p:txBody>
      </p:sp>
      <p:sp>
        <p:nvSpPr>
          <p:cNvPr id="4608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Rio de la Plata found European markets for cattle hides.</a:t>
            </a:r>
          </a:p>
          <a:p>
            <a:pPr lvl="1" eaLnBrk="1" hangingPunct="1"/>
            <a:r>
              <a:rPr lang="en-US" altLang="en-US" dirty="0">
                <a:solidFill>
                  <a:schemeClr val="tx1"/>
                </a:solidFill>
                <a:latin typeface="Times New Roman" charset="0"/>
                <a:ea typeface="Times New Roman" charset="0"/>
                <a:cs typeface="Times New Roman" charset="0"/>
              </a:rPr>
              <a:t>Cuba and Venezuela found plantation crops.</a:t>
            </a:r>
          </a:p>
          <a:p>
            <a:pPr lvl="2" eaLnBrk="1" hangingPunct="1"/>
            <a:r>
              <a:rPr lang="en-US" altLang="en-US" dirty="0">
                <a:latin typeface="Times New Roman" charset="0"/>
                <a:ea typeface="Times New Roman" charset="0"/>
                <a:cs typeface="Times New Roman" charset="0"/>
              </a:rPr>
              <a:t>Cuba = sugar and coffee</a:t>
            </a:r>
            <a:endParaRPr lang="en-US" altLang="en-US" sz="2200"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Venezuela = cacao</a:t>
            </a:r>
            <a:endParaRPr lang="en-US" altLang="en-US" sz="2200" dirty="0">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Caribbean plantations produced a huge influx of slaves.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Brazilian Fringe</a:t>
            </a:r>
          </a:p>
        </p:txBody>
      </p:sp>
      <p:sp>
        <p:nvSpPr>
          <p:cNvPr id="4813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Portuguese colonial settlement focused on coastal regions.</a:t>
            </a:r>
          </a:p>
          <a:p>
            <a:pPr lvl="1" eaLnBrk="1" hangingPunct="1"/>
            <a:r>
              <a:rPr lang="en-US" altLang="en-US" dirty="0">
                <a:solidFill>
                  <a:schemeClr val="tx1"/>
                </a:solidFill>
                <a:latin typeface="Times New Roman" charset="0"/>
                <a:ea typeface="Times New Roman" charset="0"/>
                <a:cs typeface="Times New Roman" charset="0"/>
              </a:rPr>
              <a:t>Missions were chief representatives of Iberian control.</a:t>
            </a:r>
          </a:p>
          <a:p>
            <a:pPr lvl="1" eaLnBrk="1" hangingPunct="1"/>
            <a:r>
              <a:rPr lang="en-US" altLang="en-US" dirty="0">
                <a:solidFill>
                  <a:schemeClr val="tx1"/>
                </a:solidFill>
                <a:latin typeface="Times New Roman" charset="0"/>
                <a:ea typeface="Times New Roman" charset="0"/>
                <a:cs typeface="Times New Roman" charset="0"/>
              </a:rPr>
              <a:t>Cattle ranching </a:t>
            </a:r>
          </a:p>
          <a:p>
            <a:pPr lvl="1" eaLnBrk="1" hangingPunct="1"/>
            <a:r>
              <a:rPr lang="en-US" altLang="en-US" dirty="0">
                <a:solidFill>
                  <a:schemeClr val="tx1"/>
                </a:solidFill>
                <a:latin typeface="Times New Roman" charset="0"/>
                <a:ea typeface="Times New Roman" charset="0"/>
                <a:cs typeface="Times New Roman" charset="0"/>
              </a:rPr>
              <a:t>São Paulo</a:t>
            </a:r>
          </a:p>
          <a:p>
            <a:pPr lvl="1" eaLnBrk="1" hangingPunct="1"/>
            <a:r>
              <a:rPr lang="en-US" altLang="en-US" i="1" dirty="0" err="1">
                <a:solidFill>
                  <a:schemeClr val="tx1"/>
                </a:solidFill>
                <a:latin typeface="Times New Roman" charset="0"/>
                <a:ea typeface="Times New Roman" charset="0"/>
                <a:cs typeface="Times New Roman" charset="0"/>
              </a:rPr>
              <a:t>Bandeirantes</a:t>
            </a:r>
            <a:endParaRPr lang="en-US" altLang="en-US" i="1" dirty="0">
              <a:solidFill>
                <a:schemeClr val="tx1"/>
              </a:solidFill>
              <a:latin typeface="Times New Roman" charset="0"/>
              <a:ea typeface="Times New Roman" charset="0"/>
              <a:cs typeface="Times New Roman"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Gold Boom</a:t>
            </a:r>
          </a:p>
        </p:txBody>
      </p:sp>
      <p:sp>
        <p:nvSpPr>
          <p:cNvPr id="5017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Growth of inland settlements</a:t>
            </a:r>
          </a:p>
          <a:p>
            <a:pPr lvl="1" eaLnBrk="1" hangingPunct="1"/>
            <a:r>
              <a:rPr lang="en-US" altLang="en-US" dirty="0">
                <a:solidFill>
                  <a:schemeClr val="tx1"/>
                </a:solidFill>
                <a:latin typeface="Times New Roman" charset="0"/>
                <a:ea typeface="Times New Roman" charset="0"/>
                <a:cs typeface="Times New Roman" charset="0"/>
              </a:rPr>
              <a:t>Influx of slaves to mines</a:t>
            </a:r>
          </a:p>
          <a:p>
            <a:pPr lvl="1" eaLnBrk="1" hangingPunct="1"/>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Royal fifth</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Cities built near mines</a:t>
            </a:r>
          </a:p>
          <a:p>
            <a:pPr lvl="1" eaLnBrk="1" hangingPunct="1"/>
            <a:r>
              <a:rPr lang="en-US" altLang="en-US" dirty="0">
                <a:solidFill>
                  <a:schemeClr val="tx1"/>
                </a:solidFill>
                <a:latin typeface="Times New Roman" charset="0"/>
                <a:ea typeface="Times New Roman" charset="0"/>
                <a:cs typeface="Times New Roman" charset="0"/>
              </a:rPr>
              <a:t>Vila Rico de </a:t>
            </a:r>
            <a:r>
              <a:rPr lang="en-US" altLang="en-US" dirty="0" err="1">
                <a:solidFill>
                  <a:schemeClr val="tx1"/>
                </a:solidFill>
                <a:latin typeface="Times New Roman" charset="0"/>
                <a:ea typeface="Times New Roman" charset="0"/>
                <a:cs typeface="Times New Roman" charset="0"/>
              </a:rPr>
              <a:t>Ouro</a:t>
            </a:r>
            <a:r>
              <a:rPr lang="en-US" altLang="en-US" dirty="0">
                <a:solidFill>
                  <a:schemeClr val="tx1"/>
                </a:solidFill>
                <a:latin typeface="Times New Roman" charset="0"/>
                <a:ea typeface="Times New Roman" charset="0"/>
                <a:cs typeface="Times New Roman" charset="0"/>
              </a:rPr>
              <a:t> Preto</a:t>
            </a:r>
          </a:p>
          <a:p>
            <a:pPr lvl="1" eaLnBrk="1" hangingPunct="1"/>
            <a:r>
              <a:rPr lang="en-US" altLang="en-US" dirty="0">
                <a:solidFill>
                  <a:schemeClr val="tx1"/>
                </a:solidFill>
                <a:latin typeface="Times New Roman" charset="0"/>
                <a:ea typeface="Times New Roman" charset="0"/>
                <a:cs typeface="Times New Roman" charset="0"/>
              </a:rPr>
              <a:t>Minas Gerais</a:t>
            </a:r>
          </a:p>
          <a:p>
            <a:pPr lvl="1" eaLnBrk="1" hangingPunct="1"/>
            <a:r>
              <a:rPr lang="en-US" altLang="en-US" dirty="0">
                <a:solidFill>
                  <a:schemeClr val="tx1"/>
                </a:solidFill>
                <a:latin typeface="Times New Roman" charset="0"/>
                <a:ea typeface="Times New Roman" charset="0"/>
                <a:cs typeface="Times New Roman" charset="0"/>
              </a:rPr>
              <a:t>Financed art of </a:t>
            </a:r>
            <a:r>
              <a:rPr lang="en-US" altLang="en-US" dirty="0" err="1">
                <a:solidFill>
                  <a:schemeClr val="tx1"/>
                </a:solidFill>
                <a:latin typeface="Times New Roman" charset="0"/>
                <a:ea typeface="Times New Roman" charset="0"/>
                <a:cs typeface="Times New Roman" charset="0"/>
              </a:rPr>
              <a:t>Aleijadinho</a:t>
            </a:r>
            <a:endParaRPr lang="en-US" altLang="en-US"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Aided the economic integration of Brazil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Late Colonial Transformations</a:t>
            </a:r>
          </a:p>
        </p:txBody>
      </p:sp>
      <p:sp>
        <p:nvSpPr>
          <p:cNvPr id="52226"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In the 1750s, Iberian crowns seek to tighten control. </a:t>
            </a:r>
          </a:p>
          <a:p>
            <a:pPr marL="800100" lvl="1" indent="-457200" eaLnBrk="1" hangingPunct="1"/>
            <a:r>
              <a:rPr lang="en-US" altLang="en-US" dirty="0">
                <a:solidFill>
                  <a:schemeClr val="tx1"/>
                </a:solidFill>
                <a:latin typeface="Times New Roman" charset="0"/>
                <a:ea typeface="Times New Roman" charset="0"/>
                <a:cs typeface="Times New Roman" charset="0"/>
              </a:rPr>
              <a:t>Bourbon or </a:t>
            </a:r>
            <a:r>
              <a:rPr lang="en-US" altLang="en-US" dirty="0" err="1">
                <a:solidFill>
                  <a:schemeClr val="tx1"/>
                </a:solidFill>
                <a:latin typeface="Times New Roman" charset="0"/>
                <a:ea typeface="Times New Roman" charset="0"/>
                <a:cs typeface="Times New Roman" charset="0"/>
              </a:rPr>
              <a:t>Pombaline</a:t>
            </a:r>
            <a:r>
              <a:rPr lang="en-US" altLang="en-US" dirty="0">
                <a:solidFill>
                  <a:schemeClr val="tx1"/>
                </a:solidFill>
                <a:latin typeface="Times New Roman" charset="0"/>
                <a:ea typeface="Times New Roman" charset="0"/>
                <a:cs typeface="Times New Roman" charset="0"/>
              </a:rPr>
              <a:t> reforms	</a:t>
            </a:r>
          </a:p>
          <a:p>
            <a:pPr marL="800100" lvl="1" indent="-457200" eaLnBrk="1" hangingPunct="1"/>
            <a:r>
              <a:rPr lang="en-US" altLang="en-US" dirty="0">
                <a:solidFill>
                  <a:schemeClr val="tx1"/>
                </a:solidFill>
                <a:latin typeface="Times New Roman" charset="0"/>
                <a:ea typeface="Times New Roman" charset="0"/>
                <a:cs typeface="Times New Roman" charset="0"/>
              </a:rPr>
              <a:t>Effort to rationalize and modernize overseas government</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Late Colonial Reforms</a:t>
            </a:r>
          </a:p>
        </p:txBody>
      </p:sp>
      <p:sp>
        <p:nvSpPr>
          <p:cNvPr id="5427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Raised taxes</a:t>
            </a:r>
          </a:p>
          <a:p>
            <a:pPr lvl="1" eaLnBrk="1" hangingPunct="1"/>
            <a:r>
              <a:rPr lang="en-US" altLang="en-US" dirty="0">
                <a:solidFill>
                  <a:schemeClr val="tx1"/>
                </a:solidFill>
                <a:latin typeface="Times New Roman" charset="0"/>
                <a:ea typeface="Times New Roman" charset="0"/>
                <a:cs typeface="Times New Roman" charset="0"/>
              </a:rPr>
              <a:t>Improved administration to collect taxes</a:t>
            </a:r>
          </a:p>
          <a:p>
            <a:pPr lvl="1" eaLnBrk="1" hangingPunct="1"/>
            <a:r>
              <a:rPr lang="en-US" altLang="en-US" dirty="0">
                <a:solidFill>
                  <a:schemeClr val="tx1"/>
                </a:solidFill>
                <a:latin typeface="Times New Roman" charset="0"/>
                <a:ea typeface="Times New Roman" charset="0"/>
                <a:cs typeface="Times New Roman" charset="0"/>
              </a:rPr>
              <a:t>State-controlled monopolies oversee trade and production.</a:t>
            </a:r>
          </a:p>
          <a:p>
            <a:pPr lvl="1" eaLnBrk="1" hangingPunct="1"/>
            <a:r>
              <a:rPr lang="en-US" altLang="en-US" dirty="0">
                <a:solidFill>
                  <a:schemeClr val="tx1"/>
                </a:solidFill>
                <a:latin typeface="Times New Roman" charset="0"/>
                <a:ea typeface="Times New Roman" charset="0"/>
                <a:cs typeface="Times New Roman" charset="0"/>
              </a:rPr>
              <a:t>Limited European products</a:t>
            </a:r>
          </a:p>
          <a:p>
            <a:pPr lvl="1" eaLnBrk="1" hangingPunct="1"/>
            <a:r>
              <a:rPr lang="en-US" altLang="en-US" dirty="0">
                <a:solidFill>
                  <a:schemeClr val="tx1"/>
                </a:solidFill>
                <a:latin typeface="Times New Roman" charset="0"/>
                <a:ea typeface="Times New Roman" charset="0"/>
                <a:cs typeface="Times New Roman" charset="0"/>
              </a:rPr>
              <a:t>Loosened shipping restrictions but asserted trade exclusivity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Reaction in the Americas</a:t>
            </a:r>
          </a:p>
        </p:txBody>
      </p:sp>
      <p:sp>
        <p:nvSpPr>
          <p:cNvPr id="5632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Taxes fell on poorest</a:t>
            </a:r>
          </a:p>
          <a:p>
            <a:pPr marL="800100" lvl="1" indent="-457200" eaLnBrk="1" hangingPunct="1"/>
            <a:r>
              <a:rPr lang="en-US" altLang="en-US" dirty="0">
                <a:solidFill>
                  <a:schemeClr val="tx1"/>
                </a:solidFill>
                <a:latin typeface="Times New Roman" charset="0"/>
                <a:ea typeface="Times New Roman" charset="0"/>
                <a:cs typeface="Times New Roman" charset="0"/>
              </a:rPr>
              <a:t>Monopolies increased prices</a:t>
            </a:r>
          </a:p>
          <a:p>
            <a:pPr marL="800100" lvl="1" indent="-457200" eaLnBrk="1" hangingPunct="1"/>
            <a:r>
              <a:rPr lang="en-US" altLang="en-US" dirty="0">
                <a:solidFill>
                  <a:schemeClr val="tx1"/>
                </a:solidFill>
                <a:latin typeface="Times New Roman" charset="0"/>
                <a:ea typeface="Times New Roman" charset="0"/>
                <a:cs typeface="Times New Roman" charset="0"/>
              </a:rPr>
              <a:t>Unemployment</a:t>
            </a:r>
          </a:p>
          <a:p>
            <a:pPr marL="800100" lvl="1" indent="-457200" eaLnBrk="1" hangingPunct="1"/>
            <a:r>
              <a:rPr lang="en-US" altLang="en-US" dirty="0">
                <a:solidFill>
                  <a:schemeClr val="tx1"/>
                </a:solidFill>
                <a:latin typeface="Times New Roman" charset="0"/>
                <a:ea typeface="Times New Roman" charset="0"/>
                <a:cs typeface="Times New Roman" charset="0"/>
              </a:rPr>
              <a:t>Widespread economic revolts and protests</a:t>
            </a:r>
          </a:p>
          <a:p>
            <a:pPr marL="800100" lvl="1" indent="-457200" eaLnBrk="1" hangingPunct="1"/>
            <a:r>
              <a:rPr lang="en-US" altLang="en-US" dirty="0">
                <a:solidFill>
                  <a:schemeClr val="tx1"/>
                </a:solidFill>
                <a:latin typeface="Times New Roman" charset="0"/>
                <a:ea typeface="Times New Roman" charset="0"/>
                <a:cs typeface="Times New Roman" charset="0"/>
              </a:rPr>
              <a:t>Native-born Spanish Americans and Portuguese Americans had the most at stake.</a:t>
            </a:r>
          </a:p>
          <a:p>
            <a:pPr marL="1200150" lvl="2" indent="-457200" eaLnBrk="1" hangingPunct="1"/>
            <a:r>
              <a:rPr lang="en-US" altLang="en-US" dirty="0">
                <a:latin typeface="Times New Roman" charset="0"/>
                <a:ea typeface="Times New Roman" charset="0"/>
                <a:cs typeface="Times New Roman" charset="0"/>
              </a:rPr>
              <a:t>Lost influence in a range of ways</a:t>
            </a:r>
            <a:endParaRPr lang="en-US" altLang="en-US" dirty="0">
              <a:solidFill>
                <a:schemeClr val="tx1"/>
              </a:solidFill>
              <a:latin typeface="Times New Roman" charset="0"/>
              <a:ea typeface="Times New Roman" charset="0"/>
              <a:cs typeface="Times New Roman"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Racial Mixing</a:t>
            </a:r>
          </a:p>
        </p:txBody>
      </p:sp>
      <p:sp>
        <p:nvSpPr>
          <p:cNvPr id="5837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Social and professional interaction</a:t>
            </a:r>
          </a:p>
          <a:p>
            <a:pPr lvl="1" eaLnBrk="1" hangingPunct="1"/>
            <a:r>
              <a:rPr lang="en-US" altLang="en-US" dirty="0">
                <a:solidFill>
                  <a:schemeClr val="tx1"/>
                </a:solidFill>
                <a:latin typeface="Times New Roman" charset="0"/>
                <a:ea typeface="Times New Roman" charset="0"/>
                <a:cs typeface="Times New Roman" charset="0"/>
              </a:rPr>
              <a:t>Occupied the middle tier of the social ladder</a:t>
            </a:r>
          </a:p>
          <a:p>
            <a:pPr lvl="1" eaLnBrk="1" hangingPunct="1"/>
            <a:r>
              <a:rPr lang="en-US" altLang="en-US" dirty="0">
                <a:solidFill>
                  <a:schemeClr val="tx1"/>
                </a:solidFill>
                <a:latin typeface="Times New Roman" charset="0"/>
                <a:ea typeface="Times New Roman" charset="0"/>
                <a:cs typeface="Times New Roman" charset="0"/>
              </a:rPr>
              <a:t>Intermarriage and consensual partnerships were common among the lower class.</a:t>
            </a:r>
          </a:p>
          <a:p>
            <a:pPr lvl="2" eaLnBrk="1" hangingPunct="1"/>
            <a:r>
              <a:rPr lang="en-US" altLang="en-US" dirty="0" err="1">
                <a:latin typeface="Times New Roman" charset="0"/>
                <a:ea typeface="Times New Roman" charset="0"/>
                <a:cs typeface="Times New Roman" charset="0"/>
              </a:rPr>
              <a:t>Xica</a:t>
            </a:r>
            <a:r>
              <a:rPr lang="en-US" altLang="en-US" dirty="0">
                <a:latin typeface="Times New Roman" charset="0"/>
                <a:ea typeface="Times New Roman" charset="0"/>
                <a:cs typeface="Times New Roman" charset="0"/>
              </a:rPr>
              <a:t> </a:t>
            </a:r>
            <a:r>
              <a:rPr lang="en-US" altLang="en-US" dirty="0" err="1">
                <a:latin typeface="Times New Roman" charset="0"/>
                <a:ea typeface="Times New Roman" charset="0"/>
                <a:cs typeface="Times New Roman" charset="0"/>
              </a:rPr>
              <a:t>da</a:t>
            </a:r>
            <a:r>
              <a:rPr lang="en-US" altLang="en-US" dirty="0">
                <a:latin typeface="Times New Roman" charset="0"/>
                <a:ea typeface="Times New Roman" charset="0"/>
                <a:cs typeface="Times New Roman" charset="0"/>
              </a:rPr>
              <a:t> Silva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Caste System</a:t>
            </a:r>
          </a:p>
        </p:txBody>
      </p:sp>
      <p:sp>
        <p:nvSpPr>
          <p:cNvPr id="6041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Fixed categories corresponding to race</a:t>
            </a:r>
          </a:p>
          <a:p>
            <a:pPr lvl="1" eaLnBrk="1" hangingPunct="1"/>
            <a:r>
              <a:rPr lang="en-US" altLang="en-US" dirty="0">
                <a:solidFill>
                  <a:schemeClr val="tx1"/>
                </a:solidFill>
                <a:latin typeface="Times New Roman" charset="0"/>
                <a:ea typeface="Times New Roman" charset="0"/>
                <a:cs typeface="Times New Roman" charset="0"/>
              </a:rPr>
              <a:t>Categories accounted for, and ranked, racial mixtures</a:t>
            </a:r>
          </a:p>
          <a:p>
            <a:pPr lvl="2" eaLnBrk="1" hangingPunct="1"/>
            <a:r>
              <a:rPr lang="en-US" altLang="en-US" dirty="0">
                <a:latin typeface="Times New Roman" charset="0"/>
                <a:ea typeface="Times New Roman" charset="0"/>
                <a:cs typeface="Times New Roman" charset="0"/>
              </a:rPr>
              <a:t>European</a:t>
            </a:r>
          </a:p>
          <a:p>
            <a:pPr lvl="2" eaLnBrk="1" hangingPunct="1"/>
            <a:r>
              <a:rPr lang="en-US" altLang="en-US" dirty="0">
                <a:latin typeface="Times New Roman" charset="0"/>
                <a:ea typeface="Times New Roman" charset="0"/>
                <a:cs typeface="Times New Roman" charset="0"/>
              </a:rPr>
              <a:t>African</a:t>
            </a:r>
          </a:p>
          <a:p>
            <a:pPr lvl="2" eaLnBrk="1" hangingPunct="1"/>
            <a:r>
              <a:rPr lang="en-US" altLang="en-US" dirty="0">
                <a:latin typeface="Times New Roman" charset="0"/>
                <a:ea typeface="Times New Roman" charset="0"/>
                <a:cs typeface="Times New Roman" charset="0"/>
              </a:rPr>
              <a:t>European-African</a:t>
            </a:r>
          </a:p>
          <a:p>
            <a:pPr lvl="2" eaLnBrk="1" hangingPunct="1"/>
            <a:r>
              <a:rPr lang="en-US" altLang="en-US" dirty="0">
                <a:latin typeface="Times New Roman" charset="0"/>
                <a:ea typeface="Times New Roman" charset="0"/>
                <a:cs typeface="Times New Roman" charset="0"/>
              </a:rPr>
              <a:t>European father–indigenous mother</a:t>
            </a:r>
          </a:p>
          <a:p>
            <a:pPr lvl="2" eaLnBrk="1" hangingPunct="1"/>
            <a:r>
              <a:rPr lang="en-US" altLang="en-US" dirty="0">
                <a:latin typeface="Times New Roman" charset="0"/>
                <a:ea typeface="Times New Roman" charset="0"/>
                <a:cs typeface="Times New Roman" charset="0"/>
              </a:rPr>
              <a:t>Indigenous-African</a:t>
            </a:r>
          </a:p>
          <a:p>
            <a:pPr lvl="2" eaLnBrk="1" hangingPunct="1"/>
            <a:r>
              <a:rPr lang="en-US" altLang="en-US" dirty="0">
                <a:latin typeface="Times New Roman" charset="0"/>
                <a:ea typeface="Times New Roman" charset="0"/>
                <a:cs typeface="Times New Roman" charset="0"/>
              </a:rPr>
              <a:t>Indigenous </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New Categories of Race</a:t>
            </a:r>
          </a:p>
        </p:txBody>
      </p:sp>
      <p:sp>
        <p:nvSpPr>
          <p:cNvPr id="6246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Intermarriage between groups created new categories.</a:t>
            </a:r>
          </a:p>
          <a:p>
            <a:pPr lvl="1" eaLnBrk="1" hangingPunct="1"/>
            <a:r>
              <a:rPr lang="en-US" altLang="en-US" dirty="0">
                <a:solidFill>
                  <a:schemeClr val="tx1"/>
                </a:solidFill>
                <a:latin typeface="Times New Roman" charset="0"/>
                <a:ea typeface="Times New Roman" charset="0"/>
                <a:cs typeface="Times New Roman" charset="0"/>
              </a:rPr>
              <a:t>Caste paintings were commissioned to illustrate categories.</a:t>
            </a:r>
          </a:p>
          <a:p>
            <a:pPr lvl="1" eaLnBrk="1" hangingPunct="1"/>
            <a:r>
              <a:rPr lang="en-US" altLang="en-US" dirty="0">
                <a:solidFill>
                  <a:schemeClr val="tx1"/>
                </a:solidFill>
                <a:latin typeface="Times New Roman" charset="0"/>
                <a:ea typeface="Times New Roman" charset="0"/>
                <a:cs typeface="Times New Roman" charset="0"/>
              </a:rPr>
              <a:t>Spanish crown began selling </a:t>
            </a:r>
            <a:r>
              <a:rPr lang="en-US" altLang="ja-JP" i="1" dirty="0">
                <a:solidFill>
                  <a:schemeClr val="tx1"/>
                </a:solidFill>
                <a:latin typeface="Times New Roman" charset="0"/>
                <a:ea typeface="Times New Roman" charset="0"/>
                <a:cs typeface="Times New Roman" charset="0"/>
              </a:rPr>
              <a:t>gracias al </a:t>
            </a:r>
            <a:r>
              <a:rPr lang="en-US" altLang="ja-JP" i="1" dirty="0" err="1">
                <a:solidFill>
                  <a:schemeClr val="tx1"/>
                </a:solidFill>
                <a:latin typeface="Times New Roman" charset="0"/>
                <a:ea typeface="Times New Roman" charset="0"/>
                <a:cs typeface="Times New Roman" charset="0"/>
              </a:rPr>
              <a:t>sacar</a:t>
            </a:r>
            <a:r>
              <a:rPr lang="en-US" altLang="ja-JP" i="1"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Colonial Rebellions</a:t>
            </a:r>
          </a:p>
        </p:txBody>
      </p:sp>
      <p:sp>
        <p:nvSpPr>
          <p:cNvPr id="64514" name="Content Placeholder 2"/>
          <p:cNvSpPr>
            <a:spLocks noGrp="1"/>
          </p:cNvSpPr>
          <p:nvPr>
            <p:ph idx="1"/>
          </p:nvPr>
        </p:nvSpPr>
        <p:spPr/>
        <p:txBody>
          <a:bodyPr/>
          <a:lstStyle/>
          <a:p>
            <a:pPr eaLnBrk="1" hangingPunct="1">
              <a:buFont typeface="Arial" charset="0"/>
              <a:buNone/>
            </a:pPr>
            <a:r>
              <a:rPr lang="en-US" altLang="en-US" sz="2800" dirty="0">
                <a:latin typeface="Times New Roman" charset="0"/>
                <a:ea typeface="Times New Roman" charset="0"/>
                <a:cs typeface="Times New Roman" charset="0"/>
              </a:rPr>
              <a:t>Aftershocks of conquest</a:t>
            </a:r>
          </a:p>
          <a:p>
            <a:pPr lvl="1" eaLnBrk="1" hangingPunct="1"/>
            <a:r>
              <a:rPr lang="en-US" altLang="en-US" dirty="0">
                <a:solidFill>
                  <a:schemeClr val="tx1"/>
                </a:solidFill>
                <a:latin typeface="Times New Roman" charset="0"/>
                <a:ea typeface="Times New Roman" charset="0"/>
                <a:cs typeface="Times New Roman" charset="0"/>
              </a:rPr>
              <a:t>Rebellion of Gonzalo Pizarro</a:t>
            </a:r>
          </a:p>
          <a:p>
            <a:pPr lvl="1" eaLnBrk="1" hangingPunct="1"/>
            <a:r>
              <a:rPr lang="en-US" altLang="en-US" dirty="0">
                <a:solidFill>
                  <a:schemeClr val="tx1"/>
                </a:solidFill>
                <a:latin typeface="Times New Roman" charset="0"/>
                <a:ea typeface="Times New Roman" charset="0"/>
                <a:cs typeface="Times New Roman" charset="0"/>
              </a:rPr>
              <a:t>Indigenous revolts, 1500–1800</a:t>
            </a:r>
          </a:p>
          <a:p>
            <a:pPr eaLnBrk="1" hangingPunct="1">
              <a:buFont typeface="Wingdings" charset="2"/>
              <a:buNone/>
            </a:pPr>
            <a:endParaRPr lang="en-US" altLang="en-US" sz="2800" dirty="0">
              <a:latin typeface="Times New Roman" charset="0"/>
              <a:ea typeface="Times New Roman" charset="0"/>
              <a:cs typeface="Times New Roman" charset="0"/>
            </a:endParaRPr>
          </a:p>
          <a:p>
            <a:pPr eaLnBrk="1" hangingPunct="1">
              <a:buFont typeface="Wingdings" charset="2"/>
              <a:buNone/>
            </a:pPr>
            <a:r>
              <a:rPr lang="en-US" altLang="en-US" sz="2800" dirty="0">
                <a:latin typeface="Times New Roman" charset="0"/>
                <a:ea typeface="Times New Roman" charset="0"/>
                <a:cs typeface="Times New Roman" charset="0"/>
              </a:rPr>
              <a:t>Rebellions against Bourbon Reforms</a:t>
            </a:r>
          </a:p>
          <a:p>
            <a:pPr lvl="1" eaLnBrk="1" hangingPunct="1"/>
            <a:r>
              <a:rPr lang="en-US" altLang="en-US" dirty="0">
                <a:solidFill>
                  <a:schemeClr val="tx1"/>
                </a:solidFill>
                <a:latin typeface="Times New Roman" charset="0"/>
                <a:ea typeface="Times New Roman" charset="0"/>
                <a:cs typeface="Times New Roman" charset="0"/>
              </a:rPr>
              <a:t>Mostly economic rebellions</a:t>
            </a:r>
          </a:p>
          <a:p>
            <a:pPr lvl="1" eaLnBrk="1" hangingPunct="1"/>
            <a:r>
              <a:rPr lang="en-US" altLang="en-US" dirty="0">
                <a:solidFill>
                  <a:schemeClr val="tx1"/>
                </a:solidFill>
                <a:latin typeface="Times New Roman" charset="0"/>
                <a:ea typeface="Times New Roman" charset="0"/>
                <a:cs typeface="Times New Roman" charset="0"/>
              </a:rPr>
              <a:t>Uprisings created cross-caste alliances.</a:t>
            </a:r>
          </a:p>
          <a:p>
            <a:pPr lvl="1" eaLnBrk="1" hangingPunct="1"/>
            <a:r>
              <a:rPr lang="en-US" altLang="en-US" dirty="0">
                <a:solidFill>
                  <a:schemeClr val="tx1"/>
                </a:solidFill>
                <a:latin typeface="Times New Roman" charset="0"/>
                <a:ea typeface="Times New Roman" charset="0"/>
                <a:cs typeface="Times New Roman" charset="0"/>
              </a:rPr>
              <a:t>Rebellions often claimed loyalty to the king, against bad government</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Colonial Rebellions (cont’d)</a:t>
            </a:r>
            <a:endParaRPr lang="en-US" altLang="en-US" dirty="0">
              <a:solidFill>
                <a:schemeClr val="tx1"/>
              </a:solidFill>
              <a:latin typeface="Times New Roman" charset="0"/>
              <a:ea typeface="Times New Roman" charset="0"/>
              <a:cs typeface="Times New Roman" charset="0"/>
            </a:endParaRPr>
          </a:p>
        </p:txBody>
      </p:sp>
      <p:sp>
        <p:nvSpPr>
          <p:cNvPr id="66562" name="Content Placeholder 2"/>
          <p:cNvSpPr>
            <a:spLocks noGrp="1"/>
          </p:cNvSpPr>
          <p:nvPr>
            <p:ph idx="1"/>
          </p:nvPr>
        </p:nvSpPr>
        <p:spPr/>
        <p:txBody>
          <a:bodyPr/>
          <a:lstStyle/>
          <a:p>
            <a:pPr eaLnBrk="1" hangingPunct="1">
              <a:buFont typeface="Arial" charset="0"/>
              <a:buNone/>
            </a:pPr>
            <a:r>
              <a:rPr lang="en-US" altLang="en-US" sz="2800" dirty="0" err="1">
                <a:latin typeface="Times New Roman" charset="0"/>
                <a:ea typeface="Times New Roman" charset="0"/>
                <a:cs typeface="Times New Roman" charset="0"/>
              </a:rPr>
              <a:t>Quilombos</a:t>
            </a:r>
            <a:r>
              <a:rPr lang="en-US" altLang="en-US" sz="2800" dirty="0">
                <a:latin typeface="Times New Roman" charset="0"/>
                <a:ea typeface="Times New Roman" charset="0"/>
                <a:cs typeface="Times New Roman" charset="0"/>
              </a:rPr>
              <a:t> and </a:t>
            </a:r>
            <a:r>
              <a:rPr lang="en-US" altLang="en-US" sz="2800" dirty="0" err="1">
                <a:latin typeface="Times New Roman" charset="0"/>
                <a:ea typeface="Times New Roman" charset="0"/>
                <a:cs typeface="Times New Roman" charset="0"/>
              </a:rPr>
              <a:t>Palenques</a:t>
            </a:r>
            <a:endParaRPr lang="en-US" altLang="en-US" sz="2800" dirty="0">
              <a:latin typeface="Times New Roman" charset="0"/>
              <a:ea typeface="Times New Roman" charset="0"/>
              <a:cs typeface="Times New Roman" charset="0"/>
            </a:endParaRPr>
          </a:p>
          <a:p>
            <a:pPr lvl="1" eaLnBrk="1" hangingPunct="1"/>
            <a:r>
              <a:rPr lang="en-US" altLang="en-US" dirty="0" err="1">
                <a:solidFill>
                  <a:schemeClr val="tx1"/>
                </a:solidFill>
                <a:latin typeface="Times New Roman" charset="0"/>
                <a:ea typeface="Times New Roman" charset="0"/>
                <a:cs typeface="Times New Roman" charset="0"/>
              </a:rPr>
              <a:t>Palmares</a:t>
            </a:r>
            <a:r>
              <a:rPr lang="en-US" altLang="en-US" dirty="0">
                <a:solidFill>
                  <a:schemeClr val="tx1"/>
                </a:solidFill>
                <a:latin typeface="Times New Roman" charset="0"/>
                <a:ea typeface="Times New Roman" charset="0"/>
                <a:cs typeface="Times New Roman" charset="0"/>
              </a:rPr>
              <a:t> in Brazil</a:t>
            </a:r>
          </a:p>
          <a:p>
            <a:pPr lvl="1" eaLnBrk="1" hangingPunct="1"/>
            <a:r>
              <a:rPr lang="en-US" altLang="en-US" dirty="0">
                <a:solidFill>
                  <a:schemeClr val="tx1"/>
                </a:solidFill>
                <a:latin typeface="Times New Roman" charset="0"/>
                <a:ea typeface="Times New Roman" charset="0"/>
                <a:cs typeface="Times New Roman" charset="0"/>
              </a:rPr>
              <a:t>Called </a:t>
            </a:r>
            <a:r>
              <a:rPr lang="en-US" altLang="en-US" i="1" dirty="0" err="1">
                <a:solidFill>
                  <a:schemeClr val="tx1"/>
                </a:solidFill>
                <a:latin typeface="Times New Roman" charset="0"/>
                <a:ea typeface="Times New Roman" charset="0"/>
                <a:cs typeface="Times New Roman" charset="0"/>
              </a:rPr>
              <a:t>palenques</a:t>
            </a:r>
            <a:r>
              <a:rPr lang="en-US" altLang="en-US" dirty="0">
                <a:solidFill>
                  <a:schemeClr val="tx1"/>
                </a:solidFill>
                <a:latin typeface="Times New Roman" charset="0"/>
                <a:ea typeface="Times New Roman" charset="0"/>
                <a:cs typeface="Times New Roman" charset="0"/>
              </a:rPr>
              <a:t> in Caribbean</a:t>
            </a:r>
          </a:p>
          <a:p>
            <a:pPr eaLnBrk="1" hangingPunct="1">
              <a:buFont typeface="Arial" charset="0"/>
              <a:buNone/>
            </a:pPr>
            <a:endParaRPr lang="en-US" altLang="en-US" sz="2800" dirty="0">
              <a:latin typeface="Times New Roman" charset="0"/>
              <a:ea typeface="Times New Roman" charset="0"/>
              <a:cs typeface="Times New Roman" charset="0"/>
            </a:endParaRPr>
          </a:p>
          <a:p>
            <a:pPr eaLnBrk="1" hangingPunct="1">
              <a:buFont typeface="Arial" charset="0"/>
              <a:buNone/>
            </a:pPr>
            <a:r>
              <a:rPr lang="en-US" altLang="en-US" sz="2800" dirty="0">
                <a:latin typeface="Times New Roman" charset="0"/>
                <a:ea typeface="Times New Roman" charset="0"/>
                <a:cs typeface="Times New Roman" charset="0"/>
              </a:rPr>
              <a:t>French-style conspiracies in Brazil </a:t>
            </a:r>
          </a:p>
          <a:p>
            <a:pPr lvl="1" eaLnBrk="1" hangingPunct="1"/>
            <a:r>
              <a:rPr lang="en-US" altLang="en-US" dirty="0">
                <a:solidFill>
                  <a:schemeClr val="tx1"/>
                </a:solidFill>
                <a:latin typeface="Times New Roman" charset="0"/>
                <a:ea typeface="Times New Roman" charset="0"/>
                <a:cs typeface="Times New Roman" charset="0"/>
              </a:rPr>
              <a:t>Republican ideas inspire some Brazilians.</a:t>
            </a:r>
          </a:p>
          <a:p>
            <a:pPr lvl="1" eaLnBrk="1" hangingPunct="1"/>
            <a:r>
              <a:rPr lang="en-US" altLang="en-US" dirty="0">
                <a:solidFill>
                  <a:schemeClr val="tx1"/>
                </a:solidFill>
                <a:latin typeface="Times New Roman" charset="0"/>
                <a:ea typeface="Times New Roman" charset="0"/>
                <a:cs typeface="Times New Roman" charset="0"/>
              </a:rPr>
              <a:t>Conspiracy in </a:t>
            </a:r>
            <a:r>
              <a:rPr lang="en-US" altLang="en-US" dirty="0" err="1">
                <a:solidFill>
                  <a:schemeClr val="tx1"/>
                </a:solidFill>
                <a:latin typeface="Times New Roman" charset="0"/>
                <a:ea typeface="Times New Roman" charset="0"/>
                <a:cs typeface="Times New Roman" charset="0"/>
              </a:rPr>
              <a:t>Ouro</a:t>
            </a:r>
            <a:r>
              <a:rPr lang="en-US" altLang="en-US" dirty="0">
                <a:solidFill>
                  <a:schemeClr val="tx1"/>
                </a:solidFill>
                <a:latin typeface="Times New Roman" charset="0"/>
                <a:ea typeface="Times New Roman" charset="0"/>
                <a:cs typeface="Times New Roman" charset="0"/>
              </a:rPr>
              <a:t> </a:t>
            </a:r>
            <a:r>
              <a:rPr lang="en-US" altLang="en-US" dirty="0" err="1">
                <a:solidFill>
                  <a:schemeClr val="tx1"/>
                </a:solidFill>
                <a:latin typeface="Times New Roman" charset="0"/>
                <a:ea typeface="Times New Roman" charset="0"/>
                <a:cs typeface="Times New Roman" charset="0"/>
              </a:rPr>
              <a:t>Preto</a:t>
            </a:r>
            <a:endParaRPr lang="en-US" altLang="en-US"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Tailors</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Rebellion in Bahia</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pPr eaLnBrk="1" hangingPunct="1"/>
            <a:r>
              <a:rPr lang="en-US" altLang="en-US">
                <a:solidFill>
                  <a:schemeClr val="tx1"/>
                </a:solidFill>
                <a:latin typeface="Times New Roman" charset="0"/>
                <a:ea typeface="Times New Roman" charset="0"/>
                <a:cs typeface="Times New Roman" charset="0"/>
              </a:rPr>
              <a:t>Rebellion of Tupac Amaru II</a:t>
            </a:r>
          </a:p>
        </p:txBody>
      </p:sp>
      <p:sp>
        <p:nvSpPr>
          <p:cNvPr id="68610" name="Content Placeholder 2"/>
          <p:cNvSpPr>
            <a:spLocks noGrp="1"/>
          </p:cNvSpPr>
          <p:nvPr>
            <p:ph idx="1"/>
          </p:nvPr>
        </p:nvSpPr>
        <p:spPr/>
        <p:txBody>
          <a:bodyPr/>
          <a:lstStyle/>
          <a:p>
            <a:pPr eaLnBrk="1" hangingPunct="1">
              <a:buFont typeface="Arial" charset="0"/>
              <a:buNone/>
            </a:pPr>
            <a:r>
              <a:rPr lang="en-US" altLang="en-US" sz="2800" dirty="0">
                <a:latin typeface="Times New Roman" charset="0"/>
                <a:ea typeface="Times New Roman" charset="0"/>
                <a:cs typeface="Times New Roman" charset="0"/>
              </a:rPr>
              <a:t>1780–1783</a:t>
            </a:r>
          </a:p>
          <a:p>
            <a:pPr lvl="1" eaLnBrk="1" hangingPunct="1"/>
            <a:r>
              <a:rPr lang="en-US" altLang="en-US" dirty="0" err="1">
                <a:solidFill>
                  <a:schemeClr val="tx1"/>
                </a:solidFill>
                <a:latin typeface="Times New Roman" charset="0"/>
                <a:ea typeface="Times New Roman" charset="0"/>
                <a:cs typeface="Times New Roman" charset="0"/>
              </a:rPr>
              <a:t>Mestizo</a:t>
            </a:r>
            <a:r>
              <a:rPr lang="en-US" altLang="en-US" dirty="0">
                <a:solidFill>
                  <a:schemeClr val="tx1"/>
                </a:solidFill>
                <a:latin typeface="Times New Roman" charset="0"/>
                <a:ea typeface="Times New Roman" charset="0"/>
                <a:cs typeface="Times New Roman" charset="0"/>
              </a:rPr>
              <a:t> </a:t>
            </a:r>
            <a:r>
              <a:rPr lang="en-US" altLang="en-US" dirty="0" err="1">
                <a:solidFill>
                  <a:schemeClr val="tx1"/>
                </a:solidFill>
                <a:latin typeface="Times New Roman" charset="0"/>
                <a:ea typeface="Times New Roman" charset="0"/>
                <a:cs typeface="Times New Roman" charset="0"/>
              </a:rPr>
              <a:t>Tupac</a:t>
            </a:r>
            <a:r>
              <a:rPr lang="en-US" altLang="en-US" dirty="0">
                <a:solidFill>
                  <a:schemeClr val="tx1"/>
                </a:solidFill>
                <a:latin typeface="Times New Roman" charset="0"/>
                <a:ea typeface="Times New Roman" charset="0"/>
                <a:cs typeface="Times New Roman" charset="0"/>
              </a:rPr>
              <a:t> </a:t>
            </a:r>
            <a:r>
              <a:rPr lang="en-US" altLang="en-US" dirty="0" err="1">
                <a:solidFill>
                  <a:schemeClr val="tx1"/>
                </a:solidFill>
                <a:latin typeface="Times New Roman" charset="0"/>
                <a:ea typeface="Times New Roman" charset="0"/>
                <a:cs typeface="Times New Roman" charset="0"/>
              </a:rPr>
              <a:t>Amaru</a:t>
            </a:r>
            <a:r>
              <a:rPr lang="en-US" altLang="en-US" dirty="0">
                <a:solidFill>
                  <a:schemeClr val="tx1"/>
                </a:solidFill>
                <a:latin typeface="Times New Roman" charset="0"/>
                <a:ea typeface="Times New Roman" charset="0"/>
                <a:cs typeface="Times New Roman" charset="0"/>
              </a:rPr>
              <a:t> II </a:t>
            </a:r>
          </a:p>
          <a:p>
            <a:pPr lvl="1" eaLnBrk="1" hangingPunct="1"/>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Anti-Peninsular</a:t>
            </a:r>
            <a:r>
              <a:rPr lang="ja-JP" altLang="en-US">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Called for alliance between American-born whites, </a:t>
            </a:r>
            <a:r>
              <a:rPr lang="en-US" altLang="en-US" dirty="0" err="1">
                <a:solidFill>
                  <a:schemeClr val="tx1"/>
                </a:solidFill>
                <a:latin typeface="Times New Roman" charset="0"/>
                <a:ea typeface="Times New Roman" charset="0"/>
                <a:cs typeface="Times New Roman" charset="0"/>
              </a:rPr>
              <a:t>mestizos</a:t>
            </a:r>
            <a:r>
              <a:rPr lang="en-US" altLang="en-US" dirty="0">
                <a:solidFill>
                  <a:schemeClr val="tx1"/>
                </a:solidFill>
                <a:latin typeface="Times New Roman" charset="0"/>
                <a:ea typeface="Times New Roman" charset="0"/>
                <a:cs typeface="Times New Roman" charset="0"/>
              </a:rPr>
              <a:t>, and indigenous</a:t>
            </a:r>
          </a:p>
          <a:p>
            <a:pPr lvl="1" eaLnBrk="1" hangingPunct="1"/>
            <a:r>
              <a:rPr lang="en-US" altLang="en-US" dirty="0">
                <a:solidFill>
                  <a:schemeClr val="tx1"/>
                </a:solidFill>
                <a:latin typeface="Times New Roman" charset="0"/>
                <a:ea typeface="Times New Roman" charset="0"/>
                <a:cs typeface="Times New Roman" charset="0"/>
              </a:rPr>
              <a:t>Primarily indigenous</a:t>
            </a:r>
          </a:p>
          <a:p>
            <a:pPr lvl="1" eaLnBrk="1" hangingPunct="1"/>
            <a:r>
              <a:rPr lang="en-US" altLang="en-US" dirty="0" err="1">
                <a:solidFill>
                  <a:schemeClr val="tx1"/>
                </a:solidFill>
                <a:latin typeface="Times New Roman" charset="0"/>
                <a:ea typeface="Times New Roman" charset="0"/>
                <a:cs typeface="Times New Roman" charset="0"/>
              </a:rPr>
              <a:t>Tupac</a:t>
            </a:r>
            <a:r>
              <a:rPr lang="en-US" altLang="en-US" dirty="0">
                <a:solidFill>
                  <a:schemeClr val="tx1"/>
                </a:solidFill>
                <a:latin typeface="Times New Roman" charset="0"/>
                <a:ea typeface="Times New Roman" charset="0"/>
                <a:cs typeface="Times New Roman" charset="0"/>
              </a:rPr>
              <a:t> </a:t>
            </a:r>
            <a:r>
              <a:rPr lang="en-US" altLang="en-US" dirty="0" err="1">
                <a:solidFill>
                  <a:schemeClr val="tx1"/>
                </a:solidFill>
                <a:latin typeface="Times New Roman" charset="0"/>
                <a:ea typeface="Times New Roman" charset="0"/>
                <a:cs typeface="Times New Roman" charset="0"/>
              </a:rPr>
              <a:t>Catari</a:t>
            </a:r>
            <a:endParaRPr lang="en-US" altLang="en-US"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Killed perhaps 100,000</a:t>
            </a:r>
          </a:p>
          <a:p>
            <a:pPr lvl="1" eaLnBrk="1" hangingPunct="1"/>
            <a:r>
              <a:rPr lang="en-US" altLang="en-US" dirty="0">
                <a:solidFill>
                  <a:schemeClr val="tx1"/>
                </a:solidFill>
                <a:latin typeface="Times New Roman" charset="0"/>
                <a:ea typeface="Times New Roman" charset="0"/>
                <a:cs typeface="Times New Roman" charset="0"/>
              </a:rPr>
              <a:t>Affected behavior of Peru</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elite</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0F05E6-0F85-F136-C7F9-231D9A2D31F4}"/>
              </a:ext>
            </a:extLst>
          </p:cNvPr>
          <p:cNvSpPr>
            <a:spLocks noGrp="1"/>
          </p:cNvSpPr>
          <p:nvPr>
            <p:ph type="ctrTitle"/>
          </p:nvPr>
        </p:nvSpPr>
        <p:spPr>
          <a:xfrm>
            <a:off x="1160392" y="838200"/>
            <a:ext cx="6823213" cy="3143250"/>
          </a:xfrm>
        </p:spPr>
        <p:txBody>
          <a:bodyPr anchor="t">
            <a:normAutofit/>
          </a:bodyPr>
          <a:lstStyle/>
          <a:p>
            <a:r>
              <a:rPr lang="en-US" altLang="en-US" sz="3200" b="0" dirty="0">
                <a:latin typeface="Times New Roman" charset="0"/>
                <a:ea typeface="Times New Roman" charset="0"/>
                <a:cs typeface="Times New Roman" charset="0"/>
              </a:rPr>
              <a:t>This concludes the PowerPoint presentation for </a:t>
            </a:r>
            <a:br>
              <a:rPr lang="en-US" altLang="en-US" sz="3200" b="0"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Chapter 3: </a:t>
            </a:r>
            <a:br>
              <a:rPr lang="en-US" altLang="en-US" sz="3200" b="1"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Colonial Crucible</a:t>
            </a:r>
          </a:p>
        </p:txBody>
      </p:sp>
      <p:sp>
        <p:nvSpPr>
          <p:cNvPr id="5" name="Subtitle 2">
            <a:extLst>
              <a:ext uri="{FF2B5EF4-FFF2-40B4-BE49-F238E27FC236}">
                <a16:creationId xmlns:a16="http://schemas.microsoft.com/office/drawing/2014/main" id="{B8EB6891-7D7F-5F4C-77AA-B9DAAAB70DFF}"/>
              </a:ext>
            </a:extLst>
          </p:cNvPr>
          <p:cNvSpPr>
            <a:spLocks noGrp="1"/>
          </p:cNvSpPr>
          <p:nvPr>
            <p:ph type="subTitle" idx="1"/>
          </p:nvPr>
        </p:nvSpPr>
        <p:spPr>
          <a:xfrm>
            <a:off x="1565395" y="4572000"/>
            <a:ext cx="6013205" cy="1752600"/>
          </a:xfrm>
        </p:spPr>
        <p:txBody>
          <a:bodyPr>
            <a:normAutofit/>
          </a:bodyPr>
          <a:lstStyle/>
          <a:p>
            <a:r>
              <a:rPr lang="en-US" altLang="en-US" sz="2400" dirty="0">
                <a:solidFill>
                  <a:schemeClr val="tx1"/>
                </a:solidFill>
                <a:latin typeface="Times New Roman" charset="0"/>
                <a:ea typeface="Times New Roman" charset="0"/>
                <a:cs typeface="Times New Roman" charset="0"/>
              </a:rPr>
              <a:t>For additional resources, visit </a:t>
            </a:r>
            <a:r>
              <a:rPr lang="en-US" altLang="en-US" sz="2400" dirty="0">
                <a:latin typeface="Times New Roman" charset="0"/>
                <a:ea typeface="Times New Roman" charset="0"/>
                <a:cs typeface="Times New Roman" charset="0"/>
                <a:hlinkClick r:id="rId2"/>
              </a:rPr>
              <a:t>https://digital.wwnorton.com/bornfire5</a:t>
            </a:r>
            <a:endParaRPr lang="en-US" alt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813379004"/>
      </p:ext>
    </p:extLst>
  </p:cSld>
  <p:clrMapOvr>
    <a:masterClrMapping/>
  </p:clrMapOvr>
</p:sld>
</file>

<file path=ppt/theme/theme1.xml><?xml version="1.0" encoding="utf-8"?>
<a:theme xmlns:a="http://schemas.openxmlformats.org/drawingml/2006/main" name="Chasteen_Ch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oc font">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D69AFE3D876FE4297EE28B5F70DC3F8" ma:contentTypeVersion="18" ma:contentTypeDescription="Create a new document." ma:contentTypeScope="" ma:versionID="24168822608d9d77dd2a031d1dc4320d">
  <xsd:schema xmlns:xsd="http://www.w3.org/2001/XMLSchema" xmlns:xs="http://www.w3.org/2001/XMLSchema" xmlns:p="http://schemas.microsoft.com/office/2006/metadata/properties" xmlns:ns2="d1c7c9a4-d043-4a67-96e5-2ff5b742a303" xmlns:ns3="9d64b6a7-e13d-4012-aff2-02bdd52222eb" targetNamespace="http://schemas.microsoft.com/office/2006/metadata/properties" ma:root="true" ma:fieldsID="974d88cf474a8c2222dc8cf659776bc2" ns2:_="" ns3:_="">
    <xsd:import namespace="d1c7c9a4-d043-4a67-96e5-2ff5b742a303"/>
    <xsd:import namespace="9d64b6a7-e13d-4012-aff2-02bdd52222e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c7c9a4-d043-4a67-96e5-2ff5b742a3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876ee3-2b79-4d5d-9b03-6d875683163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64b6a7-e13d-4012-aff2-02bdd52222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b26d98fc-0af3-417b-8254-413504fc40c8}" ma:internalName="TaxCatchAll" ma:showField="CatchAllData" ma:web="9d64b6a7-e13d-4012-aff2-02bdd52222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1c7c9a4-d043-4a67-96e5-2ff5b742a303">
      <Terms xmlns="http://schemas.microsoft.com/office/infopath/2007/PartnerControls"/>
    </lcf76f155ced4ddcb4097134ff3c332f>
    <TaxCatchAll xmlns="9d64b6a7-e13d-4012-aff2-02bdd52222eb" xsi:nil="true"/>
  </documentManagement>
</p:properties>
</file>

<file path=customXml/itemProps1.xml><?xml version="1.0" encoding="utf-8"?>
<ds:datastoreItem xmlns:ds="http://schemas.openxmlformats.org/officeDocument/2006/customXml" ds:itemID="{CD3F0F2A-D1E8-4A89-B853-D4EB4317ECB8}">
  <ds:schemaRefs>
    <ds:schemaRef ds:uri="http://schemas.microsoft.com/sharepoint/v3/contenttype/forms"/>
  </ds:schemaRefs>
</ds:datastoreItem>
</file>

<file path=customXml/itemProps2.xml><?xml version="1.0" encoding="utf-8"?>
<ds:datastoreItem xmlns:ds="http://schemas.openxmlformats.org/officeDocument/2006/customXml" ds:itemID="{E7611C22-FB1C-4F2B-918C-B29261F3E7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c7c9a4-d043-4a67-96e5-2ff5b742a303"/>
    <ds:schemaRef ds:uri="9d64b6a7-e13d-4012-aff2-02bdd522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DECD9A2-3F55-4543-9A49-C5713F1CA694}">
  <ds:schemaRefs>
    <ds:schemaRef ds:uri="http://www.w3.org/XML/1998/namespace"/>
    <ds:schemaRef ds:uri="http://purl.org/dc/terms/"/>
    <ds:schemaRef ds:uri="http://schemas.microsoft.com/office/2006/metadata/properties"/>
    <ds:schemaRef ds:uri="d1c7c9a4-d043-4a67-96e5-2ff5b742a303"/>
    <ds:schemaRef ds:uri="http://purl.org/dc/dcmitype/"/>
    <ds:schemaRef ds:uri="9d64b6a7-e13d-4012-aff2-02bdd522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Chasteen_Ch1</Template>
  <TotalTime>1615</TotalTime>
  <Words>1332</Words>
  <Application>Microsoft Macintosh PowerPoint</Application>
  <PresentationFormat>On-screen Show (4:3)</PresentationFormat>
  <Paragraphs>257</Paragraphs>
  <Slides>33</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Arial Black</vt:lpstr>
      <vt:lpstr>Calibri</vt:lpstr>
      <vt:lpstr>Helvetica</vt:lpstr>
      <vt:lpstr>Times New Roman</vt:lpstr>
      <vt:lpstr>Wingdings</vt:lpstr>
      <vt:lpstr>Chasteen_Ch1</vt:lpstr>
      <vt:lpstr>Born in Blood &amp; Fire A Concise History of Latin America 5th Edition</vt:lpstr>
      <vt:lpstr>Colonial Crucible</vt:lpstr>
      <vt:lpstr>Role of Mining</vt:lpstr>
      <vt:lpstr>Potosí</vt:lpstr>
      <vt:lpstr>Colonial Economics</vt:lpstr>
      <vt:lpstr>Sugar</vt:lpstr>
      <vt:lpstr>A Brazilian Sugar Mill</vt:lpstr>
      <vt:lpstr>Brazil</vt:lpstr>
      <vt:lpstr>Silver</vt:lpstr>
      <vt:lpstr> A Power Called Hegemony </vt:lpstr>
      <vt:lpstr>Hegemonic Forces: Religion</vt:lpstr>
      <vt:lpstr>Hegemonic Forces: Patriarchy</vt:lpstr>
      <vt:lpstr> Transculturation  </vt:lpstr>
      <vt:lpstr>Town and Country</vt:lpstr>
      <vt:lpstr>Transculturation and Power</vt:lpstr>
      <vt:lpstr>Fringes of Colonization</vt:lpstr>
      <vt:lpstr>Paraguay: Case Study</vt:lpstr>
      <vt:lpstr>Rio de la Plata – “River of Silver”</vt:lpstr>
      <vt:lpstr>Fringes of Colonization: Chile</vt:lpstr>
      <vt:lpstr>Elsewhere on the Fringe</vt:lpstr>
      <vt:lpstr>Fringe Economic Boom</vt:lpstr>
      <vt:lpstr>Brazilian Fringe</vt:lpstr>
      <vt:lpstr>Gold Boom</vt:lpstr>
      <vt:lpstr>Late Colonial Transformations</vt:lpstr>
      <vt:lpstr>Late Colonial Reforms</vt:lpstr>
      <vt:lpstr>Reaction in the Americas</vt:lpstr>
      <vt:lpstr>Racial Mixing</vt:lpstr>
      <vt:lpstr>Caste System</vt:lpstr>
      <vt:lpstr>New Categories of Race</vt:lpstr>
      <vt:lpstr>Colonial Rebellions</vt:lpstr>
      <vt:lpstr>Colonial Rebellions (cont’d)</vt:lpstr>
      <vt:lpstr>Rebellion of Tupac Amaru II</vt:lpstr>
      <vt:lpstr>This concludes the PowerPoint presentation for  Chapter 3:  Colonial Crucible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Born in Blood &amp; Fire</dc:title>
  <dc:creator>Beau D.J. Gaitors</dc:creator>
  <cp:lastModifiedBy>Kopp, Katherine</cp:lastModifiedBy>
  <cp:revision>54</cp:revision>
  <dcterms:created xsi:type="dcterms:W3CDTF">2011-05-16T18:34:31Z</dcterms:created>
  <dcterms:modified xsi:type="dcterms:W3CDTF">2024-06-06T18:13:03Z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0x0101002D69AFE3D876FE4297EE28B5F70DC3F8</vt:lpwstr>
  </property>
</Properties>
</file>