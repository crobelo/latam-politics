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4"/>
  </p:notesMasterIdLst>
  <p:sldIdLst>
    <p:sldId id="256" r:id="rId5"/>
    <p:sldId id="257" r:id="rId6"/>
    <p:sldId id="259" r:id="rId7"/>
    <p:sldId id="260" r:id="rId8"/>
    <p:sldId id="288" r:id="rId9"/>
    <p:sldId id="261" r:id="rId10"/>
    <p:sldId id="262" r:id="rId11"/>
    <p:sldId id="263" r:id="rId12"/>
    <p:sldId id="264" r:id="rId13"/>
    <p:sldId id="265" r:id="rId14"/>
    <p:sldId id="297" r:id="rId15"/>
    <p:sldId id="275" r:id="rId16"/>
    <p:sldId id="276" r:id="rId17"/>
    <p:sldId id="298" r:id="rId18"/>
    <p:sldId id="277" r:id="rId19"/>
    <p:sldId id="278" r:id="rId20"/>
    <p:sldId id="299" r:id="rId21"/>
    <p:sldId id="258" r:id="rId22"/>
    <p:sldId id="301" r:id="rId23"/>
    <p:sldId id="290" r:id="rId24"/>
    <p:sldId id="300" r:id="rId25"/>
    <p:sldId id="268" r:id="rId26"/>
    <p:sldId id="270" r:id="rId27"/>
    <p:sldId id="269" r:id="rId28"/>
    <p:sldId id="272" r:id="rId29"/>
    <p:sldId id="289" r:id="rId30"/>
    <p:sldId id="273" r:id="rId31"/>
    <p:sldId id="271" r:id="rId32"/>
    <p:sldId id="325" r:id="rId3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D980226-76F8-52B9-6419-8397A04199A5}" name="Reviewing Editor" initials="RE" userId="Anonymous_Reviewing Editor" providerId="None"/>
  <p188:author id="{98FD47F4-D62F-29E1-A4A5-60559B0A1BD1}" name="Kopp, Katherine" initials="KK" userId="S::kkopp@wwnorton.com::8975c588-54e8-41b7-a546-07e477ad4a5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viewing Editor" initials="RE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74DCFE-6B3F-4D40-8620-212EB6A070B6}" v="4" dt="2024-06-06T18:24:29.6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966"/>
    <p:restoredTop sz="72789"/>
  </p:normalViewPr>
  <p:slideViewPr>
    <p:cSldViewPr>
      <p:cViewPr varScale="1">
        <p:scale>
          <a:sx n="52" d="100"/>
          <a:sy n="52" d="100"/>
        </p:scale>
        <p:origin x="192" y="9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commentAuthors" Target="comment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fld id="{67B98924-F199-1442-B315-BC711900A85B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charset="0"/>
              </a:defRPr>
            </a:lvl1pPr>
          </a:lstStyle>
          <a:p>
            <a:pPr>
              <a:defRPr/>
            </a:pPr>
            <a:fld id="{8994A590-2279-DF4C-8768-BD8095F2668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984780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292F2F4D-9A2B-CB40-B0DC-37BE5C54AC80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08878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FA6EF9E1-ACDC-3C4C-A054-A3525D9087CC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89193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5D5AE5CE-2CFF-CD44-BE0B-0664181BB4EE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261460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452A7778-4907-DB47-8DED-BBF7A228D524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520292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NEOLIBERAL ECONOMIES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CDF101-C185-844F-9839-0B79CB8E1A4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658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6BA85610-44E2-924F-85B3-EE3CD83B9B76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48047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E2343476-EE69-B144-BD80-225F53122935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393803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6359C769-A045-0246-A27C-942E1FD0FD91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379900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867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C937436F-4229-7146-9C81-9C5C55D132FC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185801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72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5C88AD2D-0C0E-9341-A62A-6F11105DB2DD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876726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072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5C88AD2D-0C0E-9341-A62A-6F11105DB2DD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129298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120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5120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B767C39F-8548-F446-BD46-5FA42637D11C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761879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325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5325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0FCA5A21-6D45-B940-B51B-6350DF81F04A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798209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72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5C88AD2D-0C0E-9341-A62A-6F11105DB2DD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42319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529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5529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B2BFDC57-7B0B-9D4A-8286-9A09B98D6447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517102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73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573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F0B1A012-E050-5541-98AF-E8BE13DD22EF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247000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73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573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F0B1A012-E050-5541-98AF-E8BE13DD22EF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483988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939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 dirty="0"/>
          </a:p>
        </p:txBody>
      </p:sp>
      <p:sp>
        <p:nvSpPr>
          <p:cNvPr id="5939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2B5207AF-4448-EC47-879C-953D02D377E7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581080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73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573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F0B1A012-E050-5541-98AF-E8BE13DD22EF}" type="slidenum">
              <a:rPr lang="en-US" altLang="en-US"/>
              <a:pPr>
                <a:spcBef>
                  <a:spcPct val="0"/>
                </a:spcBef>
              </a:pPr>
              <a:t>19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298893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PETRO AND MARQUEZ. </a:t>
            </a:r>
            <a:r>
              <a:rPr lang="en-US" dirty="0"/>
              <a:t>The 2022 election of Colombia’s new president and vice president marked a dramatic new beginning in the long-tormented political history of Latin America’s third largest nation, the first government of the democratic socialist left and the first woman of African descent to rise to national </a:t>
            </a:r>
            <a:r>
              <a:rPr lang="en-US"/>
              <a:t>leadership.</a:t>
            </a:r>
            <a:r>
              <a:rPr lang="en-US" i="1"/>
              <a:t> </a:t>
            </a:r>
            <a:r>
              <a:rPr lang="en-US" i="1" dirty="0"/>
              <a:t>Federico Rios/The New York Times/Redux.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CDF101-C185-844F-9839-0B79CB8E1A4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4206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5734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5734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F0B1A012-E050-5541-98AF-E8BE13DD22EF}" type="slidenum">
              <a:rPr lang="en-US" altLang="en-US"/>
              <a:pPr>
                <a:spcBef>
                  <a:spcPct val="0"/>
                </a:spcBef>
              </a:pPr>
              <a:t>21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547655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686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368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48F629E0-ED88-EB42-98E0-38B4CA7CAA3E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725628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096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09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ABC7CAA5-2B87-0044-986E-B9D34F649ED1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06175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E009C457-9D9A-F044-8195-F1720CB9D62A}" type="slidenum">
              <a:rPr lang="en-US" altLang="en-US"/>
              <a:pPr>
                <a:spcBef>
                  <a:spcPct val="0"/>
                </a:spcBef>
              </a:pPr>
              <a:t>24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903008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505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50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3182E77B-DBE4-0048-BF28-E2064455CCFD}" type="slidenum">
              <a:rPr lang="en-US" altLang="en-US"/>
              <a:pPr>
                <a:spcBef>
                  <a:spcPct val="0"/>
                </a:spcBef>
              </a:pPr>
              <a:t>25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069891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MINING WASTE</a:t>
            </a:r>
            <a:r>
              <a:rPr lang="en-US" dirty="0"/>
              <a:t>. A wave of toxic mud washed over this Brazilian village when a dam collapsed in 2015, killing at least seventeen people. The devastation associated with </a:t>
            </a:r>
          </a:p>
          <a:p>
            <a:r>
              <a:rPr lang="en-US" dirty="0"/>
              <a:t>mining affects many countries in Latin America. </a:t>
            </a:r>
            <a:r>
              <a:rPr lang="en-US" i="1" dirty="0"/>
              <a:t>Douglas </a:t>
            </a:r>
            <a:r>
              <a:rPr lang="en-US" i="1" dirty="0" err="1"/>
              <a:t>Magno</a:t>
            </a:r>
            <a:r>
              <a:rPr lang="en-US" i="1" dirty="0"/>
              <a:t>/AFP/Getty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CDF101-C185-844F-9839-0B79CB8E1A4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300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71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A629B54F-2DE3-A24C-A911-AD6723F0EF12}" type="slidenum">
              <a:rPr lang="en-US" altLang="en-US"/>
              <a:pPr>
                <a:spcBef>
                  <a:spcPct val="0"/>
                </a:spcBef>
              </a:pPr>
              <a:t>27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31938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/>
          </a:p>
        </p:txBody>
      </p:sp>
      <p:sp>
        <p:nvSpPr>
          <p:cNvPr id="430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  <a:ea typeface="ＭＳ Ｐゴシック" charset="-128"/>
              </a:defRPr>
            </a:lvl9pPr>
          </a:lstStyle>
          <a:p>
            <a:pPr>
              <a:spcBef>
                <a:spcPct val="0"/>
              </a:spcBef>
            </a:pPr>
            <a:fld id="{FEA124A8-6642-1040-AE24-2441AA3EA510}" type="slidenum">
              <a:rPr lang="en-US" altLang="en-US"/>
              <a:pPr>
                <a:spcBef>
                  <a:spcPct val="0"/>
                </a:spcBef>
              </a:pPr>
              <a:t>28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17089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90E2A4-7BC7-B046-BC35-3B687B5D8635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A6B02D-34B6-2F49-B6DF-70D73FDAE913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06518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 baseline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indent="0">
              <a:buFont typeface="Wingdings" pitchFamily="2" charset="2"/>
              <a:buNone/>
              <a:defRPr/>
            </a:lvl1pPr>
            <a:lvl2pPr>
              <a:defRPr>
                <a:solidFill>
                  <a:schemeClr val="accent2">
                    <a:lumMod val="75000"/>
                  </a:schemeClr>
                </a:solidFill>
              </a:defRPr>
            </a:lvl2pPr>
            <a:lvl4pPr>
              <a:defRPr>
                <a:solidFill>
                  <a:schemeClr val="accent6">
                    <a:lumMod val="50000"/>
                  </a:schemeClr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025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90A0C-A257-6E45-A8E7-38DBE45B842E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AB7C5-7294-894F-B7AE-174B187E29F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5767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451ADC-AF57-C14C-91A5-91FB79BD6231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4F8F47-2662-7548-8DB1-ABB3BD6315E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01369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06861D-4A0F-274C-9FE0-B65D31A59644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1A4D78-C599-6F46-8EA5-A0B30D25AA4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132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DAE364-C97A-9B4C-8045-9511FC8F1723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50C645-EA1A-5C47-B8B4-E25135B8188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99616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056E17-E872-9C4C-B883-7276220580DA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175DF7-17AE-4440-B0E8-D006C2B83FC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203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485B61-482E-BA44-989A-25A058CC536D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2BC51F-718B-5E47-AAE2-8AD849178D4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71793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CA14FB-2D05-5647-BCDE-81B02D4A342B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AAFDDB-9BDC-C24A-BF7F-EE751A30483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16166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2E8B96-E37D-0841-9C47-D49A47FAE31D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73EBB2-BD71-CA47-98BB-8742673447DE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54734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8D76E4-B76F-3D42-A194-83472BE2D228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7122C1-0960-9F44-8C57-566D80024A3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91053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 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C0C2E25D-997C-B94D-8E6B-9FB68D9A18F7}" type="datetime1">
              <a:rPr lang="en-US" altLang="en-US"/>
              <a:pPr>
                <a:defRPr/>
              </a:pPr>
              <a:t>6/6/24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7874D7C-94BF-4B4B-9634-AAB36EE3D6A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80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  <a:ea typeface="ＭＳ Ｐゴシック" charset="-128"/>
          <a:cs typeface="ＭＳ Ｐゴシック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 Black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−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digital.wwnorton.com/bornfire5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59300" y="0"/>
            <a:ext cx="4584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431D351-4D8B-97D3-0470-250B14CD4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714375"/>
            <a:ext cx="3981450" cy="1571625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latin typeface="Times New Roman" charset="0"/>
                <a:ea typeface="Times New Roman" charset="0"/>
                <a:cs typeface="Times New Roman" charset="0"/>
              </a:rPr>
              <a:t>Born in Blood &amp; Fire</a:t>
            </a:r>
            <a:br>
              <a:rPr lang="en-US" altLang="en-US" sz="2800" b="1" dirty="0"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en-US" altLang="en-US" sz="2000" dirty="0">
                <a:latin typeface="Times New Roman" charset="0"/>
                <a:ea typeface="Times New Roman" charset="0"/>
                <a:cs typeface="Times New Roman" charset="0"/>
              </a:rPr>
              <a:t>A Concise History of Latin America</a:t>
            </a:r>
            <a:br>
              <a:rPr lang="en-US" altLang="en-US" sz="2000" dirty="0"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en-US" altLang="en-US" sz="2000" dirty="0">
                <a:latin typeface="Times New Roman" charset="0"/>
                <a:ea typeface="Times New Roman" charset="0"/>
                <a:cs typeface="Times New Roman" charset="0"/>
              </a:rPr>
              <a:t>5</a:t>
            </a:r>
            <a:r>
              <a:rPr lang="en-US" altLang="en-US" sz="2000" baseline="30000" dirty="0">
                <a:latin typeface="Times New Roman" charset="0"/>
                <a:ea typeface="Times New Roman" charset="0"/>
                <a:cs typeface="Times New Roman" charset="0"/>
              </a:rPr>
              <a:t>th</a:t>
            </a:r>
            <a:r>
              <a:rPr lang="en-US" altLang="en-US" sz="2000" dirty="0">
                <a:latin typeface="Times New Roman" charset="0"/>
                <a:ea typeface="Times New Roman" charset="0"/>
                <a:cs typeface="Times New Roman" charset="0"/>
              </a:rPr>
              <a:t> Edition</a:t>
            </a:r>
            <a:endParaRPr lang="en-US" altLang="en-US" sz="28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24E880E0-A6AE-2542-BD8F-D7BB61D4E455}"/>
              </a:ext>
            </a:extLst>
          </p:cNvPr>
          <p:cNvSpPr txBox="1">
            <a:spLocks/>
          </p:cNvSpPr>
          <p:nvPr/>
        </p:nvSpPr>
        <p:spPr bwMode="auto">
          <a:xfrm>
            <a:off x="745529" y="2286000"/>
            <a:ext cx="3252391" cy="3857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defRPr sz="3200" kern="1200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−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hangingPunct="1"/>
            <a:r>
              <a:rPr lang="en-US" altLang="en-US" sz="1800" dirty="0">
                <a:latin typeface="Times New Roman" charset="0"/>
                <a:ea typeface="Times New Roman" charset="0"/>
                <a:cs typeface="Times New Roman" charset="0"/>
              </a:rPr>
              <a:t>By</a:t>
            </a:r>
          </a:p>
          <a:p>
            <a:pPr marL="0" indent="0" algn="ctr" eaLnBrk="1" hangingPunct="1"/>
            <a:r>
              <a:rPr lang="en-US" altLang="en-US" sz="1800" dirty="0">
                <a:latin typeface="Times New Roman" charset="0"/>
                <a:ea typeface="Times New Roman" charset="0"/>
                <a:cs typeface="Times New Roman" charset="0"/>
              </a:rPr>
              <a:t>John Charles Chasteen</a:t>
            </a:r>
          </a:p>
          <a:p>
            <a:pPr marL="0" indent="0" algn="ctr" eaLnBrk="1" hangingPunct="1"/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  <a:p>
            <a:pPr marL="0" indent="0" algn="ctr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Chapter 11:</a:t>
            </a:r>
          </a:p>
          <a:p>
            <a:pPr marL="0" indent="0" algn="ctr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Neoliberalism and Beyond</a:t>
            </a:r>
          </a:p>
        </p:txBody>
      </p:sp>
      <p:pic>
        <p:nvPicPr>
          <p:cNvPr id="2" name="Picture 5" descr="Cover: Born in Blood and Fire, A concise history of Latin America, by John Charles Chasteen. The cover image shows a crowded place with people doing various activities and a few guards with weapons.">
            <a:extLst>
              <a:ext uri="{FF2B5EF4-FFF2-40B4-BE49-F238E27FC236}">
                <a16:creationId xmlns:a16="http://schemas.microsoft.com/office/drawing/2014/main" id="{194BB097-64D6-C71D-77B1-F2EF1916D1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4559300" y="2458"/>
            <a:ext cx="45847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Nationalism Discredited</a:t>
            </a:r>
          </a:p>
        </p:txBody>
      </p:sp>
      <p:sp>
        <p:nvSpPr>
          <p:cNvPr id="15362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Marxist revolutionaries had been strongly nationalist.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Reactionary dictatorships had strong nationalist inclinations.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Revolutionary and reactionary violence discredited nationalism.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Collapse of communism in Europe and liberalization of Chinese economy discredited nationalism.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Liberalism Returns</a:t>
            </a:r>
          </a:p>
        </p:txBody>
      </p:sp>
      <p:sp>
        <p:nvSpPr>
          <p:cNvPr id="1741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Neoliberals emphasized free trade, export production, and comparative advantage.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Neoliberalism reigned supreme at the turn of the millennium.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Fernando Henrique Cardoso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Carlos Menem 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PRI presidents of Mexico embraced neoliberalism.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Neoliberalism</a:t>
            </a:r>
          </a:p>
        </p:txBody>
      </p:sp>
      <p:sp>
        <p:nvSpPr>
          <p:cNvPr id="1945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Neoliberals embraced the free market and rejected nationalism.</a:t>
            </a:r>
          </a:p>
          <a:p>
            <a:pPr marL="1200150" lvl="2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Sold off, or privatized, state-run corporations</a:t>
            </a:r>
          </a:p>
          <a:p>
            <a:pPr marL="1200150" lvl="2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Privatized social services </a:t>
            </a:r>
          </a:p>
          <a:p>
            <a:pPr marL="1200150" lvl="2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Slashed import tariffs</a:t>
            </a:r>
          </a:p>
          <a:p>
            <a:pPr marL="1200150" lvl="2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Deregulated capital flows</a:t>
            </a:r>
          </a:p>
          <a:p>
            <a:pPr marL="1200150" lvl="2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Reduced subsidies on basic foodstuffs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All-out assault on inflation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map of the United States, Central America, and South America shows the Neoliberal Economies of several countries in those continents. The map depicts the G D P per capita (in dollars, 2003) of different countries, and then with a bar graph, showing the Growth of External Debt (in billions of dollars) in 1982, 1992, and 2002. The G D P per capita, in dollars, of different countries are as follows: The U S has a G D P of 36,924. Mexico has a G D P of 5,945 and a debt of 86, 112, 141 billion dollars in the years mentioned (1982, 1992, and 2002). Guatemala has a G D P of 1,963. El Salvador has G D P of 2,302. Honduras has a G D P of 980.Cuba has a G D P of 2,762. The Dominican Republic has a G D P of 2,408. Nicaragua has a G D P of 750. Costa Rica has a G D P of 4,189. Panama has a G D P of 3,400. Colombia has a G D P of 1,744 G D P and debts of 10, 17, and 34 billion dollars. Venezuela has a G D P of 2,994 and debts of 32, 38, and 32 billion dollars. Ecuador has a G D P of 2,108. Peru has a G D P of 2,238 and debts of 11, 20, and 28 billion dollars. Brazil has a G D P of 2,700 and debts of 94, 129, and 228 billion dollars. Bolivia has a G D P of 878. Paraguay has a G D P of 1,001. Chile has a G D P of 4,523 and debts of 17, 19, and 42 billion dollars. Uruguay has a G D P of 3,274. Argentina has a G D P of 3,375 and debts of 44, 68, and 132 billion dollars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724400" cy="68568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02169" y="6427113"/>
            <a:ext cx="29418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Born in Blood and Fire, </a:t>
            </a:r>
            <a:r>
              <a:rPr lang="en-US" sz="1100" dirty="0"/>
              <a:t>Fifth Edition</a:t>
            </a:r>
          </a:p>
          <a:p>
            <a:r>
              <a:rPr lang="en-US" sz="1100" dirty="0"/>
              <a:t>Copyright © 2024 W. W. Norton &amp; Company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98B490D-F13D-414B-C6C5-3F98B1A40A1C}"/>
              </a:ext>
            </a:extLst>
          </p:cNvPr>
          <p:cNvSpPr txBox="1">
            <a:spLocks/>
          </p:cNvSpPr>
          <p:nvPr/>
        </p:nvSpPr>
        <p:spPr bwMode="auto">
          <a:xfrm>
            <a:off x="4953000" y="0"/>
            <a:ext cx="39624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 Black" pitchFamily="34" charset="0"/>
                <a:ea typeface="ＭＳ Ｐゴシック" charset="-128"/>
                <a:cs typeface="ＭＳ Ｐゴシック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 Black" pitchFamily="34" charset="0"/>
                <a:ea typeface="ＭＳ Ｐゴシック" charset="-128"/>
                <a:cs typeface="ＭＳ Ｐゴシック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 Black" pitchFamily="34" charset="0"/>
                <a:ea typeface="ＭＳ Ｐゴシック" charset="-128"/>
                <a:cs typeface="ＭＳ Ｐゴシック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 Black" pitchFamily="34" charset="0"/>
                <a:ea typeface="ＭＳ Ｐゴシック" charset="-128"/>
                <a:cs typeface="ＭＳ Ｐゴシック" charset="-128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 Black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 Black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 Black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 Black" pitchFamily="34" charset="0"/>
              </a:defRPr>
            </a:lvl9pPr>
          </a:lstStyle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Neoliberal Economies</a:t>
            </a:r>
          </a:p>
        </p:txBody>
      </p:sp>
    </p:spTree>
    <p:extLst>
      <p:ext uri="{BB962C8B-B14F-4D97-AF65-F5344CB8AC3E}">
        <p14:creationId xmlns:p14="http://schemas.microsoft.com/office/powerpoint/2010/main" val="397296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Taming the Debt Crisis</a:t>
            </a:r>
          </a:p>
        </p:txBody>
      </p:sp>
      <p:sp>
        <p:nvSpPr>
          <p:cNvPr id="2150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Neoliberals gained momentum by taming the 1980s debt crisis.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Debt huge in 1980s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High oil prices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Heavy, short-term borrowing in 1970s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Short-term loans refinanced at higher rates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Latin American debts were owed to foreign banks.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Defaulting on debt would leave either country bankrupt and isolated.</a:t>
            </a:r>
          </a:p>
          <a:p>
            <a:pPr marL="800100" indent="-457200" eaLnBrk="1" hangingPunct="1">
              <a:buFont typeface="Arial" charset="0"/>
              <a:buChar char="•"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Implementing Reforms</a:t>
            </a:r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Foreign lenders encouraged neoliberal policies.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The IMF believed the solution lay in neoliberal reforms.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Lenders rolled debts into long-term bonds to encourage reforms.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Strategies successfully tamed debt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Hyperinflation halted in Argentina and Brazil.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Latin America heralded as emerging market for investment. 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Billions of dollars in foreign capital flowed in.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Free Trade </a:t>
            </a:r>
          </a:p>
        </p:txBody>
      </p:sp>
      <p:sp>
        <p:nvSpPr>
          <p:cNvPr id="256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Free trade agreements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North American Free Trade Agreement (1994)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Brazil, Argentina, Paraguay, Uruguay (MERCOSUR)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Tariff reductions for consumer products</a:t>
            </a:r>
          </a:p>
          <a:p>
            <a:pPr lvl="1" eaLnBrk="1" hangingPunct="1"/>
            <a:r>
              <a:rPr lang="en-US" altLang="en-US" i="1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Maquiladora</a:t>
            </a:r>
            <a:endParaRPr lang="en-US" altLang="en-US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Assembly plants using cheap, often women</a:t>
            </a:r>
            <a:r>
              <a:rPr lang="ja-JP" altLang="en-US">
                <a:latin typeface="Times New Roman" charset="0"/>
                <a:ea typeface="Times New Roman" charset="0"/>
                <a:cs typeface="Times New Roman" charset="0"/>
              </a:rPr>
              <a:t>’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s, labor to assemble imported parts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Facilitated by low tariffs 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The Chilean Experiment</a:t>
            </a:r>
          </a:p>
        </p:txBody>
      </p:sp>
      <p:sp>
        <p:nvSpPr>
          <p:cNvPr id="2765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Chile was a neoliberal success story.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Pinochet dictatorship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Advised by </a:t>
            </a:r>
            <a:r>
              <a:rPr lang="ja-JP" altLang="en-US">
                <a:latin typeface="Times New Roman" charset="0"/>
                <a:ea typeface="Times New Roman" charset="0"/>
                <a:cs typeface="Times New Roman" charset="0"/>
              </a:rPr>
              <a:t>“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Chicago Boys</a:t>
            </a:r>
            <a:r>
              <a:rPr lang="ja-JP" altLang="en-US">
                <a:latin typeface="Times New Roman" charset="0"/>
                <a:ea typeface="Times New Roman" charset="0"/>
                <a:cs typeface="Times New Roman" charset="0"/>
              </a:rPr>
              <a:t>”</a:t>
            </a:r>
            <a:endParaRPr lang="en-US" altLang="ja-JP" dirty="0">
              <a:latin typeface="Times New Roman" charset="0"/>
              <a:ea typeface="Times New Roman" charset="0"/>
              <a:cs typeface="Times New Roman" charset="0"/>
            </a:endParaRP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By the 1990s, Chile had low inflation, good credit, steady growth, and diversified exports.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Growth benefited all classes somewhat.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The distribution of wealth remained among the most unequal in region.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Consequences</a:t>
            </a:r>
          </a:p>
        </p:txBody>
      </p:sp>
      <p:sp>
        <p:nvSpPr>
          <p:cNvPr id="2969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Neoliberalism benefited middle-class consumers but hurt producers. 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The poorer majority did not benefit from products.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Collapse of local industry created unemployment.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Social consequences of neoliberal reforms: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Dismantling of bureaucracies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Providing water and electricity not profitable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Neoliberalism replayed patterns of the pre-nationalist liberal era (1870-1930)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Focus on extractive industries 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Mining and agriculture</a:t>
            </a:r>
            <a:endParaRPr lang="en-US" altLang="en-US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New Left Turn</a:t>
            </a:r>
          </a:p>
        </p:txBody>
      </p:sp>
      <p:sp>
        <p:nvSpPr>
          <p:cNvPr id="2969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By 2000 a shift in perspective and push from neoliberalism emerged.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Economic crisis returns to Latin America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Protests in Mexico</a:t>
            </a:r>
          </a:p>
          <a:p>
            <a:pPr lvl="2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Argentina defaults on debts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Voters rejected neoliberal vision.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Election of nationalist and socialist presidents</a:t>
            </a:r>
            <a:endParaRPr lang="en-US" altLang="en-US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703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Rejecting Neoliberalism </a:t>
            </a:r>
          </a:p>
        </p:txBody>
      </p:sp>
      <p:sp>
        <p:nvSpPr>
          <p:cNvPr id="5017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Countries began to reject neoliberal model.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Many elected presidents with nationalist bent.</a:t>
            </a:r>
          </a:p>
          <a:p>
            <a:pPr lvl="2" eaLnBrk="1" hangingPunct="1"/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US media characterized leaders as </a:t>
            </a:r>
            <a:r>
              <a:rPr lang="en-US" altLang="ja-JP" dirty="0">
                <a:latin typeface="Times New Roman" pitchFamily="18" charset="0"/>
                <a:cs typeface="Times New Roman" pitchFamily="18" charset="0"/>
              </a:rPr>
              <a:t>“leftist.”</a:t>
            </a:r>
          </a:p>
          <a:p>
            <a:pPr lvl="2" eaLnBrk="1" hangingPunct="1"/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Few turned toward socialist economic policies.</a:t>
            </a:r>
          </a:p>
          <a:p>
            <a:pPr lvl="2" eaLnBrk="1" hangingPunct="1"/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Embraced nationalist vision of anti-imperialism and active government</a:t>
            </a:r>
          </a:p>
          <a:p>
            <a:pPr lvl="2" eaLnBrk="1" hangingPunct="1"/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Sought to mitigate impact of free-market capitalism</a:t>
            </a:r>
          </a:p>
          <a:p>
            <a:pPr lvl="2" eaLnBrk="1" hangingPunct="1"/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By 2010, most Latin American presidents fit this description.</a:t>
            </a:r>
          </a:p>
          <a:p>
            <a:pPr marL="800100" indent="-457200" eaLnBrk="1" hangingPunct="1">
              <a:buFont typeface="Arial" charset="0"/>
              <a:buChar char="•"/>
            </a:pPr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indent="-3429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Luis Inácio da Silva, or </a:t>
            </a:r>
            <a:r>
              <a:rPr lang="ja-JP" altLang="en-US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Lula</a:t>
            </a:r>
            <a:r>
              <a:rPr lang="ja-JP" altLang="en-US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”</a:t>
            </a:r>
            <a:endParaRPr lang="en-US" altLang="en-US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  <p:sp>
        <p:nvSpPr>
          <p:cNvPr id="5222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Elected president of Brazil in 2002</a:t>
            </a:r>
          </a:p>
          <a:p>
            <a:pPr lvl="1" eaLnBrk="1" hangingPunct="1"/>
            <a:r>
              <a:rPr lang="ja-JP" altLang="en-US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Zero hunger</a:t>
            </a:r>
            <a:r>
              <a:rPr lang="ja-JP" altLang="en-US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”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 initiative difficult to achieve given Brazil</a:t>
            </a:r>
            <a:r>
              <a:rPr lang="ja-JP" altLang="en-US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’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s debts 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Approached social goals more timidly than some supporters liked</a:t>
            </a:r>
          </a:p>
          <a:p>
            <a:pPr lvl="1" eaLnBrk="1" hangingPunct="1"/>
            <a:r>
              <a:rPr lang="ja-JP" altLang="en-US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“</a:t>
            </a:r>
            <a:r>
              <a:rPr lang="en-US" altLang="ja-JP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Family scholarship</a:t>
            </a:r>
            <a:r>
              <a:rPr lang="ja-JP" altLang="en-US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”</a:t>
            </a:r>
            <a:endParaRPr lang="en-US" altLang="ja-JP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Brazilian economy was resilient in face of the 2008 economic crisis.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Post-Lula in Brazil</a:t>
            </a:r>
          </a:p>
        </p:txBody>
      </p:sp>
      <p:sp>
        <p:nvSpPr>
          <p:cNvPr id="2969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Dilma Rousseff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Opposition response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Convicted Rousseff and Lula of insubstantial crimes</a:t>
            </a:r>
            <a:endParaRPr lang="en-US" altLang="en-US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Jair Bolsonaro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767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Hugo Chávez</a:t>
            </a:r>
          </a:p>
        </p:txBody>
      </p:sp>
      <p:sp>
        <p:nvSpPr>
          <p:cNvPr id="5427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President of Venezuela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Channeled support to poor Venezuelans in exchange for support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Use of government authority against his adversaries alienated middle class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Won referendum allowing him to be reelected indefinitely 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Reforms based on oil revenue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Unfinished reforms after Chavez’s death in 2013</a:t>
            </a:r>
            <a:endParaRPr lang="en-US" altLang="en-US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Evo Morales</a:t>
            </a:r>
          </a:p>
        </p:txBody>
      </p:sp>
      <p:sp>
        <p:nvSpPr>
          <p:cNvPr id="5632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Took office in Bolivia in 2006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Indigenous Aymara</a:t>
            </a:r>
            <a:endParaRPr lang="en-US" altLang="en-US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Resisted US efforts to eradicate coca crops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Base of support in Andean highlands 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Opposed by lowland eastern region around Santa Cruz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Oversaw a new constitution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Mexico’s “New Left Turn”</a:t>
            </a:r>
          </a:p>
        </p:txBody>
      </p:sp>
      <p:sp>
        <p:nvSpPr>
          <p:cNvPr id="5632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Andrés Manuel López Obrador (AMLO)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MORENA party</a:t>
            </a:r>
            <a:endParaRPr lang="en-US" altLang="en-US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2018 election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Mexican Cartels</a:t>
            </a:r>
          </a:p>
        </p:txBody>
      </p:sp>
    </p:spTree>
    <p:extLst>
      <p:ext uri="{BB962C8B-B14F-4D97-AF65-F5344CB8AC3E}">
        <p14:creationId xmlns:p14="http://schemas.microsoft.com/office/powerpoint/2010/main" val="3658127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Continued Left Turn</a:t>
            </a:r>
          </a:p>
        </p:txBody>
      </p:sp>
      <p:sp>
        <p:nvSpPr>
          <p:cNvPr id="5837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Chile elected leftist president in 2006. </a:t>
            </a:r>
          </a:p>
          <a:p>
            <a:pPr lvl="2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Michelle Bachelet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Replaced by neoliberal businessman in 2010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Returned to presidency in 2014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Uruguay elected former Tupamaro president in 2010.</a:t>
            </a:r>
          </a:p>
          <a:p>
            <a:pPr lvl="2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José </a:t>
            </a:r>
            <a:r>
              <a:rPr lang="en-US" altLang="en-US" dirty="0" err="1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Mujica</a:t>
            </a:r>
            <a:endParaRPr lang="en-US" altLang="en-US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Passing new laws</a:t>
            </a:r>
            <a:endParaRPr lang="en-US" altLang="en-US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 Argentina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Several Peronist presidents led not-very-transformative governments</a:t>
            </a:r>
          </a:p>
          <a:p>
            <a:pPr lvl="3" eaLnBrk="1" hangingPunct="1"/>
            <a:endParaRPr lang="en-US" altLang="en-US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pPr lvl="3" eaLnBrk="1" hangingPunct="1">
              <a:buFont typeface="Arial" charset="0"/>
              <a:buNone/>
            </a:pPr>
            <a:endParaRPr lang="en-US" altLang="en-US" sz="1800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Left Turn Continued</a:t>
            </a:r>
          </a:p>
        </p:txBody>
      </p:sp>
      <p:sp>
        <p:nvSpPr>
          <p:cNvPr id="5632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Early </a:t>
            </a:r>
            <a:r>
              <a:rPr lang="en-US" altLang="en-US" dirty="0" err="1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2020s</a:t>
            </a:r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, new leaders emerge.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Focus on racial equality, women’s and minority rights, environmentally focused</a:t>
            </a:r>
          </a:p>
          <a:p>
            <a:pPr lvl="2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Gabriel Boric of Chile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Gustavo Petro of Colombia</a:t>
            </a:r>
          </a:p>
          <a:p>
            <a:pPr lvl="3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Vice-president Francia Márquez</a:t>
            </a:r>
          </a:p>
        </p:txBody>
      </p:sp>
    </p:spTree>
    <p:extLst>
      <p:ext uri="{BB962C8B-B14F-4D97-AF65-F5344CB8AC3E}">
        <p14:creationId xmlns:p14="http://schemas.microsoft.com/office/powerpoint/2010/main" val="3433650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hotograph of people cheering. A man and a woman stand smiling in front of the crowd and raise their joined hands. The woman's other hand is raised in a fist. The man holds a microphone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6482" y="952905"/>
            <a:ext cx="8011036" cy="547420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02169" y="6427113"/>
            <a:ext cx="29418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Born in Blood and Fire, </a:t>
            </a:r>
            <a:r>
              <a:rPr lang="en-US" sz="1100" dirty="0"/>
              <a:t>Fifth Edition</a:t>
            </a:r>
          </a:p>
          <a:p>
            <a:r>
              <a:rPr lang="en-US" sz="1100" dirty="0"/>
              <a:t>Copyright © 2024 W. W. Norton &amp; Company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EE0FDAB8-9837-C694-09FD-AE8545A6E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4000" dirty="0">
                <a:latin typeface="Times New Roman" charset="0"/>
                <a:ea typeface="Times New Roman" charset="0"/>
                <a:cs typeface="Times New Roman" charset="0"/>
              </a:rPr>
              <a:t>Petro and Marquez</a:t>
            </a:r>
          </a:p>
        </p:txBody>
      </p:sp>
    </p:spTree>
    <p:extLst>
      <p:ext uri="{BB962C8B-B14F-4D97-AF65-F5344CB8AC3E}">
        <p14:creationId xmlns:p14="http://schemas.microsoft.com/office/powerpoint/2010/main" val="2040615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Latin America in the World</a:t>
            </a:r>
          </a:p>
        </p:txBody>
      </p:sp>
      <p:sp>
        <p:nvSpPr>
          <p:cNvPr id="5632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Economic rise of China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Linked to Latin American globalization</a:t>
            </a:r>
          </a:p>
          <a:p>
            <a:pPr lvl="2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Manufactures from China shipped to Latin America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China’s importation of food and raw materials</a:t>
            </a:r>
            <a:endParaRPr lang="en-US" altLang="en-US" dirty="0">
              <a:solidFill>
                <a:schemeClr val="tx1"/>
              </a:solidFill>
              <a:latin typeface="Times New Roman" charset="0"/>
              <a:ea typeface="Times New Roman" charset="0"/>
              <a:cs typeface="Times New Roman" charset="0"/>
            </a:endParaRP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Relations with the US</a:t>
            </a:r>
          </a:p>
        </p:txBody>
      </p:sp>
    </p:spTree>
    <p:extLst>
      <p:ext uri="{BB962C8B-B14F-4D97-AF65-F5344CB8AC3E}">
        <p14:creationId xmlns:p14="http://schemas.microsoft.com/office/powerpoint/2010/main" val="37272543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pPr eaLnBrk="1" hangingPunct="1"/>
            <a:r>
              <a:rPr lang="en-US" altLang="en-US" sz="4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Challenges: Indigenous Uprising </a:t>
            </a:r>
          </a:p>
        </p:txBody>
      </p:sp>
      <p:sp>
        <p:nvSpPr>
          <p:cNvPr id="3584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Indigenous movements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500th anniversary of Columbus</a:t>
            </a:r>
            <a:r>
              <a:rPr lang="ja-JP" altLang="en-US" dirty="0">
                <a:latin typeface="Times New Roman" charset="0"/>
                <a:ea typeface="Times New Roman" charset="0"/>
                <a:cs typeface="Times New Roman" charset="0"/>
              </a:rPr>
              <a:t>’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s landing prompted international meeting in Bolivia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Reflected multiculturalist intellectual trend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Indigenous collided with strong legacies of nationalism </a:t>
            </a:r>
          </a:p>
          <a:p>
            <a:pPr lvl="2" eaLnBrk="1" hangingPunct="1"/>
            <a:r>
              <a:rPr lang="en-US" altLang="en-US" dirty="0">
                <a:latin typeface="Times New Roman" panose="02020603050405020304" pitchFamily="18" charset="0"/>
                <a:ea typeface="Times New Roman" charset="0"/>
                <a:cs typeface="Times New Roman" panose="02020603050405020304" pitchFamily="18" charset="0"/>
              </a:rPr>
              <a:t>Celebration of mestizo identity (</a:t>
            </a:r>
            <a:r>
              <a:rPr lang="en-US" altLang="en-US" i="1" dirty="0">
                <a:latin typeface="Times New Roman" panose="02020603050405020304" pitchFamily="18" charset="0"/>
                <a:ea typeface="Times New Roman" charset="0"/>
                <a:cs typeface="Times New Roman" panose="02020603050405020304" pitchFamily="18" charset="0"/>
              </a:rPr>
              <a:t>mestizaje</a:t>
            </a:r>
            <a:r>
              <a:rPr lang="en-US" altLang="en-US" dirty="0">
                <a:latin typeface="Times New Roman" panose="02020603050405020304" pitchFamily="18" charset="0"/>
                <a:ea typeface="Times New Roman" charset="0"/>
                <a:cs typeface="Times New Roman" panose="02020603050405020304" pitchFamily="18" charset="0"/>
              </a:rPr>
              <a:t>/</a:t>
            </a:r>
            <a:r>
              <a:rPr lang="en-US" sz="2400" b="0" i="1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mestiçagem</a:t>
            </a:r>
            <a:r>
              <a:rPr lang="en-US" altLang="en-US" dirty="0">
                <a:latin typeface="Times New Roman" panose="02020603050405020304" pitchFamily="18" charset="0"/>
                <a:ea typeface="Times New Roman" charset="0"/>
                <a:cs typeface="Times New Roman" panose="02020603050405020304" pitchFamily="18" charset="0"/>
              </a:rPr>
              <a:t>)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Mestizo nationalism sometimes obscured, co-opted or led to racism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A Changing Culture</a:t>
            </a:r>
          </a:p>
        </p:txBody>
      </p:sp>
      <p:sp>
        <p:nvSpPr>
          <p:cNvPr id="3993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8975" lvl="1" indent="-346075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Honored non-European cultural heritage</a:t>
            </a:r>
          </a:p>
          <a:p>
            <a:pPr marL="688975" lvl="1" indent="-346075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Transculturation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Capoeira, an Afro-Brazilian combination of dance and martial arts, has adherents worldwide.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Latin American variants of West African religions 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Rise of Protestantism 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Unified Black Movement</a:t>
            </a:r>
          </a:p>
        </p:txBody>
      </p:sp>
      <p:sp>
        <p:nvSpPr>
          <p:cNvPr id="378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The effort to advance civil rights of black Brazilians encountered nationalist resistance.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Nearly half of Brazilians are pure or mixed African descent.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Disproportionately poor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Brazil</a:t>
            </a:r>
            <a:r>
              <a:rPr lang="ja-JP" altLang="en-US" dirty="0">
                <a:latin typeface="Times New Roman" charset="0"/>
                <a:ea typeface="Times New Roman" charset="0"/>
                <a:cs typeface="Times New Roman" charset="0"/>
              </a:rPr>
              <a:t>’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s Unified Black Movement (MNU)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Ideal of </a:t>
            </a:r>
            <a:r>
              <a:rPr lang="ja-JP" altLang="en-US" dirty="0">
                <a:latin typeface="Times New Roman" charset="0"/>
                <a:ea typeface="Times New Roman" charset="0"/>
                <a:cs typeface="Times New Roman" charset="0"/>
              </a:rPr>
              <a:t>“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racial democracy</a:t>
            </a:r>
            <a:r>
              <a:rPr lang="ja-JP" altLang="en-US" dirty="0">
                <a:latin typeface="Times New Roman" charset="0"/>
                <a:ea typeface="Times New Roman" charset="0"/>
                <a:cs typeface="Times New Roman" charset="0"/>
              </a:rPr>
              <a:t>”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 had been the keystone of national identity since 1930s.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Environmental Degradation</a:t>
            </a:r>
          </a:p>
        </p:txBody>
      </p:sp>
      <p:sp>
        <p:nvSpPr>
          <p:cNvPr id="4403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Environmental challenges in Latin America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Worse in developing countries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Avoiding or fixing problems is expensive.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Allowing factories to pollute attracts investment.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Human activities have depleted the Amazon rain forest.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Relatively untouched until 1960s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Brazilian government launched World Bank-funded development.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Ecuadorian Amazon</a:t>
            </a:r>
          </a:p>
          <a:p>
            <a:pPr marL="800100" indent="-457200" eaLnBrk="1" hangingPunct="1">
              <a:buFont typeface="Arial" charset="0"/>
              <a:buChar char="•"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hotograph of a destroyed house covered in mud. Rubble, walls, and fences surrounding the house are also half-buried in the mud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64325"/>
            <a:ext cx="8077200" cy="53944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02169" y="6427113"/>
            <a:ext cx="294183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i="1" dirty="0"/>
              <a:t>Born in Blood and Fire, </a:t>
            </a:r>
            <a:r>
              <a:rPr lang="en-US" sz="1100" dirty="0"/>
              <a:t>Fifth Edition</a:t>
            </a:r>
          </a:p>
          <a:p>
            <a:r>
              <a:rPr lang="en-US" sz="1100" dirty="0"/>
              <a:t>Copyright © 2024 W. W. Norton &amp; Company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8C798B2-C5DC-9A51-1975-04D45D937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4000" dirty="0">
                <a:latin typeface="Times New Roman" charset="0"/>
                <a:ea typeface="Times New Roman" charset="0"/>
                <a:cs typeface="Times New Roman" charset="0"/>
              </a:rPr>
              <a:t>Mining Waste, Brazil</a:t>
            </a:r>
          </a:p>
        </p:txBody>
      </p:sp>
    </p:spTree>
    <p:extLst>
      <p:ext uri="{BB962C8B-B14F-4D97-AF65-F5344CB8AC3E}">
        <p14:creationId xmlns:p14="http://schemas.microsoft.com/office/powerpoint/2010/main" val="9716436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Developing the Amazon</a:t>
            </a:r>
          </a:p>
        </p:txBody>
      </p:sp>
      <p:sp>
        <p:nvSpPr>
          <p:cNvPr id="4608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Governments are determined to develop the Amazon. 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US development of its forested areas 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Rain forest uniquely diverse, fragile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Thin Amazonian soil quickly washes away.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Northwest Brazilian state of Rodônia</a:t>
            </a:r>
          </a:p>
          <a:p>
            <a:pPr lvl="1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Ranching accounts for much of deforestation.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Uses much land and little labor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Bulldoze, graze cattle until land becomes unusable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Sell land and move on</a:t>
            </a:r>
          </a:p>
          <a:p>
            <a:pPr eaLnBrk="1" hangingPunct="1">
              <a:buFont typeface="Wingdings" charset="2"/>
              <a:buNone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Immigration</a:t>
            </a:r>
          </a:p>
        </p:txBody>
      </p:sp>
      <p:sp>
        <p:nvSpPr>
          <p:cNvPr id="41986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Latin American population is growing in the United States.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Largest minority group</a:t>
            </a:r>
          </a:p>
          <a:p>
            <a:pPr lvl="2" eaLnBrk="1" hangingPunct="1"/>
            <a:r>
              <a:rPr lang="ja-JP" altLang="en-US" dirty="0">
                <a:latin typeface="Times New Roman" charset="0"/>
                <a:ea typeface="Times New Roman" charset="0"/>
                <a:cs typeface="Times New Roman" charset="0"/>
              </a:rPr>
              <a:t>“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Latino</a:t>
            </a:r>
            <a:r>
              <a:rPr lang="ja-JP" altLang="en-US" dirty="0">
                <a:latin typeface="Times New Roman" charset="0"/>
                <a:ea typeface="Times New Roman" charset="0"/>
                <a:cs typeface="Times New Roman" charset="0"/>
              </a:rPr>
              <a:t>”</a:t>
            </a:r>
            <a:r>
              <a:rPr lang="en-US" altLang="ja-JP" dirty="0">
                <a:latin typeface="Times New Roman" charset="0"/>
                <a:ea typeface="Times New Roman" charset="0"/>
                <a:cs typeface="Times New Roman" charset="0"/>
              </a:rPr>
              <a:t> means little outside of the United States. 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Immigration is changing US culture.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Spanish-language television, magazines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Changing food culture and preferences</a:t>
            </a:r>
          </a:p>
          <a:p>
            <a:pPr lvl="2" eaLnBrk="1" hangingPunct="1"/>
            <a:r>
              <a:rPr lang="en-US" altLang="en-US" dirty="0">
                <a:latin typeface="Times New Roman" charset="0"/>
                <a:ea typeface="Times New Roman" charset="0"/>
                <a:cs typeface="Times New Roman" charset="0"/>
              </a:rPr>
              <a:t>Latin American dance 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Large-scale immigration poses challenges.</a:t>
            </a:r>
          </a:p>
          <a:p>
            <a:pPr marL="800100" lvl="1" indent="-457200" eaLnBrk="1" hangingPunct="1"/>
            <a:r>
              <a:rPr lang="en-US" altLang="en-US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All the causes of emigration from Latin American nations</a:t>
            </a:r>
          </a:p>
          <a:p>
            <a:pPr marL="800100" indent="-457200" eaLnBrk="1" hangingPunct="1">
              <a:buFont typeface="Arial" charset="0"/>
              <a:buChar char="•"/>
            </a:pPr>
            <a:endParaRPr lang="en-US" altLang="en-US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30F05E6-0F85-F136-C7F9-231D9A2D31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392" y="838200"/>
            <a:ext cx="6823213" cy="3143250"/>
          </a:xfrm>
        </p:spPr>
        <p:txBody>
          <a:bodyPr anchor="t">
            <a:normAutofit/>
          </a:bodyPr>
          <a:lstStyle/>
          <a:p>
            <a:r>
              <a:rPr lang="en-US" altLang="en-US" sz="3200" b="0" dirty="0">
                <a:latin typeface="Times New Roman" charset="0"/>
                <a:ea typeface="Times New Roman" charset="0"/>
                <a:cs typeface="Times New Roman" charset="0"/>
              </a:rPr>
              <a:t>This concludes the PowerPoint presentation for </a:t>
            </a:r>
            <a:br>
              <a:rPr lang="en-US" altLang="en-US" sz="3200" b="0" dirty="0"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en-US" altLang="en-US" sz="3200" b="1" dirty="0">
                <a:latin typeface="Times New Roman" charset="0"/>
                <a:ea typeface="Times New Roman" charset="0"/>
                <a:cs typeface="Times New Roman" charset="0"/>
              </a:rPr>
              <a:t>Chapter 11: </a:t>
            </a:r>
            <a:br>
              <a:rPr lang="en-US" altLang="en-US" sz="3200" b="1" dirty="0">
                <a:latin typeface="Times New Roman" charset="0"/>
                <a:ea typeface="Times New Roman" charset="0"/>
                <a:cs typeface="Times New Roman" charset="0"/>
              </a:rPr>
            </a:br>
            <a:r>
              <a:rPr lang="en-US" altLang="en-US" sz="3200" b="1" dirty="0">
                <a:latin typeface="Times New Roman" charset="0"/>
                <a:ea typeface="Times New Roman" charset="0"/>
                <a:cs typeface="Times New Roman" charset="0"/>
              </a:rPr>
              <a:t>Neoliberalism and Beyond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8EB6891-7D7F-5F4C-77AA-B9DAAAB70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5395" y="4572000"/>
            <a:ext cx="6013205" cy="1752600"/>
          </a:xfrm>
        </p:spPr>
        <p:txBody>
          <a:bodyPr>
            <a:normAutofit/>
          </a:bodyPr>
          <a:lstStyle/>
          <a:p>
            <a:r>
              <a:rPr lang="en-US" altLang="en-US" sz="2400" dirty="0">
                <a:solidFill>
                  <a:schemeClr val="tx1"/>
                </a:solidFill>
                <a:latin typeface="Times New Roman" charset="0"/>
                <a:ea typeface="Times New Roman" charset="0"/>
                <a:cs typeface="Times New Roman" charset="0"/>
              </a:rPr>
              <a:t>For additional resources, visit </a:t>
            </a:r>
            <a:r>
              <a:rPr lang="en-US" altLang="en-US" sz="2400" dirty="0">
                <a:latin typeface="Times New Roman" charset="0"/>
                <a:ea typeface="Times New Roman" charset="0"/>
                <a:cs typeface="Times New Roman" charset="0"/>
                <a:hlinkClick r:id="rId2"/>
              </a:rPr>
              <a:t>https://digital.wwnorton.com/bornfire5</a:t>
            </a:r>
            <a:endParaRPr lang="en-US" altLang="en-US" sz="2400" dirty="0">
              <a:latin typeface="Times New Roman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3379004"/>
      </p:ext>
    </p:extLst>
  </p:cSld>
  <p:clrMapOvr>
    <a:masterClrMapping/>
  </p:clrMapOvr>
</p:sld>
</file>

<file path=ppt/theme/theme1.xml><?xml version="1.0" encoding="utf-8"?>
<a:theme xmlns:a="http://schemas.openxmlformats.org/drawingml/2006/main" name="Chasteen_Ch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c font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1c7c9a4-d043-4a67-96e5-2ff5b742a303">
      <Terms xmlns="http://schemas.microsoft.com/office/infopath/2007/PartnerControls"/>
    </lcf76f155ced4ddcb4097134ff3c332f>
    <TaxCatchAll xmlns="9d64b6a7-e13d-4012-aff2-02bdd52222e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69AFE3D876FE4297EE28B5F70DC3F8" ma:contentTypeVersion="18" ma:contentTypeDescription="Create a new document." ma:contentTypeScope="" ma:versionID="24168822608d9d77dd2a031d1dc4320d">
  <xsd:schema xmlns:xsd="http://www.w3.org/2001/XMLSchema" xmlns:xs="http://www.w3.org/2001/XMLSchema" xmlns:p="http://schemas.microsoft.com/office/2006/metadata/properties" xmlns:ns2="d1c7c9a4-d043-4a67-96e5-2ff5b742a303" xmlns:ns3="9d64b6a7-e13d-4012-aff2-02bdd52222eb" targetNamespace="http://schemas.microsoft.com/office/2006/metadata/properties" ma:root="true" ma:fieldsID="974d88cf474a8c2222dc8cf659776bc2" ns2:_="" ns3:_="">
    <xsd:import namespace="d1c7c9a4-d043-4a67-96e5-2ff5b742a303"/>
    <xsd:import namespace="9d64b6a7-e13d-4012-aff2-02bdd52222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1c7c9a4-d043-4a67-96e5-2ff5b742a3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85876ee3-2b79-4d5d-9b03-6d875683163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64b6a7-e13d-4012-aff2-02bdd52222e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b26d98fc-0af3-417b-8254-413504fc40c8}" ma:internalName="TaxCatchAll" ma:showField="CatchAllData" ma:web="9d64b6a7-e13d-4012-aff2-02bdd52222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9B94C8-B04D-4603-B50D-EC7274CDA610}">
  <ds:schemaRefs>
    <ds:schemaRef ds:uri="9d64b6a7-e13d-4012-aff2-02bdd52222eb"/>
    <ds:schemaRef ds:uri="http://purl.org/dc/dcmitype/"/>
    <ds:schemaRef ds:uri="http://schemas.microsoft.com/office/2006/metadata/properties"/>
    <ds:schemaRef ds:uri="http://purl.org/dc/terms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d1c7c9a4-d043-4a67-96e5-2ff5b742a303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8A59141-CD56-44AE-B367-7DA26FB387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1c7c9a4-d043-4a67-96e5-2ff5b742a303"/>
    <ds:schemaRef ds:uri="9d64b6a7-e13d-4012-aff2-02bdd52222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80192CD-7204-4F5C-9B02-AEB62BEC7CB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Chasteen_Ch2</Template>
  <TotalTime>499</TotalTime>
  <Words>1305</Words>
  <Application>Microsoft Macintosh PowerPoint</Application>
  <PresentationFormat>On-screen Show (4:3)</PresentationFormat>
  <Paragraphs>225</Paragraphs>
  <Slides>29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Arial Black</vt:lpstr>
      <vt:lpstr>Calibri</vt:lpstr>
      <vt:lpstr>Times New Roman</vt:lpstr>
      <vt:lpstr>Wingdings</vt:lpstr>
      <vt:lpstr>Chasteen_Ch2</vt:lpstr>
      <vt:lpstr>Born in Blood &amp; Fire A Concise History of Latin America 5th Edition</vt:lpstr>
      <vt:lpstr>Nationalism Discredited</vt:lpstr>
      <vt:lpstr>Liberalism Returns</vt:lpstr>
      <vt:lpstr>Neoliberalism</vt:lpstr>
      <vt:lpstr>PowerPoint Presentation</vt:lpstr>
      <vt:lpstr>Taming the Debt Crisis</vt:lpstr>
      <vt:lpstr>Implementing Reforms</vt:lpstr>
      <vt:lpstr>Free Trade </vt:lpstr>
      <vt:lpstr>The Chilean Experiment</vt:lpstr>
      <vt:lpstr>Consequences</vt:lpstr>
      <vt:lpstr>New Left Turn</vt:lpstr>
      <vt:lpstr>Rejecting Neoliberalism </vt:lpstr>
      <vt:lpstr>Luis Inácio da Silva, or “Lula”</vt:lpstr>
      <vt:lpstr>Post-Lula in Brazil</vt:lpstr>
      <vt:lpstr>Hugo Chávez</vt:lpstr>
      <vt:lpstr>Evo Morales</vt:lpstr>
      <vt:lpstr>Mexico’s “New Left Turn”</vt:lpstr>
      <vt:lpstr>Continued Left Turn</vt:lpstr>
      <vt:lpstr>Left Turn Continued</vt:lpstr>
      <vt:lpstr>Petro and Marquez</vt:lpstr>
      <vt:lpstr>Latin America in the World</vt:lpstr>
      <vt:lpstr>Challenges: Indigenous Uprising </vt:lpstr>
      <vt:lpstr>A Changing Culture</vt:lpstr>
      <vt:lpstr>Unified Black Movement</vt:lpstr>
      <vt:lpstr>Environmental Degradation</vt:lpstr>
      <vt:lpstr>Mining Waste, Brazil</vt:lpstr>
      <vt:lpstr>Developing the Amazon</vt:lpstr>
      <vt:lpstr>Immigration</vt:lpstr>
      <vt:lpstr>This concludes the PowerPoint presentation for  Chapter 11:  Neoliberalism and Beyond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Born in Blood &amp; Fire</dc:title>
  <dc:creator>Beau D.J. Gaitors</dc:creator>
  <cp:lastModifiedBy>Kopp, Katherine</cp:lastModifiedBy>
  <cp:revision>33</cp:revision>
  <dcterms:created xsi:type="dcterms:W3CDTF">2011-05-16T16:13:28Z</dcterms:created>
  <dcterms:modified xsi:type="dcterms:W3CDTF">2024-06-06T18:27:24Z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0x0101002D69AFE3D876FE4297EE28B5F70DC3F8</vt:lpwstr>
  </property>
</Properties>
</file>