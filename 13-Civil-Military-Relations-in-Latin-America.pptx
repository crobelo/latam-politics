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14630400" cy="8229600"/>
  <p:notesSz cx="8229600" cy="14630400"/>
  <p:embeddedFontLst>
    <p:embeddedFont>
      <p:font typeface="Tomorrow" panose="020B0604020202020204" charset="0"/>
      <p:regular r:id="rId11"/>
    </p:embeddedFont>
    <p:embeddedFont>
      <p:font typeface="Tomorrow Semi Bold" panose="020B0604020202020204" charset="0"/>
      <p:regular r:id="rId12"/>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62" autoAdjust="0"/>
    <p:restoredTop sz="94610"/>
  </p:normalViewPr>
  <p:slideViewPr>
    <p:cSldViewPr snapToGrid="0" snapToObjects="1">
      <p:cViewPr varScale="1">
        <p:scale>
          <a:sx n="58" d="100"/>
          <a:sy n="58" d="100"/>
        </p:scale>
        <p:origin x="28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161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CE4AAEF-E5BC-E29E-52FC-E5A366C7C966}"/>
              </a:ext>
            </a:extLst>
          </p:cNvPr>
          <p:cNvSpPr/>
          <p:nvPr userDrawn="1"/>
        </p:nvSpPr>
        <p:spPr>
          <a:xfrm>
            <a:off x="0" y="0"/>
            <a:ext cx="14630400" cy="8229600"/>
          </a:xfrm>
          <a:prstGeom prst="rect">
            <a:avLst/>
          </a:prstGeom>
          <a:solidFill>
            <a:srgbClr val="1D1D1B"/>
          </a:solidFill>
          <a:ln/>
        </p:spPr>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939105" y="698987"/>
            <a:ext cx="7691295" cy="1240155"/>
          </a:xfrm>
          <a:prstGeom prst="rect">
            <a:avLst/>
          </a:prstGeom>
          <a:noFill/>
          <a:ln/>
        </p:spPr>
        <p:txBody>
          <a:bodyPr wrap="square" lIns="0" tIns="0" rIns="0" bIns="0" rtlCol="0" anchor="t"/>
          <a:lstStyle/>
          <a:p>
            <a:pPr marL="0" indent="0" algn="l">
              <a:lnSpc>
                <a:spcPts val="4850"/>
              </a:lnSpc>
              <a:buNone/>
            </a:pPr>
            <a:r>
              <a:rPr lang="en-US" sz="3400" dirty="0">
                <a:solidFill>
                  <a:srgbClr val="EDEDE8"/>
                </a:solidFill>
                <a:latin typeface="Tomorrow Semi Bold" pitchFamily="34" charset="0"/>
                <a:ea typeface="Tomorrow Semi Bold" pitchFamily="34" charset="-122"/>
                <a:cs typeface="Tomorrow Semi Bold" pitchFamily="34" charset="-120"/>
              </a:rPr>
              <a:t>Civil-Military Relations in Latin America</a:t>
            </a:r>
            <a:endParaRPr lang="en-US" sz="3400" dirty="0"/>
          </a:p>
        </p:txBody>
      </p:sp>
      <p:sp>
        <p:nvSpPr>
          <p:cNvPr id="4" name="Text 1"/>
          <p:cNvSpPr/>
          <p:nvPr/>
        </p:nvSpPr>
        <p:spPr>
          <a:xfrm>
            <a:off x="7315200" y="2633849"/>
            <a:ext cx="6659592" cy="635079"/>
          </a:xfrm>
          <a:prstGeom prst="rect">
            <a:avLst/>
          </a:prstGeom>
          <a:noFill/>
          <a:ln/>
        </p:spPr>
        <p:txBody>
          <a:bodyPr wrap="square" lIns="0" tIns="0" rIns="0" bIns="0" rtlCol="0" anchor="t"/>
          <a:lstStyle/>
          <a:p>
            <a:pPr>
              <a:lnSpc>
                <a:spcPts val="2500"/>
              </a:lnSpc>
            </a:pPr>
            <a:r>
              <a:rPr lang="en-US" dirty="0">
                <a:solidFill>
                  <a:srgbClr val="C9C9C0"/>
                </a:solidFill>
                <a:latin typeface="Tomorrow" pitchFamily="34" charset="0"/>
              </a:rPr>
              <a:t>We explore the transformation of civil–military relations in Latin America, with a special focus on the Southern Cone.</a:t>
            </a:r>
          </a:p>
          <a:p>
            <a:pPr>
              <a:lnSpc>
                <a:spcPts val="2500"/>
              </a:lnSpc>
            </a:pPr>
            <a:endParaRPr lang="en-US" dirty="0">
              <a:solidFill>
                <a:srgbClr val="C9C9C0"/>
              </a:solidFill>
              <a:latin typeface="Tomorrow" pitchFamily="34" charset="0"/>
            </a:endParaRPr>
          </a:p>
          <a:p>
            <a:pPr>
              <a:lnSpc>
                <a:spcPts val="2500"/>
              </a:lnSpc>
            </a:pPr>
            <a:r>
              <a:rPr lang="en-US" dirty="0">
                <a:solidFill>
                  <a:srgbClr val="C9C9C0"/>
                </a:solidFill>
                <a:latin typeface="Tomorrow" pitchFamily="34" charset="0"/>
              </a:rPr>
              <a:t>We examine how authoritarian legacies, democratic transitions, and institutional reforms have shaped the relationship between soldiers, politicians, and society. Theoretical frameworks and case studies help us gain insight into how militaries moved from rulers to subordinates, why civilian control is essential for democratic consolidation, and what challenges remain in building stable, democratic defense institutions.</a:t>
            </a:r>
          </a:p>
        </p:txBody>
      </p:sp>
      <p:pic>
        <p:nvPicPr>
          <p:cNvPr id="1026" name="Picture 2" descr="20130996571_1a440caae2_z">
            <a:extLst>
              <a:ext uri="{FF2B5EF4-FFF2-40B4-BE49-F238E27FC236}">
                <a16:creationId xmlns:a16="http://schemas.microsoft.com/office/drawing/2014/main" id="{6C351647-18F1-4C33-F875-198D06F4C1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79" t="-214" r="20642" b="214"/>
          <a:stretch>
            <a:fillRect/>
          </a:stretch>
        </p:blipFill>
        <p:spPr bwMode="auto">
          <a:xfrm>
            <a:off x="69012" y="508958"/>
            <a:ext cx="6818334" cy="72116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83525"/>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Setting the Stage: Why Civil-Military Relations Matter</a:t>
            </a:r>
            <a:endParaRPr lang="en-US" sz="3900" dirty="0"/>
          </a:p>
        </p:txBody>
      </p:sp>
      <p:sp>
        <p:nvSpPr>
          <p:cNvPr id="3" name="Shape 1"/>
          <p:cNvSpPr/>
          <p:nvPr/>
        </p:nvSpPr>
        <p:spPr>
          <a:xfrm>
            <a:off x="7303770" y="1705129"/>
            <a:ext cx="22860" cy="4249698"/>
          </a:xfrm>
          <a:prstGeom prst="roundRect">
            <a:avLst>
              <a:gd name="adj" fmla="val 130232"/>
            </a:avLst>
          </a:prstGeom>
          <a:solidFill>
            <a:srgbClr val="555553"/>
          </a:solidFill>
          <a:ln/>
        </p:spPr>
        <p:txBody>
          <a:bodyPr/>
          <a:lstStyle/>
          <a:p>
            <a:endParaRPr lang="es-AR"/>
          </a:p>
        </p:txBody>
      </p:sp>
      <p:sp>
        <p:nvSpPr>
          <p:cNvPr id="4" name="Shape 2"/>
          <p:cNvSpPr/>
          <p:nvPr/>
        </p:nvSpPr>
        <p:spPr>
          <a:xfrm>
            <a:off x="6519505" y="1916941"/>
            <a:ext cx="595313" cy="22860"/>
          </a:xfrm>
          <a:prstGeom prst="roundRect">
            <a:avLst>
              <a:gd name="adj" fmla="val 130232"/>
            </a:avLst>
          </a:prstGeom>
          <a:solidFill>
            <a:srgbClr val="555553"/>
          </a:solidFill>
          <a:ln/>
        </p:spPr>
        <p:txBody>
          <a:bodyPr/>
          <a:lstStyle/>
          <a:p>
            <a:endParaRPr lang="es-AR"/>
          </a:p>
        </p:txBody>
      </p:sp>
      <p:sp>
        <p:nvSpPr>
          <p:cNvPr id="5" name="Shape 3"/>
          <p:cNvSpPr/>
          <p:nvPr/>
        </p:nvSpPr>
        <p:spPr>
          <a:xfrm>
            <a:off x="7091958" y="1705129"/>
            <a:ext cx="446484" cy="446484"/>
          </a:xfrm>
          <a:prstGeom prst="roundRect">
            <a:avLst>
              <a:gd name="adj" fmla="val 6668"/>
            </a:avLst>
          </a:prstGeom>
          <a:solidFill>
            <a:srgbClr val="3C3C3A"/>
          </a:solidFill>
          <a:ln/>
        </p:spPr>
        <p:txBody>
          <a:bodyPr/>
          <a:lstStyle/>
          <a:p>
            <a:endParaRPr lang="es-AR"/>
          </a:p>
        </p:txBody>
      </p:sp>
      <p:sp>
        <p:nvSpPr>
          <p:cNvPr id="6" name="Text 4"/>
          <p:cNvSpPr/>
          <p:nvPr/>
        </p:nvSpPr>
        <p:spPr>
          <a:xfrm>
            <a:off x="7166372" y="1808836"/>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1</a:t>
            </a:r>
            <a:endParaRPr lang="en-US" sz="2300" dirty="0"/>
          </a:p>
        </p:txBody>
      </p:sp>
      <p:sp>
        <p:nvSpPr>
          <p:cNvPr id="7" name="Text 5"/>
          <p:cNvSpPr/>
          <p:nvPr/>
        </p:nvSpPr>
        <p:spPr>
          <a:xfrm>
            <a:off x="2826782" y="1773351"/>
            <a:ext cx="3496151" cy="310158"/>
          </a:xfrm>
          <a:prstGeom prst="rect">
            <a:avLst/>
          </a:prstGeom>
          <a:noFill/>
          <a:ln/>
        </p:spPr>
        <p:txBody>
          <a:bodyPr wrap="none" lIns="0" tIns="0" rIns="0" bIns="0" rtlCol="0" anchor="t"/>
          <a:lstStyle/>
          <a:p>
            <a:pPr marL="0" indent="0" algn="r">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Cold War Era (1960s-1980s)</a:t>
            </a:r>
            <a:endParaRPr lang="en-US" sz="1950" dirty="0"/>
          </a:p>
        </p:txBody>
      </p:sp>
      <p:sp>
        <p:nvSpPr>
          <p:cNvPr id="8" name="Text 6"/>
          <p:cNvSpPr/>
          <p:nvPr/>
        </p:nvSpPr>
        <p:spPr>
          <a:xfrm>
            <a:off x="793790" y="2202572"/>
            <a:ext cx="5529143" cy="1587698"/>
          </a:xfrm>
          <a:prstGeom prst="rect">
            <a:avLst/>
          </a:prstGeom>
          <a:noFill/>
          <a:ln/>
        </p:spPr>
        <p:txBody>
          <a:bodyPr wrap="square" lIns="0" tIns="0" rIns="0" bIns="0" rtlCol="0" anchor="t"/>
          <a:lstStyle/>
          <a:p>
            <a:pPr marL="0" indent="0" algn="r">
              <a:lnSpc>
                <a:spcPts val="2500"/>
              </a:lnSpc>
              <a:buNone/>
            </a:pPr>
            <a:r>
              <a:rPr lang="en-US" sz="1550" dirty="0">
                <a:solidFill>
                  <a:srgbClr val="C9C9C0"/>
                </a:solidFill>
                <a:latin typeface="Tomorrow" pitchFamily="34" charset="0"/>
                <a:ea typeface="Tomorrow" pitchFamily="34" charset="-122"/>
                <a:cs typeface="Tomorrow" pitchFamily="34" charset="-120"/>
              </a:rPr>
              <a:t>Military-led authoritarian regimes dominated Latin America. Generals became governors, military zones replaced civilian districts, and thousands faced imprisonment, torture, or death in the name of national security doctrine.</a:t>
            </a:r>
            <a:endParaRPr lang="en-US" sz="1550" dirty="0"/>
          </a:p>
        </p:txBody>
      </p:sp>
      <p:sp>
        <p:nvSpPr>
          <p:cNvPr id="9" name="Shape 7"/>
          <p:cNvSpPr/>
          <p:nvPr/>
        </p:nvSpPr>
        <p:spPr>
          <a:xfrm>
            <a:off x="7515582" y="3107566"/>
            <a:ext cx="595313" cy="22860"/>
          </a:xfrm>
          <a:prstGeom prst="roundRect">
            <a:avLst>
              <a:gd name="adj" fmla="val 130232"/>
            </a:avLst>
          </a:prstGeom>
          <a:solidFill>
            <a:srgbClr val="555553"/>
          </a:solidFill>
          <a:ln/>
        </p:spPr>
        <p:txBody>
          <a:bodyPr/>
          <a:lstStyle/>
          <a:p>
            <a:endParaRPr lang="es-AR"/>
          </a:p>
        </p:txBody>
      </p:sp>
      <p:sp>
        <p:nvSpPr>
          <p:cNvPr id="10" name="Shape 8"/>
          <p:cNvSpPr/>
          <p:nvPr/>
        </p:nvSpPr>
        <p:spPr>
          <a:xfrm>
            <a:off x="7091958" y="2895754"/>
            <a:ext cx="446484" cy="446484"/>
          </a:xfrm>
          <a:prstGeom prst="roundRect">
            <a:avLst>
              <a:gd name="adj" fmla="val 6668"/>
            </a:avLst>
          </a:prstGeom>
          <a:solidFill>
            <a:srgbClr val="3C3C3A"/>
          </a:solidFill>
          <a:ln/>
        </p:spPr>
        <p:txBody>
          <a:bodyPr/>
          <a:lstStyle/>
          <a:p>
            <a:endParaRPr lang="es-AR"/>
          </a:p>
        </p:txBody>
      </p:sp>
      <p:sp>
        <p:nvSpPr>
          <p:cNvPr id="11" name="Text 9"/>
          <p:cNvSpPr/>
          <p:nvPr/>
        </p:nvSpPr>
        <p:spPr>
          <a:xfrm>
            <a:off x="7166372" y="299946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2</a:t>
            </a:r>
            <a:endParaRPr lang="en-US" sz="2300" dirty="0"/>
          </a:p>
        </p:txBody>
      </p:sp>
      <p:sp>
        <p:nvSpPr>
          <p:cNvPr id="12" name="Text 10"/>
          <p:cNvSpPr/>
          <p:nvPr/>
        </p:nvSpPr>
        <p:spPr>
          <a:xfrm>
            <a:off x="8307467" y="2963976"/>
            <a:ext cx="3874413"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End of Cold War (1980s-1990s)</a:t>
            </a:r>
            <a:endParaRPr lang="en-US" sz="1950" dirty="0"/>
          </a:p>
        </p:txBody>
      </p:sp>
      <p:sp>
        <p:nvSpPr>
          <p:cNvPr id="13" name="Text 11"/>
          <p:cNvSpPr/>
          <p:nvPr/>
        </p:nvSpPr>
        <p:spPr>
          <a:xfrm>
            <a:off x="8307467" y="3393197"/>
            <a:ext cx="5529143"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Democratic transitions began across the region, but military retreat was incomplete. Officers sought to preserve privileges and veto power over fragile democratic institutions.</a:t>
            </a:r>
            <a:endParaRPr lang="en-US" sz="1550" dirty="0"/>
          </a:p>
        </p:txBody>
      </p:sp>
      <p:sp>
        <p:nvSpPr>
          <p:cNvPr id="14" name="Shape 12"/>
          <p:cNvSpPr/>
          <p:nvPr/>
        </p:nvSpPr>
        <p:spPr>
          <a:xfrm>
            <a:off x="6519505" y="4398918"/>
            <a:ext cx="595313" cy="22860"/>
          </a:xfrm>
          <a:prstGeom prst="roundRect">
            <a:avLst>
              <a:gd name="adj" fmla="val 130232"/>
            </a:avLst>
          </a:prstGeom>
          <a:solidFill>
            <a:srgbClr val="555553"/>
          </a:solidFill>
          <a:ln/>
        </p:spPr>
        <p:txBody>
          <a:bodyPr/>
          <a:lstStyle/>
          <a:p>
            <a:endParaRPr lang="es-AR"/>
          </a:p>
        </p:txBody>
      </p:sp>
      <p:sp>
        <p:nvSpPr>
          <p:cNvPr id="15" name="Shape 13"/>
          <p:cNvSpPr/>
          <p:nvPr/>
        </p:nvSpPr>
        <p:spPr>
          <a:xfrm>
            <a:off x="7091958" y="4187106"/>
            <a:ext cx="446484" cy="446484"/>
          </a:xfrm>
          <a:prstGeom prst="roundRect">
            <a:avLst>
              <a:gd name="adj" fmla="val 6668"/>
            </a:avLst>
          </a:prstGeom>
          <a:solidFill>
            <a:srgbClr val="3C3C3A"/>
          </a:solidFill>
          <a:ln/>
        </p:spPr>
        <p:txBody>
          <a:bodyPr/>
          <a:lstStyle/>
          <a:p>
            <a:endParaRPr lang="es-AR"/>
          </a:p>
        </p:txBody>
      </p:sp>
      <p:sp>
        <p:nvSpPr>
          <p:cNvPr id="16" name="Text 14"/>
          <p:cNvSpPr/>
          <p:nvPr/>
        </p:nvSpPr>
        <p:spPr>
          <a:xfrm>
            <a:off x="7166372" y="4290813"/>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3</a:t>
            </a:r>
            <a:endParaRPr lang="en-US" sz="2300" dirty="0"/>
          </a:p>
        </p:txBody>
      </p:sp>
      <p:sp>
        <p:nvSpPr>
          <p:cNvPr id="17" name="Text 15"/>
          <p:cNvSpPr/>
          <p:nvPr/>
        </p:nvSpPr>
        <p:spPr>
          <a:xfrm>
            <a:off x="1467207" y="4255328"/>
            <a:ext cx="4855726" cy="310158"/>
          </a:xfrm>
          <a:prstGeom prst="rect">
            <a:avLst/>
          </a:prstGeom>
          <a:noFill/>
          <a:ln/>
        </p:spPr>
        <p:txBody>
          <a:bodyPr wrap="none" lIns="0" tIns="0" rIns="0" bIns="0" rtlCol="0" anchor="t"/>
          <a:lstStyle/>
          <a:p>
            <a:pPr marL="0" indent="0" algn="r">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Contemporary Period (2000s-Present)</a:t>
            </a:r>
            <a:endParaRPr lang="en-US" sz="1950" dirty="0"/>
          </a:p>
        </p:txBody>
      </p:sp>
      <p:sp>
        <p:nvSpPr>
          <p:cNvPr id="18" name="Text 16"/>
          <p:cNvSpPr/>
          <p:nvPr/>
        </p:nvSpPr>
        <p:spPr>
          <a:xfrm>
            <a:off x="793790" y="4684549"/>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C9C9C0"/>
                </a:solidFill>
                <a:latin typeface="Tomorrow" pitchFamily="34" charset="0"/>
                <a:ea typeface="Tomorrow" pitchFamily="34" charset="-122"/>
                <a:cs typeface="Tomorrow" pitchFamily="34" charset="-120"/>
              </a:rPr>
              <a:t>Coups became rare, military obedience more common. However, "no coup" doesn't mean "no problem"—many democracies struggle with unfinished institutional reforms.</a:t>
            </a:r>
            <a:endParaRPr lang="en-US" sz="1550" dirty="0"/>
          </a:p>
        </p:txBody>
      </p:sp>
      <p:sp>
        <p:nvSpPr>
          <p:cNvPr id="19" name="Text 17"/>
          <p:cNvSpPr/>
          <p:nvPr/>
        </p:nvSpPr>
        <p:spPr>
          <a:xfrm>
            <a:off x="793790" y="669345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The central challenge remains: for democracies to consolidate, militaries must evolve from political actors into compliant instruments of elected civilian authority. This transformation requires deliberate reform, political leadership, and sustained public engagement—none of which occur automatically.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205" y="513786"/>
            <a:ext cx="7378660" cy="347901"/>
          </a:xfrm>
          <a:prstGeom prst="rect">
            <a:avLst/>
          </a:prstGeom>
          <a:noFill/>
          <a:ln/>
        </p:spPr>
        <p:txBody>
          <a:bodyPr wrap="none" lIns="0" tIns="0" rIns="0" bIns="0" rtlCol="0" anchor="t"/>
          <a:lstStyle/>
          <a:p>
            <a:pPr marL="0" indent="0" algn="l">
              <a:lnSpc>
                <a:spcPts val="2700"/>
              </a:lnSpc>
              <a:buNone/>
            </a:pPr>
            <a:r>
              <a:rPr lang="en-US" sz="3900" dirty="0">
                <a:solidFill>
                  <a:srgbClr val="EDEDE8"/>
                </a:solidFill>
                <a:latin typeface="Tomorrow Semi Bold" pitchFamily="34" charset="0"/>
                <a:ea typeface="Tomorrow Semi Bold" pitchFamily="34" charset="-122"/>
                <a:cs typeface="Tomorrow Semi Bold" pitchFamily="34" charset="-120"/>
              </a:rPr>
              <a:t>Understanding Democratization and Military Reform</a:t>
            </a:r>
            <a:endParaRPr lang="en-US" sz="3900" dirty="0"/>
          </a:p>
        </p:txBody>
      </p:sp>
      <p:sp>
        <p:nvSpPr>
          <p:cNvPr id="3" name="Text 1"/>
          <p:cNvSpPr/>
          <p:nvPr/>
        </p:nvSpPr>
        <p:spPr>
          <a:xfrm>
            <a:off x="685205" y="1244738"/>
            <a:ext cx="4514493" cy="278368"/>
          </a:xfrm>
          <a:prstGeom prst="rect">
            <a:avLst/>
          </a:prstGeom>
          <a:noFill/>
          <a:ln/>
        </p:spPr>
        <p:txBody>
          <a:bodyPr wrap="none" lIns="0" tIns="0" rIns="0" bIns="0" rtlCol="0" anchor="t"/>
          <a:lstStyle/>
          <a:p>
            <a:pPr marL="0" indent="0" algn="l">
              <a:lnSpc>
                <a:spcPts val="2150"/>
              </a:lnSpc>
              <a:buNone/>
            </a:pPr>
            <a:r>
              <a:rPr lang="en-US" sz="2000" dirty="0">
                <a:solidFill>
                  <a:srgbClr val="EDEDE8"/>
                </a:solidFill>
                <a:latin typeface="Tomorrow Semi Bold" pitchFamily="34" charset="0"/>
                <a:ea typeface="Tomorrow Semi Bold" pitchFamily="34" charset="-122"/>
                <a:cs typeface="Tomorrow Semi Bold" pitchFamily="34" charset="-120"/>
              </a:rPr>
              <a:t>Democracy as Interlocking Subsystems</a:t>
            </a:r>
            <a:endParaRPr lang="en-US" sz="2000" dirty="0"/>
          </a:p>
        </p:txBody>
      </p:sp>
      <p:sp>
        <p:nvSpPr>
          <p:cNvPr id="4" name="Text 2"/>
          <p:cNvSpPr/>
          <p:nvPr/>
        </p:nvSpPr>
        <p:spPr>
          <a:xfrm>
            <a:off x="685206" y="2036878"/>
            <a:ext cx="6247610" cy="417553"/>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Democracy functions as a collection of subsystems—what Philippe Schmitter termed "partial regimes." These include electoral systems, civil liberties, accountability mechanisms, and crucially, civil-military relations. Each subsystem evolves at its own pace, sometimes creating dangerous imbalances.</a:t>
            </a:r>
          </a:p>
        </p:txBody>
      </p:sp>
      <p:sp>
        <p:nvSpPr>
          <p:cNvPr id="5" name="Text 3"/>
          <p:cNvSpPr/>
          <p:nvPr/>
        </p:nvSpPr>
        <p:spPr>
          <a:xfrm>
            <a:off x="685206" y="4403082"/>
            <a:ext cx="6247610" cy="278369"/>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Because militaries hold coercive power, their behavior affects democratic survival and quality more than many other subsystems. A military can stall democratization, reverse it entirely, or provide crucial stability when properly subordinated to civilian authority.</a:t>
            </a:r>
          </a:p>
        </p:txBody>
      </p:sp>
      <p:pic>
        <p:nvPicPr>
          <p:cNvPr id="1028" name="Picture 4">
            <a:extLst>
              <a:ext uri="{FF2B5EF4-FFF2-40B4-BE49-F238E27FC236}">
                <a16:creationId xmlns:a16="http://schemas.microsoft.com/office/drawing/2014/main" id="{CE0666BE-313D-9BEF-75BA-D112D4D69A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04" r="13590"/>
          <a:stretch>
            <a:fillRect/>
          </a:stretch>
        </p:blipFill>
        <p:spPr bwMode="auto">
          <a:xfrm>
            <a:off x="7514705" y="1327339"/>
            <a:ext cx="6975892" cy="6280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4"/>
          <p:cNvSpPr/>
          <p:nvPr/>
        </p:nvSpPr>
        <p:spPr>
          <a:xfrm>
            <a:off x="573881" y="556151"/>
            <a:ext cx="4023717" cy="278368"/>
          </a:xfrm>
          <a:prstGeom prst="rect">
            <a:avLst/>
          </a:prstGeom>
          <a:noFill/>
          <a:ln/>
        </p:spPr>
        <p:txBody>
          <a:bodyPr wrap="none" lIns="0" tIns="0" rIns="0" bIns="0" rtlCol="0" anchor="t"/>
          <a:lstStyle/>
          <a:p>
            <a:pPr marL="0" indent="0" algn="l">
              <a:lnSpc>
                <a:spcPts val="2150"/>
              </a:lnSpc>
              <a:buNone/>
            </a:pPr>
            <a:r>
              <a:rPr lang="en-US" sz="3900" dirty="0">
                <a:solidFill>
                  <a:srgbClr val="EDEDE8"/>
                </a:solidFill>
                <a:latin typeface="Tomorrow Semi Bold" pitchFamily="34" charset="0"/>
                <a:ea typeface="Tomorrow Semi Bold" pitchFamily="34" charset="-122"/>
                <a:cs typeface="Tomorrow Semi Bold" pitchFamily="34" charset="-120"/>
              </a:rPr>
              <a:t>Phases of Democratic Development</a:t>
            </a:r>
            <a:endParaRPr lang="en-US" sz="3900" dirty="0"/>
          </a:p>
        </p:txBody>
      </p:sp>
      <p:pic>
        <p:nvPicPr>
          <p:cNvPr id="8" name="Image 1" descr="preencoded.png"/>
          <p:cNvPicPr>
            <a:picLocks noChangeAspect="1"/>
          </p:cNvPicPr>
          <p:nvPr/>
        </p:nvPicPr>
        <p:blipFill>
          <a:blip r:embed="rId2"/>
          <a:stretch>
            <a:fillRect/>
          </a:stretch>
        </p:blipFill>
        <p:spPr>
          <a:xfrm>
            <a:off x="566396" y="1122057"/>
            <a:ext cx="755340" cy="906376"/>
          </a:xfrm>
          <a:prstGeom prst="rect">
            <a:avLst/>
          </a:prstGeom>
        </p:spPr>
      </p:pic>
      <p:sp>
        <p:nvSpPr>
          <p:cNvPr id="9" name="Text 5"/>
          <p:cNvSpPr/>
          <p:nvPr/>
        </p:nvSpPr>
        <p:spPr>
          <a:xfrm>
            <a:off x="1618918" y="1277334"/>
            <a:ext cx="1402913" cy="173950"/>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Authoritarian Phase</a:t>
            </a:r>
            <a:endParaRPr lang="en-US" sz="2400" dirty="0"/>
          </a:p>
        </p:txBody>
      </p:sp>
      <p:sp>
        <p:nvSpPr>
          <p:cNvPr id="10" name="Text 6"/>
          <p:cNvSpPr/>
          <p:nvPr/>
        </p:nvSpPr>
        <p:spPr>
          <a:xfrm>
            <a:off x="1618918" y="1478243"/>
            <a:ext cx="7280958" cy="242337"/>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Armed forces rule directly through military governments and juntas.</a:t>
            </a:r>
          </a:p>
        </p:txBody>
      </p:sp>
      <p:pic>
        <p:nvPicPr>
          <p:cNvPr id="11" name="Image 2" descr="preencoded.png"/>
          <p:cNvPicPr>
            <a:picLocks noChangeAspect="1"/>
          </p:cNvPicPr>
          <p:nvPr/>
        </p:nvPicPr>
        <p:blipFill>
          <a:blip r:embed="rId3"/>
          <a:stretch>
            <a:fillRect/>
          </a:stretch>
        </p:blipFill>
        <p:spPr>
          <a:xfrm>
            <a:off x="570277" y="2337563"/>
            <a:ext cx="755340" cy="906376"/>
          </a:xfrm>
          <a:prstGeom prst="rect">
            <a:avLst/>
          </a:prstGeom>
        </p:spPr>
      </p:pic>
      <p:sp>
        <p:nvSpPr>
          <p:cNvPr id="12" name="Text 7"/>
          <p:cNvSpPr/>
          <p:nvPr/>
        </p:nvSpPr>
        <p:spPr>
          <a:xfrm>
            <a:off x="1617100" y="2493759"/>
            <a:ext cx="1391960" cy="173950"/>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Transition Phase</a:t>
            </a:r>
            <a:endParaRPr lang="en-US" sz="2400" dirty="0"/>
          </a:p>
        </p:txBody>
      </p:sp>
      <p:sp>
        <p:nvSpPr>
          <p:cNvPr id="13" name="Text 8"/>
          <p:cNvSpPr/>
          <p:nvPr/>
        </p:nvSpPr>
        <p:spPr>
          <a:xfrm>
            <a:off x="1618918" y="2720426"/>
            <a:ext cx="6427802" cy="420177"/>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Shift begins through liberalization, negotiations, or regime collapse. Militaries often shape transition rules.</a:t>
            </a:r>
          </a:p>
        </p:txBody>
      </p:sp>
      <p:pic>
        <p:nvPicPr>
          <p:cNvPr id="14" name="Image 3" descr="preencoded.png"/>
          <p:cNvPicPr>
            <a:picLocks noChangeAspect="1"/>
          </p:cNvPicPr>
          <p:nvPr/>
        </p:nvPicPr>
        <p:blipFill>
          <a:blip r:embed="rId4"/>
          <a:stretch>
            <a:fillRect/>
          </a:stretch>
        </p:blipFill>
        <p:spPr>
          <a:xfrm>
            <a:off x="573880" y="3553069"/>
            <a:ext cx="755340" cy="906376"/>
          </a:xfrm>
          <a:prstGeom prst="rect">
            <a:avLst/>
          </a:prstGeom>
        </p:spPr>
      </p:pic>
      <p:sp>
        <p:nvSpPr>
          <p:cNvPr id="15" name="Text 9"/>
          <p:cNvSpPr/>
          <p:nvPr/>
        </p:nvSpPr>
        <p:spPr>
          <a:xfrm>
            <a:off x="1618918" y="3669349"/>
            <a:ext cx="1443276" cy="173950"/>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Consolidating Phase</a:t>
            </a:r>
            <a:endParaRPr lang="en-US" sz="2400" dirty="0"/>
          </a:p>
        </p:txBody>
      </p:sp>
      <p:sp>
        <p:nvSpPr>
          <p:cNvPr id="16" name="Text 10"/>
          <p:cNvSpPr/>
          <p:nvPr/>
        </p:nvSpPr>
        <p:spPr>
          <a:xfrm>
            <a:off x="1617100" y="3890773"/>
            <a:ext cx="7280958" cy="242337"/>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Elections held, governments gain policy authority—crossing the "first threshold." Military threats persist.</a:t>
            </a:r>
          </a:p>
        </p:txBody>
      </p:sp>
      <p:pic>
        <p:nvPicPr>
          <p:cNvPr id="17" name="Image 4" descr="preencoded.png"/>
          <p:cNvPicPr>
            <a:picLocks noChangeAspect="1"/>
          </p:cNvPicPr>
          <p:nvPr/>
        </p:nvPicPr>
        <p:blipFill>
          <a:blip r:embed="rId5"/>
          <a:stretch>
            <a:fillRect/>
          </a:stretch>
        </p:blipFill>
        <p:spPr>
          <a:xfrm>
            <a:off x="573880" y="4746983"/>
            <a:ext cx="755340" cy="906376"/>
          </a:xfrm>
          <a:prstGeom prst="rect">
            <a:avLst/>
          </a:prstGeom>
        </p:spPr>
      </p:pic>
      <p:sp>
        <p:nvSpPr>
          <p:cNvPr id="18" name="Text 11"/>
          <p:cNvSpPr/>
          <p:nvPr/>
        </p:nvSpPr>
        <p:spPr>
          <a:xfrm>
            <a:off x="1618918" y="4911245"/>
            <a:ext cx="1769269" cy="173950"/>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Consolidated Democracy</a:t>
            </a:r>
            <a:endParaRPr lang="en-US" sz="2400" dirty="0"/>
          </a:p>
        </p:txBody>
      </p:sp>
      <p:sp>
        <p:nvSpPr>
          <p:cNvPr id="19" name="Text 12"/>
          <p:cNvSpPr/>
          <p:nvPr/>
        </p:nvSpPr>
        <p:spPr>
          <a:xfrm>
            <a:off x="1617100" y="5136167"/>
            <a:ext cx="7280958" cy="242337"/>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The "second threshold"—military poses no threat, democratic reversals become unthinkable.</a:t>
            </a:r>
          </a:p>
        </p:txBody>
      </p:sp>
      <p:sp>
        <p:nvSpPr>
          <p:cNvPr id="20" name="Shape 13"/>
          <p:cNvSpPr/>
          <p:nvPr/>
        </p:nvSpPr>
        <p:spPr>
          <a:xfrm>
            <a:off x="573882" y="6439194"/>
            <a:ext cx="11503100" cy="1234255"/>
          </a:xfrm>
          <a:prstGeom prst="roundRect">
            <a:avLst>
              <a:gd name="adj" fmla="val 3532"/>
            </a:avLst>
          </a:prstGeom>
          <a:solidFill>
            <a:srgbClr val="272725"/>
          </a:solidFill>
          <a:ln/>
        </p:spPr>
        <p:txBody>
          <a:bodyPr/>
          <a:lstStyle/>
          <a:p>
            <a:endParaRPr lang="es-AR" sz="3200"/>
          </a:p>
        </p:txBody>
      </p:sp>
      <p:pic>
        <p:nvPicPr>
          <p:cNvPr id="21" name="Image 5" descr="preencoded.png"/>
          <p:cNvPicPr>
            <a:picLocks noChangeAspect="1"/>
          </p:cNvPicPr>
          <p:nvPr/>
        </p:nvPicPr>
        <p:blipFill>
          <a:blip r:embed="rId6"/>
          <a:stretch>
            <a:fillRect/>
          </a:stretch>
        </p:blipFill>
        <p:spPr>
          <a:xfrm>
            <a:off x="685203" y="6454434"/>
            <a:ext cx="657667" cy="526019"/>
          </a:xfrm>
          <a:prstGeom prst="rect">
            <a:avLst/>
          </a:prstGeom>
        </p:spPr>
      </p:pic>
      <p:sp>
        <p:nvSpPr>
          <p:cNvPr id="22" name="Text 14"/>
          <p:cNvSpPr/>
          <p:nvPr/>
        </p:nvSpPr>
        <p:spPr>
          <a:xfrm>
            <a:off x="1480894" y="6542184"/>
            <a:ext cx="10381080" cy="1059179"/>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The Three L's of Democratic Consolidation: Loyalty (no actor seeks authoritarian restoration), Legitimacy (public accepts democracy as only legitimate governance), and Legality (conflicts resolved through democratic institutions).</a:t>
            </a:r>
          </a:p>
        </p:txBody>
      </p:sp>
      <p:pic>
        <p:nvPicPr>
          <p:cNvPr id="3074" name="Picture 2" descr="Alzamientos carapintadas">
            <a:extLst>
              <a:ext uri="{FF2B5EF4-FFF2-40B4-BE49-F238E27FC236}">
                <a16:creationId xmlns:a16="http://schemas.microsoft.com/office/drawing/2014/main" id="{D59C8640-D8E4-7089-EF57-B4D4DC40EE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39334" y="1549357"/>
            <a:ext cx="6074688" cy="4064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815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93288"/>
            <a:ext cx="13029605" cy="527090"/>
          </a:xfrm>
          <a:prstGeom prst="rect">
            <a:avLst/>
          </a:prstGeom>
          <a:noFill/>
          <a:ln/>
        </p:spPr>
        <p:txBody>
          <a:bodyPr wrap="none" lIns="0" tIns="0" rIns="0" bIns="0" rtlCol="0" anchor="t"/>
          <a:lstStyle/>
          <a:p>
            <a:pPr marL="0" indent="0" algn="l">
              <a:lnSpc>
                <a:spcPts val="4150"/>
              </a:lnSpc>
              <a:buNone/>
            </a:pPr>
            <a:r>
              <a:rPr lang="en-US" sz="3900" dirty="0">
                <a:solidFill>
                  <a:srgbClr val="EDEDE8"/>
                </a:solidFill>
                <a:latin typeface="Tomorrow Semi Bold" pitchFamily="34" charset="0"/>
                <a:ea typeface="Tomorrow Semi Bold" pitchFamily="34" charset="-122"/>
                <a:cs typeface="Tomorrow Semi Bold" pitchFamily="34" charset="-120"/>
              </a:rPr>
              <a:t>The Triangular Relationship: Soldiers, Politicians, and Society</a:t>
            </a:r>
            <a:endParaRPr lang="en-US" sz="3900" dirty="0"/>
          </a:p>
        </p:txBody>
      </p:sp>
      <p:sp>
        <p:nvSpPr>
          <p:cNvPr id="3" name="Text 1"/>
          <p:cNvSpPr/>
          <p:nvPr/>
        </p:nvSpPr>
        <p:spPr>
          <a:xfrm>
            <a:off x="793790" y="1457682"/>
            <a:ext cx="13042821" cy="539829"/>
          </a:xfrm>
          <a:prstGeom prst="rect">
            <a:avLst/>
          </a:prstGeom>
          <a:noFill/>
          <a:ln/>
        </p:spPr>
        <p:txBody>
          <a:bodyPr wrap="square" lIns="0" tIns="0" rIns="0" bIns="0" rtlCol="0" anchor="t"/>
          <a:lstStyle/>
          <a:p>
            <a:pPr marL="0" indent="0" algn="l">
              <a:lnSpc>
                <a:spcPts val="2100"/>
              </a:lnSpc>
              <a:buNone/>
            </a:pPr>
            <a:r>
              <a:rPr lang="en-US" sz="1550" dirty="0">
                <a:solidFill>
                  <a:srgbClr val="C9C9C0"/>
                </a:solidFill>
                <a:latin typeface="Tomorrow" pitchFamily="34" charset="0"/>
                <a:ea typeface="Tomorrow" pitchFamily="34" charset="-122"/>
                <a:cs typeface="Tomorrow" pitchFamily="34" charset="-120"/>
              </a:rPr>
              <a:t>Traditional analyses focused narrowly on politician-military interactions, but this misses the complete picture. Civil-military relations should be understood as a triangle connecting three crucial actors:</a:t>
            </a:r>
            <a:endParaRPr lang="en-US" sz="1550" dirty="0"/>
          </a:p>
        </p:txBody>
      </p:sp>
      <p:sp>
        <p:nvSpPr>
          <p:cNvPr id="4" name="Text 2"/>
          <p:cNvSpPr/>
          <p:nvPr/>
        </p:nvSpPr>
        <p:spPr>
          <a:xfrm>
            <a:off x="2929057" y="3405188"/>
            <a:ext cx="2108716" cy="263485"/>
          </a:xfrm>
          <a:prstGeom prst="rect">
            <a:avLst/>
          </a:prstGeom>
          <a:noFill/>
          <a:ln/>
        </p:spPr>
        <p:txBody>
          <a:bodyPr wrap="none" lIns="0" tIns="0" rIns="0" bIns="0" rtlCol="0" anchor="t"/>
          <a:lstStyle/>
          <a:p>
            <a:pPr marL="0" indent="0" algn="r">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Soldiers</a:t>
            </a:r>
            <a:endParaRPr lang="en-US" sz="1650" dirty="0"/>
          </a:p>
        </p:txBody>
      </p:sp>
      <p:sp>
        <p:nvSpPr>
          <p:cNvPr id="5" name="Text 3"/>
          <p:cNvSpPr/>
          <p:nvPr/>
        </p:nvSpPr>
        <p:spPr>
          <a:xfrm>
            <a:off x="793790" y="3769876"/>
            <a:ext cx="4243983" cy="1079659"/>
          </a:xfrm>
          <a:prstGeom prst="rect">
            <a:avLst/>
          </a:prstGeom>
          <a:noFill/>
          <a:ln/>
        </p:spPr>
        <p:txBody>
          <a:bodyPr wrap="square" lIns="0" tIns="0" rIns="0" bIns="0" rtlCol="0" anchor="t"/>
          <a:lstStyle/>
          <a:p>
            <a:pPr marL="0" indent="0" algn="r">
              <a:lnSpc>
                <a:spcPts val="2100"/>
              </a:lnSpc>
              <a:buNone/>
            </a:pPr>
            <a:r>
              <a:rPr lang="en-US" sz="1550" dirty="0">
                <a:solidFill>
                  <a:srgbClr val="C9C9C0"/>
                </a:solidFill>
                <a:latin typeface="Tomorrow" pitchFamily="34" charset="0"/>
                <a:ea typeface="Tomorrow" pitchFamily="34" charset="-122"/>
                <a:cs typeface="Tomorrow" pitchFamily="34" charset="-120"/>
              </a:rPr>
              <a:t>The military institution with its corporate interests, hierarchical structure, and professional concerns. Officers seek autonomy, resources, and respect for their mission.</a:t>
            </a:r>
            <a:endParaRPr lang="en-US" sz="1550" dirty="0"/>
          </a:p>
        </p:txBody>
      </p:sp>
      <p:pic>
        <p:nvPicPr>
          <p:cNvPr id="6" name="Image 0" descr="preencoded.png"/>
          <p:cNvPicPr>
            <a:picLocks noChangeAspect="1"/>
          </p:cNvPicPr>
          <p:nvPr/>
        </p:nvPicPr>
        <p:blipFill>
          <a:blip r:embed="rId3"/>
          <a:stretch>
            <a:fillRect/>
          </a:stretch>
        </p:blipFill>
        <p:spPr>
          <a:xfrm>
            <a:off x="5375077" y="2187297"/>
            <a:ext cx="3880128" cy="3880128"/>
          </a:xfrm>
          <a:prstGeom prst="rect">
            <a:avLst/>
          </a:prstGeom>
        </p:spPr>
      </p:pic>
      <p:pic>
        <p:nvPicPr>
          <p:cNvPr id="7" name="Image 1" descr="preencoded.png"/>
          <p:cNvPicPr>
            <a:picLocks noChangeAspect="1"/>
          </p:cNvPicPr>
          <p:nvPr/>
        </p:nvPicPr>
        <p:blipFill>
          <a:blip r:embed="rId4"/>
          <a:stretch>
            <a:fillRect/>
          </a:stretch>
        </p:blipFill>
        <p:spPr>
          <a:xfrm>
            <a:off x="5830848" y="3969544"/>
            <a:ext cx="252413" cy="315516"/>
          </a:xfrm>
          <a:prstGeom prst="rect">
            <a:avLst/>
          </a:prstGeom>
        </p:spPr>
      </p:pic>
      <p:sp>
        <p:nvSpPr>
          <p:cNvPr id="8" name="Text 4"/>
          <p:cNvSpPr/>
          <p:nvPr/>
        </p:nvSpPr>
        <p:spPr>
          <a:xfrm>
            <a:off x="9508212" y="2506861"/>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Politicians</a:t>
            </a:r>
            <a:endParaRPr lang="en-US" sz="1650" dirty="0"/>
          </a:p>
        </p:txBody>
      </p:sp>
      <p:sp>
        <p:nvSpPr>
          <p:cNvPr id="9" name="Text 5"/>
          <p:cNvSpPr/>
          <p:nvPr/>
        </p:nvSpPr>
        <p:spPr>
          <a:xfrm>
            <a:off x="9508212" y="2871549"/>
            <a:ext cx="4328398" cy="809744"/>
          </a:xfrm>
          <a:prstGeom prst="rect">
            <a:avLst/>
          </a:prstGeom>
          <a:noFill/>
          <a:ln/>
        </p:spPr>
        <p:txBody>
          <a:bodyPr wrap="square" lIns="0" tIns="0" rIns="0" bIns="0" rtlCol="0" anchor="t"/>
          <a:lstStyle/>
          <a:p>
            <a:pPr marL="0" indent="0" algn="l">
              <a:lnSpc>
                <a:spcPts val="2100"/>
              </a:lnSpc>
              <a:buNone/>
            </a:pPr>
            <a:r>
              <a:rPr lang="en-US" sz="1550" dirty="0">
                <a:solidFill>
                  <a:srgbClr val="C9C9C0"/>
                </a:solidFill>
                <a:latin typeface="Tomorrow" pitchFamily="34" charset="0"/>
                <a:ea typeface="Tomorrow" pitchFamily="34" charset="-122"/>
                <a:cs typeface="Tomorrow" pitchFamily="34" charset="-120"/>
              </a:rPr>
              <a:t>Elected officials and policymakers who must balance competing priorities while asserting civilian control over defense matters.</a:t>
            </a:r>
            <a:endParaRPr lang="en-US" sz="1550" dirty="0"/>
          </a:p>
        </p:txBody>
      </p:sp>
      <p:pic>
        <p:nvPicPr>
          <p:cNvPr id="10" name="Image 2" descr="preencoded.png"/>
          <p:cNvPicPr>
            <a:picLocks noChangeAspect="1"/>
          </p:cNvPicPr>
          <p:nvPr/>
        </p:nvPicPr>
        <p:blipFill>
          <a:blip r:embed="rId5"/>
          <a:stretch>
            <a:fillRect/>
          </a:stretch>
        </p:blipFill>
        <p:spPr>
          <a:xfrm>
            <a:off x="5375077" y="2187297"/>
            <a:ext cx="3880128" cy="3880128"/>
          </a:xfrm>
          <a:prstGeom prst="rect">
            <a:avLst/>
          </a:prstGeom>
        </p:spPr>
      </p:pic>
      <p:pic>
        <p:nvPicPr>
          <p:cNvPr id="11" name="Image 3" descr="preencoded.png"/>
          <p:cNvPicPr>
            <a:picLocks noChangeAspect="1"/>
          </p:cNvPicPr>
          <p:nvPr/>
        </p:nvPicPr>
        <p:blipFill>
          <a:blip r:embed="rId6"/>
          <a:stretch>
            <a:fillRect/>
          </a:stretch>
        </p:blipFill>
        <p:spPr>
          <a:xfrm>
            <a:off x="7867888" y="2793444"/>
            <a:ext cx="252413" cy="315516"/>
          </a:xfrm>
          <a:prstGeom prst="rect">
            <a:avLst/>
          </a:prstGeom>
        </p:spPr>
      </p:pic>
      <p:sp>
        <p:nvSpPr>
          <p:cNvPr id="12" name="Text 6"/>
          <p:cNvSpPr/>
          <p:nvPr/>
        </p:nvSpPr>
        <p:spPr>
          <a:xfrm>
            <a:off x="9508212" y="4573429"/>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Society</a:t>
            </a:r>
            <a:endParaRPr lang="en-US" sz="1650" dirty="0"/>
          </a:p>
        </p:txBody>
      </p:sp>
      <p:sp>
        <p:nvSpPr>
          <p:cNvPr id="13" name="Text 7"/>
          <p:cNvSpPr/>
          <p:nvPr/>
        </p:nvSpPr>
        <p:spPr>
          <a:xfrm>
            <a:off x="9508212" y="4938117"/>
            <a:ext cx="4328398" cy="809744"/>
          </a:xfrm>
          <a:prstGeom prst="rect">
            <a:avLst/>
          </a:prstGeom>
          <a:noFill/>
          <a:ln/>
        </p:spPr>
        <p:txBody>
          <a:bodyPr wrap="square" lIns="0" tIns="0" rIns="0" bIns="0" rtlCol="0" anchor="t"/>
          <a:lstStyle/>
          <a:p>
            <a:pPr marL="0" indent="0" algn="l">
              <a:lnSpc>
                <a:spcPts val="2100"/>
              </a:lnSpc>
              <a:buNone/>
            </a:pPr>
            <a:r>
              <a:rPr lang="en-US" sz="1550" dirty="0">
                <a:solidFill>
                  <a:srgbClr val="C9C9C0"/>
                </a:solidFill>
                <a:latin typeface="Tomorrow" pitchFamily="34" charset="0"/>
                <a:ea typeface="Tomorrow" pitchFamily="34" charset="-122"/>
                <a:cs typeface="Tomorrow" pitchFamily="34" charset="-120"/>
              </a:rPr>
              <a:t>Citizens, civil organizations, and public opinion that shape democratic expectations and accountability mechanisms.</a:t>
            </a:r>
            <a:endParaRPr lang="en-US" sz="1550" dirty="0"/>
          </a:p>
        </p:txBody>
      </p:sp>
      <p:pic>
        <p:nvPicPr>
          <p:cNvPr id="14" name="Image 4" descr="preencoded.png"/>
          <p:cNvPicPr>
            <a:picLocks noChangeAspect="1"/>
          </p:cNvPicPr>
          <p:nvPr/>
        </p:nvPicPr>
        <p:blipFill>
          <a:blip r:embed="rId7"/>
          <a:stretch>
            <a:fillRect/>
          </a:stretch>
        </p:blipFill>
        <p:spPr>
          <a:xfrm>
            <a:off x="5375077" y="2187297"/>
            <a:ext cx="3880128" cy="3880128"/>
          </a:xfrm>
          <a:prstGeom prst="rect">
            <a:avLst/>
          </a:prstGeom>
        </p:spPr>
      </p:pic>
      <p:pic>
        <p:nvPicPr>
          <p:cNvPr id="15" name="Image 5" descr="preencoded.png"/>
          <p:cNvPicPr>
            <a:picLocks noChangeAspect="1"/>
          </p:cNvPicPr>
          <p:nvPr/>
        </p:nvPicPr>
        <p:blipFill>
          <a:blip r:embed="rId8"/>
          <a:stretch>
            <a:fillRect/>
          </a:stretch>
        </p:blipFill>
        <p:spPr>
          <a:xfrm>
            <a:off x="7867888" y="5145643"/>
            <a:ext cx="252413" cy="315516"/>
          </a:xfrm>
          <a:prstGeom prst="rect">
            <a:avLst/>
          </a:prstGeom>
        </p:spPr>
      </p:pic>
      <p:sp>
        <p:nvSpPr>
          <p:cNvPr id="16" name="Text 8"/>
          <p:cNvSpPr/>
          <p:nvPr/>
        </p:nvSpPr>
        <p:spPr>
          <a:xfrm>
            <a:off x="793790" y="6257211"/>
            <a:ext cx="13042821" cy="539829"/>
          </a:xfrm>
          <a:prstGeom prst="rect">
            <a:avLst/>
          </a:prstGeom>
          <a:noFill/>
          <a:ln/>
        </p:spPr>
        <p:txBody>
          <a:bodyPr wrap="square" lIns="0" tIns="0" rIns="0" bIns="0" rtlCol="0" anchor="t"/>
          <a:lstStyle/>
          <a:p>
            <a:pPr marL="0" indent="0" algn="l">
              <a:lnSpc>
                <a:spcPts val="2100"/>
              </a:lnSpc>
              <a:buNone/>
            </a:pPr>
            <a:r>
              <a:rPr lang="en-US" sz="1550" dirty="0">
                <a:solidFill>
                  <a:srgbClr val="C9C9C0"/>
                </a:solidFill>
                <a:latin typeface="Tomorrow" pitchFamily="34" charset="0"/>
                <a:ea typeface="Tomorrow" pitchFamily="34" charset="-122"/>
                <a:cs typeface="Tomorrow" pitchFamily="34" charset="-120"/>
              </a:rPr>
              <a:t>Healthy democracy requires alignment among all three vertices. Discord—when politicians neglect defense, militaries resist subordination, or societies remain apathetic—produces dangerous instability. As sociologist Morris Janowitz argued, armies often mirror their societies' values and tolerances.</a:t>
            </a:r>
            <a:endParaRPr lang="en-US" sz="1550" dirty="0"/>
          </a:p>
        </p:txBody>
      </p:sp>
      <p:sp>
        <p:nvSpPr>
          <p:cNvPr id="17" name="Text 9"/>
          <p:cNvSpPr/>
          <p:nvPr/>
        </p:nvSpPr>
        <p:spPr>
          <a:xfrm>
            <a:off x="1046798" y="7326236"/>
            <a:ext cx="10079787" cy="310076"/>
          </a:xfrm>
          <a:prstGeom prst="rect">
            <a:avLst/>
          </a:prstGeom>
          <a:noFill/>
          <a:ln/>
        </p:spPr>
        <p:txBody>
          <a:bodyPr wrap="non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"Public indifference—the 'no coup, no problem' mentality—undermines crucial incentives for meaningful civil-military reform."</a:t>
            </a:r>
            <a:endParaRPr lang="en-US" sz="1300" dirty="0"/>
          </a:p>
        </p:txBody>
      </p:sp>
      <p:sp>
        <p:nvSpPr>
          <p:cNvPr id="18" name="Shape 10"/>
          <p:cNvSpPr/>
          <p:nvPr/>
        </p:nvSpPr>
        <p:spPr>
          <a:xfrm>
            <a:off x="793790" y="7153076"/>
            <a:ext cx="22860" cy="649486"/>
          </a:xfrm>
          <a:prstGeom prst="rect">
            <a:avLst/>
          </a:prstGeom>
          <a:solidFill>
            <a:srgbClr val="E1E1DF"/>
          </a:solidFill>
          <a:ln/>
        </p:spPr>
        <p:txBody>
          <a:bodyPr/>
          <a:lstStyle/>
          <a:p>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02669" y="542822"/>
            <a:ext cx="5916454" cy="267414"/>
          </a:xfrm>
          <a:prstGeom prst="rect">
            <a:avLst/>
          </a:prstGeom>
          <a:noFill/>
          <a:ln/>
        </p:spPr>
        <p:txBody>
          <a:bodyPr wrap="none" lIns="0" tIns="0" rIns="0" bIns="0" rtlCol="0" anchor="t"/>
          <a:lstStyle/>
          <a:p>
            <a:pPr marL="0" indent="0" algn="l">
              <a:lnSpc>
                <a:spcPts val="2100"/>
              </a:lnSpc>
              <a:buNone/>
            </a:pPr>
            <a:r>
              <a:rPr lang="en-US" sz="3900" dirty="0">
                <a:solidFill>
                  <a:srgbClr val="EDEDE8"/>
                </a:solidFill>
                <a:latin typeface="Tomorrow Semi Bold" pitchFamily="34" charset="0"/>
                <a:ea typeface="Tomorrow Semi Bold" pitchFamily="34" charset="-122"/>
                <a:cs typeface="Tomorrow Semi Bold" pitchFamily="34" charset="-120"/>
              </a:rPr>
              <a:t>Civil-Military Relations in the Southern Cone and Brazil</a:t>
            </a:r>
            <a:endParaRPr lang="en-US" sz="3900" dirty="0"/>
          </a:p>
        </p:txBody>
      </p:sp>
      <p:sp>
        <p:nvSpPr>
          <p:cNvPr id="3" name="Text 1"/>
          <p:cNvSpPr/>
          <p:nvPr/>
        </p:nvSpPr>
        <p:spPr>
          <a:xfrm>
            <a:off x="402670" y="1130959"/>
            <a:ext cx="13739574" cy="273844"/>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The Southern Cone (Argentina, Chile, Uruguay, Brazil) provides exceptional insight into civil-military dynamics due to shared historical experiences and unique regional characteristics that shaped their democratic transitions.</a:t>
            </a:r>
          </a:p>
        </p:txBody>
      </p:sp>
      <p:sp>
        <p:nvSpPr>
          <p:cNvPr id="4" name="Shape 2"/>
          <p:cNvSpPr/>
          <p:nvPr/>
        </p:nvSpPr>
        <p:spPr>
          <a:xfrm>
            <a:off x="402669" y="2025026"/>
            <a:ext cx="4551283" cy="2195898"/>
          </a:xfrm>
          <a:prstGeom prst="roundRect">
            <a:avLst>
              <a:gd name="adj" fmla="val 1674"/>
            </a:avLst>
          </a:prstGeom>
          <a:solidFill>
            <a:srgbClr val="3C3C3A"/>
          </a:solidFill>
          <a:ln/>
        </p:spPr>
        <p:txBody>
          <a:bodyPr/>
          <a:lstStyle/>
          <a:p>
            <a:endParaRPr lang="es-AR"/>
          </a:p>
        </p:txBody>
      </p:sp>
      <p:sp>
        <p:nvSpPr>
          <p:cNvPr id="5" name="Text 3"/>
          <p:cNvSpPr/>
          <p:nvPr/>
        </p:nvSpPr>
        <p:spPr>
          <a:xfrm>
            <a:off x="571281" y="2243512"/>
            <a:ext cx="1660565" cy="133588"/>
          </a:xfrm>
          <a:prstGeom prst="rect">
            <a:avLst/>
          </a:prstGeom>
          <a:noFill/>
          <a:ln/>
        </p:spPr>
        <p:txBody>
          <a:bodyPr wrap="none" lIns="0" tIns="0" rIns="0" bIns="0" rtlCol="0" anchor="t"/>
          <a:lstStyle/>
          <a:p>
            <a:pPr marL="0" indent="0" algn="l">
              <a:lnSpc>
                <a:spcPts val="1050"/>
              </a:lnSpc>
              <a:buNone/>
            </a:pPr>
            <a:r>
              <a:rPr lang="en-US" sz="2000" dirty="0">
                <a:solidFill>
                  <a:srgbClr val="C9C9C0"/>
                </a:solidFill>
                <a:latin typeface="Tomorrow Semi Bold" pitchFamily="34" charset="0"/>
                <a:ea typeface="Tomorrow Semi Bold" pitchFamily="34" charset="-122"/>
                <a:cs typeface="Tomorrow Semi Bold" pitchFamily="34" charset="-120"/>
              </a:rPr>
              <a:t>Common Authoritarian Legacy</a:t>
            </a:r>
            <a:endParaRPr lang="en-US" sz="2000" dirty="0"/>
          </a:p>
        </p:txBody>
      </p:sp>
      <p:sp>
        <p:nvSpPr>
          <p:cNvPr id="6" name="Text 4"/>
          <p:cNvSpPr/>
          <p:nvPr/>
        </p:nvSpPr>
        <p:spPr>
          <a:xfrm>
            <a:off x="488156" y="2544797"/>
            <a:ext cx="4380309" cy="1495183"/>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All endured prolonged direct military rule where officers held ultimate political authority. Unlike Spain's transition, Latin American militaries expected to negotiate their exit terms and preserve institutional interests.</a:t>
            </a:r>
          </a:p>
        </p:txBody>
      </p:sp>
      <p:sp>
        <p:nvSpPr>
          <p:cNvPr id="7" name="Shape 5"/>
          <p:cNvSpPr/>
          <p:nvPr/>
        </p:nvSpPr>
        <p:spPr>
          <a:xfrm>
            <a:off x="5039439" y="2025026"/>
            <a:ext cx="4551402" cy="2195898"/>
          </a:xfrm>
          <a:prstGeom prst="roundRect">
            <a:avLst>
              <a:gd name="adj" fmla="val 1674"/>
            </a:avLst>
          </a:prstGeom>
          <a:solidFill>
            <a:srgbClr val="3C3C3A"/>
          </a:solidFill>
          <a:ln/>
        </p:spPr>
        <p:txBody>
          <a:bodyPr/>
          <a:lstStyle/>
          <a:p>
            <a:endParaRPr lang="es-AR"/>
          </a:p>
        </p:txBody>
      </p:sp>
      <p:sp>
        <p:nvSpPr>
          <p:cNvPr id="8" name="Text 6"/>
          <p:cNvSpPr/>
          <p:nvPr/>
        </p:nvSpPr>
        <p:spPr>
          <a:xfrm>
            <a:off x="5208051" y="2243512"/>
            <a:ext cx="1251466" cy="133588"/>
          </a:xfrm>
          <a:prstGeom prst="rect">
            <a:avLst/>
          </a:prstGeom>
          <a:noFill/>
          <a:ln/>
        </p:spPr>
        <p:txBody>
          <a:bodyPr wrap="none" lIns="0" tIns="0" rIns="0" bIns="0" rtlCol="0" anchor="t"/>
          <a:lstStyle/>
          <a:p>
            <a:pPr marL="0" indent="0" algn="l">
              <a:lnSpc>
                <a:spcPts val="1050"/>
              </a:lnSpc>
              <a:buNone/>
            </a:pPr>
            <a:r>
              <a:rPr lang="en-US" sz="2000" dirty="0">
                <a:solidFill>
                  <a:srgbClr val="C9C9C0"/>
                </a:solidFill>
                <a:latin typeface="Tomorrow Semi Bold" pitchFamily="34" charset="0"/>
                <a:ea typeface="Tomorrow Semi Bold" pitchFamily="34" charset="-122"/>
                <a:cs typeface="Tomorrow Semi Bold" pitchFamily="34" charset="-120"/>
              </a:rPr>
              <a:t>Systematic Repression</a:t>
            </a:r>
            <a:endParaRPr lang="en-US" sz="2000" dirty="0"/>
          </a:p>
        </p:txBody>
      </p:sp>
      <p:sp>
        <p:nvSpPr>
          <p:cNvPr id="9" name="Text 7"/>
          <p:cNvSpPr/>
          <p:nvPr/>
        </p:nvSpPr>
        <p:spPr>
          <a:xfrm>
            <a:off x="5124926" y="2544796"/>
            <a:ext cx="4380428" cy="1329297"/>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Their regimes employed state terror—torture, disappearances, and mass violations—leaving deep societal scars and creating powerful moral demands for accountability and justice.</a:t>
            </a:r>
          </a:p>
        </p:txBody>
      </p:sp>
      <p:sp>
        <p:nvSpPr>
          <p:cNvPr id="10" name="Shape 8"/>
          <p:cNvSpPr/>
          <p:nvPr/>
        </p:nvSpPr>
        <p:spPr>
          <a:xfrm>
            <a:off x="9676328" y="2025026"/>
            <a:ext cx="4551402" cy="2195898"/>
          </a:xfrm>
          <a:prstGeom prst="roundRect">
            <a:avLst>
              <a:gd name="adj" fmla="val 1674"/>
            </a:avLst>
          </a:prstGeom>
          <a:solidFill>
            <a:srgbClr val="3C3C3A"/>
          </a:solidFill>
          <a:ln/>
        </p:spPr>
        <p:txBody>
          <a:bodyPr/>
          <a:lstStyle/>
          <a:p>
            <a:endParaRPr lang="es-AR"/>
          </a:p>
        </p:txBody>
      </p:sp>
      <p:sp>
        <p:nvSpPr>
          <p:cNvPr id="11" name="Text 9"/>
          <p:cNvSpPr/>
          <p:nvPr/>
        </p:nvSpPr>
        <p:spPr>
          <a:xfrm>
            <a:off x="9844940" y="2243512"/>
            <a:ext cx="1178004" cy="133588"/>
          </a:xfrm>
          <a:prstGeom prst="rect">
            <a:avLst/>
          </a:prstGeom>
          <a:noFill/>
          <a:ln/>
        </p:spPr>
        <p:txBody>
          <a:bodyPr wrap="none" lIns="0" tIns="0" rIns="0" bIns="0" rtlCol="0" anchor="t"/>
          <a:lstStyle/>
          <a:p>
            <a:pPr marL="0" indent="0" algn="l">
              <a:lnSpc>
                <a:spcPts val="1050"/>
              </a:lnSpc>
              <a:buNone/>
            </a:pPr>
            <a:r>
              <a:rPr lang="en-US" sz="2000" dirty="0">
                <a:solidFill>
                  <a:srgbClr val="C9C9C0"/>
                </a:solidFill>
                <a:latin typeface="Tomorrow Semi Bold" pitchFamily="34" charset="0"/>
                <a:ea typeface="Tomorrow Semi Bold" pitchFamily="34" charset="-122"/>
                <a:cs typeface="Tomorrow Semi Bold" pitchFamily="34" charset="-120"/>
              </a:rPr>
              <a:t>Economic Integration</a:t>
            </a:r>
            <a:endParaRPr lang="en-US" sz="2000" dirty="0"/>
          </a:p>
        </p:txBody>
      </p:sp>
      <p:sp>
        <p:nvSpPr>
          <p:cNvPr id="12" name="Text 10"/>
          <p:cNvSpPr/>
          <p:nvPr/>
        </p:nvSpPr>
        <p:spPr>
          <a:xfrm>
            <a:off x="9761815" y="2544796"/>
            <a:ext cx="4380428" cy="1329297"/>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Better-off economically than most of Latin America, with substantial middle classes. MERCOSUR integration in the 1990s fostered cooperation and transformed historic rivalries.</a:t>
            </a:r>
          </a:p>
        </p:txBody>
      </p:sp>
      <p:sp>
        <p:nvSpPr>
          <p:cNvPr id="13" name="Text 11"/>
          <p:cNvSpPr/>
          <p:nvPr/>
        </p:nvSpPr>
        <p:spPr>
          <a:xfrm>
            <a:off x="425303" y="4640320"/>
            <a:ext cx="4277678" cy="213836"/>
          </a:xfrm>
          <a:prstGeom prst="rect">
            <a:avLst/>
          </a:prstGeom>
          <a:noFill/>
          <a:ln/>
        </p:spPr>
        <p:txBody>
          <a:bodyPr wrap="none" lIns="0" tIns="0" rIns="0" bIns="0" rtlCol="0" anchor="t"/>
          <a:lstStyle/>
          <a:p>
            <a:pPr marL="0" indent="0" algn="l">
              <a:lnSpc>
                <a:spcPts val="1650"/>
              </a:lnSpc>
              <a:buNone/>
            </a:pPr>
            <a:r>
              <a:rPr lang="en-US" sz="2000" dirty="0">
                <a:solidFill>
                  <a:srgbClr val="EDEDE8"/>
                </a:solidFill>
                <a:latin typeface="Tomorrow Semi Bold" pitchFamily="34" charset="0"/>
                <a:ea typeface="Tomorrow Semi Bold" pitchFamily="34" charset="-122"/>
                <a:cs typeface="Tomorrow Semi Bold" pitchFamily="34" charset="-120"/>
              </a:rPr>
              <a:t>The Peace Dividend and Military Role Redefinition</a:t>
            </a:r>
            <a:endParaRPr lang="en-US" sz="2000" dirty="0"/>
          </a:p>
        </p:txBody>
      </p:sp>
      <p:sp>
        <p:nvSpPr>
          <p:cNvPr id="14" name="Text 12"/>
          <p:cNvSpPr/>
          <p:nvPr/>
        </p:nvSpPr>
        <p:spPr>
          <a:xfrm>
            <a:off x="425303" y="5134233"/>
            <a:ext cx="6590639" cy="273844"/>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Diplomatic rapprochement eliminated existential threats between these historically rival states. Argentina-Brazil-Chile cooperation replaced centuries of competition and arms races.</a:t>
            </a:r>
          </a:p>
        </p:txBody>
      </p:sp>
      <p:sp>
        <p:nvSpPr>
          <p:cNvPr id="15" name="Text 13"/>
          <p:cNvSpPr/>
          <p:nvPr/>
        </p:nvSpPr>
        <p:spPr>
          <a:xfrm>
            <a:off x="402670" y="6214062"/>
            <a:ext cx="6808232" cy="425350"/>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This created a fundamental dilemma: with no external enemies, what legitimate roles should armed forces play in democracies at peace?</a:t>
            </a:r>
          </a:p>
        </p:txBody>
      </p:sp>
      <p:sp>
        <p:nvSpPr>
          <p:cNvPr id="17" name="Text 14"/>
          <p:cNvSpPr/>
          <p:nvPr/>
        </p:nvSpPr>
        <p:spPr>
          <a:xfrm>
            <a:off x="402669" y="7024320"/>
            <a:ext cx="6808233" cy="194873"/>
          </a:xfrm>
          <a:prstGeom prst="rect">
            <a:avLst/>
          </a:prstGeom>
          <a:noFill/>
          <a:ln/>
        </p:spPr>
        <p:txBody>
          <a:bodyPr wrap="square" lIns="0" tIns="0" rIns="0" bIns="0" rtlCol="0" anchor="t"/>
          <a:lstStyle/>
          <a:p>
            <a:pPr>
              <a:lnSpc>
                <a:spcPts val="2100"/>
              </a:lnSpc>
            </a:pPr>
            <a:r>
              <a:rPr lang="en-US" sz="1550" dirty="0">
                <a:solidFill>
                  <a:srgbClr val="C9C9C0"/>
                </a:solidFill>
                <a:latin typeface="Tomorrow" pitchFamily="34" charset="0"/>
              </a:rPr>
              <a:t>The challenge became preventing military reversion to internal security roles that historically justified domestic repression and political intervention.</a:t>
            </a:r>
          </a:p>
        </p:txBody>
      </p:sp>
      <p:pic>
        <p:nvPicPr>
          <p:cNvPr id="4098" name="Picture 2" descr="Tomada militarmente la famosa favela de Mangueira en Río de Janeiro |  Internacional | EL PAÍS">
            <a:extLst>
              <a:ext uri="{FF2B5EF4-FFF2-40B4-BE49-F238E27FC236}">
                <a16:creationId xmlns:a16="http://schemas.microsoft.com/office/drawing/2014/main" id="{D52A3BFC-E744-B274-F7AB-EA96ED0B5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2893" y="4353979"/>
            <a:ext cx="5560102" cy="37201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506731"/>
            <a:ext cx="9043868" cy="496133"/>
          </a:xfrm>
          <a:prstGeom prst="rect">
            <a:avLst/>
          </a:prstGeom>
          <a:noFill/>
          <a:ln/>
        </p:spPr>
        <p:txBody>
          <a:bodyPr wrap="none" lIns="0" tIns="0" rIns="0" bIns="0" rtlCol="0" anchor="t"/>
          <a:lstStyle/>
          <a:p>
            <a:pPr marL="0" indent="0" algn="l">
              <a:lnSpc>
                <a:spcPts val="3900"/>
              </a:lnSpc>
              <a:buNone/>
            </a:pPr>
            <a:r>
              <a:rPr lang="en-US" sz="3900" dirty="0">
                <a:solidFill>
                  <a:srgbClr val="EDEDE8"/>
                </a:solidFill>
                <a:latin typeface="Tomorrow Semi Bold" pitchFamily="34" charset="0"/>
                <a:ea typeface="Tomorrow Semi Bold" pitchFamily="34" charset="-122"/>
                <a:cs typeface="Tomorrow Semi Bold" pitchFamily="34" charset="-120"/>
              </a:rPr>
              <a:t>Argentina: A Case Study in Reform Dynamics</a:t>
            </a:r>
            <a:endParaRPr lang="en-US" sz="3900" dirty="0"/>
          </a:p>
        </p:txBody>
      </p:sp>
      <p:sp>
        <p:nvSpPr>
          <p:cNvPr id="3" name="Text 1"/>
          <p:cNvSpPr/>
          <p:nvPr/>
        </p:nvSpPr>
        <p:spPr>
          <a:xfrm>
            <a:off x="635079" y="1221940"/>
            <a:ext cx="13042821" cy="254079"/>
          </a:xfrm>
          <a:prstGeom prst="rect">
            <a:avLst/>
          </a:prstGeom>
          <a:noFill/>
          <a:ln/>
        </p:spPr>
        <p:txBody>
          <a:bodyPr wrap="square" lIns="0" tIns="0" rIns="0" bIns="0" rtlCol="0" anchor="t"/>
          <a:lstStyle/>
          <a:p>
            <a:pPr>
              <a:lnSpc>
                <a:spcPts val="2000"/>
              </a:lnSpc>
            </a:pPr>
            <a:r>
              <a:rPr lang="en-US" sz="1550" dirty="0">
                <a:solidFill>
                  <a:srgbClr val="C9C9C0"/>
                </a:solidFill>
                <a:latin typeface="Tomorrow" pitchFamily="34" charset="0"/>
              </a:rPr>
              <a:t>Argentina's civil-military trajectory offers perhaps the most dramatic transformation story in Latin America, illustrating both the possibilities and pitfalls of democratic reform.</a:t>
            </a:r>
          </a:p>
        </p:txBody>
      </p:sp>
      <p:sp>
        <p:nvSpPr>
          <p:cNvPr id="4" name="Shape 2"/>
          <p:cNvSpPr/>
          <p:nvPr/>
        </p:nvSpPr>
        <p:spPr>
          <a:xfrm>
            <a:off x="7303769" y="2135148"/>
            <a:ext cx="45719" cy="4352443"/>
          </a:xfrm>
          <a:prstGeom prst="roundRect">
            <a:avLst>
              <a:gd name="adj" fmla="val 104186"/>
            </a:avLst>
          </a:prstGeom>
          <a:solidFill>
            <a:srgbClr val="555553"/>
          </a:solidFill>
          <a:ln/>
        </p:spPr>
        <p:txBody>
          <a:bodyPr/>
          <a:lstStyle/>
          <a:p>
            <a:endParaRPr lang="es-AR"/>
          </a:p>
        </p:txBody>
      </p:sp>
      <p:sp>
        <p:nvSpPr>
          <p:cNvPr id="5" name="Shape 3"/>
          <p:cNvSpPr/>
          <p:nvPr/>
        </p:nvSpPr>
        <p:spPr>
          <a:xfrm>
            <a:off x="6683216" y="2302312"/>
            <a:ext cx="476250" cy="22860"/>
          </a:xfrm>
          <a:prstGeom prst="roundRect">
            <a:avLst>
              <a:gd name="adj" fmla="val 104186"/>
            </a:avLst>
          </a:prstGeom>
          <a:solidFill>
            <a:srgbClr val="555553"/>
          </a:solidFill>
          <a:ln/>
        </p:spPr>
        <p:txBody>
          <a:bodyPr/>
          <a:lstStyle/>
          <a:p>
            <a:endParaRPr lang="es-AR"/>
          </a:p>
        </p:txBody>
      </p:sp>
      <p:sp>
        <p:nvSpPr>
          <p:cNvPr id="6" name="Shape 4"/>
          <p:cNvSpPr/>
          <p:nvPr/>
        </p:nvSpPr>
        <p:spPr>
          <a:xfrm>
            <a:off x="7136606" y="2135148"/>
            <a:ext cx="357188" cy="357188"/>
          </a:xfrm>
          <a:prstGeom prst="roundRect">
            <a:avLst>
              <a:gd name="adj" fmla="val 6668"/>
            </a:avLst>
          </a:prstGeom>
          <a:solidFill>
            <a:srgbClr val="3C3C3A"/>
          </a:solidFill>
          <a:ln/>
        </p:spPr>
        <p:txBody>
          <a:bodyPr/>
          <a:lstStyle/>
          <a:p>
            <a:endParaRPr lang="es-AR"/>
          </a:p>
        </p:txBody>
      </p:sp>
      <p:sp>
        <p:nvSpPr>
          <p:cNvPr id="7" name="Text 5"/>
          <p:cNvSpPr/>
          <p:nvPr/>
        </p:nvSpPr>
        <p:spPr>
          <a:xfrm>
            <a:off x="7196137" y="2231413"/>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C9C9C0"/>
                </a:solidFill>
                <a:latin typeface="Tomorrow Semi Bold" pitchFamily="34" charset="0"/>
                <a:ea typeface="Tomorrow Semi Bold" pitchFamily="34" charset="-122"/>
                <a:cs typeface="Tomorrow Semi Bold" pitchFamily="34" charset="-120"/>
              </a:rPr>
              <a:t>1</a:t>
            </a:r>
            <a:endParaRPr lang="en-US" sz="1850" dirty="0"/>
          </a:p>
        </p:txBody>
      </p:sp>
      <p:sp>
        <p:nvSpPr>
          <p:cNvPr id="8" name="Text 6"/>
          <p:cNvSpPr/>
          <p:nvPr/>
        </p:nvSpPr>
        <p:spPr>
          <a:xfrm>
            <a:off x="3109793" y="2189678"/>
            <a:ext cx="3411617" cy="248007"/>
          </a:xfrm>
          <a:prstGeom prst="rect">
            <a:avLst/>
          </a:prstGeom>
          <a:noFill/>
          <a:ln/>
        </p:spPr>
        <p:txBody>
          <a:bodyPr wrap="none" lIns="0" tIns="0" rIns="0" bIns="0" rtlCol="0" anchor="t"/>
          <a:lstStyle/>
          <a:p>
            <a:pPr marL="0" indent="0" algn="r">
              <a:lnSpc>
                <a:spcPts val="1950"/>
              </a:lnSpc>
              <a:buNone/>
            </a:pPr>
            <a:r>
              <a:rPr lang="en-US" dirty="0">
                <a:solidFill>
                  <a:srgbClr val="C9C9C0"/>
                </a:solidFill>
                <a:latin typeface="Tomorrow Semi Bold" pitchFamily="34" charset="0"/>
                <a:ea typeface="Tomorrow Semi Bold" pitchFamily="34" charset="-122"/>
                <a:cs typeface="Tomorrow Semi Bold" pitchFamily="34" charset="-120"/>
              </a:rPr>
              <a:t>Dictatorship Collapse (1976-1983)</a:t>
            </a:r>
            <a:endParaRPr lang="en-US" dirty="0"/>
          </a:p>
        </p:txBody>
      </p:sp>
      <p:sp>
        <p:nvSpPr>
          <p:cNvPr id="9" name="Text 7"/>
          <p:cNvSpPr/>
          <p:nvPr/>
        </p:nvSpPr>
        <p:spPr>
          <a:xfrm>
            <a:off x="793790" y="2532936"/>
            <a:ext cx="5727621" cy="1016318"/>
          </a:xfrm>
          <a:prstGeom prst="rect">
            <a:avLst/>
          </a:prstGeom>
          <a:noFill/>
          <a:ln/>
        </p:spPr>
        <p:txBody>
          <a:bodyPr wrap="square" lIns="0" tIns="0" rIns="0" bIns="0" rtlCol="0" anchor="t"/>
          <a:lstStyle/>
          <a:p>
            <a:pPr marL="0" indent="0" algn="r">
              <a:lnSpc>
                <a:spcPts val="2000"/>
              </a:lnSpc>
              <a:buNone/>
            </a:pPr>
            <a:r>
              <a:rPr lang="en-US" sz="1550" dirty="0">
                <a:solidFill>
                  <a:srgbClr val="C9C9C0"/>
                </a:solidFill>
                <a:latin typeface="Tomorrow" pitchFamily="34" charset="0"/>
                <a:ea typeface="Tomorrow" pitchFamily="34" charset="-122"/>
                <a:cs typeface="Tomorrow" pitchFamily="34" charset="-120"/>
              </a:rPr>
              <a:t>The military regime collapsed spectacularly after catastrophic economic mismanagement, systematic human rights abuses, and humiliating defeat in the Falklands/Malvinas War. The armed forces left power completely discredited.</a:t>
            </a:r>
            <a:endParaRPr lang="en-US" sz="1550" dirty="0"/>
          </a:p>
        </p:txBody>
      </p:sp>
      <p:sp>
        <p:nvSpPr>
          <p:cNvPr id="10" name="Shape 8"/>
          <p:cNvSpPr/>
          <p:nvPr/>
        </p:nvSpPr>
        <p:spPr>
          <a:xfrm>
            <a:off x="7470934" y="3404556"/>
            <a:ext cx="476250" cy="22860"/>
          </a:xfrm>
          <a:prstGeom prst="roundRect">
            <a:avLst>
              <a:gd name="adj" fmla="val 104186"/>
            </a:avLst>
          </a:prstGeom>
          <a:solidFill>
            <a:srgbClr val="555553"/>
          </a:solidFill>
          <a:ln/>
        </p:spPr>
        <p:txBody>
          <a:bodyPr/>
          <a:lstStyle/>
          <a:p>
            <a:endParaRPr lang="es-AR"/>
          </a:p>
        </p:txBody>
      </p:sp>
      <p:sp>
        <p:nvSpPr>
          <p:cNvPr id="11" name="Shape 9"/>
          <p:cNvSpPr/>
          <p:nvPr/>
        </p:nvSpPr>
        <p:spPr>
          <a:xfrm>
            <a:off x="7136606" y="3237392"/>
            <a:ext cx="357188" cy="357188"/>
          </a:xfrm>
          <a:prstGeom prst="roundRect">
            <a:avLst>
              <a:gd name="adj" fmla="val 6668"/>
            </a:avLst>
          </a:prstGeom>
          <a:solidFill>
            <a:srgbClr val="3C3C3A"/>
          </a:solidFill>
          <a:ln/>
        </p:spPr>
        <p:txBody>
          <a:bodyPr/>
          <a:lstStyle/>
          <a:p>
            <a:endParaRPr lang="es-AR"/>
          </a:p>
        </p:txBody>
      </p:sp>
      <p:sp>
        <p:nvSpPr>
          <p:cNvPr id="12" name="Text 10"/>
          <p:cNvSpPr/>
          <p:nvPr/>
        </p:nvSpPr>
        <p:spPr>
          <a:xfrm>
            <a:off x="7196137" y="3317033"/>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C9C9C0"/>
                </a:solidFill>
                <a:latin typeface="Tomorrow Semi Bold" pitchFamily="34" charset="0"/>
                <a:ea typeface="Tomorrow Semi Bold" pitchFamily="34" charset="-122"/>
                <a:cs typeface="Tomorrow Semi Bold" pitchFamily="34" charset="-120"/>
              </a:rPr>
              <a:t>2</a:t>
            </a:r>
            <a:endParaRPr lang="en-US" sz="1850" dirty="0"/>
          </a:p>
        </p:txBody>
      </p:sp>
      <p:sp>
        <p:nvSpPr>
          <p:cNvPr id="13" name="Text 11"/>
          <p:cNvSpPr/>
          <p:nvPr/>
        </p:nvSpPr>
        <p:spPr>
          <a:xfrm>
            <a:off x="8108990" y="3291923"/>
            <a:ext cx="2509718" cy="248007"/>
          </a:xfrm>
          <a:prstGeom prst="rect">
            <a:avLst/>
          </a:prstGeom>
          <a:noFill/>
          <a:ln/>
        </p:spPr>
        <p:txBody>
          <a:bodyPr wrap="none" lIns="0" tIns="0" rIns="0" bIns="0" rtlCol="0" anchor="t"/>
          <a:lstStyle/>
          <a:p>
            <a:pPr marL="0" indent="0" algn="l">
              <a:lnSpc>
                <a:spcPts val="1950"/>
              </a:lnSpc>
              <a:buNone/>
            </a:pPr>
            <a:r>
              <a:rPr lang="en-US" dirty="0">
                <a:solidFill>
                  <a:srgbClr val="C9C9C0"/>
                </a:solidFill>
                <a:latin typeface="Tomorrow Semi Bold" pitchFamily="34" charset="0"/>
                <a:ea typeface="Tomorrow Semi Bold" pitchFamily="34" charset="-122"/>
                <a:cs typeface="Tomorrow Semi Bold" pitchFamily="34" charset="-120"/>
              </a:rPr>
              <a:t>Alfonsín Era (1983-1989)</a:t>
            </a:r>
            <a:endParaRPr lang="en-US" dirty="0"/>
          </a:p>
        </p:txBody>
      </p:sp>
      <p:sp>
        <p:nvSpPr>
          <p:cNvPr id="14" name="Text 12"/>
          <p:cNvSpPr/>
          <p:nvPr/>
        </p:nvSpPr>
        <p:spPr>
          <a:xfrm>
            <a:off x="8108990" y="3635180"/>
            <a:ext cx="5727621" cy="1016318"/>
          </a:xfrm>
          <a:prstGeom prst="rect">
            <a:avLst/>
          </a:prstGeom>
          <a:noFill/>
          <a:ln/>
        </p:spPr>
        <p:txBody>
          <a:bodyPr wrap="square" lIns="0" tIns="0" rIns="0" bIns="0" rtlCol="0" anchor="t"/>
          <a:lstStyle/>
          <a:p>
            <a:pPr marL="0" indent="0" algn="l">
              <a:lnSpc>
                <a:spcPts val="2000"/>
              </a:lnSpc>
              <a:buNone/>
            </a:pPr>
            <a:r>
              <a:rPr lang="en-US" sz="1550" dirty="0">
                <a:solidFill>
                  <a:srgbClr val="C9C9C0"/>
                </a:solidFill>
                <a:latin typeface="Tomorrow" pitchFamily="34" charset="0"/>
                <a:ea typeface="Tomorrow" pitchFamily="34" charset="-122"/>
                <a:cs typeface="Tomorrow" pitchFamily="34" charset="-120"/>
              </a:rPr>
              <a:t>President Raúl Alfonsín pursued aggressive human rights trials and institutional reforms. His 1988 Defense Law separated internal security (police) from external defense (military)—a crucial boundary. However, military rebellions forced concessions including amnesty laws.</a:t>
            </a:r>
            <a:endParaRPr lang="en-US" sz="1550" dirty="0"/>
          </a:p>
        </p:txBody>
      </p:sp>
      <p:sp>
        <p:nvSpPr>
          <p:cNvPr id="15" name="Shape 13"/>
          <p:cNvSpPr/>
          <p:nvPr/>
        </p:nvSpPr>
        <p:spPr>
          <a:xfrm>
            <a:off x="6683216" y="4453261"/>
            <a:ext cx="476250" cy="22860"/>
          </a:xfrm>
          <a:prstGeom prst="roundRect">
            <a:avLst>
              <a:gd name="adj" fmla="val 104186"/>
            </a:avLst>
          </a:prstGeom>
          <a:solidFill>
            <a:srgbClr val="555553"/>
          </a:solidFill>
          <a:ln/>
        </p:spPr>
        <p:txBody>
          <a:bodyPr/>
          <a:lstStyle/>
          <a:p>
            <a:endParaRPr lang="es-AR"/>
          </a:p>
        </p:txBody>
      </p:sp>
      <p:sp>
        <p:nvSpPr>
          <p:cNvPr id="16" name="Shape 14"/>
          <p:cNvSpPr/>
          <p:nvPr/>
        </p:nvSpPr>
        <p:spPr>
          <a:xfrm>
            <a:off x="7136606" y="4286097"/>
            <a:ext cx="357188" cy="357188"/>
          </a:xfrm>
          <a:prstGeom prst="roundRect">
            <a:avLst>
              <a:gd name="adj" fmla="val 6668"/>
            </a:avLst>
          </a:prstGeom>
          <a:solidFill>
            <a:srgbClr val="3C3C3A"/>
          </a:solidFill>
          <a:ln/>
        </p:spPr>
        <p:txBody>
          <a:bodyPr/>
          <a:lstStyle/>
          <a:p>
            <a:endParaRPr lang="es-AR"/>
          </a:p>
        </p:txBody>
      </p:sp>
      <p:sp>
        <p:nvSpPr>
          <p:cNvPr id="17" name="Text 15"/>
          <p:cNvSpPr/>
          <p:nvPr/>
        </p:nvSpPr>
        <p:spPr>
          <a:xfrm>
            <a:off x="7196137" y="4349113"/>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C9C9C0"/>
                </a:solidFill>
                <a:latin typeface="Tomorrow Semi Bold" pitchFamily="34" charset="0"/>
                <a:ea typeface="Tomorrow Semi Bold" pitchFamily="34" charset="-122"/>
                <a:cs typeface="Tomorrow Semi Bold" pitchFamily="34" charset="-120"/>
              </a:rPr>
              <a:t>3</a:t>
            </a:r>
            <a:endParaRPr lang="en-US" sz="1850" dirty="0"/>
          </a:p>
        </p:txBody>
      </p:sp>
      <p:sp>
        <p:nvSpPr>
          <p:cNvPr id="18" name="Text 16"/>
          <p:cNvSpPr/>
          <p:nvPr/>
        </p:nvSpPr>
        <p:spPr>
          <a:xfrm>
            <a:off x="3760946" y="4340628"/>
            <a:ext cx="2760464" cy="248007"/>
          </a:xfrm>
          <a:prstGeom prst="rect">
            <a:avLst/>
          </a:prstGeom>
          <a:noFill/>
          <a:ln/>
        </p:spPr>
        <p:txBody>
          <a:bodyPr wrap="none" lIns="0" tIns="0" rIns="0" bIns="0" rtlCol="0" anchor="t"/>
          <a:lstStyle/>
          <a:p>
            <a:pPr marL="0" indent="0" algn="r">
              <a:lnSpc>
                <a:spcPts val="1950"/>
              </a:lnSpc>
              <a:buNone/>
            </a:pPr>
            <a:r>
              <a:rPr lang="en-US" dirty="0">
                <a:solidFill>
                  <a:srgbClr val="C9C9C0"/>
                </a:solidFill>
                <a:latin typeface="Tomorrow Semi Bold" pitchFamily="34" charset="0"/>
                <a:ea typeface="Tomorrow Semi Bold" pitchFamily="34" charset="-122"/>
                <a:cs typeface="Tomorrow Semi Bold" pitchFamily="34" charset="-120"/>
              </a:rPr>
              <a:t>Menem Period (1989-1999)</a:t>
            </a:r>
            <a:endParaRPr lang="en-US" dirty="0"/>
          </a:p>
        </p:txBody>
      </p:sp>
      <p:sp>
        <p:nvSpPr>
          <p:cNvPr id="19" name="Text 17"/>
          <p:cNvSpPr/>
          <p:nvPr/>
        </p:nvSpPr>
        <p:spPr>
          <a:xfrm>
            <a:off x="793790" y="4683885"/>
            <a:ext cx="5727621" cy="762238"/>
          </a:xfrm>
          <a:prstGeom prst="rect">
            <a:avLst/>
          </a:prstGeom>
          <a:noFill/>
          <a:ln/>
        </p:spPr>
        <p:txBody>
          <a:bodyPr wrap="square" lIns="0" tIns="0" rIns="0" bIns="0" rtlCol="0" anchor="t"/>
          <a:lstStyle/>
          <a:p>
            <a:pPr marL="0" indent="0" algn="r">
              <a:lnSpc>
                <a:spcPts val="2000"/>
              </a:lnSpc>
              <a:buNone/>
            </a:pPr>
            <a:r>
              <a:rPr lang="en-US" sz="1550" dirty="0">
                <a:solidFill>
                  <a:srgbClr val="C9C9C0"/>
                </a:solidFill>
                <a:latin typeface="Tomorrow" pitchFamily="34" charset="0"/>
                <a:ea typeface="Tomorrow" pitchFamily="34" charset="-122"/>
                <a:cs typeface="Tomorrow" pitchFamily="34" charset="-120"/>
              </a:rPr>
              <a:t>Carlos Menem adopted pardons and reconciliation, combined with neoliberal budget cuts. He maintained firm control by crushing rebellions but neglected deeper structural defense reforms.</a:t>
            </a:r>
            <a:endParaRPr lang="en-US" sz="1550" dirty="0"/>
          </a:p>
        </p:txBody>
      </p:sp>
      <p:sp>
        <p:nvSpPr>
          <p:cNvPr id="20" name="Shape 18"/>
          <p:cNvSpPr/>
          <p:nvPr/>
        </p:nvSpPr>
        <p:spPr>
          <a:xfrm>
            <a:off x="7470934" y="5468701"/>
            <a:ext cx="476250" cy="22860"/>
          </a:xfrm>
          <a:prstGeom prst="roundRect">
            <a:avLst>
              <a:gd name="adj" fmla="val 104186"/>
            </a:avLst>
          </a:prstGeom>
          <a:solidFill>
            <a:srgbClr val="555553"/>
          </a:solidFill>
          <a:ln/>
        </p:spPr>
        <p:txBody>
          <a:bodyPr/>
          <a:lstStyle/>
          <a:p>
            <a:endParaRPr lang="es-AR"/>
          </a:p>
        </p:txBody>
      </p:sp>
      <p:sp>
        <p:nvSpPr>
          <p:cNvPr id="21" name="Shape 19"/>
          <p:cNvSpPr/>
          <p:nvPr/>
        </p:nvSpPr>
        <p:spPr>
          <a:xfrm>
            <a:off x="7136606" y="5301537"/>
            <a:ext cx="357188" cy="357188"/>
          </a:xfrm>
          <a:prstGeom prst="roundRect">
            <a:avLst>
              <a:gd name="adj" fmla="val 6668"/>
            </a:avLst>
          </a:prstGeom>
          <a:solidFill>
            <a:srgbClr val="3C3C3A"/>
          </a:solidFill>
          <a:ln/>
        </p:spPr>
        <p:txBody>
          <a:bodyPr/>
          <a:lstStyle/>
          <a:p>
            <a:endParaRPr lang="es-AR"/>
          </a:p>
        </p:txBody>
      </p:sp>
      <p:sp>
        <p:nvSpPr>
          <p:cNvPr id="22" name="Text 20"/>
          <p:cNvSpPr/>
          <p:nvPr/>
        </p:nvSpPr>
        <p:spPr>
          <a:xfrm>
            <a:off x="7196137" y="5381178"/>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C9C9C0"/>
                </a:solidFill>
                <a:latin typeface="Tomorrow Semi Bold" pitchFamily="34" charset="0"/>
                <a:ea typeface="Tomorrow Semi Bold" pitchFamily="34" charset="-122"/>
                <a:cs typeface="Tomorrow Semi Bold" pitchFamily="34" charset="-120"/>
              </a:rPr>
              <a:t>4</a:t>
            </a:r>
            <a:endParaRPr lang="en-US" sz="1850" dirty="0"/>
          </a:p>
        </p:txBody>
      </p:sp>
      <p:sp>
        <p:nvSpPr>
          <p:cNvPr id="23" name="Text 21"/>
          <p:cNvSpPr/>
          <p:nvPr/>
        </p:nvSpPr>
        <p:spPr>
          <a:xfrm>
            <a:off x="8108990" y="5356068"/>
            <a:ext cx="3618548" cy="248007"/>
          </a:xfrm>
          <a:prstGeom prst="rect">
            <a:avLst/>
          </a:prstGeom>
          <a:noFill/>
          <a:ln/>
        </p:spPr>
        <p:txBody>
          <a:bodyPr wrap="none" lIns="0" tIns="0" rIns="0" bIns="0" rtlCol="0" anchor="t"/>
          <a:lstStyle/>
          <a:p>
            <a:pPr marL="0" indent="0" algn="l">
              <a:lnSpc>
                <a:spcPts val="1950"/>
              </a:lnSpc>
              <a:buNone/>
            </a:pPr>
            <a:r>
              <a:rPr lang="en-US" dirty="0">
                <a:solidFill>
                  <a:srgbClr val="C9C9C0"/>
                </a:solidFill>
                <a:latin typeface="Tomorrow Semi Bold" pitchFamily="34" charset="0"/>
                <a:ea typeface="Tomorrow Semi Bold" pitchFamily="34" charset="-122"/>
                <a:cs typeface="Tomorrow Semi Bold" pitchFamily="34" charset="-120"/>
              </a:rPr>
              <a:t>Kirchner Governments (2003-2015)</a:t>
            </a:r>
            <a:endParaRPr lang="en-US" dirty="0"/>
          </a:p>
        </p:txBody>
      </p:sp>
      <p:sp>
        <p:nvSpPr>
          <p:cNvPr id="24" name="Text 22"/>
          <p:cNvSpPr/>
          <p:nvPr/>
        </p:nvSpPr>
        <p:spPr>
          <a:xfrm>
            <a:off x="8108990" y="5699325"/>
            <a:ext cx="5727621" cy="1016318"/>
          </a:xfrm>
          <a:prstGeom prst="rect">
            <a:avLst/>
          </a:prstGeom>
          <a:noFill/>
          <a:ln/>
        </p:spPr>
        <p:txBody>
          <a:bodyPr wrap="square" lIns="0" tIns="0" rIns="0" bIns="0" rtlCol="0" anchor="t"/>
          <a:lstStyle/>
          <a:p>
            <a:pPr marL="0" indent="0" algn="l">
              <a:lnSpc>
                <a:spcPts val="2000"/>
              </a:lnSpc>
              <a:buNone/>
            </a:pPr>
            <a:r>
              <a:rPr lang="en-US" sz="1550" dirty="0">
                <a:solidFill>
                  <a:srgbClr val="C9C9C0"/>
                </a:solidFill>
                <a:latin typeface="Tomorrow" pitchFamily="34" charset="0"/>
                <a:ea typeface="Tomorrow" pitchFamily="34" charset="-122"/>
                <a:cs typeface="Tomorrow" pitchFamily="34" charset="-120"/>
              </a:rPr>
              <a:t>Néstor and Cristina Kirchner reignited human rights trials, purged resistant officers, and strengthened civilian Defense Ministry capabilities. They professionalized the military through sometimes confrontational relationships.</a:t>
            </a:r>
            <a:endParaRPr lang="en-US" sz="1550" dirty="0"/>
          </a:p>
        </p:txBody>
      </p:sp>
      <p:sp>
        <p:nvSpPr>
          <p:cNvPr id="25" name="Shape 23"/>
          <p:cNvSpPr/>
          <p:nvPr/>
        </p:nvSpPr>
        <p:spPr>
          <a:xfrm>
            <a:off x="635080" y="6960746"/>
            <a:ext cx="13201532" cy="928687"/>
          </a:xfrm>
          <a:prstGeom prst="roundRect">
            <a:avLst>
              <a:gd name="adj" fmla="val 2565"/>
            </a:avLst>
          </a:prstGeom>
          <a:solidFill>
            <a:srgbClr val="272725"/>
          </a:solidFill>
          <a:ln/>
        </p:spPr>
        <p:txBody>
          <a:bodyPr/>
          <a:lstStyle/>
          <a:p>
            <a:endParaRPr lang="es-AR"/>
          </a:p>
        </p:txBody>
      </p:sp>
      <p:pic>
        <p:nvPicPr>
          <p:cNvPr id="26" name="Image 0" descr="preencoded.png"/>
          <p:cNvPicPr>
            <a:picLocks noChangeAspect="1"/>
          </p:cNvPicPr>
          <p:nvPr/>
        </p:nvPicPr>
        <p:blipFill>
          <a:blip r:embed="rId3"/>
          <a:stretch>
            <a:fillRect/>
          </a:stretch>
        </p:blipFill>
        <p:spPr>
          <a:xfrm>
            <a:off x="773966" y="7159104"/>
            <a:ext cx="357068" cy="285697"/>
          </a:xfrm>
          <a:prstGeom prst="rect">
            <a:avLst/>
          </a:prstGeom>
        </p:spPr>
      </p:pic>
      <p:sp>
        <p:nvSpPr>
          <p:cNvPr id="27" name="Text 24"/>
          <p:cNvSpPr/>
          <p:nvPr/>
        </p:nvSpPr>
        <p:spPr>
          <a:xfrm>
            <a:off x="1309568" y="7159104"/>
            <a:ext cx="12368332" cy="508159"/>
          </a:xfrm>
          <a:prstGeom prst="rect">
            <a:avLst/>
          </a:prstGeom>
          <a:noFill/>
          <a:ln/>
        </p:spPr>
        <p:txBody>
          <a:bodyPr wrap="square" lIns="0" tIns="0" rIns="0" bIns="0" rtlCol="0" anchor="t"/>
          <a:lstStyle/>
          <a:p>
            <a:pPr marL="0" indent="0" algn="l">
              <a:lnSpc>
                <a:spcPts val="2000"/>
              </a:lnSpc>
              <a:buNone/>
            </a:pPr>
            <a:r>
              <a:rPr lang="en-US" sz="1550" dirty="0">
                <a:solidFill>
                  <a:srgbClr val="FFFFFF"/>
                </a:solidFill>
                <a:latin typeface="Tomorrow" pitchFamily="34" charset="0"/>
                <a:ea typeface="Tomorrow" pitchFamily="34" charset="-122"/>
                <a:cs typeface="Tomorrow" pitchFamily="34" charset="-120"/>
              </a:rPr>
              <a:t>Argentina demonstrates how strong civilian leverage after dictatorship collapse enables bold policies, but shifting political priorities over successive governments produces uneven, incomplete progress.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438499"/>
            <a:ext cx="7935158" cy="465177"/>
          </a:xfrm>
          <a:prstGeom prst="rect">
            <a:avLst/>
          </a:prstGeom>
          <a:noFill/>
          <a:ln/>
        </p:spPr>
        <p:txBody>
          <a:bodyPr wrap="none" lIns="0" tIns="0" rIns="0" bIns="0" rtlCol="0" anchor="t"/>
          <a:lstStyle/>
          <a:p>
            <a:pPr marL="0" indent="0" algn="l">
              <a:lnSpc>
                <a:spcPts val="3650"/>
              </a:lnSpc>
              <a:buNone/>
            </a:pPr>
            <a:r>
              <a:rPr lang="en-US" sz="3900" dirty="0">
                <a:solidFill>
                  <a:srgbClr val="EDEDE8"/>
                </a:solidFill>
                <a:latin typeface="Tomorrow Semi Bold" pitchFamily="34" charset="0"/>
                <a:ea typeface="Tomorrow Semi Bold" pitchFamily="34" charset="-122"/>
                <a:cs typeface="Tomorrow Semi Bold" pitchFamily="34" charset="-120"/>
              </a:rPr>
              <a:t>Key Lessons for Democratic Consolidation</a:t>
            </a:r>
            <a:endParaRPr lang="en-US" sz="3900" dirty="0"/>
          </a:p>
        </p:txBody>
      </p:sp>
      <p:sp>
        <p:nvSpPr>
          <p:cNvPr id="3" name="Shape 1"/>
          <p:cNvSpPr/>
          <p:nvPr/>
        </p:nvSpPr>
        <p:spPr>
          <a:xfrm>
            <a:off x="793790" y="1517213"/>
            <a:ext cx="334923" cy="334923"/>
          </a:xfrm>
          <a:prstGeom prst="roundRect">
            <a:avLst>
              <a:gd name="adj" fmla="val 6667"/>
            </a:avLst>
          </a:prstGeom>
          <a:solidFill>
            <a:srgbClr val="3C3C3A"/>
          </a:solidFill>
          <a:ln/>
        </p:spPr>
        <p:txBody>
          <a:bodyPr/>
          <a:lstStyle/>
          <a:p>
            <a:endParaRPr lang="es-AR"/>
          </a:p>
        </p:txBody>
      </p:sp>
      <p:sp>
        <p:nvSpPr>
          <p:cNvPr id="4" name="Text 2"/>
          <p:cNvSpPr/>
          <p:nvPr/>
        </p:nvSpPr>
        <p:spPr>
          <a:xfrm>
            <a:off x="849570" y="1578324"/>
            <a:ext cx="223242" cy="279083"/>
          </a:xfrm>
          <a:prstGeom prst="rect">
            <a:avLst/>
          </a:prstGeom>
          <a:noFill/>
          <a:ln/>
        </p:spPr>
        <p:txBody>
          <a:bodyPr wrap="none" lIns="0" tIns="0" rIns="0" bIns="0" rtlCol="0" anchor="t"/>
          <a:lstStyle/>
          <a:p>
            <a:pPr marL="0" indent="0" algn="ctr">
              <a:lnSpc>
                <a:spcPts val="1750"/>
              </a:lnSpc>
              <a:buNone/>
            </a:pPr>
            <a:r>
              <a:rPr lang="en-US" sz="1750" dirty="0">
                <a:solidFill>
                  <a:srgbClr val="C9C9C0"/>
                </a:solidFill>
                <a:latin typeface="Tomorrow Semi Bold" pitchFamily="34" charset="0"/>
                <a:ea typeface="Tomorrow Semi Bold" pitchFamily="34" charset="-122"/>
                <a:cs typeface="Tomorrow Semi Bold" pitchFamily="34" charset="-120"/>
              </a:rPr>
              <a:t>1</a:t>
            </a:r>
            <a:endParaRPr lang="en-US" sz="1750" dirty="0"/>
          </a:p>
        </p:txBody>
      </p:sp>
      <p:sp>
        <p:nvSpPr>
          <p:cNvPr id="5" name="Text 3"/>
          <p:cNvSpPr/>
          <p:nvPr/>
        </p:nvSpPr>
        <p:spPr>
          <a:xfrm>
            <a:off x="1277541" y="1545074"/>
            <a:ext cx="6075164" cy="278963"/>
          </a:xfrm>
          <a:prstGeom prst="rect">
            <a:avLst/>
          </a:prstGeom>
          <a:noFill/>
          <a:ln/>
        </p:spPr>
        <p:txBody>
          <a:bodyPr wrap="none" lIns="0" tIns="0" rIns="0" bIns="0" rtlCol="0" anchor="t"/>
          <a:lstStyle/>
          <a:p>
            <a:pPr marL="0" indent="0" algn="l">
              <a:lnSpc>
                <a:spcPts val="2150"/>
              </a:lnSpc>
              <a:buNone/>
            </a:pPr>
            <a:r>
              <a:rPr lang="en-US" sz="2000" dirty="0">
                <a:solidFill>
                  <a:srgbClr val="C9C9C0"/>
                </a:solidFill>
                <a:latin typeface="Tomorrow Semi Bold" pitchFamily="34" charset="0"/>
                <a:ea typeface="Tomorrow Semi Bold" pitchFamily="34" charset="-122"/>
                <a:cs typeface="Tomorrow Semi Bold" pitchFamily="34" charset="-120"/>
              </a:rPr>
              <a:t>Civil-Military Relations Are Central to Democratization</a:t>
            </a:r>
            <a:endParaRPr lang="en-US" sz="2000" dirty="0"/>
          </a:p>
        </p:txBody>
      </p:sp>
      <p:sp>
        <p:nvSpPr>
          <p:cNvPr id="6" name="Text 4"/>
          <p:cNvSpPr/>
          <p:nvPr/>
        </p:nvSpPr>
        <p:spPr>
          <a:xfrm>
            <a:off x="1277541" y="1913334"/>
            <a:ext cx="12559070" cy="238125"/>
          </a:xfrm>
          <a:prstGeom prst="rect">
            <a:avLst/>
          </a:prstGeom>
          <a:noFill/>
          <a:ln/>
        </p:spPr>
        <p:txBody>
          <a:bodyPr wrap="square" lIns="0" tIns="0" rIns="0" bIns="0" rtlCol="0" anchor="t"/>
          <a:lstStyle/>
          <a:p>
            <a:pPr>
              <a:lnSpc>
                <a:spcPts val="1850"/>
              </a:lnSpc>
            </a:pPr>
            <a:r>
              <a:rPr lang="en-US" sz="1550" dirty="0">
                <a:solidFill>
                  <a:srgbClr val="C9C9C0"/>
                </a:solidFill>
                <a:latin typeface="Tomorrow" pitchFamily="34" charset="0"/>
              </a:rPr>
              <a:t>Without genuine civilian supremacy over armed forces, democracy cannot fully consolidate. Military subordination is not optional—it's essential for democratic survival.</a:t>
            </a:r>
          </a:p>
        </p:txBody>
      </p:sp>
      <p:sp>
        <p:nvSpPr>
          <p:cNvPr id="7" name="Shape 5"/>
          <p:cNvSpPr/>
          <p:nvPr/>
        </p:nvSpPr>
        <p:spPr>
          <a:xfrm>
            <a:off x="793790" y="2648618"/>
            <a:ext cx="334923" cy="334923"/>
          </a:xfrm>
          <a:prstGeom prst="roundRect">
            <a:avLst>
              <a:gd name="adj" fmla="val 6667"/>
            </a:avLst>
          </a:prstGeom>
          <a:solidFill>
            <a:srgbClr val="3C3C3A"/>
          </a:solidFill>
          <a:ln/>
        </p:spPr>
        <p:txBody>
          <a:bodyPr/>
          <a:lstStyle/>
          <a:p>
            <a:endParaRPr lang="es-AR"/>
          </a:p>
        </p:txBody>
      </p:sp>
      <p:sp>
        <p:nvSpPr>
          <p:cNvPr id="8" name="Text 6"/>
          <p:cNvSpPr/>
          <p:nvPr/>
        </p:nvSpPr>
        <p:spPr>
          <a:xfrm>
            <a:off x="849570" y="2709728"/>
            <a:ext cx="223242" cy="279083"/>
          </a:xfrm>
          <a:prstGeom prst="rect">
            <a:avLst/>
          </a:prstGeom>
          <a:noFill/>
          <a:ln/>
        </p:spPr>
        <p:txBody>
          <a:bodyPr wrap="none" lIns="0" tIns="0" rIns="0" bIns="0" rtlCol="0" anchor="t"/>
          <a:lstStyle/>
          <a:p>
            <a:pPr marL="0" indent="0" algn="ctr">
              <a:lnSpc>
                <a:spcPts val="1750"/>
              </a:lnSpc>
              <a:buNone/>
            </a:pPr>
            <a:r>
              <a:rPr lang="en-US" sz="1750" dirty="0">
                <a:solidFill>
                  <a:srgbClr val="C9C9C0"/>
                </a:solidFill>
                <a:latin typeface="Tomorrow Semi Bold" pitchFamily="34" charset="0"/>
                <a:ea typeface="Tomorrow Semi Bold" pitchFamily="34" charset="-122"/>
                <a:cs typeface="Tomorrow Semi Bold" pitchFamily="34" charset="-120"/>
              </a:rPr>
              <a:t>2</a:t>
            </a:r>
            <a:endParaRPr lang="en-US" sz="1750" dirty="0"/>
          </a:p>
        </p:txBody>
      </p:sp>
      <p:sp>
        <p:nvSpPr>
          <p:cNvPr id="9" name="Text 7"/>
          <p:cNvSpPr/>
          <p:nvPr/>
        </p:nvSpPr>
        <p:spPr>
          <a:xfrm>
            <a:off x="1277541" y="2676478"/>
            <a:ext cx="3011329" cy="278963"/>
          </a:xfrm>
          <a:prstGeom prst="rect">
            <a:avLst/>
          </a:prstGeom>
          <a:noFill/>
          <a:ln/>
        </p:spPr>
        <p:txBody>
          <a:bodyPr wrap="none" lIns="0" tIns="0" rIns="0" bIns="0" rtlCol="0" anchor="t"/>
          <a:lstStyle/>
          <a:p>
            <a:pPr marL="0" indent="0" algn="l">
              <a:lnSpc>
                <a:spcPts val="2150"/>
              </a:lnSpc>
              <a:buNone/>
            </a:pPr>
            <a:r>
              <a:rPr lang="en-US" sz="2000" dirty="0">
                <a:solidFill>
                  <a:srgbClr val="C9C9C0"/>
                </a:solidFill>
                <a:latin typeface="Tomorrow Semi Bold" pitchFamily="34" charset="0"/>
                <a:ea typeface="Tomorrow Semi Bold" pitchFamily="34" charset="-122"/>
                <a:cs typeface="Tomorrow Semi Bold" pitchFamily="34" charset="-120"/>
              </a:rPr>
              <a:t>Transitions Remain Fragile</a:t>
            </a:r>
            <a:endParaRPr lang="en-US" sz="2000" dirty="0"/>
          </a:p>
        </p:txBody>
      </p:sp>
      <p:sp>
        <p:nvSpPr>
          <p:cNvPr id="10" name="Text 8"/>
          <p:cNvSpPr/>
          <p:nvPr/>
        </p:nvSpPr>
        <p:spPr>
          <a:xfrm>
            <a:off x="1277541" y="3044739"/>
            <a:ext cx="12559070" cy="476250"/>
          </a:xfrm>
          <a:prstGeom prst="rect">
            <a:avLst/>
          </a:prstGeom>
          <a:noFill/>
          <a:ln/>
        </p:spPr>
        <p:txBody>
          <a:bodyPr wrap="square" lIns="0" tIns="0" rIns="0" bIns="0" rtlCol="0" anchor="t"/>
          <a:lstStyle/>
          <a:p>
            <a:pPr marL="0" indent="0" algn="l">
              <a:lnSpc>
                <a:spcPts val="1850"/>
              </a:lnSpc>
              <a:buNone/>
            </a:pPr>
            <a:r>
              <a:rPr lang="en-US" sz="1550" dirty="0">
                <a:solidFill>
                  <a:srgbClr val="C9C9C0"/>
                </a:solidFill>
                <a:latin typeface="Tomorrow" pitchFamily="34" charset="0"/>
                <a:ea typeface="Tomorrow" pitchFamily="34" charset="-122"/>
                <a:cs typeface="Tomorrow" pitchFamily="34" charset="-120"/>
              </a:rPr>
              <a:t>Militaries often retain significant influence after leaving direct power. Early reform windows are crucial but limited—delay enables military resistance and institutional entrenchment.</a:t>
            </a:r>
            <a:endParaRPr lang="en-US" sz="1550" dirty="0"/>
          </a:p>
        </p:txBody>
      </p:sp>
      <p:sp>
        <p:nvSpPr>
          <p:cNvPr id="11" name="Shape 9"/>
          <p:cNvSpPr/>
          <p:nvPr/>
        </p:nvSpPr>
        <p:spPr>
          <a:xfrm>
            <a:off x="793790" y="3868520"/>
            <a:ext cx="334923" cy="334923"/>
          </a:xfrm>
          <a:prstGeom prst="roundRect">
            <a:avLst>
              <a:gd name="adj" fmla="val 6667"/>
            </a:avLst>
          </a:prstGeom>
          <a:solidFill>
            <a:srgbClr val="3C3C3A"/>
          </a:solidFill>
          <a:ln/>
        </p:spPr>
        <p:txBody>
          <a:bodyPr/>
          <a:lstStyle/>
          <a:p>
            <a:endParaRPr lang="es-AR"/>
          </a:p>
        </p:txBody>
      </p:sp>
      <p:sp>
        <p:nvSpPr>
          <p:cNvPr id="12" name="Text 10"/>
          <p:cNvSpPr/>
          <p:nvPr/>
        </p:nvSpPr>
        <p:spPr>
          <a:xfrm>
            <a:off x="849570" y="3946255"/>
            <a:ext cx="223242" cy="279083"/>
          </a:xfrm>
          <a:prstGeom prst="rect">
            <a:avLst/>
          </a:prstGeom>
          <a:noFill/>
          <a:ln/>
        </p:spPr>
        <p:txBody>
          <a:bodyPr wrap="none" lIns="0" tIns="0" rIns="0" bIns="0" rtlCol="0" anchor="t"/>
          <a:lstStyle/>
          <a:p>
            <a:pPr marL="0" indent="0" algn="ctr">
              <a:lnSpc>
                <a:spcPts val="1750"/>
              </a:lnSpc>
              <a:buNone/>
            </a:pPr>
            <a:r>
              <a:rPr lang="en-US" sz="1750" dirty="0">
                <a:solidFill>
                  <a:srgbClr val="C9C9C0"/>
                </a:solidFill>
                <a:latin typeface="Tomorrow Semi Bold" pitchFamily="34" charset="0"/>
                <a:ea typeface="Tomorrow Semi Bold" pitchFamily="34" charset="-122"/>
                <a:cs typeface="Tomorrow Semi Bold" pitchFamily="34" charset="-120"/>
              </a:rPr>
              <a:t>3</a:t>
            </a:r>
            <a:endParaRPr lang="en-US" sz="1750" dirty="0"/>
          </a:p>
        </p:txBody>
      </p:sp>
      <p:sp>
        <p:nvSpPr>
          <p:cNvPr id="13" name="Text 11"/>
          <p:cNvSpPr/>
          <p:nvPr/>
        </p:nvSpPr>
        <p:spPr>
          <a:xfrm>
            <a:off x="1277541" y="3896380"/>
            <a:ext cx="3196233" cy="278963"/>
          </a:xfrm>
          <a:prstGeom prst="rect">
            <a:avLst/>
          </a:prstGeom>
          <a:noFill/>
          <a:ln/>
        </p:spPr>
        <p:txBody>
          <a:bodyPr wrap="none" lIns="0" tIns="0" rIns="0" bIns="0" rtlCol="0" anchor="t"/>
          <a:lstStyle/>
          <a:p>
            <a:pPr marL="0" indent="0" algn="l">
              <a:lnSpc>
                <a:spcPts val="2150"/>
              </a:lnSpc>
              <a:buNone/>
            </a:pPr>
            <a:r>
              <a:rPr lang="en-US" sz="2000" dirty="0">
                <a:solidFill>
                  <a:srgbClr val="C9C9C0"/>
                </a:solidFill>
                <a:latin typeface="Tomorrow Semi Bold" pitchFamily="34" charset="0"/>
                <a:ea typeface="Tomorrow Semi Bold" pitchFamily="34" charset="-122"/>
                <a:cs typeface="Tomorrow Semi Bold" pitchFamily="34" charset="-120"/>
              </a:rPr>
              <a:t>Context Shapes Possibilities</a:t>
            </a:r>
            <a:endParaRPr lang="en-US" sz="2000" dirty="0"/>
          </a:p>
        </p:txBody>
      </p:sp>
      <p:sp>
        <p:nvSpPr>
          <p:cNvPr id="14" name="Text 12"/>
          <p:cNvSpPr/>
          <p:nvPr/>
        </p:nvSpPr>
        <p:spPr>
          <a:xfrm>
            <a:off x="1277541" y="4264641"/>
            <a:ext cx="12559070" cy="476250"/>
          </a:xfrm>
          <a:prstGeom prst="rect">
            <a:avLst/>
          </a:prstGeom>
          <a:noFill/>
          <a:ln/>
        </p:spPr>
        <p:txBody>
          <a:bodyPr wrap="square" lIns="0" tIns="0" rIns="0" bIns="0" rtlCol="0" anchor="t"/>
          <a:lstStyle/>
          <a:p>
            <a:pPr marL="0" indent="0" algn="l">
              <a:lnSpc>
                <a:spcPts val="1850"/>
              </a:lnSpc>
              <a:buNone/>
            </a:pPr>
            <a:r>
              <a:rPr lang="en-US" sz="1550" dirty="0">
                <a:solidFill>
                  <a:srgbClr val="C9C9C0"/>
                </a:solidFill>
                <a:latin typeface="Tomorrow" pitchFamily="34" charset="0"/>
                <a:ea typeface="Tomorrow" pitchFamily="34" charset="-122"/>
                <a:cs typeface="Tomorrow" pitchFamily="34" charset="-120"/>
              </a:rPr>
              <a:t>Subregional factors matter enormously. The Southern Cone's shared histories, economic integration, and peace dividend created unique reform opportunities unavailable elsewhere in Latin America.</a:t>
            </a:r>
            <a:endParaRPr lang="en-US" sz="1550" dirty="0"/>
          </a:p>
        </p:txBody>
      </p:sp>
      <p:sp>
        <p:nvSpPr>
          <p:cNvPr id="15" name="Shape 13"/>
          <p:cNvSpPr/>
          <p:nvPr/>
        </p:nvSpPr>
        <p:spPr>
          <a:xfrm>
            <a:off x="793790" y="5254676"/>
            <a:ext cx="334923" cy="334923"/>
          </a:xfrm>
          <a:prstGeom prst="roundRect">
            <a:avLst>
              <a:gd name="adj" fmla="val 6667"/>
            </a:avLst>
          </a:prstGeom>
          <a:solidFill>
            <a:srgbClr val="3C3C3A"/>
          </a:solidFill>
          <a:ln/>
        </p:spPr>
        <p:txBody>
          <a:bodyPr/>
          <a:lstStyle/>
          <a:p>
            <a:endParaRPr lang="es-AR"/>
          </a:p>
        </p:txBody>
      </p:sp>
      <p:sp>
        <p:nvSpPr>
          <p:cNvPr id="16" name="Text 14"/>
          <p:cNvSpPr/>
          <p:nvPr/>
        </p:nvSpPr>
        <p:spPr>
          <a:xfrm>
            <a:off x="849570" y="5332412"/>
            <a:ext cx="223242" cy="279083"/>
          </a:xfrm>
          <a:prstGeom prst="rect">
            <a:avLst/>
          </a:prstGeom>
          <a:noFill/>
          <a:ln/>
        </p:spPr>
        <p:txBody>
          <a:bodyPr wrap="none" lIns="0" tIns="0" rIns="0" bIns="0" rtlCol="0" anchor="t"/>
          <a:lstStyle/>
          <a:p>
            <a:pPr marL="0" indent="0" algn="ctr">
              <a:lnSpc>
                <a:spcPts val="1750"/>
              </a:lnSpc>
              <a:buNone/>
            </a:pPr>
            <a:r>
              <a:rPr lang="en-US" sz="1750" dirty="0">
                <a:solidFill>
                  <a:srgbClr val="C9C9C0"/>
                </a:solidFill>
                <a:latin typeface="Tomorrow Semi Bold" pitchFamily="34" charset="0"/>
                <a:ea typeface="Tomorrow Semi Bold" pitchFamily="34" charset="-122"/>
                <a:cs typeface="Tomorrow Semi Bold" pitchFamily="34" charset="-120"/>
              </a:rPr>
              <a:t>4</a:t>
            </a:r>
            <a:endParaRPr lang="en-US" sz="1750" dirty="0"/>
          </a:p>
        </p:txBody>
      </p:sp>
      <p:sp>
        <p:nvSpPr>
          <p:cNvPr id="17" name="Text 15"/>
          <p:cNvSpPr/>
          <p:nvPr/>
        </p:nvSpPr>
        <p:spPr>
          <a:xfrm>
            <a:off x="1277541" y="5282537"/>
            <a:ext cx="3317915" cy="278963"/>
          </a:xfrm>
          <a:prstGeom prst="rect">
            <a:avLst/>
          </a:prstGeom>
          <a:noFill/>
          <a:ln/>
        </p:spPr>
        <p:txBody>
          <a:bodyPr wrap="none" lIns="0" tIns="0" rIns="0" bIns="0" rtlCol="0" anchor="t"/>
          <a:lstStyle/>
          <a:p>
            <a:pPr marL="0" indent="0" algn="l">
              <a:lnSpc>
                <a:spcPts val="2150"/>
              </a:lnSpc>
              <a:buNone/>
            </a:pPr>
            <a:r>
              <a:rPr lang="en-US" sz="2000" dirty="0">
                <a:solidFill>
                  <a:srgbClr val="C9C9C0"/>
                </a:solidFill>
                <a:latin typeface="Tomorrow Semi Bold" pitchFamily="34" charset="0"/>
                <a:ea typeface="Tomorrow Semi Bold" pitchFamily="34" charset="-122"/>
                <a:cs typeface="Tomorrow Semi Bold" pitchFamily="34" charset="-120"/>
              </a:rPr>
              <a:t>Reform Requires Political Will</a:t>
            </a:r>
            <a:endParaRPr lang="en-US" sz="2000" dirty="0"/>
          </a:p>
        </p:txBody>
      </p:sp>
      <p:sp>
        <p:nvSpPr>
          <p:cNvPr id="18" name="Text 16"/>
          <p:cNvSpPr/>
          <p:nvPr/>
        </p:nvSpPr>
        <p:spPr>
          <a:xfrm>
            <a:off x="1277541" y="5650797"/>
            <a:ext cx="12559070" cy="476250"/>
          </a:xfrm>
          <a:prstGeom prst="rect">
            <a:avLst/>
          </a:prstGeom>
          <a:noFill/>
          <a:ln/>
        </p:spPr>
        <p:txBody>
          <a:bodyPr wrap="square" lIns="0" tIns="0" rIns="0" bIns="0" rtlCol="0" anchor="t"/>
          <a:lstStyle/>
          <a:p>
            <a:pPr marL="0" indent="0" algn="l">
              <a:lnSpc>
                <a:spcPts val="1850"/>
              </a:lnSpc>
              <a:buNone/>
            </a:pPr>
            <a:r>
              <a:rPr lang="en-US" sz="1550" dirty="0">
                <a:solidFill>
                  <a:srgbClr val="C9C9C0"/>
                </a:solidFill>
                <a:latin typeface="Tomorrow" pitchFamily="34" charset="0"/>
                <a:ea typeface="Tomorrow" pitchFamily="34" charset="-122"/>
                <a:cs typeface="Tomorrow" pitchFamily="34" charset="-120"/>
              </a:rPr>
              <a:t>Democratic civilian control demands both institutional frameworks and sustained political leadership. Laws alone prove insufficient if presidents, ministers, and legislatures fail to assert authority consistently.</a:t>
            </a:r>
            <a:endParaRPr lang="en-US" sz="1550" dirty="0"/>
          </a:p>
        </p:txBody>
      </p:sp>
      <p:sp>
        <p:nvSpPr>
          <p:cNvPr id="19" name="Shape 17"/>
          <p:cNvSpPr/>
          <p:nvPr/>
        </p:nvSpPr>
        <p:spPr>
          <a:xfrm>
            <a:off x="793790" y="6690711"/>
            <a:ext cx="334923" cy="334923"/>
          </a:xfrm>
          <a:prstGeom prst="roundRect">
            <a:avLst>
              <a:gd name="adj" fmla="val 6667"/>
            </a:avLst>
          </a:prstGeom>
          <a:solidFill>
            <a:srgbClr val="3C3C3A"/>
          </a:solidFill>
          <a:ln/>
        </p:spPr>
        <p:txBody>
          <a:bodyPr/>
          <a:lstStyle/>
          <a:p>
            <a:endParaRPr lang="es-AR"/>
          </a:p>
        </p:txBody>
      </p:sp>
      <p:sp>
        <p:nvSpPr>
          <p:cNvPr id="20" name="Text 18"/>
          <p:cNvSpPr/>
          <p:nvPr/>
        </p:nvSpPr>
        <p:spPr>
          <a:xfrm>
            <a:off x="849570" y="6768447"/>
            <a:ext cx="223242" cy="279083"/>
          </a:xfrm>
          <a:prstGeom prst="rect">
            <a:avLst/>
          </a:prstGeom>
          <a:noFill/>
          <a:ln/>
        </p:spPr>
        <p:txBody>
          <a:bodyPr wrap="none" lIns="0" tIns="0" rIns="0" bIns="0" rtlCol="0" anchor="t"/>
          <a:lstStyle/>
          <a:p>
            <a:pPr marL="0" indent="0" algn="ctr">
              <a:lnSpc>
                <a:spcPts val="1750"/>
              </a:lnSpc>
              <a:buNone/>
            </a:pPr>
            <a:r>
              <a:rPr lang="en-US" sz="1750" dirty="0">
                <a:solidFill>
                  <a:srgbClr val="C9C9C0"/>
                </a:solidFill>
                <a:latin typeface="Tomorrow Semi Bold" pitchFamily="34" charset="0"/>
                <a:ea typeface="Tomorrow Semi Bold" pitchFamily="34" charset="-122"/>
                <a:cs typeface="Tomorrow Semi Bold" pitchFamily="34" charset="-120"/>
              </a:rPr>
              <a:t>5</a:t>
            </a:r>
            <a:endParaRPr lang="en-US" sz="1750" dirty="0"/>
          </a:p>
        </p:txBody>
      </p:sp>
      <p:sp>
        <p:nvSpPr>
          <p:cNvPr id="21" name="Text 19"/>
          <p:cNvSpPr/>
          <p:nvPr/>
        </p:nvSpPr>
        <p:spPr>
          <a:xfrm>
            <a:off x="1277541" y="6718572"/>
            <a:ext cx="2371963" cy="278963"/>
          </a:xfrm>
          <a:prstGeom prst="rect">
            <a:avLst/>
          </a:prstGeom>
          <a:noFill/>
          <a:ln/>
        </p:spPr>
        <p:txBody>
          <a:bodyPr wrap="none" lIns="0" tIns="0" rIns="0" bIns="0" rtlCol="0" anchor="t"/>
          <a:lstStyle/>
          <a:p>
            <a:pPr marL="0" indent="0" algn="l">
              <a:lnSpc>
                <a:spcPts val="2150"/>
              </a:lnSpc>
              <a:buNone/>
            </a:pPr>
            <a:r>
              <a:rPr lang="en-US" sz="2000" dirty="0">
                <a:solidFill>
                  <a:srgbClr val="C9C9C0"/>
                </a:solidFill>
                <a:latin typeface="Tomorrow Semi Bold" pitchFamily="34" charset="0"/>
                <a:ea typeface="Tomorrow Semi Bold" pitchFamily="34" charset="-122"/>
                <a:cs typeface="Tomorrow Semi Bold" pitchFamily="34" charset="-120"/>
              </a:rPr>
              <a:t>Society Must Engage</a:t>
            </a:r>
            <a:endParaRPr lang="en-US" sz="2000" dirty="0"/>
          </a:p>
        </p:txBody>
      </p:sp>
      <p:sp>
        <p:nvSpPr>
          <p:cNvPr id="22" name="Text 20"/>
          <p:cNvSpPr/>
          <p:nvPr/>
        </p:nvSpPr>
        <p:spPr>
          <a:xfrm>
            <a:off x="1277541" y="7086832"/>
            <a:ext cx="12559070" cy="476250"/>
          </a:xfrm>
          <a:prstGeom prst="rect">
            <a:avLst/>
          </a:prstGeom>
          <a:noFill/>
          <a:ln/>
        </p:spPr>
        <p:txBody>
          <a:bodyPr wrap="square" lIns="0" tIns="0" rIns="0" bIns="0" rtlCol="0" anchor="t"/>
          <a:lstStyle/>
          <a:p>
            <a:pPr marL="0" indent="0" algn="l">
              <a:lnSpc>
                <a:spcPts val="1850"/>
              </a:lnSpc>
              <a:buNone/>
            </a:pPr>
            <a:r>
              <a:rPr lang="en-US" sz="1550" dirty="0">
                <a:solidFill>
                  <a:srgbClr val="C9C9C0"/>
                </a:solidFill>
                <a:latin typeface="Tomorrow" pitchFamily="34" charset="0"/>
                <a:ea typeface="Tomorrow" pitchFamily="34" charset="-122"/>
                <a:cs typeface="Tomorrow" pitchFamily="34" charset="-120"/>
              </a:rPr>
              <a:t>Without public demand for reform, defense issues become marginalized. Military institutions risk drifting back into anti-democratic roles when citizens and civil society remain indifferent to civil-military balance.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1208</Words>
  <Application>Microsoft Office PowerPoint</Application>
  <PresentationFormat>Personalizado</PresentationFormat>
  <Paragraphs>89</Paragraphs>
  <Slides>8</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Tomorrow</vt:lpstr>
      <vt:lpstr>Tomorrow Semi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6</cp:revision>
  <dcterms:created xsi:type="dcterms:W3CDTF">2025-10-02T02:03:05Z</dcterms:created>
  <dcterms:modified xsi:type="dcterms:W3CDTF">2025-10-04T23:48:20Z</dcterms:modified>
</cp:coreProperties>
</file>